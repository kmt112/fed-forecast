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82" r:id="rId4"/>
    <p:sldId id="284" r:id="rId5"/>
    <p:sldId id="259" r:id="rId6"/>
    <p:sldId id="261" r:id="rId7"/>
    <p:sldId id="289" r:id="rId8"/>
    <p:sldId id="281" r:id="rId9"/>
    <p:sldId id="263" r:id="rId10"/>
    <p:sldId id="264" r:id="rId11"/>
    <p:sldId id="285" r:id="rId12"/>
    <p:sldId id="266" r:id="rId13"/>
    <p:sldId id="287" r:id="rId14"/>
    <p:sldId id="269" r:id="rId15"/>
    <p:sldId id="267" r:id="rId16"/>
    <p:sldId id="272" r:id="rId17"/>
    <p:sldId id="274" r:id="rId18"/>
    <p:sldId id="275" r:id="rId19"/>
    <p:sldId id="288" r:id="rId20"/>
    <p:sldId id="277" r:id="rId21"/>
    <p:sldId id="278" r:id="rId22"/>
    <p:sldId id="279" r:id="rId23"/>
    <p:sldId id="286"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 id="282"/>
            <p14:sldId id="284"/>
          </p14:sldIdLst>
        </p14:section>
        <p14:section name="Objective" id="{A15A7BD8-DE7C-6B45-BFCB-6F6BC3F0EA31}">
          <p14:sldIdLst>
            <p14:sldId id="259"/>
            <p14:sldId id="261"/>
            <p14:sldId id="289"/>
            <p14:sldId id="281"/>
          </p14:sldIdLst>
        </p14:section>
        <p14:section name="How it works" id="{51E39E62-D42A-5461-E95E-6B45ACE96CC0}">
          <p14:sldIdLst>
            <p14:sldId id="263"/>
            <p14:sldId id="264"/>
            <p14:sldId id="285"/>
          </p14:sldIdLst>
        </p14:section>
        <p14:section name="The harness" id="{92928B70-AC41-17EA-8015-68E5296D82D9}">
          <p14:sldIdLst>
            <p14:sldId id="266"/>
            <p14:sldId id="287"/>
          </p14:sldIdLst>
        </p14:section>
        <p14:section name="Evidence" id="{5A3B821E-E9C2-E8B2-83B3-FA9E97777045}">
          <p14:sldIdLst>
            <p14:sldId id="269"/>
            <p14:sldId id="267"/>
            <p14:sldId id="272"/>
            <p14:sldId id="274"/>
            <p14:sldId id="275"/>
            <p14:sldId id="288"/>
          </p14:sldIdLst>
        </p14:section>
        <p14:section name="Limits and next" id="{A86175A9-6A09-739A-6218-CDC852B09B1B}">
          <p14:sldIdLst/>
        </p14:section>
        <p14:section name="Backup" id="{C779AD3C-958E-9E55-6CE0-CB67D10A91C1}">
          <p14:sldIdLst>
            <p14:sldId id="277"/>
            <p14:sldId id="278"/>
            <p14:sldId id="279"/>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2615" autoAdjust="0"/>
  </p:normalViewPr>
  <p:slideViewPr>
    <p:cSldViewPr snapToGrid="0" snapToObjects="1">
      <p:cViewPr varScale="1">
        <p:scale>
          <a:sx n="99" d="100"/>
          <a:sy n="99"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app open at localhost:8765, evidence pulled today, Forecast view showing the December number. Tabs ready: Evidence graph, Analyst prompts, Analyst results, Scorecard, Ledger.</a:t>
            </a:r>
          </a:p>
          <a:p>
            <a:r>
              <a:rPr lang="en-US"/>
              <a:t>OPEN (30 s): one sentence. A forecaster for the next Fed decision, built to be judged by its process, not its luck. Today: how it called 28 October, how it is built, what the language model is allowed to do, and how we prove it 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Thread: every system here put a model's output in front of people making live decisions; the hard part was never the model, it was earning trust in what it said. FedCast is that problem made measurable.</a:t>
            </a:r>
          </a:p>
          <a:p>
            <a:r>
              <a:rPr lang="en-US"/>
              <a:t>Do not read the cards; pick one (investment analytics, COVID)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30 S. Six stops in this order; the app opens between them. Say: 'what happened, why we built it this way, how the number is built, what the LLM may do, how we prove it,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91336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Top row left to right: the date, our number nine hours before, what the Fed did, the vote.</a:t>
            </a:r>
          </a:p>
          <a:p>
            <a:r>
              <a:rPr lang="en-US"/>
              <a:t>LEFT, three points: 23 frozen items; four classic models pooled by code at fixed weights (70.9% no change); five LLM analysts on top, opinion +4.0, final 67.6%.</a:t>
            </a:r>
          </a:p>
          <a:p>
            <a:r>
              <a:rPr lang="en-US"/>
              <a:t>RIGHT, three points: we hit the target, so did the market and the odds, no claim to beat them at five weeks; the LLM analysts got the direction right, table: four hawks, labour the dove, mean +4.0, and the vote had two dissents for a hike; every reason is a quote, one decision proves little, scored formally when the rate row lands.</a:t>
            </a:r>
          </a:p>
          <a:p>
            <a:r>
              <a:rPr lang="en-US"/>
              <a:t>Then: 'the rest of this talk is how that number was made and why you can trust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94709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1, 1 MIN. Forecast view. Point at the two tracks, the meta line (entry, snapshot hash, specialists' opinion), the five bars. Say: made at &lt;time&gt; from evidence frozen at &lt;time&gt;; everything next is how it got there. Do not explain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Four kinds of signal exist; each good at one thing. Market prices: best single predictor at 30 days, about 88% right, the anchor of our pool. Rules: transparent, but r* and u* are unobservable. Surveys: slow. LLM papers: 90%+ on sixteen meetings, no verification, no replay.</a:t>
            </a:r>
          </a:p>
          <a:p>
            <a:r>
              <a:rPr lang="en-US"/>
              <a:t>The line: pure data on the left, pure model on the right. FedCast in the middle: one input from each, combined by code at fixed weights. 'Neither a formula nor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Three whys. One, why an ensemble: each signal is good at one thing and fails in a known way, futures the best single predictor but a price, rules transparent but built on an unobservable r*, base rates blind to today, odds fast but thin; pooled at fixed published weights no single failure owns the number, the floor keeps every outcome alive, and nothing is fitted because eight decisions a year would fit noise; the backtest only decides who enters, and the probit failed it. Two, why a language model on top: the pool cannot read, and the dissent sentence or a changed word lives only in the text; the model reads it in a minute but remembers, varies and invents, so it never writes the number, it returns quoted claims code verifies and an opinion capped at 10 points. Three, why judge the process: a good year proves nothing; the scorecard was fixed before any code; outcomes are logged, never used to tune; a wrong call is traceable and a fix stays fixed.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2163499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Left, the four families. Economic predictors: futures (the anchor), the Fed's four rules, odds. Empirical data: what the Fed did next after each kind of decision since 1994; after a hike it hiked again two times in three and never cut, so history alone says 'hike' today. Classic ML: the probit, weight 0. LLM-derived: a bounded opinion, not a weight. Pooled by code; no model writes the number.</a:t>
            </a:r>
          </a:p>
          <a:p>
            <a:r>
              <a:rPr lang="en-US"/>
              <a:t>Right, the chain in order: evidence, signals, pool, analysts (only 4 to 8 enter; 1 to 3 are controls), you, ledger. 'Every line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03683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Read down: what each model reads, its distribution, its weight. Market: the futures price. Rules: inflation, unemployment, the natural rate. Odds: Polymarket. Base rates: the 49 meetings since 1994 that followed a hike (appendix if asked). Probit: nine macro features, weight 0.</a:t>
            </a:r>
          </a:p>
          <a:p>
            <a:r>
              <a:rPr lang="en-US"/>
              <a:t>Pooled: weighted average then the 1.5% floor (nothing is ever called impossible). Tinted row: the specialists' opinion, +4.0, moves 4 points toward a hike, capped at 10. Machine forecast: 67.6 / 22.4 / 7.7.</a:t>
            </a:r>
          </a:p>
          <a:p>
            <a:r>
              <a:rPr lang="en-US"/>
              <a:t>Red box: weights are judgement, logged, never fitted; live scores will decide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2, 3 MIN, the longest. Evidence graph: click Market-implied (futures price, 100 minus price, expected change, the 90/10 split: arithmetic, not a black box). Click Pool (weights, pooled line, the specialists' opinion line, Machine track). Click one evidence item (frozen text, link to the original). Say: blue is in the number, grey is computed but not in it; the language model's opinion is one line between Pooled and Machine track: it can tilt, it cannot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Two things a language model cannot stop doing. LEFT: it answers from memory and differently each time. Same fix for both: break the one big question into small fixed ones with a fixed answer shape, like a multiple-choice and short-answer paper, so there is less room to wander; evidence only, every claim quoted; every number checked; five identical runs, spread within 2 points. RIGHT: it can invent support. Fix: verification by code, not by a model; bounds; one repair round. 'Neither is removed; each is designed around, and measured.' Proof three slides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245161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THREE POINTS. One: the left three are controls, grey and dashed; they never touch the number. Analyst 1 is the model on its own; 2 adds the evidence; 3 adds the answer shape and the verifier. Two: the five on the right enter the number; each gets one slice of evidence and one question about it, never 'give me a probability'; it returns quoted claims and an opinion from -10 to +10. Three: every analyst runs five times on the same snapshot; for 1 to 3 those runs are the benchmark 4 to 8 are measured against. Walk through: 1 sets the baseline, 2 tests what evidence fixes, 3 tests the shape and the verifier.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3, 2 MIN. Before the talk: the app is open on the Analyst prompts view (left nav), snapshot 5f6a8d193890, evidence of 29 October. Eight cards, one per analyst.
STEP 1, 20 s. Card 'Analyst 1: Naive control, 195 characters'. Read the Question row aloud: 'Today is 2026-10-29. What will the FOMC decide at its 2026-12-09 meeting? Give a probability for each outcome.' Say: 'That is the whole input. No evidence. This is just asking the model. It answers from memory, and in the next demo you will see its memory is stale.' Click 'open the full prompt': one line of system prompt, the schema (five probabilities and a reasoning string), the question. Close.
STEP 2, 70 s. Scroll to 'Analyst 4: Communications, 45,363 characters'. Point at the four rows: Question (which way does the next decision lean, and why: not a probability); Evidence items (both statements, the minutes, the transcript, the speeches); Pre-computed numbers (signal.tone); Answer shape (claims with quotes, watch-outs, an opinion). Click 'open the full prompt'. Top of the reader: the same one-line system prompt, then the schema. Say: 'every claim must carry text, a quote, the item it came from and a lean; the opinion is a number between minus 10 and plus 10; the runtime rejects anything else.' Scroll a little to USER PROMPT: 'Snapshot date 2026-10-29. Next FOMC decision 2026-12-09. Question: from the committee's own communications, which way does the next decision lean, and why?' Then DETERMINISTIC PRE-READ (signal.tone). Stop here, this is the slide. Read it: vote 10 for, 2 against, Cook and Hammack. Lexicon: seven hawkish terms (elevated twice, strong twice, raise, robust, resilient, price stability), none dovish, score 1.0. Diff: removed 'raise', 'by 1/4 percentage point', '12', '0'; added '10', '2', 'maintain', 'strong', and the dissent sentence. Say: 'Code computed this before any model ran. It parsed the vote and compared the 28 October statement with the September one word by word. The model is handed the result and must quote it, not paraphrase it.' Then WATCH-OUTS: none. Then scroll fast through the rest: 'ITEM fed.minutes': 36,000 characters, then the press conference, both statements, the speeches. Say: 'That is 95 percent of the prompt: the Fed's own text as published. Nothing else.'
STEP 3, 20 s. Close the reader. Point at the hash on the card (e612e90198de60b3): 'five repeats share it; a different hash is a different analyst.' The line: 'If it is not on this page, the analyst does not get it. Same model. The only difference between analyst 1 and analyst 4 is this page.' Bridge: 'Next: what it answered.'
FALLBACK. If the reader is slow, the four rows on the card carry the point; read the Pre-computed numbers row and say what signal.tone contains from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3427149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THIS IS THE PROOF. Left chart: wobble between identical runs, 4.2 for the naive model, 3.5 with evidence, 0.6 with the answer shape and verifier, 0.8 for the specialists. Middle: numbers from memory, 37 to 0 as soon as evidence is shown. Right: quoted claims, 0 to 99.7%.</a:t>
            </a:r>
          </a:p>
          <a:p>
            <a:r>
              <a:rPr lang="en-US"/>
              <a:t>Say: 'the step from analyst 2 to analyst 3 is the harness. Evidence alone does not make the model repeatable; the answer shape plus code verification does. Specialists keep that and add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28 October run: 25 runs, 25 prompts, 263 claims, all 263 verified, 0 numbers from memory, five opinions. Four say hike, labour says hold; mean +4.0; 4 points moved toward a hike: +25 from 20.2 to 22.4. Right: one real claim with its quote found by code in the September statement. Say: 'two dissents for a hike is that opinion, in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2 MIN. Analyst results view, 29 October snapshot. Analyst 1 first: cut 25 at 52%, 64 numbers from memory, nothing quoted; its memory of the Fed is stale. Then analyst 4, run 1: 8 claims, 8 verified, opinion +4; the mean of five runs +5.0 with a spread of 0.6. Open the first claim: the dissent sentence, found by code in the 28 October statement. Open the sixth: 'the committee actually chose to hold', its own dovish offset. Say: the analyst was handed the diff and quoted it, and it argued both sides; the number it gives is an opinion, bounded, and the code decides what it is worth.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74287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6, 1 MIN. Ledger view, press Verify ledger. Read the result line: chain intact, entries under the current spec recompute exactly. Say: 'nothing here can be edited without the chain breaking; any entry recomputes from its snapshot; eight numbered amendments, each with its reason.'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December is on file (entry #23, +25 at 73.6%). Six follow-ups in order of value: 1 alternative weightings written down now, scored on every live decision; the backtest can guide the Taylor/base-rate split, not the market share; 2 reasoning quality graded by people in the app, the grader trusted only once it agrees with the hand grades; 3 an events agent for regime shifts; 4 a second model family; 5 other central banks, same chain; 6 a classical model built for class imbalance. Ask the room which they would do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Three lines, then the ask. One: the model's limits are designed around, not removed. Two: the engineering is in the chain around the model, not in the model. Three: the model lifts, the architecture decides whether the result can be trusted; judge the process. The ask: open the December entry, challenge a quote, grade an answer, pick the first follow-up. Questions.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9749130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The full ladder table, four snapshots. Use if someone asks for the numbers behind the charts on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how +4.0 moves the number. Three parts: the opinion (points of probability, capped at 10 like a human view); the average (one vote each); the spread (each bucket re-weighted by e to the steepness times its position, rescaled; the steepness is searched so exactly 4 points cross). The table is entry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4717277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about the probit or classic ML. v1 failed its gate; v2 beats the base rate but was specified after seeing v1 fail, so it is caveated and sits at weight 0. The base rate given the previous decision beat the fitted model and is in the pool. Small, unbalanced sample: no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9494271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what historical base rates are. Take the 266 scheduled decisions since 1994, group by the previous decision, count what came next: that is the forecast. After a hike: hiked again 64%, held 36%, never cut. No parameters; it beat the fitted probit on the expanding window, so it is in the pool at 0.1. It is the prior the other models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41336001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a:t>
            </a:r>
            <a:r>
              <a:rPr lang="en-US" dirty="0"/>
              <a:t>.</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we will cover</a:t>
            </a:r>
            <a:endParaRPr lang="en-US" sz="3200" dirty="0"/>
          </a:p>
        </p:txBody>
      </p:sp>
      <p:sp>
        <p:nvSpPr>
          <p:cNvPr id="4" name="Shape 1"/>
          <p:cNvSpPr/>
          <p:nvPr/>
        </p:nvSpPr>
        <p:spPr>
          <a:xfrm>
            <a:off x="1014984" y="1600200"/>
            <a:ext cx="0" cy="4343400"/>
          </a:xfrm>
          <a:prstGeom prst="line">
            <a:avLst/>
          </a:prstGeom>
          <a:noFill/>
          <a:ln w="38100">
            <a:solidFill>
              <a:srgbClr val="CADCFC"/>
            </a:solidFill>
            <a:prstDash val="solid"/>
          </a:ln>
        </p:spPr>
        <p:txBody>
          <a:bodyPr/>
          <a:lstStyle/>
          <a:p>
            <a:endParaRPr lang="en-US"/>
          </a:p>
        </p:txBody>
      </p:sp>
      <p:sp>
        <p:nvSpPr>
          <p:cNvPr id="5" name="Shape 2"/>
          <p:cNvSpPr/>
          <p:nvPr/>
        </p:nvSpPr>
        <p:spPr>
          <a:xfrm>
            <a:off x="822960" y="1490472"/>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463040" y="14173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question, and what happened</a:t>
            </a:r>
            <a:endParaRPr lang="en-US" sz="1600" dirty="0"/>
          </a:p>
        </p:txBody>
      </p:sp>
      <p:sp>
        <p:nvSpPr>
          <p:cNvPr id="8" name="Text 5"/>
          <p:cNvSpPr txBox="1"/>
          <p:nvPr/>
        </p:nvSpPr>
        <p:spPr>
          <a:xfrm>
            <a:off x="5120640" y="1307592"/>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The 28 October decision, what our outcome says.</a:t>
            </a:r>
            <a:endParaRPr lang="en-US" sz="1150" dirty="0"/>
          </a:p>
        </p:txBody>
      </p:sp>
      <p:sp>
        <p:nvSpPr>
          <p:cNvPr id="9" name="Shape 6"/>
          <p:cNvSpPr/>
          <p:nvPr/>
        </p:nvSpPr>
        <p:spPr>
          <a:xfrm>
            <a:off x="822960" y="2359152"/>
            <a:ext cx="384048" cy="384048"/>
          </a:xfrm>
          <a:prstGeom prst="ellipse">
            <a:avLst/>
          </a:prstGeom>
          <a:solidFill>
            <a:srgbClr val="1E2761"/>
          </a:solidFill>
          <a:ln w="12700">
            <a:solidFill>
              <a:srgbClr val="1E2761"/>
            </a:solidFill>
            <a:prstDash val="solid"/>
          </a:ln>
        </p:spPr>
        <p:txBody>
          <a:bodyPr/>
          <a:lstStyle/>
          <a:p>
            <a:endParaRPr lang="en-US"/>
          </a:p>
        </p:txBody>
      </p:sp>
      <p:sp>
        <p:nvSpPr>
          <p:cNvPr id="10" name="Text 7"/>
          <p:cNvSpPr txBox="1"/>
          <p:nvPr/>
        </p:nvSpPr>
        <p:spPr>
          <a:xfrm>
            <a:off x="822960" y="23591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 8"/>
          <p:cNvSpPr txBox="1"/>
          <p:nvPr/>
        </p:nvSpPr>
        <p:spPr>
          <a:xfrm>
            <a:off x="1463040" y="228600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Why this approach</a:t>
            </a:r>
            <a:endParaRPr lang="en-US" sz="1600" dirty="0"/>
          </a:p>
        </p:txBody>
      </p:sp>
      <p:sp>
        <p:nvSpPr>
          <p:cNvPr id="12" name="Text 9"/>
          <p:cNvSpPr txBox="1"/>
          <p:nvPr/>
        </p:nvSpPr>
        <p:spPr>
          <a:xfrm>
            <a:off x="5120640" y="2148840"/>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Four kinds of signal already exist; </a:t>
            </a:r>
          </a:p>
          <a:p>
            <a:pPr marL="171450" indent="-171450">
              <a:buFont typeface="Arial" panose="020B0604020202020204" pitchFamily="34" charset="0"/>
              <a:buChar char="•"/>
            </a:pPr>
            <a:r>
              <a:rPr lang="en-US" sz="1150" dirty="0">
                <a:solidFill>
                  <a:schemeClr val="tx1"/>
                </a:solidFill>
              </a:rPr>
              <a:t>Three reasons we built it this way.</a:t>
            </a:r>
            <a:endParaRPr lang="en-US" sz="1150" dirty="0"/>
          </a:p>
        </p:txBody>
      </p:sp>
      <p:sp>
        <p:nvSpPr>
          <p:cNvPr id="13" name="Shape 10"/>
          <p:cNvSpPr/>
          <p:nvPr/>
        </p:nvSpPr>
        <p:spPr>
          <a:xfrm>
            <a:off x="822960" y="3227832"/>
            <a:ext cx="384048" cy="384048"/>
          </a:xfrm>
          <a:prstGeom prst="ellipse">
            <a:avLst/>
          </a:prstGeom>
          <a:solidFill>
            <a:srgbClr val="1E2761"/>
          </a:solidFill>
          <a:ln w="12700">
            <a:solidFill>
              <a:srgbClr val="1E2761"/>
            </a:solidFill>
            <a:prstDash val="solid"/>
          </a:ln>
        </p:spPr>
        <p:txBody>
          <a:bodyPr/>
          <a:lstStyle/>
          <a:p>
            <a:endParaRPr lang="en-US"/>
          </a:p>
        </p:txBody>
      </p:sp>
      <p:sp>
        <p:nvSpPr>
          <p:cNvPr id="14" name="Text 11"/>
          <p:cNvSpPr txBox="1"/>
          <p:nvPr/>
        </p:nvSpPr>
        <p:spPr>
          <a:xfrm>
            <a:off x="822960" y="322783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2"/>
          <p:cNvSpPr txBox="1"/>
          <p:nvPr/>
        </p:nvSpPr>
        <p:spPr>
          <a:xfrm>
            <a:off x="1463040" y="315468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the number is built</a:t>
            </a:r>
            <a:endParaRPr lang="en-US" sz="1600" dirty="0"/>
          </a:p>
        </p:txBody>
      </p:sp>
      <p:sp>
        <p:nvSpPr>
          <p:cNvPr id="16" name="Text 13"/>
          <p:cNvSpPr txBox="1"/>
          <p:nvPr/>
        </p:nvSpPr>
        <p:spPr>
          <a:xfrm>
            <a:off x="5120640" y="317296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Model Architecture</a:t>
            </a:r>
          </a:p>
          <a:p>
            <a:pPr marL="171450" indent="-171450">
              <a:buFont typeface="Arial" panose="020B0604020202020204" pitchFamily="34" charset="0"/>
              <a:buChar char="•"/>
            </a:pPr>
            <a:r>
              <a:rPr lang="en-US" sz="1150" dirty="0"/>
              <a:t>A</a:t>
            </a:r>
            <a:r>
              <a:rPr lang="en-US" sz="1150" dirty="0">
                <a:solidFill>
                  <a:schemeClr val="tx1"/>
                </a:solidFill>
              </a:rPr>
              <a:t>pp showcase</a:t>
            </a:r>
            <a:endParaRPr lang="en-US" sz="1150" dirty="0"/>
          </a:p>
        </p:txBody>
      </p:sp>
      <p:sp>
        <p:nvSpPr>
          <p:cNvPr id="17" name="Shape 14"/>
          <p:cNvSpPr/>
          <p:nvPr/>
        </p:nvSpPr>
        <p:spPr>
          <a:xfrm>
            <a:off x="822960" y="40965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8" name="Text 15"/>
          <p:cNvSpPr txBox="1"/>
          <p:nvPr/>
        </p:nvSpPr>
        <p:spPr>
          <a:xfrm>
            <a:off x="822960" y="40965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9" name="Text 16"/>
          <p:cNvSpPr txBox="1"/>
          <p:nvPr/>
        </p:nvSpPr>
        <p:spPr>
          <a:xfrm>
            <a:off x="1463040" y="402336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LLM analysts</a:t>
            </a:r>
            <a:endParaRPr lang="en-US" sz="1600" dirty="0"/>
          </a:p>
        </p:txBody>
      </p:sp>
      <p:sp>
        <p:nvSpPr>
          <p:cNvPr id="20" name="Text 17"/>
          <p:cNvSpPr txBox="1"/>
          <p:nvPr/>
        </p:nvSpPr>
        <p:spPr>
          <a:xfrm>
            <a:off x="5120640" y="404164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Limitations of model and how we workaround it. </a:t>
            </a:r>
          </a:p>
          <a:p>
            <a:pPr marL="171450" indent="-171450">
              <a:buFont typeface="Arial" panose="020B0604020202020204" pitchFamily="34" charset="0"/>
              <a:buChar char="•"/>
            </a:pPr>
            <a:r>
              <a:rPr lang="en-US" sz="1150" dirty="0">
                <a:solidFill>
                  <a:schemeClr val="tx1"/>
                </a:solidFill>
              </a:rPr>
              <a:t>The app: the prompts and the results.</a:t>
            </a:r>
            <a:endParaRPr lang="en-US" sz="1150" dirty="0"/>
          </a:p>
        </p:txBody>
      </p:sp>
      <p:sp>
        <p:nvSpPr>
          <p:cNvPr id="21" name="Shape 18"/>
          <p:cNvSpPr/>
          <p:nvPr/>
        </p:nvSpPr>
        <p:spPr>
          <a:xfrm>
            <a:off x="822960" y="496519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822960" y="496519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3" name="Text 20"/>
          <p:cNvSpPr txBox="1"/>
          <p:nvPr/>
        </p:nvSpPr>
        <p:spPr>
          <a:xfrm>
            <a:off x="1463040" y="489204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good is the harness</a:t>
            </a:r>
            <a:endParaRPr lang="en-US" sz="1600" dirty="0"/>
          </a:p>
        </p:txBody>
      </p:sp>
      <p:sp>
        <p:nvSpPr>
          <p:cNvPr id="24" name="Text 21"/>
          <p:cNvSpPr txBox="1"/>
          <p:nvPr/>
        </p:nvSpPr>
        <p:spPr>
          <a:xfrm>
            <a:off x="5120640" y="481888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Effectiveness of the harness</a:t>
            </a:r>
            <a:endParaRPr lang="en-US" sz="1150" dirty="0"/>
          </a:p>
        </p:txBody>
      </p:sp>
      <p:sp>
        <p:nvSpPr>
          <p:cNvPr id="25" name="Shape 22"/>
          <p:cNvSpPr/>
          <p:nvPr/>
        </p:nvSpPr>
        <p:spPr>
          <a:xfrm>
            <a:off x="822960" y="5833872"/>
            <a:ext cx="384048" cy="384048"/>
          </a:xfrm>
          <a:prstGeom prst="ellipse">
            <a:avLst/>
          </a:prstGeom>
          <a:solidFill>
            <a:srgbClr val="1E2761"/>
          </a:solidFill>
          <a:ln w="12700">
            <a:solidFill>
              <a:srgbClr val="1E2761"/>
            </a:solidFill>
            <a:prstDash val="solid"/>
          </a:ln>
        </p:spPr>
        <p:txBody>
          <a:bodyPr/>
          <a:lstStyle/>
          <a:p>
            <a:endParaRPr lang="en-US"/>
          </a:p>
        </p:txBody>
      </p:sp>
      <p:sp>
        <p:nvSpPr>
          <p:cNvPr id="26" name="Text 23"/>
          <p:cNvSpPr txBox="1"/>
          <p:nvPr/>
        </p:nvSpPr>
        <p:spPr>
          <a:xfrm>
            <a:off x="822960" y="58338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27" name="Text 24"/>
          <p:cNvSpPr txBox="1"/>
          <p:nvPr/>
        </p:nvSpPr>
        <p:spPr>
          <a:xfrm>
            <a:off x="1463040" y="57607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What comes next</a:t>
            </a:r>
            <a:endParaRPr lang="en-US" sz="1600" dirty="0"/>
          </a:p>
        </p:txBody>
      </p:sp>
      <p:sp>
        <p:nvSpPr>
          <p:cNvPr id="28" name="Text 25"/>
          <p:cNvSpPr txBox="1"/>
          <p:nvPr/>
        </p:nvSpPr>
        <p:spPr>
          <a:xfrm>
            <a:off x="5120640" y="559612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Follow up</a:t>
            </a:r>
          </a:p>
          <a:p>
            <a:pPr marL="171450" indent="-171450">
              <a:buFont typeface="Arial" panose="020B0604020202020204" pitchFamily="34" charset="0"/>
              <a:buChar char="•"/>
            </a:pPr>
            <a:r>
              <a:rPr lang="en-US" sz="1150" dirty="0" err="1"/>
              <a:t>QnA</a:t>
            </a:r>
            <a:endParaRPr lang="en-US" sz="1150" dirty="0"/>
          </a:p>
          <a:p>
            <a:pPr marL="171450" indent="-171450">
              <a:buFont typeface="Arial" panose="020B0604020202020204" pitchFamily="34" charset="0"/>
              <a:buChar char="•"/>
            </a:pPr>
            <a:r>
              <a:rPr lang="en-US" sz="1150" dirty="0">
                <a:solidFill>
                  <a:schemeClr val="tx1"/>
                </a:solidFill>
              </a:rPr>
              <a:t>Appendix: how the analysts' opinion moves the number; the probit.</a:t>
            </a:r>
            <a:endParaRPr lang="en-US" sz="11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3836837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37160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37160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1284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2926080"/>
            <a:ext cx="5394960"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3" name="Text 10"/>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400" b="1" dirty="0">
                <a:solidFill>
                  <a:schemeClr val="tx2"/>
                </a:solidFill>
              </a:rPr>
              <a:t>How the number was made</a:t>
            </a:r>
            <a:endParaRPr lang="en-US" sz="1400" dirty="0"/>
          </a:p>
        </p:txBody>
      </p:sp>
      <p:sp>
        <p:nvSpPr>
          <p:cNvPr id="14" name="Text 11"/>
          <p:cNvSpPr txBox="1"/>
          <p:nvPr/>
        </p:nvSpPr>
        <p:spPr>
          <a:xfrm>
            <a:off x="777240" y="34015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Evidence</a:t>
            </a:r>
            <a:endParaRPr lang="en-US" sz="1150" dirty="0"/>
          </a:p>
        </p:txBody>
      </p:sp>
      <p:sp>
        <p:nvSpPr>
          <p:cNvPr id="15" name="Text 12"/>
          <p:cNvSpPr txBox="1"/>
          <p:nvPr/>
        </p:nvSpPr>
        <p:spPr>
          <a:xfrm>
            <a:off x="777240" y="3657600"/>
            <a:ext cx="4937760" cy="658368"/>
          </a:xfrm>
          <a:prstGeom prst="rect">
            <a:avLst/>
          </a:prstGeom>
          <a:noFill/>
          <a:ln/>
        </p:spPr>
        <p:txBody>
          <a:bodyPr wrap="square" lIns="0" tIns="0" rIns="0" bIns="0" rtlCol="0" anchor="t"/>
          <a:lstStyle/>
          <a:p>
            <a:pPr marL="0" indent="0">
              <a:buNone/>
            </a:pPr>
            <a:r>
              <a:rPr lang="en-US" sz="1000" dirty="0">
                <a:solidFill>
                  <a:schemeClr val="tx1"/>
                </a:solidFill>
              </a:rPr>
              <a:t>23 items frozen on 28 October: futures, eight FRED series as first published, Fed statements, minutes, transcript, projections, speeches, 32 years of decisions, the NY Fed natural rate, prediction-market odds.</a:t>
            </a:r>
            <a:endParaRPr lang="en-US" sz="1000" dirty="0"/>
          </a:p>
        </p:txBody>
      </p:sp>
      <p:sp>
        <p:nvSpPr>
          <p:cNvPr id="16" name="Text 13"/>
          <p:cNvSpPr txBox="1"/>
          <p:nvPr/>
        </p:nvSpPr>
        <p:spPr>
          <a:xfrm>
            <a:off x="777240" y="43159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Classic models, weighted by code</a:t>
            </a:r>
            <a:endParaRPr lang="en-US" sz="1150" dirty="0"/>
          </a:p>
        </p:txBody>
      </p:sp>
      <p:sp>
        <p:nvSpPr>
          <p:cNvPr id="17" name="Text 14"/>
          <p:cNvSpPr txBox="1"/>
          <p:nvPr/>
        </p:nvSpPr>
        <p:spPr>
          <a:xfrm>
            <a:off x="777240" y="4572000"/>
            <a:ext cx="4937760" cy="658368"/>
          </a:xfrm>
          <a:prstGeom prst="rect">
            <a:avLst/>
          </a:prstGeom>
          <a:noFill/>
          <a:ln/>
        </p:spPr>
        <p:txBody>
          <a:bodyPr wrap="square" lIns="0" tIns="0" rIns="0" bIns="0" rtlCol="0" anchor="t"/>
          <a:lstStyle/>
          <a:p>
            <a:pPr marL="0" indent="0">
              <a:buNone/>
            </a:pPr>
            <a:r>
              <a:rPr lang="en-US" sz="1000" dirty="0">
                <a:solidFill>
                  <a:schemeClr val="tx1"/>
                </a:solidFill>
              </a:rPr>
              <a:t>Futures-implied 0.6, the Fed's Taylor rules 0.2, prediction-market odds 0.1, historical base rates 0.1; a 1.5% floor on every outcome. Pooled: </a:t>
            </a:r>
            <a:r>
              <a:rPr lang="en-US" sz="1000" b="1" dirty="0">
                <a:solidFill>
                  <a:schemeClr val="tx1"/>
                </a:solidFill>
              </a:rPr>
              <a:t>no change 70.9%, hike 26.2%.</a:t>
            </a:r>
            <a:endParaRPr lang="en-US" sz="1000" b="1" dirty="0"/>
          </a:p>
        </p:txBody>
      </p:sp>
      <p:sp>
        <p:nvSpPr>
          <p:cNvPr id="18" name="Text 15"/>
          <p:cNvSpPr txBox="1"/>
          <p:nvPr/>
        </p:nvSpPr>
        <p:spPr>
          <a:xfrm>
            <a:off x="777240" y="52303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LLM analysts on top</a:t>
            </a:r>
            <a:endParaRPr lang="en-US" sz="1150" dirty="0"/>
          </a:p>
        </p:txBody>
      </p:sp>
      <p:sp>
        <p:nvSpPr>
          <p:cNvPr id="19" name="Text 16"/>
          <p:cNvSpPr txBox="1"/>
          <p:nvPr/>
        </p:nvSpPr>
        <p:spPr>
          <a:xfrm>
            <a:off x="777240" y="5486400"/>
            <a:ext cx="4937760" cy="658368"/>
          </a:xfrm>
          <a:prstGeom prst="rect">
            <a:avLst/>
          </a:prstGeom>
          <a:noFill/>
          <a:ln/>
        </p:spPr>
        <p:txBody>
          <a:bodyPr wrap="square" lIns="0" tIns="0" rIns="0" bIns="0" rtlCol="0" anchor="t"/>
          <a:lstStyle/>
          <a:p>
            <a:pPr marL="0" indent="0">
              <a:buNone/>
            </a:pPr>
            <a:r>
              <a:rPr lang="en-US" sz="1000" dirty="0">
                <a:solidFill>
                  <a:schemeClr val="tx1"/>
                </a:solidFill>
              </a:rPr>
              <a:t>Five specialists read the Fed's words; every claim quoted and verified by code.</a:t>
            </a:r>
          </a:p>
          <a:p>
            <a:pPr marL="0" indent="0">
              <a:buNone/>
            </a:pPr>
            <a:r>
              <a:rPr lang="en-US" sz="1000" dirty="0">
                <a:solidFill>
                  <a:schemeClr val="tx1"/>
                </a:solidFill>
              </a:rPr>
              <a:t> Their mean opinion moves 4 points toward a hike: </a:t>
            </a:r>
          </a:p>
          <a:p>
            <a:pPr marL="0" indent="0">
              <a:buNone/>
            </a:pPr>
            <a:r>
              <a:rPr lang="en-US" sz="1000" b="1" dirty="0">
                <a:solidFill>
                  <a:schemeClr val="tx1"/>
                </a:solidFill>
              </a:rPr>
              <a:t>no change 67.6%, +25 bps 22.4%, +50 bps 7.7%.</a:t>
            </a:r>
            <a:endParaRPr lang="en-US" sz="1000" b="1" dirty="0"/>
          </a:p>
        </p:txBody>
      </p:sp>
      <p:sp>
        <p:nvSpPr>
          <p:cNvPr id="20" name="Shape 17"/>
          <p:cNvSpPr/>
          <p:nvPr/>
        </p:nvSpPr>
        <p:spPr>
          <a:xfrm>
            <a:off x="6172200" y="2926080"/>
            <a:ext cx="5468112"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Text 18"/>
          <p:cNvSpPr txBox="1"/>
          <p:nvPr/>
        </p:nvSpPr>
        <p:spPr>
          <a:xfrm>
            <a:off x="6400800" y="3035808"/>
            <a:ext cx="5010912" cy="320040"/>
          </a:xfrm>
          <a:prstGeom prst="rect">
            <a:avLst/>
          </a:prstGeom>
          <a:noFill/>
          <a:ln/>
        </p:spPr>
        <p:txBody>
          <a:bodyPr wrap="square" lIns="0" tIns="0" rIns="0" bIns="0" rtlCol="0" anchor="t"/>
          <a:lstStyle/>
          <a:p>
            <a:pPr marL="0" indent="0">
              <a:buNone/>
            </a:pPr>
            <a:r>
              <a:rPr lang="en-US" sz="1400" b="1" dirty="0">
                <a:solidFill>
                  <a:schemeClr val="tx2"/>
                </a:solidFill>
              </a:rPr>
              <a:t>What the outcome says</a:t>
            </a:r>
            <a:endParaRPr lang="en-US" sz="1400" dirty="0"/>
          </a:p>
        </p:txBody>
      </p:sp>
      <p:sp>
        <p:nvSpPr>
          <p:cNvPr id="22" name="Text 19"/>
          <p:cNvSpPr txBox="1"/>
          <p:nvPr/>
        </p:nvSpPr>
        <p:spPr>
          <a:xfrm>
            <a:off x="6400800" y="3401568"/>
            <a:ext cx="5010912" cy="457200"/>
          </a:xfrm>
          <a:prstGeom prst="rect">
            <a:avLst/>
          </a:prstGeom>
          <a:noFill/>
          <a:ln/>
        </p:spPr>
        <p:txBody>
          <a:bodyPr wrap="square" lIns="0" tIns="0" rIns="0" bIns="0" rtlCol="0" anchor="t"/>
          <a:lstStyle/>
          <a:p>
            <a:pPr marL="0" indent="0">
              <a:buNone/>
            </a:pPr>
            <a:r>
              <a:rPr lang="en-US" sz="1000" dirty="0">
                <a:solidFill>
                  <a:schemeClr val="tx1"/>
                </a:solidFill>
              </a:rPr>
              <a:t>1. We hit the target. So did the market (90/10) and the odds (95/5); at five weeks we do not claim to beat them.</a:t>
            </a:r>
            <a:endParaRPr lang="en-US" sz="1000" dirty="0"/>
          </a:p>
        </p:txBody>
      </p:sp>
      <p:sp>
        <p:nvSpPr>
          <p:cNvPr id="23" name="Text 20"/>
          <p:cNvSpPr txBox="1"/>
          <p:nvPr/>
        </p:nvSpPr>
        <p:spPr>
          <a:xfrm>
            <a:off x="6400800" y="3840480"/>
            <a:ext cx="5010912" cy="256032"/>
          </a:xfrm>
          <a:prstGeom prst="rect">
            <a:avLst/>
          </a:prstGeom>
          <a:noFill/>
          <a:ln/>
        </p:spPr>
        <p:txBody>
          <a:bodyPr wrap="square" lIns="0" tIns="0" rIns="0" bIns="0" rtlCol="0" anchor="t"/>
          <a:lstStyle/>
          <a:p>
            <a:pPr marL="0" indent="0">
              <a:buNone/>
            </a:pPr>
            <a:r>
              <a:rPr lang="en-US" sz="1000" dirty="0">
                <a:solidFill>
                  <a:schemeClr val="tx1"/>
                </a:solidFill>
              </a:rPr>
              <a:t>2. The LLM analysts got the direction right, and the vote agreed:</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0" y="4114800"/>
          <a:ext cx="5056632"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19456">
                <a:tc>
                  <a:txBody>
                    <a:bodyPr/>
                    <a:lstStyle/>
                    <a:p>
                      <a:pPr marL="0" indent="0">
                        <a:buNone/>
                      </a:pPr>
                      <a:r>
                        <a:rPr lang="en-US" sz="900" b="1" dirty="0">
                          <a:solidFill>
                            <a:srgbClr val="FFFFFF"/>
                          </a:solidFill>
                        </a:rPr>
                        <a:t>Analyst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Opinion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Reads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19456">
                <a:tc>
                  <a:txBody>
                    <a:bodyPr/>
                    <a:lstStyle/>
                    <a:p>
                      <a:pPr marL="0" indent="0">
                        <a:buNone/>
                      </a:pPr>
                      <a:r>
                        <a:rPr lang="en-US" sz="900" dirty="0">
                          <a:solidFill>
                            <a:srgbClr val="1B1F2A"/>
                          </a:solidFill>
                        </a:rPr>
                        <a:t>4 Communications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statements, minutes, transcript, speeches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900" dirty="0">
                          <a:solidFill>
                            <a:srgbClr val="1B1F2A"/>
                          </a:solidFill>
                        </a:rPr>
                        <a:t>5 Minutes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+6.2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the minutes only</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900" dirty="0">
                          <a:solidFill>
                            <a:srgbClr val="1B1F2A"/>
                          </a:solidFill>
                        </a:rPr>
                        <a:t>6 Inflation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+5.8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inflation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900" dirty="0">
                          <a:solidFill>
                            <a:srgbClr val="1B1F2A"/>
                          </a:solidFill>
                        </a:rPr>
                        <a:t>8 Financial conditions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+3.4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2-year gap, breakevens, NFCI</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900" dirty="0">
                          <a:solidFill>
                            <a:srgbClr val="1B1F2A"/>
                          </a:solidFill>
                        </a:rPr>
                        <a:t>7 Labour market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2C6E49"/>
                          </a:solidFill>
                        </a:rPr>
                        <a:t>−1.4 hold</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labour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900" b="1" dirty="0">
                          <a:solidFill>
                            <a:srgbClr val="1B1F2A"/>
                          </a:solidFill>
                        </a:rPr>
                        <a:t>Mean, one vote each</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1E2761"/>
                          </a:solidFill>
                        </a:rPr>
                        <a:t>+4.0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E2761"/>
                          </a:solidFill>
                        </a:rPr>
                        <a:t>two dissents for a hike in a 10 to 2 vote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Text 21"/>
          <p:cNvSpPr txBox="1"/>
          <p:nvPr/>
        </p:nvSpPr>
        <p:spPr>
          <a:xfrm>
            <a:off x="6400800" y="5669280"/>
            <a:ext cx="5010912" cy="457200"/>
          </a:xfrm>
          <a:prstGeom prst="rect">
            <a:avLst/>
          </a:prstGeom>
          <a:noFill/>
          <a:ln/>
        </p:spPr>
        <p:txBody>
          <a:bodyPr wrap="square" lIns="0" tIns="0" rIns="0" bIns="0" rtlCol="0" anchor="t"/>
          <a:lstStyle/>
          <a:p>
            <a:pPr marL="0" indent="0">
              <a:buNone/>
            </a:pPr>
            <a:r>
              <a:rPr lang="en-US" sz="1000" dirty="0">
                <a:solidFill>
                  <a:schemeClr val="tx1"/>
                </a:solidFill>
              </a:rPr>
              <a:t>3. Every reason is a quote code found in the frozen evidence. One decision proves little: it is scored formally (log score, Brier, against the market and two naive baselines) when the post-meeting rate row lands.</a:t>
            </a:r>
            <a:endParaRPr lang="en-US" sz="1000" dirty="0"/>
          </a:p>
        </p:txBody>
      </p:sp>
      <p:sp>
        <p:nvSpPr>
          <p:cNvPr id="2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726031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a:t>
            </a:r>
            <a:r>
              <a:rPr lang="en-US" sz="1200" b="1" dirty="0" err="1">
                <a:solidFill>
                  <a:schemeClr val="tx1"/>
                </a:solidFill>
              </a:rPr>
              <a:t>Polymarket</a:t>
            </a:r>
            <a:r>
              <a:rPr lang="en-US" sz="1200" b="1" dirty="0">
                <a:solidFill>
                  <a:schemeClr val="tx1"/>
                </a:solidFill>
              </a:rPr>
              <a:t>)</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623398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62588"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669118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646258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646258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646258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combines them by code at fixed weights. </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6</a:t>
            </a:fld>
            <a:endParaRPr lang="en-US"/>
          </a:p>
        </p:txBody>
      </p:sp>
      <p:grpSp>
        <p:nvGrpSpPr>
          <p:cNvPr id="58" name="Group 57">
            <a:extLst>
              <a:ext uri="{FF2B5EF4-FFF2-40B4-BE49-F238E27FC236}">
                <a16:creationId xmlns:a16="http://schemas.microsoft.com/office/drawing/2014/main" id="{A802D491-A62F-1162-BFE9-FD3D35327ADB}"/>
              </a:ext>
            </a:extLst>
          </p:cNvPr>
          <p:cNvGrpSpPr/>
          <p:nvPr/>
        </p:nvGrpSpPr>
        <p:grpSpPr>
          <a:xfrm>
            <a:off x="3391314" y="1435608"/>
            <a:ext cx="2615184" cy="2331720"/>
            <a:chOff x="13899460" y="984504"/>
            <a:chExt cx="2615184" cy="2331720"/>
          </a:xfrm>
        </p:grpSpPr>
        <p:sp>
          <p:nvSpPr>
            <p:cNvPr id="47" name="Shape 13">
              <a:extLst>
                <a:ext uri="{FF2B5EF4-FFF2-40B4-BE49-F238E27FC236}">
                  <a16:creationId xmlns:a16="http://schemas.microsoft.com/office/drawing/2014/main" id="{DA25A6FE-F77D-E8A6-20B9-411A7FD3D117}"/>
                </a:ext>
              </a:extLst>
            </p:cNvPr>
            <p:cNvSpPr/>
            <p:nvPr/>
          </p:nvSpPr>
          <p:spPr>
            <a:xfrm>
              <a:off x="13899460" y="984504"/>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49" name="Shape 14">
              <a:extLst>
                <a:ext uri="{FF2B5EF4-FFF2-40B4-BE49-F238E27FC236}">
                  <a16:creationId xmlns:a16="http://schemas.microsoft.com/office/drawing/2014/main" id="{D3AFCF19-9FC3-1193-08FC-A28D668436ED}"/>
                </a:ext>
              </a:extLst>
            </p:cNvPr>
            <p:cNvSpPr/>
            <p:nvPr/>
          </p:nvSpPr>
          <p:spPr>
            <a:xfrm>
              <a:off x="14128060" y="1258824"/>
              <a:ext cx="146304" cy="146304"/>
            </a:xfrm>
            <a:prstGeom prst="rect">
              <a:avLst/>
            </a:prstGeom>
            <a:solidFill>
              <a:srgbClr val="E9B44C"/>
            </a:solidFill>
            <a:ln w="12700">
              <a:solidFill>
                <a:srgbClr val="E9B44C"/>
              </a:solidFill>
              <a:prstDash val="solid"/>
            </a:ln>
          </p:spPr>
          <p:txBody>
            <a:bodyPr/>
            <a:lstStyle/>
            <a:p>
              <a:endParaRPr lang="en-US"/>
            </a:p>
          </p:txBody>
        </p:sp>
        <p:sp>
          <p:nvSpPr>
            <p:cNvPr id="51" name="Text 15">
              <a:extLst>
                <a:ext uri="{FF2B5EF4-FFF2-40B4-BE49-F238E27FC236}">
                  <a16:creationId xmlns:a16="http://schemas.microsoft.com/office/drawing/2014/main" id="{FB0A3ABB-64C9-2CF9-6F24-84DF14C5024C}"/>
                </a:ext>
              </a:extLst>
            </p:cNvPr>
            <p:cNvSpPr txBox="1"/>
            <p:nvPr/>
          </p:nvSpPr>
          <p:spPr>
            <a:xfrm>
              <a:off x="14356660" y="1149096"/>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53" name="Text 16">
              <a:extLst>
                <a:ext uri="{FF2B5EF4-FFF2-40B4-BE49-F238E27FC236}">
                  <a16:creationId xmlns:a16="http://schemas.microsoft.com/office/drawing/2014/main" id="{E1D2F99F-D5EE-908F-CDDA-4E9EC9CA47D7}"/>
                </a:ext>
              </a:extLst>
            </p:cNvPr>
            <p:cNvSpPr txBox="1"/>
            <p:nvPr/>
          </p:nvSpPr>
          <p:spPr>
            <a:xfrm>
              <a:off x="14128060" y="1606296"/>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55" name="Text 17">
              <a:extLst>
                <a:ext uri="{FF2B5EF4-FFF2-40B4-BE49-F238E27FC236}">
                  <a16:creationId xmlns:a16="http://schemas.microsoft.com/office/drawing/2014/main" id="{90EEBB27-F1D1-537C-DB2F-09A602414014}"/>
                </a:ext>
              </a:extLst>
            </p:cNvPr>
            <p:cNvSpPr txBox="1"/>
            <p:nvPr/>
          </p:nvSpPr>
          <p:spPr>
            <a:xfrm>
              <a:off x="14128060" y="2191512"/>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57" name="Text 18">
              <a:extLst>
                <a:ext uri="{FF2B5EF4-FFF2-40B4-BE49-F238E27FC236}">
                  <a16:creationId xmlns:a16="http://schemas.microsoft.com/office/drawing/2014/main" id="{B2779653-131A-CB7F-E507-2EED87363D23}"/>
                </a:ext>
              </a:extLst>
            </p:cNvPr>
            <p:cNvSpPr txBox="1"/>
            <p:nvPr/>
          </p:nvSpPr>
          <p:spPr>
            <a:xfrm>
              <a:off x="14128060" y="2758440"/>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371600"/>
            <a:ext cx="3520440" cy="46634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822960" y="155448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5544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0876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Why an ensemble, not one model</a:t>
            </a:r>
            <a:endParaRPr lang="en-US" sz="1500" dirty="0"/>
          </a:p>
        </p:txBody>
      </p:sp>
      <p:sp>
        <p:nvSpPr>
          <p:cNvPr id="8" name="Text 5"/>
          <p:cNvSpPr txBox="1"/>
          <p:nvPr/>
        </p:nvSpPr>
        <p:spPr>
          <a:xfrm>
            <a:off x="822960" y="2194560"/>
            <a:ext cx="3017520" cy="37033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Each signal is good at one thing and fails in a known way. </a:t>
            </a:r>
          </a:p>
          <a:p>
            <a:pPr marL="800100" lvl="1" indent="-342900">
              <a:spcAft>
                <a:spcPts val="800"/>
              </a:spcAft>
              <a:buSzPct val="100000"/>
              <a:buChar char="•"/>
            </a:pPr>
            <a:r>
              <a:rPr lang="en-US" sz="1200" dirty="0">
                <a:solidFill>
                  <a:schemeClr val="tx1"/>
                </a:solidFill>
              </a:rPr>
              <a:t>Futures: the best single predictor at 30 days, about 88% right, but a price that moves with the market on the day. </a:t>
            </a:r>
          </a:p>
          <a:p>
            <a:pPr marL="800100" lvl="1" indent="-342900">
              <a:spcAft>
                <a:spcPts val="800"/>
              </a:spcAft>
              <a:buSzPct val="100000"/>
              <a:buChar char="•"/>
            </a:pPr>
            <a:r>
              <a:rPr lang="en-US" sz="1200" dirty="0">
                <a:solidFill>
                  <a:schemeClr val="tx1"/>
                </a:solidFill>
              </a:rPr>
              <a:t>The Fed's rules: transparent, but built on an r* nobody observes. </a:t>
            </a:r>
          </a:p>
          <a:p>
            <a:pPr marL="800100" lvl="1" indent="-342900">
              <a:spcAft>
                <a:spcPts val="800"/>
              </a:spcAft>
              <a:buSzPct val="100000"/>
              <a:buChar char="•"/>
            </a:pPr>
            <a:r>
              <a:rPr lang="en-US" sz="1200" dirty="0">
                <a:solidFill>
                  <a:schemeClr val="tx1"/>
                </a:solidFill>
              </a:rPr>
              <a:t>Base rates: what the Fed usually does next, nothing about today. Prediction markets: fast, but thin.</a:t>
            </a:r>
            <a:endParaRPr lang="en-US" sz="1200" dirty="0"/>
          </a:p>
        </p:txBody>
      </p:sp>
      <p:sp>
        <p:nvSpPr>
          <p:cNvPr id="9" name="Shape 6"/>
          <p:cNvSpPr/>
          <p:nvPr/>
        </p:nvSpPr>
        <p:spPr>
          <a:xfrm>
            <a:off x="4297680" y="1371600"/>
            <a:ext cx="3520440" cy="46634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4572000" y="155448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5544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0876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Why a language model on top, harnessed</a:t>
            </a:r>
            <a:endParaRPr lang="en-US" sz="1500" dirty="0"/>
          </a:p>
        </p:txBody>
      </p:sp>
      <p:sp>
        <p:nvSpPr>
          <p:cNvPr id="13" name="Text 10"/>
          <p:cNvSpPr txBox="1"/>
          <p:nvPr/>
        </p:nvSpPr>
        <p:spPr>
          <a:xfrm>
            <a:off x="4572000" y="2194560"/>
            <a:ext cx="3017520" cy="37033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The pool cannot read. The dissent sentence, a changed word, 'the accumulation of more information': that is in the Fed's text and in no price or rule.</a:t>
            </a:r>
            <a:endParaRPr lang="en-US" sz="1200" dirty="0"/>
          </a:p>
          <a:p>
            <a:pPr marL="342900" indent="-342900">
              <a:spcAft>
                <a:spcPts val="800"/>
              </a:spcAft>
              <a:buSzPct val="100000"/>
              <a:buChar char="•"/>
            </a:pPr>
            <a:r>
              <a:rPr lang="en-US" sz="1200" b="1" dirty="0">
                <a:solidFill>
                  <a:schemeClr val="tx1"/>
                </a:solidFill>
              </a:rPr>
              <a:t>Why the need to harness ? </a:t>
            </a:r>
            <a:r>
              <a:rPr lang="en-US" sz="1200" dirty="0">
                <a:solidFill>
                  <a:schemeClr val="tx1"/>
                </a:solidFill>
              </a:rPr>
              <a:t>But it remembers, varies and invents, so it never writes the number. It returns claims that each quote a line code finds, and an opinion that moves the pool by at most 10 points.</a:t>
            </a:r>
          </a:p>
          <a:p>
            <a:pPr marL="800100" lvl="1" indent="-342900">
              <a:spcAft>
                <a:spcPts val="800"/>
              </a:spcAft>
              <a:buSzPct val="100000"/>
              <a:buChar char="•"/>
            </a:pPr>
            <a:r>
              <a:rPr lang="en-US" sz="1200" dirty="0"/>
              <a:t>Provide Evidence, Prompt engineering.</a:t>
            </a:r>
          </a:p>
          <a:p>
            <a:pPr marL="342900" indent="-342900">
              <a:spcAft>
                <a:spcPts val="800"/>
              </a:spcAft>
              <a:buSzPct val="100000"/>
              <a:buChar char="•"/>
            </a:pPr>
            <a:r>
              <a:rPr lang="en-US" sz="1200" dirty="0">
                <a:solidFill>
                  <a:schemeClr val="tx1"/>
                </a:solidFill>
              </a:rPr>
              <a:t>Five identical runs, the spread measured. </a:t>
            </a:r>
            <a:endParaRPr lang="en-US" sz="1200" dirty="0"/>
          </a:p>
        </p:txBody>
      </p:sp>
      <p:sp>
        <p:nvSpPr>
          <p:cNvPr id="14" name="Shape 11"/>
          <p:cNvSpPr/>
          <p:nvPr/>
        </p:nvSpPr>
        <p:spPr>
          <a:xfrm>
            <a:off x="8046720" y="1371600"/>
            <a:ext cx="3520440" cy="46634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8321040" y="155448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5544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0876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Why judge the process, not the luck</a:t>
            </a:r>
            <a:endParaRPr lang="en-US" sz="1500" dirty="0"/>
          </a:p>
        </p:txBody>
      </p:sp>
      <p:sp>
        <p:nvSpPr>
          <p:cNvPr id="18" name="Text 15"/>
          <p:cNvSpPr txBox="1"/>
          <p:nvPr/>
        </p:nvSpPr>
        <p:spPr>
          <a:xfrm>
            <a:off x="8321040" y="2194560"/>
            <a:ext cx="3017520" cy="37033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We are early, repeatable process is more important than the outcome. </a:t>
            </a:r>
          </a:p>
          <a:p>
            <a:pPr marL="800100" lvl="1" indent="-342900">
              <a:spcAft>
                <a:spcPts val="800"/>
              </a:spcAft>
              <a:buSzPct val="100000"/>
              <a:buChar char="•"/>
            </a:pPr>
            <a:r>
              <a:rPr lang="en-US" sz="1200" dirty="0">
                <a:solidFill>
                  <a:schemeClr val="tx1"/>
                </a:solidFill>
              </a:rPr>
              <a:t>same evidence, same answer?</a:t>
            </a:r>
          </a:p>
          <a:p>
            <a:pPr marL="800100" lvl="1" indent="-342900">
              <a:spcAft>
                <a:spcPts val="800"/>
              </a:spcAft>
              <a:buSzPct val="100000"/>
              <a:buChar char="•"/>
            </a:pPr>
            <a:r>
              <a:rPr lang="en-US" sz="1200" dirty="0">
                <a:solidFill>
                  <a:schemeClr val="tx1"/>
                </a:solidFill>
              </a:rPr>
              <a:t>every claim quoted?</a:t>
            </a:r>
          </a:p>
          <a:p>
            <a:pPr marL="800100" lvl="1" indent="-342900">
              <a:spcAft>
                <a:spcPts val="800"/>
              </a:spcAft>
              <a:buSzPct val="100000"/>
              <a:buChar char="•"/>
            </a:pPr>
            <a:r>
              <a:rPr lang="en-US" sz="1200" dirty="0">
                <a:solidFill>
                  <a:schemeClr val="tx1"/>
                </a:solidFill>
              </a:rPr>
              <a:t>any number from memory? </a:t>
            </a:r>
          </a:p>
          <a:p>
            <a:pPr marL="800100" lvl="1" indent="-342900">
              <a:spcAft>
                <a:spcPts val="800"/>
              </a:spcAft>
              <a:buSzPct val="100000"/>
              <a:buChar char="•"/>
            </a:pPr>
            <a:r>
              <a:rPr lang="en-US" sz="1200" dirty="0">
                <a:solidFill>
                  <a:schemeClr val="tx1"/>
                </a:solidFill>
              </a:rPr>
              <a:t>does a shock move the number the right way?</a:t>
            </a:r>
            <a:endParaRPr lang="en-US" sz="1200" dirty="0"/>
          </a:p>
          <a:p>
            <a:pPr marL="342900" indent="-342900">
              <a:spcAft>
                <a:spcPts val="800"/>
              </a:spcAft>
              <a:buSzPct val="100000"/>
              <a:buChar char="•"/>
            </a:pPr>
            <a:r>
              <a:rPr lang="en-US" sz="1200" dirty="0">
                <a:solidFill>
                  <a:schemeClr val="tx1"/>
                </a:solidFill>
              </a:rPr>
              <a:t>Outcomes are logged after each decision and never used to tune.</a:t>
            </a:r>
            <a:endParaRPr lang="en-US" sz="1200" dirty="0"/>
          </a:p>
          <a:p>
            <a:pPr marL="342900" indent="-342900">
              <a:spcAft>
                <a:spcPts val="800"/>
              </a:spcAft>
              <a:buSzPct val="100000"/>
              <a:buChar char="•"/>
            </a:pPr>
            <a:r>
              <a:rPr lang="en-US" sz="1200" b="1" dirty="0">
                <a:solidFill>
                  <a:schemeClr val="tx1"/>
                </a:solidFill>
              </a:rPr>
              <a:t>Audit, revise and remeasure</a:t>
            </a:r>
            <a:r>
              <a:rPr lang="en-US" sz="1200" dirty="0">
                <a:solidFill>
                  <a:schemeClr val="tx1"/>
                </a:solidFill>
              </a:rPr>
              <a:t>. A wrong call is a traceable wrong call: we see which input or quote led where. Repeatable means it goes wrong the same way every time, so a fix can be tested and the drift table shows it stayed fixed. Audit, fix, re-measure.</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extLst>
      <p:ext uri="{BB962C8B-B14F-4D97-AF65-F5344CB8AC3E}">
        <p14:creationId xmlns:p14="http://schemas.microsoft.com/office/powerpoint/2010/main" val="9119375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 Ensemble model</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a:solidFill>
                  <a:schemeClr val="bg1"/>
                </a:solidFill>
              </a:rPr>
              <a:t>What the Fed did next after each kind of decision, 266 scheduled meetings since 1994. After a hike: hiked again 64%, held 36%, never cut</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opinion,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a:t>
            </a:r>
          </a:p>
          <a:p>
            <a:pPr marL="0" indent="0" algn="ctr">
              <a:buNone/>
            </a:pPr>
            <a:endParaRPr lang="en-US" sz="950" dirty="0"/>
          </a:p>
          <a:p>
            <a:pPr marL="0" indent="0" algn="ctr">
              <a:buNone/>
            </a:pPr>
            <a:r>
              <a:rPr lang="en-US" sz="950" dirty="0">
                <a:solidFill>
                  <a:schemeClr val="tx1"/>
                </a:solidFill>
              </a:rPr>
              <a:t> </a:t>
            </a:r>
            <a:r>
              <a:rPr lang="en-US" sz="950" dirty="0"/>
              <a:t>LLM analyst opinions then skew it.</a:t>
            </a:r>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Numbers computed by code: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a 1.5% floor; then the specialists' opinion.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Analysts 4 to 8 enter the number. Analysts 1 to 3 are controls.</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move the number by at most 10 points and expire; watch-outs are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575907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3817199728"/>
              </p:ext>
            </p:extLst>
          </p:nvPr>
        </p:nvGraphicFramePr>
        <p:xfrm>
          <a:off x="548640" y="1325880"/>
          <a:ext cx="11091672" cy="3749040"/>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The November fed-funds futures price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Core PCE inflation, unemployment, the NY Fed natural rate, through the Fed's own four policy rules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Polymarket odds on each outcome, 26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What the Fed did at the 49 meetings since 1994 that followed a hike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Nine macro features, as first published; fitted on decisions since 2000</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a:solidFill>
                            <a:srgbClr val="1B1F2A"/>
                          </a:solidFill>
                        </a:rPr>
                        <a:t>Specialists' opinion: </a:t>
                      </a:r>
                      <a:r>
                        <a:rPr lang="en-US" sz="1000" b="1" dirty="0">
                          <a:solidFill>
                            <a:srgbClr val="1B1F2A"/>
                          </a:solidFill>
                        </a:rPr>
                        <a:t>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a:solidFill>
                  <a:srgbClr val="FFFFFF"/>
                </a:solidFill>
              </a:rPr>
              <a:t>The language model's opinion </a:t>
            </a:r>
            <a:r>
              <a:rPr lang="en-US" sz="1300" dirty="0">
                <a:solidFill>
                  <a:srgbClr val="FFFFFF"/>
                </a:solidFill>
              </a:rPr>
              <a:t>is the one line between Pooled and Machine track.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Two things a language model cannot be made to stop doing. Neither is removed; each is designed around, and the design is measured on every snapshot.</a:t>
            </a:r>
            <a:endParaRPr lang="en-US" sz="1200" dirty="0"/>
          </a:p>
        </p:txBody>
      </p:sp>
      <p:sp>
        <p:nvSpPr>
          <p:cNvPr id="5" name="Shape 2"/>
          <p:cNvSpPr/>
          <p:nvPr/>
        </p:nvSpPr>
        <p:spPr>
          <a:xfrm>
            <a:off x="548640"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6" name="Shape 3"/>
          <p:cNvSpPr/>
          <p:nvPr/>
        </p:nvSpPr>
        <p:spPr>
          <a:xfrm>
            <a:off x="548640"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7" name="Text 4"/>
          <p:cNvSpPr txBox="1"/>
          <p:nvPr/>
        </p:nvSpPr>
        <p:spPr>
          <a:xfrm>
            <a:off x="777240"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77240"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answers from memory, and differently each time</a:t>
            </a:r>
            <a:endParaRPr lang="en-US" sz="1600" dirty="0"/>
          </a:p>
        </p:txBody>
      </p:sp>
      <p:sp>
        <p:nvSpPr>
          <p:cNvPr id="9" name="Text 6"/>
          <p:cNvSpPr txBox="1"/>
          <p:nvPr/>
        </p:nvSpPr>
        <p:spPr>
          <a:xfrm>
            <a:off x="777240"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It knows the Fed from its training and will use that unless stopped; ask the same question twice and the number moves.</a:t>
            </a:r>
            <a:endParaRPr lang="en-US" sz="1100" dirty="0"/>
          </a:p>
        </p:txBody>
      </p:sp>
      <p:sp>
        <p:nvSpPr>
          <p:cNvPr id="10" name="Shape 7"/>
          <p:cNvSpPr/>
          <p:nvPr/>
        </p:nvSpPr>
        <p:spPr>
          <a:xfrm>
            <a:off x="548640"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1" name="Text 8"/>
          <p:cNvSpPr txBox="1"/>
          <p:nvPr/>
        </p:nvSpPr>
        <p:spPr>
          <a:xfrm>
            <a:off x="777240"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77240"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Break the question down: </a:t>
            </a:r>
            <a:r>
              <a:rPr lang="en-US" sz="1300" dirty="0">
                <a:solidFill>
                  <a:schemeClr val="tx1"/>
                </a:solidFill>
              </a:rPr>
              <a:t>instead of one big 'what will the Fed do', each analyst gets small fixed questions with a fixed answer shape, like a multiple-choice and short-answer paper. Less room to wander, so less variation between runs.</a:t>
            </a:r>
            <a:endParaRPr lang="en-US" sz="1300" dirty="0"/>
          </a:p>
          <a:p>
            <a:pPr marL="342900" indent="-342900">
              <a:buSzPct val="100000"/>
              <a:buChar char="•"/>
            </a:pPr>
            <a:r>
              <a:rPr lang="en-US" sz="1300" b="1" dirty="0">
                <a:solidFill>
                  <a:srgbClr val="1B1F2A"/>
                </a:solidFill>
              </a:rPr>
              <a:t>Evidence only: </a:t>
            </a:r>
            <a:r>
              <a:rPr lang="en-US" sz="1300" dirty="0">
                <a:solidFill>
                  <a:schemeClr val="tx1"/>
                </a:solidFill>
              </a:rPr>
              <a:t>the instruction says use only the evidence; every claim must carry a verbatim quote from a named item, so a remembered fact has nowhere to stand.</a:t>
            </a:r>
            <a:endParaRPr lang="en-US" sz="1300" dirty="0"/>
          </a:p>
          <a:p>
            <a:pPr marL="342900" indent="-342900">
              <a:buSzPct val="100000"/>
              <a:buChar char="•"/>
            </a:pPr>
            <a:r>
              <a:rPr lang="en-US" sz="1300" b="1" dirty="0">
                <a:solidFill>
                  <a:srgbClr val="1B1F2A"/>
                </a:solidFill>
              </a:rPr>
              <a:t>Measured: </a:t>
            </a:r>
            <a:r>
              <a:rPr lang="en-US" sz="1300" dirty="0">
                <a:solidFill>
                  <a:schemeClr val="tx1"/>
                </a:solidFill>
              </a:rPr>
              <a:t>every number in the answer is matched to the snapshot by code; five identical runs per analyst, and the spread between them must stay within 2 points.</a:t>
            </a:r>
            <a:endParaRPr lang="en-US" sz="1300" dirty="0"/>
          </a:p>
        </p:txBody>
      </p:sp>
      <p:sp>
        <p:nvSpPr>
          <p:cNvPr id="13" name="Shape 10"/>
          <p:cNvSpPr/>
          <p:nvPr/>
        </p:nvSpPr>
        <p:spPr>
          <a:xfrm>
            <a:off x="6208776"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14" name="Shape 11"/>
          <p:cNvSpPr/>
          <p:nvPr/>
        </p:nvSpPr>
        <p:spPr>
          <a:xfrm>
            <a:off x="6208776"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15" name="Text 12"/>
          <p:cNvSpPr txBox="1"/>
          <p:nvPr/>
        </p:nvSpPr>
        <p:spPr>
          <a:xfrm>
            <a:off x="6437376"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16" name="Text 13"/>
          <p:cNvSpPr txBox="1"/>
          <p:nvPr/>
        </p:nvSpPr>
        <p:spPr>
          <a:xfrm>
            <a:off x="6437376"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can invent its own support</a:t>
            </a:r>
            <a:endParaRPr lang="en-US" sz="1600" dirty="0"/>
          </a:p>
        </p:txBody>
      </p:sp>
      <p:sp>
        <p:nvSpPr>
          <p:cNvPr id="17" name="Text 14"/>
          <p:cNvSpPr txBox="1"/>
          <p:nvPr/>
        </p:nvSpPr>
        <p:spPr>
          <a:xfrm>
            <a:off x="6437376"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A fluent quote or figure that was never in the document.</a:t>
            </a:r>
            <a:endParaRPr lang="en-US" sz="1100" dirty="0"/>
          </a:p>
        </p:txBody>
      </p:sp>
      <p:sp>
        <p:nvSpPr>
          <p:cNvPr id="18" name="Shape 15"/>
          <p:cNvSpPr/>
          <p:nvPr/>
        </p:nvSpPr>
        <p:spPr>
          <a:xfrm>
            <a:off x="6208776"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9" name="Text 16"/>
          <p:cNvSpPr txBox="1"/>
          <p:nvPr/>
        </p:nvSpPr>
        <p:spPr>
          <a:xfrm>
            <a:off x="6437376"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0" name="Text 17"/>
          <p:cNvSpPr txBox="1"/>
          <p:nvPr/>
        </p:nvSpPr>
        <p:spPr>
          <a:xfrm>
            <a:off x="6437376"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Check by code, not by a model: </a:t>
            </a:r>
            <a:r>
              <a:rPr lang="en-US" sz="1300" dirty="0">
                <a:solidFill>
                  <a:schemeClr val="tx1"/>
                </a:solidFill>
              </a:rPr>
              <a:t>every quote is matched to its item character for character; a quote stitched from two places fails.</a:t>
            </a:r>
            <a:endParaRPr lang="en-US" sz="1300" dirty="0"/>
          </a:p>
          <a:p>
            <a:pPr marL="342900" indent="-342900">
              <a:buSzPct val="100000"/>
              <a:buChar char="•"/>
            </a:pPr>
            <a:r>
              <a:rPr lang="en-US" sz="1300" b="1" dirty="0">
                <a:solidFill>
                  <a:srgbClr val="1B1F2A"/>
                </a:solidFill>
              </a:rPr>
              <a:t>Bounds: </a:t>
            </a:r>
            <a:r>
              <a:rPr lang="en-US" sz="1300" dirty="0">
                <a:solidFill>
                  <a:schemeClr val="tx1"/>
                </a:solidFill>
              </a:rPr>
              <a:t>every watch-out answered by id; the opinion clipped to −10 to +10.</a:t>
            </a:r>
            <a:endParaRPr lang="en-US" sz="1300" dirty="0"/>
          </a:p>
          <a:p>
            <a:pPr marL="342900" indent="-342900">
              <a:buSzPct val="100000"/>
              <a:buChar char="•"/>
            </a:pPr>
            <a:r>
              <a:rPr lang="en-US" sz="1300" b="1" dirty="0">
                <a:solidFill>
                  <a:srgbClr val="1B1F2A"/>
                </a:solidFill>
              </a:rPr>
              <a:t>One repair round: </a:t>
            </a:r>
            <a:r>
              <a:rPr lang="en-US" sz="1300" dirty="0">
                <a:solidFill>
                  <a:schemeClr val="tx1"/>
                </a:solidFill>
              </a:rPr>
              <a:t>the verifier's report goes back once; both answers are kept; what still fails stays unverified, never hidden.</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extLst>
      <p:ext uri="{BB962C8B-B14F-4D97-AF65-F5344CB8AC3E}">
        <p14:creationId xmlns:p14="http://schemas.microsoft.com/office/powerpoint/2010/main" val="32169615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dirty="0">
                <a:solidFill>
                  <a:srgbClr val="CADCFC"/>
                </a:solidFill>
              </a:rPr>
              <a:t>Each specialist is asked one question about its own slice (above), not how likely each outcome is. It returns claims, each with a verbatim quote and item id, and an opinion from -10 (strongly dovish) to +10 (strongly hawkish). Code averages the five opinions and moves that many points of probability from hold toward a hike (positive) or a cut (negative)</a:t>
            </a:r>
            <a:endParaRPr lang="en-US" sz="1150" dirty="0"/>
          </a:p>
        </p:txBody>
      </p:sp>
      <p:sp>
        <p:nvSpPr>
          <p:cNvPr id="57" name="Shape 54"/>
          <p:cNvSpPr/>
          <p:nvPr/>
        </p:nvSpPr>
        <p:spPr>
          <a:xfrm>
            <a:off x="548640" y="5541264"/>
            <a:ext cx="11091672" cy="356616"/>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 snapshot of 29 October: the December call</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4, Communications: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 asked for probabilities</a:t>
            </a:r>
            <a:endParaRPr lang="en-US" sz="1300" dirty="0"/>
          </a:p>
          <a:p>
            <a:pPr marL="342900" indent="-342900">
              <a:spcAft>
                <a:spcPts val="800"/>
              </a:spcAft>
              <a:buSzPct val="100000"/>
              <a:buChar char="•"/>
            </a:pPr>
            <a:r>
              <a:rPr lang="en-US" sz="1300" dirty="0">
                <a:solidFill>
                  <a:srgbClr val="FFFFFF"/>
                </a:solidFill>
              </a:rPr>
              <a:t>Analyst 4: 45,000 characters. The answer schema. The tone pre-read: vote 10 to 2, Cook and Hammack; the diff: 'raise by 1/4 percentage point' removed, 'maintain' added; seven hawkish terms counted, no dovish ones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pre-read is code, not the model: it parsed the vote, diffed the two statements, counted the words. The model is handed the result and must quote.</a:t>
            </a:r>
            <a:endParaRPr lang="en-US" sz="1300" dirty="0"/>
          </a:p>
          <a:p>
            <a:pPr marL="342900" indent="-342900">
              <a:spcAft>
                <a:spcPts val="800"/>
              </a:spcAft>
              <a:buSzPct val="100000"/>
              <a:buChar char="•"/>
            </a:pPr>
            <a:r>
              <a:rPr lang="en-US" sz="1300" dirty="0">
                <a:solidFill>
                  <a:srgbClr val="FFFFFF"/>
                </a:solidFill>
              </a:rPr>
              <a:t>Its answer, next demo: 8 claims, 8 quotes found; the first quotes the dissent sentence; opinion +4.</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4 is this page.</a:t>
            </a:r>
            <a:endParaRPr lang="en-US" sz="1300" dirty="0"/>
          </a:p>
        </p:txBody>
      </p:sp>
    </p:spTree>
    <p:extLst>
      <p:ext uri="{BB962C8B-B14F-4D97-AF65-F5344CB8AC3E}">
        <p14:creationId xmlns:p14="http://schemas.microsoft.com/office/powerpoint/2010/main" val="8827345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Cited 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14</a:t>
            </a:fld>
            <a:endParaRPr lang="en-US"/>
          </a:p>
        </p:txBody>
      </p:sp>
      <p:cxnSp>
        <p:nvCxnSpPr>
          <p:cNvPr id="14" name="Straight Arrow Connector 13">
            <a:extLst>
              <a:ext uri="{FF2B5EF4-FFF2-40B4-BE49-F238E27FC236}">
                <a16:creationId xmlns:a16="http://schemas.microsoft.com/office/drawing/2014/main" id="{FF4D7530-65E5-69CE-A251-116615B3D154}"/>
              </a:ext>
            </a:extLst>
          </p:cNvPr>
          <p:cNvCxnSpPr/>
          <p:nvPr/>
        </p:nvCxnSpPr>
        <p:spPr>
          <a:xfrm>
            <a:off x="2329314" y="2704699"/>
            <a:ext cx="423511" cy="1309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2D303025-73CF-65E6-15F4-050150F35019}"/>
              </a:ext>
            </a:extLst>
          </p:cNvPr>
          <p:cNvSpPr txBox="1"/>
          <p:nvPr/>
        </p:nvSpPr>
        <p:spPr>
          <a:xfrm>
            <a:off x="2625611" y="2574474"/>
            <a:ext cx="1696453" cy="577081"/>
          </a:xfrm>
          <a:prstGeom prst="rect">
            <a:avLst/>
          </a:prstGeom>
          <a:noFill/>
        </p:spPr>
        <p:txBody>
          <a:bodyPr wrap="square">
            <a:spAutoFit/>
          </a:bodyPr>
          <a:lstStyle/>
          <a:p>
            <a:r>
              <a:rPr lang="en-US" sz="1050" i="1" dirty="0">
                <a:solidFill>
                  <a:schemeClr val="accent2"/>
                </a:solidFill>
              </a:rPr>
              <a:t>Harnessing: a fixed answer shape with a quote per claim, checked by code. </a:t>
            </a:r>
            <a:endParaRPr lang="en-US" dirty="0"/>
          </a:p>
        </p:txBody>
      </p:sp>
      <p:cxnSp>
        <p:nvCxnSpPr>
          <p:cNvPr id="17" name="Straight Arrow Connector 16">
            <a:extLst>
              <a:ext uri="{FF2B5EF4-FFF2-40B4-BE49-F238E27FC236}">
                <a16:creationId xmlns:a16="http://schemas.microsoft.com/office/drawing/2014/main" id="{8035817D-B3D3-DDF4-3740-F828A9F336E6}"/>
              </a:ext>
            </a:extLst>
          </p:cNvPr>
          <p:cNvCxnSpPr>
            <a:cxnSpLocks/>
          </p:cNvCxnSpPr>
          <p:nvPr/>
        </p:nvCxnSpPr>
        <p:spPr>
          <a:xfrm flipV="1">
            <a:off x="8940585" y="1917691"/>
            <a:ext cx="625804" cy="2477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 2">
            <a:extLst>
              <a:ext uri="{FF2B5EF4-FFF2-40B4-BE49-F238E27FC236}">
                <a16:creationId xmlns:a16="http://schemas.microsoft.com/office/drawing/2014/main" id="{53F3C413-CCD0-5F90-6F0B-0DB3020B1388}"/>
              </a:ext>
            </a:extLst>
          </p:cNvPr>
          <p:cNvSpPr txBox="1"/>
          <p:nvPr/>
        </p:nvSpPr>
        <p:spPr>
          <a:xfrm>
            <a:off x="548640" y="6140634"/>
            <a:ext cx="7709836" cy="235819"/>
          </a:xfrm>
          <a:prstGeom prst="rect">
            <a:avLst/>
          </a:prstGeom>
          <a:noFill/>
          <a:ln/>
        </p:spPr>
        <p:txBody>
          <a:bodyPr wrap="square" lIns="0" tIns="0" rIns="0" bIns="0" rtlCol="0" anchor="t"/>
          <a:lstStyle/>
          <a:p>
            <a:pPr marL="0" indent="0">
              <a:buNone/>
            </a:pPr>
            <a:r>
              <a:rPr lang="en-US" sz="950" b="1" dirty="0">
                <a:solidFill>
                  <a:schemeClr val="accent4"/>
                </a:solidFill>
              </a:rPr>
              <a:t>Definition of harnessing</a:t>
            </a:r>
            <a:r>
              <a:rPr lang="en-US" sz="950" dirty="0">
                <a:solidFill>
                  <a:schemeClr val="accent4"/>
                </a:solidFill>
              </a:rPr>
              <a:t>: Wrapping </a:t>
            </a:r>
            <a:r>
              <a:rPr lang="en-US" sz="950" b="1" dirty="0">
                <a:solidFill>
                  <a:schemeClr val="accent4"/>
                </a:solidFill>
              </a:rPr>
              <a:t>data/software infrastructure </a:t>
            </a:r>
            <a:r>
              <a:rPr lang="en-US" sz="950" dirty="0">
                <a:solidFill>
                  <a:schemeClr val="accent4"/>
                </a:solidFill>
              </a:rPr>
              <a:t>or </a:t>
            </a:r>
            <a:r>
              <a:rPr lang="en-US" sz="950" b="1" dirty="0">
                <a:solidFill>
                  <a:schemeClr val="accent4"/>
                </a:solidFill>
              </a:rPr>
              <a:t>code</a:t>
            </a:r>
            <a:r>
              <a:rPr lang="en-US" sz="950" dirty="0">
                <a:solidFill>
                  <a:schemeClr val="accent4"/>
                </a:solidFill>
              </a:rPr>
              <a:t>, wrapped around a LLM to transform it into a bespoke-functioning agent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a:t>
            </a:r>
            <a:r>
              <a:rPr lang="en-US" sz="1250">
                <a:solidFill>
                  <a:schemeClr val="tx1"/>
                </a:solidFill>
              </a:rPr>
              <a:t>does the opinion count </a:t>
            </a:r>
            <a:r>
              <a:rPr lang="en-US" sz="1250" dirty="0">
                <a:solidFill>
                  <a:schemeClr val="tx1"/>
                </a:solidFill>
              </a:rPr>
              <a:t>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from evidence </a:t>
            </a:r>
            <a:endParaRPr lang="en-US" sz="1050" dirty="0"/>
          </a:p>
          <a:p>
            <a:pPr marL="0" indent="0" algn="ctr">
              <a:buNone/>
            </a:pPr>
            <a:r>
              <a:rPr lang="en-US" sz="1050" dirty="0">
                <a:solidFill>
                  <a:schemeClr val="tx1"/>
                </a:solidFill>
              </a:rPr>
              <a:t>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dirty="0">
                <a:solidFill>
                  <a:schemeClr val="bg1"/>
                </a:solidFill>
              </a:rPr>
              <a:t>5 opinions</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endParaRPr lang="en-US" sz="1050" dirty="0"/>
          </a:p>
        </p:txBody>
      </p:sp>
      <p:sp>
        <p:nvSpPr>
          <p:cNvPr id="21" name="Shape 18"/>
          <p:cNvSpPr/>
          <p:nvPr/>
        </p:nvSpPr>
        <p:spPr>
          <a:xfrm>
            <a:off x="548640" y="3931920"/>
            <a:ext cx="4434840" cy="246888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164592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2011680" cy="1005840"/>
          </a:xfrm>
          <a:prstGeom prst="rect">
            <a:avLst/>
          </a:prstGeom>
          <a:noFill/>
          <a:ln/>
        </p:spPr>
        <p:txBody>
          <a:bodyPr wrap="square" lIns="0" tIns="0" rIns="0" bIns="0" rtlCol="0" anchor="t"/>
          <a:lstStyle/>
          <a:p>
            <a:pPr marL="0" indent="0">
              <a:buNone/>
            </a:pPr>
            <a:r>
              <a:rPr lang="en-US" sz="1000" b="1" dirty="0">
                <a:solidFill>
                  <a:schemeClr val="tx1"/>
                </a:solidFill>
              </a:rPr>
              <a:t>Four say hike, one says hold: </a:t>
            </a:r>
            <a:r>
              <a:rPr lang="en-US" sz="1000" dirty="0">
                <a:solidFill>
                  <a:schemeClr val="tx1"/>
                </a:solidFill>
              </a:rPr>
              <a:t>+4.0.</a:t>
            </a:r>
          </a:p>
          <a:p>
            <a:pPr marL="0" indent="0">
              <a:buNone/>
            </a:pPr>
            <a:r>
              <a:rPr lang="en-US" sz="1000" b="1" dirty="0">
                <a:solidFill>
                  <a:schemeClr val="tx1"/>
                </a:solidFill>
              </a:rPr>
              <a:t>+4.0 moves 4 points of probability to the hike side. </a:t>
            </a:r>
            <a:r>
              <a:rPr lang="en-US" sz="1000" dirty="0">
                <a:solidFill>
                  <a:schemeClr val="tx1"/>
                </a:solidFill>
              </a:rPr>
              <a:t>Each bucket is scaled by a factor rising from the cut end to the hike end, so the hikes gain 4.0 and hold plus the cuts lose 4.0:</a:t>
            </a:r>
            <a:endParaRPr lang="en-US" sz="100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a:t>
            </a:r>
            <a:r>
              <a:rPr lang="en-US" sz="1000">
                <a:solidFill>
                  <a:schemeClr val="accent4"/>
                </a:solidFill>
              </a:rPr>
              <a:t>· opinion hawkish </a:t>
            </a:r>
            <a:r>
              <a:rPr lang="en-US" sz="1000" dirty="0">
                <a:solidFill>
                  <a:schemeClr val="accent4"/>
                </a:solidFill>
              </a:rPr>
              <a:t>·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15</a:t>
            </a:fld>
            <a:endParaRPr lang="en-US"/>
          </a:p>
        </p:txBody>
      </p:sp>
      <p:graphicFrame>
        <p:nvGraphicFramePr>
          <p:cNvPr id="32" name="SpreadTable">
            <a:extLst>
              <a:ext uri="{FF2B5EF4-FFF2-40B4-BE49-F238E27FC236}">
                <a16:creationId xmlns:a16="http://schemas.microsoft.com/office/drawing/2014/main" id="{BCDD3364-9B79-B82C-6C52-1F95802C7B60}"/>
              </a:ext>
            </a:extLst>
          </p:cNvPr>
          <p:cNvGraphicFramePr>
            <a:graphicFrameLocks noGrp="1"/>
          </p:cNvGraphicFramePr>
          <p:nvPr>
            <p:extLst>
              <p:ext uri="{D42A27DB-BD31-4B8C-83A1-F6EECF244321}">
                <p14:modId xmlns:p14="http://schemas.microsoft.com/office/powerpoint/2010/main" val="2430876610"/>
              </p:ext>
            </p:extLst>
          </p:nvPr>
        </p:nvGraphicFramePr>
        <p:xfrm>
          <a:off x="2880360" y="5394960"/>
          <a:ext cx="2011680" cy="932688"/>
        </p:xfrm>
        <a:graphic>
          <a:graphicData uri="http://schemas.openxmlformats.org/drawingml/2006/table">
            <a:tbl>
              <a:tblPr>
                <a:tableStyleId>{5C22544A-7EE6-4342-B048-85BDC9FD1C3A}</a:tableStyleId>
              </a:tblPr>
              <a:tblGrid>
                <a:gridCol w="685800">
                  <a:extLst>
                    <a:ext uri="{9D8B030D-6E8A-4147-A177-3AD203B41FA5}">
                      <a16:colId xmlns:a16="http://schemas.microsoft.com/office/drawing/2014/main" val="504904212"/>
                    </a:ext>
                  </a:extLst>
                </a:gridCol>
                <a:gridCol w="411480">
                  <a:extLst>
                    <a:ext uri="{9D8B030D-6E8A-4147-A177-3AD203B41FA5}">
                      <a16:colId xmlns:a16="http://schemas.microsoft.com/office/drawing/2014/main" val="1883679819"/>
                    </a:ext>
                  </a:extLst>
                </a:gridCol>
                <a:gridCol w="411480">
                  <a:extLst>
                    <a:ext uri="{9D8B030D-6E8A-4147-A177-3AD203B41FA5}">
                      <a16:colId xmlns:a16="http://schemas.microsoft.com/office/drawing/2014/main" val="3792611000"/>
                    </a:ext>
                  </a:extLst>
                </a:gridCol>
                <a:gridCol w="502920">
                  <a:extLst>
                    <a:ext uri="{9D8B030D-6E8A-4147-A177-3AD203B41FA5}">
                      <a16:colId xmlns:a16="http://schemas.microsoft.com/office/drawing/2014/main" val="4160339742"/>
                    </a:ext>
                  </a:extLst>
                </a:gridCol>
              </a:tblGrid>
              <a:tr h="155448">
                <a:tc>
                  <a:txBody>
                    <a:bodyPr/>
                    <a:lstStyle/>
                    <a:p>
                      <a:r>
                        <a:rPr lang="en-US" sz="850" b="1">
                          <a:solidFill>
                            <a:srgbClr val="FFFFFF"/>
                          </a:solidFill>
                        </a:rPr>
                        <a:t>Outcome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Before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After</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Change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extLst>
                  <a:ext uri="{0D108BD9-81ED-4DB2-BD59-A6C34878D82A}">
                    <a16:rowId xmlns:a16="http://schemas.microsoft.com/office/drawing/2014/main" val="3738462938"/>
                  </a:ext>
                </a:extLst>
              </a:tr>
              <a:tr h="155448">
                <a:tc>
                  <a:txBody>
                    <a:bodyPr/>
                    <a:lstStyle/>
                    <a:p>
                      <a:r>
                        <a:rPr lang="en-US" sz="850" b="0">
                          <a:solidFill>
                            <a:srgbClr val="1C1F2B"/>
                          </a:solidFill>
                        </a:rPr>
                        <a:t>−50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dirty="0">
                          <a:solidFill>
                            <a:srgbClr val="1C1F2B"/>
                          </a:solidFill>
                        </a:rPr>
                        <a:t>1.1</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−0.45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3143711139"/>
                  </a:ext>
                </a:extLst>
              </a:tr>
              <a:tr h="155448">
                <a:tc>
                  <a:txBody>
                    <a:bodyPr/>
                    <a:lstStyle/>
                    <a:p>
                      <a:r>
                        <a:rPr lang="en-US" sz="850" b="0">
                          <a:solidFill>
                            <a:srgbClr val="1C1F2B"/>
                          </a:solidFill>
                        </a:rPr>
                        <a:t>−25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1.2</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−0.27</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429369120"/>
                  </a:ext>
                </a:extLst>
              </a:tr>
              <a:tr h="155448">
                <a:tc>
                  <a:txBody>
                    <a:bodyPr/>
                    <a:lstStyle/>
                    <a:p>
                      <a:r>
                        <a:rPr lang="en-US" sz="850" b="0">
                          <a:solidFill>
                            <a:srgbClr val="1C1F2B"/>
                          </a:solidFill>
                        </a:rPr>
                        <a:t>no change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70.9</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67.6</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−3.28</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890441951"/>
                  </a:ext>
                </a:extLst>
              </a:tr>
              <a:tr h="155448">
                <a:tc>
                  <a:txBody>
                    <a:bodyPr/>
                    <a:lstStyle/>
                    <a:p>
                      <a:r>
                        <a:rPr lang="en-US" sz="850" b="0">
                          <a:solidFill>
                            <a:srgbClr val="1C1F2B"/>
                          </a:solidFill>
                        </a:rPr>
                        <a:t>+25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20.2</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22.4</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+2.24</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1000320103"/>
                  </a:ext>
                </a:extLst>
              </a:tr>
              <a:tr h="155448">
                <a:tc>
                  <a:txBody>
                    <a:bodyPr/>
                    <a:lstStyle/>
                    <a:p>
                      <a:r>
                        <a:rPr lang="en-US" sz="850" b="0">
                          <a:solidFill>
                            <a:srgbClr val="1C1F2B"/>
                          </a:solidFill>
                        </a:rPr>
                        <a:t>+50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6.0</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7.7</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dirty="0">
                          <a:solidFill>
                            <a:srgbClr val="1C1F2B"/>
                          </a:solidFill>
                        </a:rPr>
                        <a:t>+1.76</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1554394274"/>
                  </a:ext>
                </a:extLst>
              </a:tr>
            </a:tbl>
          </a:graphicData>
        </a:graphic>
      </p:graphicFrame>
    </p:spTree>
    <p:extLst>
      <p:ext uri="{BB962C8B-B14F-4D97-AF65-F5344CB8AC3E}">
        <p14:creationId xmlns:p14="http://schemas.microsoft.com/office/powerpoint/2010/main" val="2067537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 same snapshot of 29 October</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 run 1</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52%, 64 numbers from memory across five runs, nothing quoted</a:t>
            </a:r>
            <a:endParaRPr lang="en-US" sz="1300" dirty="0"/>
          </a:p>
          <a:p>
            <a:pPr marL="342900" indent="-342900">
              <a:spcAft>
                <a:spcPts val="800"/>
              </a:spcAft>
              <a:buSzPct val="100000"/>
              <a:buChar char="•"/>
            </a:pPr>
            <a:r>
              <a:rPr lang="en-US" sz="1300" dirty="0">
                <a:solidFill>
                  <a:srgbClr val="FFFFFF"/>
                </a:solidFill>
              </a:rPr>
              <a:t>Analyst 4: 8 claims, 8 quotes found, 0 numbers from memory; five runs mean +5.0, spread 0.6</a:t>
            </a:r>
            <a:endParaRPr lang="en-US" sz="1300" dirty="0"/>
          </a:p>
          <a:p>
            <a:pPr marL="342900" indent="-342900">
              <a:spcAft>
                <a:spcPts val="800"/>
              </a:spcAft>
              <a:buSzPct val="100000"/>
              <a:buChar char="•"/>
            </a:pPr>
            <a:r>
              <a:rPr lang="en-US" sz="1300" dirty="0">
                <a:solidFill>
                  <a:srgbClr val="FFFFFF"/>
                </a:solidFill>
              </a:rPr>
              <a:t>Claim 1: the dissenters wanted to tighten, quoting the dissent sentence in the 28 October statement. Claim 6, dovish: the committee chose to hold</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analyst read the diff the pre-read flagged and quoted it. It also argued the other side: the hold itself, and the wait-for-data line.</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extLst>
      <p:ext uri="{BB962C8B-B14F-4D97-AF65-F5344CB8AC3E}">
        <p14:creationId xmlns:p14="http://schemas.microsoft.com/office/powerpoint/2010/main" val="5341803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a:solidFill>
                  <a:schemeClr val="tx2"/>
                </a:solidFill>
              </a:rPr>
              <a:t>Alternative weightings, written down now,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a:solidFill>
                  <a:schemeClr val="tx1"/>
                </a:solidFill>
              </a:rPr>
              <a:t>Write down three or four alternative weightings now, for example market 0.6, 0.5 or 0.7 with the rest redistributed. The backtest can guide the split between Taylor and base rates; it cannot set the market share, since we hold no history of futures or prediction-market odds. Score every weighting on every live decision with the same log score and Brier. The live weighting changes only by amendment, on that record. Weights are never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opinion.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differing from what the models read. </a:t>
            </a:r>
          </a:p>
          <a:p>
            <a:pPr marL="0" indent="0">
              <a:buNone/>
            </a:pPr>
            <a:endParaRPr lang="en-US" sz="1000" dirty="0"/>
          </a:p>
          <a:p>
            <a:pPr marL="0" indent="0">
              <a:buNone/>
            </a:pPr>
            <a:r>
              <a:rPr lang="en-US" sz="1000" b="1" dirty="0">
                <a:solidFill>
                  <a:schemeClr val="tx1"/>
                </a:solidFill>
              </a:rPr>
              <a:t>A watch-out agent that scans for bank failures, funding stress and market dislocations and raises a typed watch-out every analyst must answer.</a:t>
            </a:r>
            <a:endParaRPr lang="en-US" sz="1000" b="1"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Further validation from second model family. (cheaper?)</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a:t>
            </a:r>
          </a:p>
          <a:p>
            <a:pPr marL="0" indent="0">
              <a:buNone/>
            </a:pPr>
            <a:r>
              <a:rPr lang="en-US" sz="1000" dirty="0">
                <a:solidFill>
                  <a:schemeClr val="tx1"/>
                </a:solidFill>
              </a:rPr>
              <a:t>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Scale: 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Improvement: 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a:solidFill>
                  <a:schemeClr val="tx1"/>
                </a:solidFill>
              </a:rPr>
              <a:t>Our probit scored poorly. The cause is the data: 68% of decisions are holds and the cuts bunch into a few episodes, so the model learns hold and misses the rest. Replace it with a model built for that imbalance (class weights, or an ordinal model that shrinks toward the base rate), tested only on decisions it has not seen. About 130 usable decisions, so small models.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18</a:t>
            </a:fld>
            <a:endParaRPr lang="en-US"/>
          </a:p>
        </p:txBody>
      </p:sp>
    </p:spTree>
    <p:extLst>
      <p:ext uri="{BB962C8B-B14F-4D97-AF65-F5344CB8AC3E}">
        <p14:creationId xmlns:p14="http://schemas.microsoft.com/office/powerpoint/2010/main" val="7522578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Three things to take away</a:t>
            </a:r>
            <a:endParaRPr lang="en-US" sz="3200" dirty="0"/>
          </a:p>
        </p:txBody>
      </p:sp>
      <p:sp>
        <p:nvSpPr>
          <p:cNvPr id="4" name="Shape 1"/>
          <p:cNvSpPr/>
          <p:nvPr/>
        </p:nvSpPr>
        <p:spPr>
          <a:xfrm>
            <a:off x="548640" y="1371600"/>
            <a:ext cx="3575304" cy="3566160"/>
          </a:xfrm>
          <a:prstGeom prst="roundRect">
            <a:avLst>
              <a:gd name="adj" fmla="val 307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777240" y="1600200"/>
            <a:ext cx="384048" cy="384048"/>
          </a:xfrm>
          <a:prstGeom prst="ellipse">
            <a:avLst/>
          </a:prstGeom>
          <a:solidFill>
            <a:srgbClr val="1E2761"/>
          </a:solidFill>
          <a:ln w="12700">
            <a:solidFill>
              <a:srgbClr val="1E2761"/>
            </a:solidFill>
            <a:prstDash val="solid"/>
          </a:ln>
        </p:spPr>
      </p:sp>
      <p:sp>
        <p:nvSpPr>
          <p:cNvPr id="6" name="Text 3"/>
          <p:cNvSpPr txBox="1"/>
          <p:nvPr/>
        </p:nvSpPr>
        <p:spPr>
          <a:xfrm>
            <a:off x="7772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280160" y="1572768"/>
            <a:ext cx="2660904" cy="457200"/>
          </a:xfrm>
          <a:prstGeom prst="rect">
            <a:avLst/>
          </a:prstGeom>
          <a:noFill/>
          <a:ln/>
        </p:spPr>
        <p:txBody>
          <a:bodyPr wrap="square" lIns="0" tIns="0" rIns="0" bIns="0" rtlCol="0" anchor="ctr"/>
          <a:lstStyle/>
          <a:p>
            <a:pPr marL="0" indent="0">
              <a:buNone/>
            </a:pPr>
            <a:r>
              <a:rPr lang="en-US" sz="1600" b="1" dirty="0">
                <a:solidFill>
                  <a:schemeClr val="tx2"/>
                </a:solidFill>
              </a:rPr>
              <a:t>Design around the model's limits</a:t>
            </a:r>
            <a:endParaRPr lang="en-US" sz="1600" dirty="0"/>
          </a:p>
        </p:txBody>
      </p:sp>
      <p:sp>
        <p:nvSpPr>
          <p:cNvPr id="8" name="Text 5"/>
          <p:cNvSpPr txBox="1"/>
          <p:nvPr/>
        </p:nvSpPr>
        <p:spPr>
          <a:xfrm>
            <a:off x="777240" y="2240280"/>
            <a:ext cx="3118104" cy="2606040"/>
          </a:xfrm>
          <a:prstGeom prst="rect">
            <a:avLst/>
          </a:prstGeom>
          <a:noFill/>
          <a:ln/>
        </p:spPr>
        <p:txBody>
          <a:bodyPr wrap="square" lIns="0" tIns="0" rIns="0" bIns="0" rtlCol="0" anchor="t"/>
          <a:lstStyle/>
          <a:p>
            <a:pPr marL="0" indent="0">
              <a:buNone/>
            </a:pPr>
            <a:r>
              <a:rPr lang="en-US" sz="1400" dirty="0">
                <a:solidFill>
                  <a:schemeClr val="tx1"/>
                </a:solidFill>
              </a:rPr>
              <a:t>It remembers: so it reads only the frozen evidence, and every number in its answer is matched to the snapshot. It varies: so it answers in a fixed shape, five times, and the spread is measured against a pass mark. It invents: so every claim carries a verbatim quote that code finds character for character, with one repair round. Nothing is removed. Everything is checked.</a:t>
            </a:r>
            <a:endParaRPr lang="en-US" sz="1400" dirty="0"/>
          </a:p>
        </p:txBody>
      </p:sp>
      <p:sp>
        <p:nvSpPr>
          <p:cNvPr id="9" name="Shape 6"/>
          <p:cNvSpPr/>
          <p:nvPr/>
        </p:nvSpPr>
        <p:spPr>
          <a:xfrm>
            <a:off x="4306824" y="1371600"/>
            <a:ext cx="3575304" cy="3566160"/>
          </a:xfrm>
          <a:prstGeom prst="roundRect">
            <a:avLst>
              <a:gd name="adj" fmla="val 307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4535424" y="160020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35424"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38344" y="1572768"/>
            <a:ext cx="2660904" cy="457200"/>
          </a:xfrm>
          <a:prstGeom prst="rect">
            <a:avLst/>
          </a:prstGeom>
          <a:noFill/>
          <a:ln/>
        </p:spPr>
        <p:txBody>
          <a:bodyPr wrap="square" lIns="0" tIns="0" rIns="0" bIns="0" rtlCol="0" anchor="ctr"/>
          <a:lstStyle/>
          <a:p>
            <a:pPr marL="0" indent="0">
              <a:buNone/>
            </a:pPr>
            <a:r>
              <a:rPr lang="en-US" sz="1600" b="1" dirty="0">
                <a:solidFill>
                  <a:schemeClr val="tx2"/>
                </a:solidFill>
              </a:rPr>
              <a:t>The engineering is in the harness</a:t>
            </a:r>
            <a:endParaRPr lang="en-US" sz="1600" dirty="0"/>
          </a:p>
        </p:txBody>
      </p:sp>
      <p:sp>
        <p:nvSpPr>
          <p:cNvPr id="13" name="Text 10"/>
          <p:cNvSpPr txBox="1"/>
          <p:nvPr/>
        </p:nvSpPr>
        <p:spPr>
          <a:xfrm>
            <a:off x="4535424" y="2240280"/>
            <a:ext cx="3118104" cy="2606040"/>
          </a:xfrm>
          <a:prstGeom prst="rect">
            <a:avLst/>
          </a:prstGeom>
          <a:noFill/>
          <a:ln/>
        </p:spPr>
        <p:txBody>
          <a:bodyPr wrap="square" lIns="0" tIns="0" rIns="0" bIns="0" rtlCol="0" anchor="t"/>
          <a:lstStyle/>
          <a:p>
            <a:pPr marL="0" indent="0">
              <a:buNone/>
            </a:pPr>
            <a:r>
              <a:rPr lang="en-US" sz="1400" dirty="0">
                <a:solidFill>
                  <a:schemeClr val="tx1"/>
                </a:solidFill>
              </a:rPr>
              <a:t>The model is one component in a chain: frozen evidence, pre-reads computed by code, a fixed answer shape, a verifier, a bounded opinion, a pool at fixed weights, an append-only ledger. The chain decides what the model may read, what shape it must answer in, and what happens when it is wrong. Swap the model and the chain stands. Remove the chain and the same model wobbles and leaks.</a:t>
            </a:r>
            <a:endParaRPr lang="en-US" sz="1400" dirty="0"/>
          </a:p>
        </p:txBody>
      </p:sp>
      <p:sp>
        <p:nvSpPr>
          <p:cNvPr id="14" name="Shape 11"/>
          <p:cNvSpPr/>
          <p:nvPr/>
        </p:nvSpPr>
        <p:spPr>
          <a:xfrm>
            <a:off x="8065008" y="1371600"/>
            <a:ext cx="3575304" cy="3566160"/>
          </a:xfrm>
          <a:prstGeom prst="roundRect">
            <a:avLst>
              <a:gd name="adj" fmla="val 307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8293608" y="160020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293608"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796528" y="1572768"/>
            <a:ext cx="2660904" cy="457200"/>
          </a:xfrm>
          <a:prstGeom prst="rect">
            <a:avLst/>
          </a:prstGeom>
          <a:noFill/>
          <a:ln/>
        </p:spPr>
        <p:txBody>
          <a:bodyPr wrap="square" lIns="0" tIns="0" rIns="0" bIns="0" rtlCol="0" anchor="ctr"/>
          <a:lstStyle/>
          <a:p>
            <a:pPr marL="0" indent="0">
              <a:buNone/>
            </a:pPr>
            <a:r>
              <a:rPr lang="en-US" sz="1600" b="1" dirty="0">
                <a:solidFill>
                  <a:schemeClr val="tx2"/>
                </a:solidFill>
              </a:rPr>
              <a:t>Process is what you can judge</a:t>
            </a:r>
            <a:endParaRPr lang="en-US" sz="1600" dirty="0"/>
          </a:p>
        </p:txBody>
      </p:sp>
      <p:sp>
        <p:nvSpPr>
          <p:cNvPr id="18" name="Text 15"/>
          <p:cNvSpPr txBox="1"/>
          <p:nvPr/>
        </p:nvSpPr>
        <p:spPr>
          <a:xfrm>
            <a:off x="8293608" y="2240280"/>
            <a:ext cx="3118104" cy="2606040"/>
          </a:xfrm>
          <a:prstGeom prst="rect">
            <a:avLst/>
          </a:prstGeom>
          <a:noFill/>
          <a:ln/>
        </p:spPr>
        <p:txBody>
          <a:bodyPr wrap="square" lIns="0" tIns="0" rIns="0" bIns="0" rtlCol="0" anchor="t"/>
          <a:lstStyle/>
          <a:p>
            <a:pPr marL="0" indent="0">
              <a:buNone/>
            </a:pPr>
            <a:r>
              <a:rPr lang="en-US" sz="1400" dirty="0">
                <a:solidFill>
                  <a:schemeClr val="tx1"/>
                </a:solidFill>
              </a:rPr>
              <a:t>The model does the heavy lifting: it reads the statements, the minutes and the transcript in a minute and comes back with quoted claims. The architecture decides whether that work can be trusted, repeated and replayed. Eight decisions a year cannot prove skill. A scorecard written before the first run and measured on every snapshot shows discipline and catches drift.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19</a:t>
            </a:fld>
            <a:endParaRPr lang="en-US"/>
          </a:p>
        </p:txBody>
      </p:sp>
    </p:spTree>
    <p:extLst>
      <p:ext uri="{BB962C8B-B14F-4D97-AF65-F5344CB8AC3E}">
        <p14:creationId xmlns:p14="http://schemas.microsoft.com/office/powerpoint/2010/main" val="15296710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opinion because they output an opinion,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a:t>
            </a:r>
            <a:r>
              <a:rPr lang="en-US" sz="3200" b="1">
                <a:solidFill>
                  <a:schemeClr val="tx2"/>
                </a:solidFill>
              </a:rPr>
              <a:t>the analysts' opinion moves </a:t>
            </a:r>
            <a:r>
              <a:rPr lang="en-US" sz="3200" b="1" dirty="0">
                <a:solidFill>
                  <a:schemeClr val="tx2"/>
                </a:solidFill>
              </a:rPr>
              <a:t>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a:solidFill>
                  <a:schemeClr val="tx2"/>
                </a:solidFill>
              </a:rPr>
              <a:t>1. The opinion</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Ten is the cap any single input has on the number, the same as a human view.</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a:solidFill>
                  <a:schemeClr val="tx1"/>
                </a:solidFill>
              </a:rPr>
              <a:t>Five opinions, one vote each, </a:t>
            </a:r>
            <a:r>
              <a:rPr lang="en-US" sz="1050" dirty="0">
                <a:solidFill>
                  <a:schemeClr val="tx1"/>
                </a:solidFill>
              </a:rPr>
              <a:t>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a:t>
            </a:r>
            <a:r>
              <a:rPr lang="en-US" sz="1000">
                <a:solidFill>
                  <a:schemeClr val="tx1"/>
                </a:solidFill>
              </a:rPr>
              <a:t>the mean opinion's </a:t>
            </a:r>
            <a:r>
              <a:rPr lang="en-US" sz="1000" dirty="0">
                <a:solidFill>
                  <a:schemeClr val="tx1"/>
                </a:solidFill>
              </a:rPr>
              <a:t>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a:t>
            </a:r>
            <a:r>
              <a:rPr lang="en-US" sz="1400" b="1">
                <a:solidFill>
                  <a:schemeClr val="tx2"/>
                </a:solidFill>
              </a:rPr>
              <a:t>: mean opinion </a:t>
            </a:r>
            <a:r>
              <a:rPr lang="en-US" sz="1400" b="1" dirty="0">
                <a:solidFill>
                  <a:schemeClr val="tx2"/>
                </a:solidFill>
              </a:rPr>
              <a:t>+4.0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3072384"/>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position) ÷ 1.0486, where position is −2, −1, 0, +1, +2 and 1.0486 is what the five re-weighted buckets add up to before rescaling. Exactly 4.00 points crossed; the after column is the machine forecast recorded as entry #18.</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extLst>
      <p:ext uri="{BB962C8B-B14F-4D97-AF65-F5344CB8AC3E}">
        <p14:creationId xmlns:p14="http://schemas.microsoft.com/office/powerpoint/2010/main" val="38598864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192024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a:solidFill>
                  <a:schemeClr val="tx1"/>
                </a:solidFill>
              </a:rPr>
              <a:t>About 130 usable decisions; 68% are holds and the cuts bunch into a few episodes. A big model memorises the episodes and looks good on any test near them. The replacement must handle that imbalance (class weights, or an ordinal model shrunk toward the base rate) and be judged only on decisions it has not seen, the expanding window.</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7428942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historical base rates</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The simplest model in the pool, and the only one with no parameters: nothing is fitted, nothing can be tuned.</a:t>
            </a:r>
            <a:endParaRPr lang="en-US" sz="1050" dirty="0"/>
          </a:p>
          <a:p>
            <a:pPr marL="342900" indent="-342900">
              <a:spcAft>
                <a:spcPts val="500"/>
              </a:spcAft>
              <a:buSzPct val="100000"/>
              <a:buChar char="•"/>
            </a:pPr>
            <a:r>
              <a:rPr lang="en-US" sz="1050" dirty="0">
                <a:solidFill>
                  <a:schemeClr val="tx1"/>
                </a:solidFill>
              </a:rPr>
              <a:t>Take the 266 scheduled decisions since 1994. Group them by what the Fed had done at the previous meeting: a hike, a hold or a cut. Count what it did next. That count is the forecast.</a:t>
            </a:r>
            <a:endParaRPr lang="en-US" sz="1050" dirty="0"/>
          </a:p>
          <a:p>
            <a:pPr marL="342900" indent="-342900">
              <a:spcAft>
                <a:spcPts val="500"/>
              </a:spcAft>
              <a:buSzPct val="100000"/>
              <a:buChar char="•"/>
            </a:pPr>
            <a:r>
              <a:rPr lang="en-US" sz="1050" dirty="0">
                <a:solidFill>
                  <a:schemeClr val="tx1"/>
                </a:solidFill>
              </a:rPr>
              <a:t>Today the last decision was a hike, so the model reads the 49 meetings that followed a hike: hold 35%, hike 65%. The hike share is split 80/20 between +25 and +50, the historical share of large moves.</a:t>
            </a:r>
            <a:endParaRPr lang="en-US" sz="1050" dirty="0"/>
          </a:p>
          <a:p>
            <a:pPr marL="342900" indent="-342900">
              <a:spcAft>
                <a:spcPts val="500"/>
              </a:spcAft>
              <a:buSzPct val="100000"/>
              <a:buChar char="•"/>
            </a:pPr>
            <a:r>
              <a:rPr lang="en-US" sz="1050" dirty="0">
                <a:solidFill>
                  <a:schemeClr val="tx1"/>
                </a:solidFill>
              </a:rPr>
              <a:t>Why it is in the pool: on the expanding-window test it beat the fitted probit (log score −0.584 against −0.788), so it earned 0.1 (amendment #6). Why not more: it knows nothing about today; it is the prior the other models update.</a:t>
            </a:r>
            <a:endParaRPr lang="en-US" sz="1050" dirty="0"/>
          </a:p>
          <a:p>
            <a:pPr marL="342900" indent="-342900">
              <a:spcAft>
                <a:spcPts val="500"/>
              </a:spcAft>
              <a:buSzPct val="100000"/>
              <a:buChar char="•"/>
            </a:pPr>
            <a:r>
              <a:rPr lang="en-US" sz="1050" dirty="0">
                <a:solidFill>
                  <a:schemeClr val="tx1"/>
                </a:solidFill>
              </a:rPr>
              <a:t>Intermeeting moves (28 since 1994) are counted separately and never as a scheduled decision.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What the Fed did next, 266 scheduled meetings since 1994</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2103120"/>
        </p:xfrm>
        <a:graphic>
          <a:graphicData uri="http://schemas.openxmlformats.org/drawingml/2006/table">
            <a:tbl>
              <a:tblPr/>
              <a:tblGrid>
                <a:gridCol w="1920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420624">
                <a:tc>
                  <a:txBody>
                    <a:bodyPr/>
                    <a:lstStyle/>
                    <a:p>
                      <a:pPr marL="0" indent="0">
                        <a:buNone/>
                      </a:pPr>
                      <a:r>
                        <a:rPr lang="en-US" sz="1150" b="1" dirty="0">
                          <a:solidFill>
                            <a:srgbClr val="FFFFFF"/>
                          </a:solidFill>
                        </a:rPr>
                        <a:t>Previous decision</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Cases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hike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1F2A"/>
                          </a:solidFill>
                        </a:rPr>
                        <a:t>A hike (today's case)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50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36%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150" dirty="0">
                          <a:solidFill>
                            <a:srgbClr val="1B1F2A"/>
                          </a:solidFill>
                        </a:rPr>
                        <a:t>A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183</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85%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150" dirty="0">
                          <a:solidFill>
                            <a:srgbClr val="1B1F2A"/>
                          </a:solidFill>
                        </a:rPr>
                        <a:t>A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150" dirty="0">
                          <a:solidFill>
                            <a:srgbClr val="6B7280"/>
                          </a:solidFill>
                        </a:rPr>
                        <a:t>All decisions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69%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4023360"/>
            <a:ext cx="5468112" cy="822960"/>
          </a:xfrm>
          <a:prstGeom prst="rect">
            <a:avLst/>
          </a:prstGeom>
          <a:noFill/>
          <a:ln/>
        </p:spPr>
        <p:txBody>
          <a:bodyPr wrap="square" lIns="0" tIns="0" rIns="0" bIns="0" rtlCol="0" anchor="t"/>
          <a:lstStyle/>
          <a:p>
            <a:pPr marL="0" indent="0">
              <a:buNone/>
            </a:pPr>
            <a:r>
              <a:rPr lang="en-US" sz="1050" dirty="0">
                <a:solidFill>
                  <a:schemeClr val="accent4"/>
                </a:solidFill>
              </a:rPr>
              <a:t>Read the first row: of the 50 meetings that came right after a hike, the Fed hiked again at 32 and held at 18; it never cut straight after a hike. The pool uses the 49 cases known at the time of the 28 October snapshot.</a:t>
            </a:r>
            <a:endParaRPr lang="en-US" sz="1050" dirty="0"/>
          </a:p>
        </p:txBody>
      </p:sp>
      <p:sp>
        <p:nvSpPr>
          <p:cNvPr id="10" name="Text 6"/>
          <p:cNvSpPr txBox="1"/>
          <p:nvPr/>
        </p:nvSpPr>
        <p:spPr>
          <a:xfrm>
            <a:off x="6172200" y="489204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a prior matters</a:t>
            </a:r>
            <a:endParaRPr lang="en-US" sz="1400" dirty="0"/>
          </a:p>
        </p:txBody>
      </p:sp>
      <p:sp>
        <p:nvSpPr>
          <p:cNvPr id="11" name="Text 7"/>
          <p:cNvSpPr txBox="1"/>
          <p:nvPr/>
        </p:nvSpPr>
        <p:spPr>
          <a:xfrm>
            <a:off x="6172200" y="5212080"/>
            <a:ext cx="5468112" cy="914400"/>
          </a:xfrm>
          <a:prstGeom prst="rect">
            <a:avLst/>
          </a:prstGeom>
          <a:noFill/>
          <a:ln/>
        </p:spPr>
        <p:txBody>
          <a:bodyPr wrap="square" lIns="0" tIns="0" rIns="0" bIns="0" rtlCol="0" anchor="t"/>
          <a:lstStyle/>
          <a:p>
            <a:pPr marL="0" indent="0">
              <a:buNone/>
            </a:pPr>
            <a:r>
              <a:rPr lang="en-US" sz="1050" dirty="0">
                <a:solidFill>
                  <a:schemeClr val="tx1"/>
                </a:solidFill>
              </a:rPr>
              <a:t>The Fed moves in runs. A hike is usually followed by another hike, a cut by another cut, and a hold by a hold. Any forecast that ignores this starts from the wrong place; the base rate is the place to start, and the market, the rules and the analysts move it from there.</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23</a:t>
            </a:fld>
            <a:endParaRPr lang="en-US"/>
          </a:p>
        </p:txBody>
      </p:sp>
    </p:spTree>
    <p:extLst>
      <p:ext uri="{BB962C8B-B14F-4D97-AF65-F5344CB8AC3E}">
        <p14:creationId xmlns:p14="http://schemas.microsoft.com/office/powerpoint/2010/main" val="4031238931"/>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126</TotalTime>
  <Words>8572</Words>
  <Application>Microsoft Office PowerPoint</Application>
  <PresentationFormat>Widescreen</PresentationFormat>
  <Paragraphs>676</Paragraphs>
  <Slides>23</Slides>
  <Notes>23</Notes>
  <HiddenSlides>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Cambria</vt:lpstr>
      <vt:lpstr>Courier New</vt:lpstr>
      <vt:lpstr>FedCast</vt:lpstr>
      <vt:lpstr>FedCast</vt:lpstr>
      <vt:lpstr>About me</vt:lpstr>
      <vt:lpstr>What we will cover</vt:lpstr>
      <vt:lpstr>The question, the answer, and what happened</vt:lpstr>
      <vt:lpstr>Live demo 1: the forecast</vt:lpstr>
      <vt:lpstr>Four kinds of signal, and where FedCast sits</vt:lpstr>
      <vt:lpstr>Why this approach ?</vt:lpstr>
      <vt:lpstr>Model architecture: Ensemble model</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6: the ledger and replay</vt:lpstr>
      <vt:lpstr>What comes next</vt:lpstr>
      <vt:lpstr>Three things to take away</vt:lpstr>
      <vt:lpstr>Backup: the ladder, four snapshots, five runs each</vt:lpstr>
      <vt:lpstr>Appendix: how the analysts' opinion moves the number</vt:lpstr>
      <vt:lpstr>Appendix: the ordered probit, and why it sits at weight 0</vt:lpstr>
      <vt:lpstr>Appendix: historical base rates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2026-10-30T05:25:39Z</dcterms:modified>
</cp:coreProperties>
</file>