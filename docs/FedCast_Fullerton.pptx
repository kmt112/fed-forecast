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810d2df-9d9b-89b2-d9f6-7ff4699c5077}">
          <p14:sldIdLst>
            <p14:sldId id="256"/>
            <p14:sldId id="257"/>
          </p14:sldIdLst>
        </p14:section>
        <p14:section name="Objective" id="{2f223129-d8d5-85c8-919e-9d874291ab15}">
          <p14:sldIdLst>
            <p14:sldId id="258"/>
            <p14:sldId id="259"/>
            <p14:sldId id="260"/>
            <p14:sldId id="261"/>
          </p14:sldIdLst>
        </p14:section>
        <p14:section name="How it works" id="{8d029834-38d1-6c06-1961-7502d28c0b1d}">
          <p14:sldIdLst>
            <p14:sldId id="262"/>
            <p14:sldId id="263"/>
            <p14:sldId id="264"/>
          </p14:sldIdLst>
        </p14:section>
        <p14:section name="The harness" id="{239b6bd4-6490-0770-1b8b-09ebb250423f}">
          <p14:sldIdLst>
            <p14:sldId id="265"/>
            <p14:sldId id="266"/>
            <p14:sldId id="267"/>
            <p14:sldId id="268"/>
          </p14:sldIdLst>
        </p14:section>
        <p14:section name="Evidence" id="{1f26d330-ff6f-8051-5953-bc079399bd47}">
          <p14:sldIdLst>
            <p14:sldId id="269"/>
            <p14:sldId id="270"/>
            <p14:sldId id="271"/>
            <p14:sldId id="272"/>
            <p14:sldId id="273"/>
            <p14:sldId id="274"/>
          </p14:sldIdLst>
        </p14:section>
        <p14:section name="Limits and next" id="{54b79475-94c6-bea8-0404-484f2f928718}">
          <p14:sldIdLst>
            <p14:sldId id="275"/>
            <p14:sldId id="276"/>
          </p14:sldIdLst>
        </p14:section>
        <p14:section name="Backup" id="{80515033-334d-cf06-a3f0-1bbc9189fd34}">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1: question only</c:v>
                  </c:pt>
                  <c:pt idx="1">
                    <c:v>2: + evidence</c:v>
                  </c:pt>
                  <c:pt idx="2">
                    <c:v>3: + shape, verifier</c:v>
                  </c:pt>
                  <c:pt idx="3">
                    <c:v>4-8: + one slice each</c:v>
                  </c:pt>
                </c:lvl>
              </c:multiLvlStrCache>
            </c:multiLvlStrRef>
          </c:cat>
          <c:val>
            <c:numRef>
              <c:f>Sheet1!$B$2:$B$5</c:f>
              <c:numCache>
                <c:formatCode>General</c:formatCode>
                <c:ptCount val="4"/>
                <c:pt idx="0">
                  <c:v>4.2</c:v>
                </c:pt>
                <c:pt idx="1">
                  <c:v>3.5</c:v>
                </c:pt>
                <c:pt idx="2">
                  <c:v>0.6</c:v>
                </c:pt>
                <c:pt idx="3">
                  <c:v>0.8</c:v>
                </c:pt>
              </c:numCache>
            </c:numRef>
          </c:val>
        </c:ser>
        <c:dLbls>
          <c:numFmt formatCode="0.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1: question only</c:v>
                  </c:pt>
                  <c:pt idx="1">
                    <c:v>2: + evidence</c:v>
                  </c:pt>
                  <c:pt idx="2">
                    <c:v>3: + shape, verifier</c:v>
                  </c:pt>
                  <c:pt idx="3">
                    <c:v>4-8: + one slice each</c:v>
                  </c:pt>
                </c:lvl>
              </c:multiLvlStrCache>
            </c:multiLvlStrRef>
          </c:cat>
          <c:val>
            <c:numRef>
              <c:f>Sheet1!$B$2:$B$5</c:f>
              <c:numCache>
                <c:formatCode>General</c:formatCode>
                <c:ptCount val="4"/>
                <c:pt idx="0">
                  <c:v>37</c:v>
                </c:pt>
                <c:pt idx="1">
                  <c:v>0</c:v>
                </c:pt>
                <c:pt idx="2">
                  <c:v>0</c:v>
                </c:pt>
                <c:pt idx="3">
                  <c:v>0</c:v>
                </c:pt>
              </c:numCache>
            </c:numRef>
          </c:val>
        </c:ser>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Sheet1!$A$2:$A$4</c:f>
              <c:multiLvlStrCache>
                <c:ptCount val="3"/>
                <c:lvl>
                  <c:pt idx="0">
                    <c:v>1: question only</c:v>
                  </c:pt>
                  <c:pt idx="1">
                    <c:v>3: + shape, verifier</c:v>
                  </c:pt>
                  <c:pt idx="2">
                    <c:v>4-8: + one slice each</c:v>
                  </c:pt>
                </c:lvl>
              </c:multiLvlStrCache>
            </c:multiLvlStrRef>
          </c:cat>
          <c:val>
            <c:numRef>
              <c:f>Sheet1!$B$2:$B$4</c:f>
              <c:numCache>
                <c:formatCode>General</c:formatCode>
                <c:ptCount val="3"/>
                <c:pt idx="0">
                  <c:v>0</c:v>
                </c:pt>
                <c:pt idx="1">
                  <c:v>99.7</c:v>
                </c:pt>
                <c:pt idx="2">
                  <c:v>99.2</c:v>
                </c:pt>
              </c:numCache>
            </c:numRef>
          </c:val>
        </c:ser>
        <c:dLbls>
          <c:numFmt formatCode="0.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session: start the app (fedcast ui), press Pull evidence then Run forecast so the top bar reads 'under an hour ago', open the Forecast view, and have the Evidence graph, Analyst prompts, Analyst results and Scorecard tabs one click away. Open with the one-line thesis: a language model inside an engineered harness gives forecasts that are measurably more repeatable and more faithful to evidence than the same model asked naively, and the way to prove it is to measure the process, not to wait for eight decisions a year to come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to pull: every system on the right had to put a model's output in front of people making live decisions, and the hard part was never the model, it was earning trust in what it said. FedCast is that problem made explicit and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narrow on purpose: what will the FOMC decide at its next scheduled meeting, as probabilities over five outcomes. The final entry before the meeting said no change at 67.6%, hike at 22.4%, with the specialists leaning hawkish by four basis points. The Fed held, ten votes to two, and both dissents wanted the quarter-point hike the specialists were leaning toward. Say plainly that the market alone was more confident (90/10) and we do not claim to beat it at five weeks; what the system adds is the reasons, and the vote bore the reasons out. Then: one decision proves little, which is why the rest of the talk is about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minute. The point is only that the number exists, is dated, and is traceable. Do not explain the models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the first is the one to land. Eight decisions a year cannot tell skill from luck, so we judge the process with a scorecard fixed before any code. Second, auditable means concrete: an analyst that says inflation is elevated must quote the line it read and code must find it. Third, because everything is quotable and the analysts can read only the evidence, a wrong call is a traceable wrong call, and because the harness is repeatable it goes wrong the same way every time, so a fix can be tested and stays fixed. Details later in the deck: the ladder, the scorecard, the drift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signal exist already; each is good at one thing. Market prices are the best single predictor at thirty days and are the anchor of the pool. Surveys carry judgement; FedCast takes the data the committee reads instead, as history and a fitted model. The rules are the Fed's own benchmarks. The LLM papers show a model can read the Fed, on sixteen meetings. FedCast's claim is not a better guess but the combination: one of each kind, pooled by code at fixed weights, every number traceable to frozen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diagram from the brief. Four families of input, combined by code with fixed, published weights; no model writes the number. The language-model family enters only as a bounded lean. Right: the chain in order, each line a view in the app. Walk the diagram first, then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Entry 18, the final one before the meeting. The pool is a weighted average, then the floor. The specialists' mean lean of +4.0 basis points becomes 4.0 points of probability moved toward a hike, through the same capped mechanism a human view uses. The lean row is tinted and labelled 'after pooling': it is a modifier on the pooled number, not a model in the pool. Then the footer: the weights are judgement, logged; ideally they would be backtested, but there is no live record yet, so live scores from 28 October onward decide them by amendment.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longest demo. Start at the raw futures price so the audience sees arithmetic, not a black box. Then the pool box, then one click into an evidence item to show the frozen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a language model cannot be made to stop doing: it remembers, it varies between runs, and it can invent support. None is removed. Each is designed around, and the design is measured on every snapshot. Walk the three columns top to bottom: the limit, what we do, the proof. The proof numbers are from the 28 October records and the four-snapshot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model, the same frozen evidence, eight configurations. Left: analysts 1 to 3 are controls, drawn grey and dashed; they never enter the number. Right: the five specialists that do. Every analyst runs five times on the same snapshot; for 1 to 3 those runs build the benchmark 4 to 8 are measured against. Analyst 1 sets the baseline (variance, numbers from memory, nothing quoted); 2 tests what immutable evidence fixes; 3 tests the answer shape and code verification. Each rung adds one thing, so the change in the measurements is the value of that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specialist run passes through the same five stages: tools off and one slice only; immutable evidence plus pre-reads computed by code; a fixed answer shape enforced as a JSON schema; verification by code with one repair round; recorded, five identical runs. The band is analysts 4 to 8 on the 28 October snapshot: 25 runs, 263 claims, all 263 verified with no number from memory, five direction calls. Bottom left: four said hike, labour said no hike; the plain mean is +4.0 bp, which moves 4.0 points of probability toward a hike after the pool, +25 bp from 20.2 to 22.4%. Bottom right: one verified claim exactly as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analyst 1 first so the contrast with analyst 6 lands. Scroll the full prompt slowly past the schema and the pre-read; do not read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charts, one per dimension, averaged over the four snapshots. Left: how much the answer moves between identical runs. The step that matters is analyst 2 to analyst 3: the answer shape and the verifier take the wobble from three and a half points to under one. Middle: numbers from memory, gone as soon as the evidence is shown. Right: share of claims whose quote code found verbatim; analyst 2 cannot be measured because it quotes nothing. The specialists keep what analyst 3 achieved. For analysts 3 to 8 the wobble is in their lean, which maps one basis point to one percentage point of probability, so the four bars are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concrete: the five leans behind entry #18, and one real claim with the quote code matched. The labour analyst is the one that does not lean hawkish, and because it is a separate reader that dissent is visible rather than averaged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a quote comes from, open the statement claim on analyst 4: the quote is the statement's own line, found by code in item fed.statement.2026-09-16.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dimensions fixed before any forecasting code existed. Eight are now measured automatically on each new snapshot. The over-time table is the drift check: the marks never move, so a cell that turns red is a change in the system. It has already caught two things, bottom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skip the dropdown and go straight to the over-time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Press the button, read the result line,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limits, said before anyone asks: one scored decision; weights by judgement; the fitted model outside; the market is the anchor. Right, what is next, in order of value: the December window is already running on the same chain; pre-registered weight sets scored live; an events agent for the regime shifts the models cannot read (1987, 1998, 2008, 2020 were financial-stress cuts); the reasoning grader and a second model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forecast for 28 October is on file; the scoring is automatic from here; what the room can add is scrutiny and the next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an evolution. Analyst 1 wobbles by three to five points between identical runs, cites nothing, and leaks three dozen numbers from memory; it still thinks the Fed is cutting. Adding the evidence (analyst 2) removes the leaks but not the wobble, and nothing can be checked. Adding the answer shape and the verifier (analyst 3) is the step that makes the output stable and fully verifiable. Specialists (4 to 8) keep that and add attribution. Same model, same day; the difference at each step is the one thing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rtlCol="0"/>
          <a:lstStyle>
            <a:lvl1pPr algn="l" indent="0" marL="0">
              <a:buNone/>
              <a:defRPr lang="en-US" sz="2000" dirty="0">
                <a:solidFill>
                  <a:srgbClr val="CADCF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indent="0" marL="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lIns="0" tIns="0" rIns="0" bIns="0" rtlCol="0" anchor="b"/>
          <a:lstStyle/>
          <a:p>
            <a:pPr algn="l" indent="0" marL="0">
              <a:buNone/>
            </a:pPr>
            <a:r>
              <a:rPr lang="en-US" sz="4000" b="1" dirty="0">
                <a:solidFill>
                  <a:schemeClr val="bg1"/>
                </a:solidFill>
              </a:rPr>
              <a:t>FedCast</a:t>
            </a: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lIns="0" tIns="0" rIns="0" bIns="0" rtlCol="0" anchor="t"/>
          <a:lstStyle/>
          <a:p>
            <a:pPr algn="l" indent="0" marL="0">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indent="0" marL="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 had to earn trust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5661748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417320"/>
            <a:ext cx="274320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58568"/>
            <a:ext cx="2743200" cy="548640"/>
          </a:xfrm>
          <a:prstGeom prst="rect">
            <a:avLst/>
          </a:prstGeom>
          <a:noFill/>
          <a:ln/>
        </p:spPr>
        <p:txBody>
          <a:bodyPr wrap="square" lIns="0" tIns="0" rIns="0" bIns="0" rtlCol="0" anchor="t"/>
          <a:lstStyle/>
          <a:p>
            <a:pPr indent="0" marL="0">
              <a:buNone/>
            </a:pPr>
            <a:r>
              <a:rPr lang="en-US" sz="1200" dirty="0">
                <a:solidFill>
                  <a:schemeClr val="accent4"/>
                </a:solidFill>
              </a:rPr>
              <a:t>the decision being forecast, 2026</a:t>
            </a:r>
            <a:endParaRPr lang="en-US" sz="1200" dirty="0"/>
          </a:p>
        </p:txBody>
      </p:sp>
      <p:sp>
        <p:nvSpPr>
          <p:cNvPr id="6" name="Text 3"/>
          <p:cNvSpPr txBox="1"/>
          <p:nvPr/>
        </p:nvSpPr>
        <p:spPr>
          <a:xfrm>
            <a:off x="3383280" y="1417320"/>
            <a:ext cx="274320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58568"/>
            <a:ext cx="2743200" cy="548640"/>
          </a:xfrm>
          <a:prstGeom prst="rect">
            <a:avLst/>
          </a:prstGeom>
          <a:noFill/>
          <a:ln/>
        </p:spPr>
        <p:txBody>
          <a:bodyPr wrap="square" lIns="0" tIns="0" rIns="0" bIns="0" rtlCol="0" anchor="t"/>
          <a:lstStyle/>
          <a:p>
            <a:pPr indent="0" marL="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417320"/>
            <a:ext cx="2743200" cy="822960"/>
          </a:xfrm>
          <a:prstGeom prst="rect">
            <a:avLst/>
          </a:prstGeom>
          <a:noFill/>
          <a:ln/>
        </p:spPr>
        <p:txBody>
          <a:bodyPr wrap="square" lIns="0" tIns="0" rIns="0" bIns="0" rtlCol="0" anchor="t"/>
          <a:lstStyle/>
          <a:p>
            <a:pPr indent="0" marL="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58568"/>
            <a:ext cx="2743200" cy="548640"/>
          </a:xfrm>
          <a:prstGeom prst="rect">
            <a:avLst/>
          </a:prstGeom>
          <a:noFill/>
          <a:ln/>
        </p:spPr>
        <p:txBody>
          <a:bodyPr wrap="square" lIns="0" tIns="0" rIns="0" bIns="0" rtlCol="0" anchor="t"/>
          <a:lstStyle/>
          <a:p>
            <a:pPr indent="0" marL="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417320"/>
            <a:ext cx="2377440" cy="822960"/>
          </a:xfrm>
          <a:prstGeom prst="rect">
            <a:avLst/>
          </a:prstGeom>
          <a:noFill/>
          <a:ln/>
        </p:spPr>
        <p:txBody>
          <a:bodyPr wrap="square" lIns="0" tIns="0" rIns="0" bIns="0" rtlCol="0" anchor="t"/>
          <a:lstStyle/>
          <a:p>
            <a:pPr indent="0" marL="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58568"/>
            <a:ext cx="2377440" cy="548640"/>
          </a:xfrm>
          <a:prstGeom prst="rect">
            <a:avLst/>
          </a:prstGeom>
          <a:noFill/>
          <a:ln/>
        </p:spPr>
        <p:txBody>
          <a:bodyPr wrap="square" lIns="0" tIns="0" rIns="0" bIns="0" rtlCol="0" anchor="t"/>
          <a:lstStyle/>
          <a:p>
            <a:pPr indent="0" marL="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3063240"/>
            <a:ext cx="5486400" cy="3063240"/>
          </a:xfrm>
          <a:prstGeom prst="roundRect">
            <a:avLst>
              <a:gd name="adj" fmla="val 3582"/>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3" name="Text 10"/>
          <p:cNvSpPr txBox="1"/>
          <p:nvPr/>
        </p:nvSpPr>
        <p:spPr>
          <a:xfrm>
            <a:off x="822960" y="3200400"/>
            <a:ext cx="5029200" cy="365760"/>
          </a:xfrm>
          <a:prstGeom prst="rect">
            <a:avLst/>
          </a:prstGeom>
          <a:noFill/>
          <a:ln/>
        </p:spPr>
        <p:txBody>
          <a:bodyPr wrap="square" lIns="0" tIns="0" rIns="0" bIns="0" rtlCol="0" anchor="t"/>
          <a:lstStyle/>
          <a:p>
            <a:pPr indent="0" marL="0">
              <a:buNone/>
            </a:pPr>
            <a:r>
              <a:rPr lang="en-US" sz="1500" b="1" dirty="0">
                <a:solidFill>
                  <a:schemeClr val="tx2"/>
                </a:solidFill>
              </a:rPr>
              <a:t>How the number was made</a:t>
            </a:r>
            <a:endParaRPr lang="en-US" sz="1500" dirty="0"/>
          </a:p>
        </p:txBody>
      </p:sp>
      <p:sp>
        <p:nvSpPr>
          <p:cNvPr id="14" name="Text 11"/>
          <p:cNvSpPr txBox="1"/>
          <p:nvPr/>
        </p:nvSpPr>
        <p:spPr>
          <a:xfrm>
            <a:off x="822960" y="3566160"/>
            <a:ext cx="5029200"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One frozen snapshot of 23 evidence items, pulled 28 October: futures, eight FRED series, both statements, minutes, transcript, projections, speeches, 32 years of decisions, the NY Fed natural rate, prediction-market odds</a:t>
            </a:r>
            <a:endParaRPr lang="en-US" sz="1200" dirty="0"/>
          </a:p>
          <a:p>
            <a:pPr marL="342900" indent="-342900">
              <a:spcAft>
                <a:spcPts val="400"/>
              </a:spcAft>
              <a:buSzPct val="100000"/>
              <a:buChar char="•"/>
            </a:pPr>
            <a:r>
              <a:rPr lang="en-US" sz="1200" dirty="0">
                <a:solidFill>
                  <a:schemeClr val="tx1"/>
                </a:solidFill>
              </a:rPr>
              <a:t>Four models pooled by code at fixed weights (market 0.6, Taylor rules 0.2, odds 0.1, base rates 0.1), then a 1.5% floor on every outcome: no change 70.9%, hike 26.2%</a:t>
            </a:r>
            <a:endParaRPr lang="en-US" sz="1200" dirty="0"/>
          </a:p>
          <a:p>
            <a:pPr marL="342900" indent="-342900">
              <a:spcAft>
                <a:spcPts val="400"/>
              </a:spcAft>
              <a:buSzPct val="100000"/>
              <a:buChar char="•"/>
            </a:pPr>
            <a:r>
              <a:rPr lang="en-US" sz="1200" dirty="0">
                <a:solidFill>
                  <a:schemeClr val="tx1"/>
                </a:solidFill>
              </a:rPr>
              <a:t>Five specialist analysts, every claim quoted and verified by code, lean the number +4.0 bp toward a hike: no change 67.6%, +25 bps 22.4%, +50 bps 7.7%</a:t>
            </a:r>
            <a:endParaRPr lang="en-US" sz="1200" dirty="0"/>
          </a:p>
          <a:p>
            <a:pPr marL="342900" indent="-342900">
              <a:spcAft>
                <a:spcPts val="400"/>
              </a:spcAft>
              <a:buSzPct val="100000"/>
              <a:buChar char="•"/>
            </a:pPr>
            <a:r>
              <a:rPr lang="en-US" sz="1200" dirty="0">
                <a:solidFill>
                  <a:schemeClr val="tx1"/>
                </a:solidFill>
              </a:rPr>
              <a:t>Hash-chained ledger entry #18; recomputes exactly from its snapshot and the analyst runs it names</a:t>
            </a:r>
            <a:endParaRPr lang="en-US" sz="1200" dirty="0"/>
          </a:p>
        </p:txBody>
      </p:sp>
      <p:sp>
        <p:nvSpPr>
          <p:cNvPr id="15" name="Shape 12"/>
          <p:cNvSpPr/>
          <p:nvPr/>
        </p:nvSpPr>
        <p:spPr>
          <a:xfrm>
            <a:off x="6263640" y="3063240"/>
            <a:ext cx="5376672" cy="3063240"/>
          </a:xfrm>
          <a:prstGeom prst="roundRect">
            <a:avLst>
              <a:gd name="adj" fmla="val 3582"/>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6" name="Text 13"/>
          <p:cNvSpPr txBox="1"/>
          <p:nvPr/>
        </p:nvSpPr>
        <p:spPr>
          <a:xfrm>
            <a:off x="6537960" y="3200400"/>
            <a:ext cx="5029200" cy="365760"/>
          </a:xfrm>
          <a:prstGeom prst="rect">
            <a:avLst/>
          </a:prstGeom>
          <a:noFill/>
          <a:ln/>
        </p:spPr>
        <p:txBody>
          <a:bodyPr wrap="square" lIns="0" tIns="0" rIns="0" bIns="0" rtlCol="0" anchor="t"/>
          <a:lstStyle/>
          <a:p>
            <a:pPr indent="0" marL="0">
              <a:buNone/>
            </a:pPr>
            <a:r>
              <a:rPr lang="en-US" sz="1500" b="1" dirty="0">
                <a:solidFill>
                  <a:schemeClr val="tx2"/>
                </a:solidFill>
              </a:rPr>
              <a:t>What the outcome says</a:t>
            </a:r>
            <a:endParaRPr lang="en-US" sz="1500" dirty="0"/>
          </a:p>
        </p:txBody>
      </p:sp>
      <p:sp>
        <p:nvSpPr>
          <p:cNvPr id="17" name="Text 14"/>
          <p:cNvSpPr txBox="1"/>
          <p:nvPr/>
        </p:nvSpPr>
        <p:spPr>
          <a:xfrm>
            <a:off x="6537960" y="3566160"/>
            <a:ext cx="5102352"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The most likely outcome was the outcome. The market alone was more confident (90/10); at five weeks we do not claim to beat it</a:t>
            </a:r>
            <a:endParaRPr lang="en-US" sz="1200" dirty="0"/>
          </a:p>
          <a:p>
            <a:pPr marL="342900" indent="-342900">
              <a:spcAft>
                <a:spcPts val="400"/>
              </a:spcAft>
              <a:buSzPct val="100000"/>
              <a:buChar char="•"/>
            </a:pPr>
            <a:r>
              <a:rPr lang="en-US" sz="1200" dirty="0">
                <a:solidFill>
                  <a:schemeClr val="tx1"/>
                </a:solidFill>
              </a:rPr>
              <a:t>What the system added was the reasons: the hawkish lean came from the communications, minutes and inflation readers; the labour reader was the lone dove. Two dissents for a hike is that lean, in the vote</a:t>
            </a:r>
            <a:endParaRPr lang="en-US" sz="1200" dirty="0"/>
          </a:p>
          <a:p>
            <a:pPr marL="342900" indent="-342900">
              <a:spcAft>
                <a:spcPts val="400"/>
              </a:spcAft>
              <a:buSzPct val="100000"/>
              <a:buChar char="•"/>
            </a:pPr>
            <a:r>
              <a:rPr lang="en-US" sz="1200" dirty="0">
                <a:solidFill>
                  <a:schemeClr val="tx1"/>
                </a:solidFill>
              </a:rPr>
              <a:t>Every reason is a quote code found in the frozen evidence, so the call can be taken apart claim by claim, which the rest of this talk does</a:t>
            </a:r>
            <a:endParaRPr lang="en-US" sz="1200" dirty="0"/>
          </a:p>
          <a:p>
            <a:pPr marL="342900" indent="-342900">
              <a:spcAft>
                <a:spcPts val="400"/>
              </a:spcAft>
              <a:buSzPct val="100000"/>
              <a:buChar char="•"/>
            </a:pPr>
            <a:r>
              <a:rPr lang="en-US" sz="1200" dirty="0">
                <a:solidFill>
                  <a:schemeClr val="tx1"/>
                </a:solidFill>
              </a:rPr>
              <a:t>One decision proves little. It is scored formally (log score, Brier, against the market and two naive baselines) the moment the NY Fed's post-meeting rate row lands, and every weight decision waits on that record</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Why build this</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sp>
      <p:sp>
        <p:nvSpPr>
          <p:cNvPr id="6" name="Text 3"/>
          <p:cNvSpPr txBox="1"/>
          <p:nvPr/>
        </p:nvSpPr>
        <p:spPr>
          <a:xfrm>
            <a:off x="822960" y="16002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indent="0" marL="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Eight decisions a year: a good year proves nothing</a:t>
            </a:r>
            <a:endParaRPr lang="en-US" sz="1300" dirty="0"/>
          </a:p>
          <a:p>
            <a:pPr marL="342900" indent="-342900">
              <a:spcAft>
                <a:spcPts val="800"/>
              </a:spcAft>
              <a:buSzPct val="100000"/>
              <a:buChar char="•"/>
            </a:pPr>
            <a:r>
              <a:rPr lang="en-US" sz="1300" dirty="0">
                <a:solidFill>
                  <a:schemeClr val="tx1"/>
                </a:solidFill>
              </a:rPr>
              <a:t>The yardstick is a ten-point scorecard, fixed before any code: same evidence, same answer? every claim quoted? any number from memory? a shock moves the number 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72000" y="16002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indent="0" marL="0">
              <a:buNone/>
            </a:pPr>
            <a:r>
              <a:rPr lang="en-US" sz="1500" b="1" dirty="0">
                <a:solidFill>
                  <a:schemeClr val="tx2"/>
                </a:solidFill>
              </a:rPr>
              <a:t>Every step is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it is flagged as from memory</a:t>
            </a:r>
            <a:endParaRPr lang="en-US" sz="1300"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endParaRPr lang="en-US" sz="1300" dirty="0"/>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321040" y="16002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indent="0" marL="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Everything is quotable and the analysts can read only the evidence, so a wrong call is a traceable wrong call: we see which quote led where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sp>
      <p:sp>
        <p:nvSpPr>
          <p:cNvPr id="6" name="Text 3"/>
          <p:cNvSpPr txBox="1"/>
          <p:nvPr/>
        </p:nvSpPr>
        <p:spPr>
          <a:xfrm>
            <a:off x="1005840" y="1581912"/>
            <a:ext cx="1975104" cy="365760"/>
          </a:xfrm>
          <a:prstGeom prst="rect">
            <a:avLst/>
          </a:prstGeom>
          <a:noFill/>
          <a:ln/>
        </p:spPr>
        <p:txBody>
          <a:bodyPr wrap="square" lIns="0" tIns="0" rIns="0" bIns="0" rtlCol="0" anchor="t"/>
          <a:lstStyle/>
          <a:p>
            <a:pPr indent="0" marL="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indent="0" marL="0">
              <a:buNone/>
            </a:pPr>
            <a:r>
              <a:rPr lang="en-US" sz="1200" b="1" dirty="0">
                <a:solidFill>
                  <a:schemeClr val="tx1"/>
                </a:solidFill>
              </a:rPr>
              <a:t>Fed funds futures (CME FedWatch); prediction markets (Polymarket, Kalshi)</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indent="0" marL="0">
              <a:buNone/>
            </a:pPr>
            <a:r>
              <a:rPr lang="en-US" sz="1150" b="1" dirty="0">
                <a:solidFill>
                  <a:srgbClr val="6B7280"/>
                </a:solidFill>
              </a:rPr>
              <a:t>What it is  </a:t>
            </a:r>
            <a:pPr indent="0" marL="0">
              <a:buNone/>
            </a:pP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indent="0" marL="0">
              <a:buNone/>
            </a:pPr>
            <a:r>
              <a:rPr lang="en-US" sz="1150" b="1" dirty="0">
                <a:solidFill>
                  <a:srgbClr val="6B7280"/>
                </a:solidFill>
              </a:rPr>
              <a:t>Strength  </a:t>
            </a:r>
            <a:pPr indent="0" marL="0">
              <a:buNone/>
            </a:pPr>
            <a:r>
              <a:rPr lang="en-US" sz="1150" dirty="0">
                <a:solidFill>
                  <a:schemeClr val="tx1"/>
                </a:solidFill>
              </a:rPr>
              <a:t>Futures about 88% right at 30 days, 1994 to 2024; odds move fast</a:t>
            </a:r>
            <a:endParaRPr lang="en-US" sz="1150" dirty="0"/>
          </a:p>
        </p:txBody>
      </p:sp>
      <p:sp>
        <p:nvSpPr>
          <p:cNvPr id="10" name="Shape 7"/>
          <p:cNvSpPr/>
          <p:nvPr/>
        </p:nvSpPr>
        <p:spPr>
          <a:xfrm>
            <a:off x="3374136" y="1417320"/>
            <a:ext cx="2615184" cy="2331720"/>
          </a:xfrm>
          <a:prstGeom prst="roundRect">
            <a:avLst>
              <a:gd name="adj" fmla="val 4706"/>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3602736" y="1691640"/>
            <a:ext cx="146304" cy="146304"/>
          </a:xfrm>
          <a:prstGeom prst="rect">
            <a:avLst/>
          </a:prstGeom>
          <a:solidFill>
            <a:srgbClr val="2C6E49"/>
          </a:solidFill>
          <a:ln w="12700">
            <a:solidFill>
              <a:srgbClr val="2C6E49"/>
            </a:solidFill>
            <a:prstDash val="solid"/>
          </a:ln>
        </p:spPr>
      </p:sp>
      <p:sp>
        <p:nvSpPr>
          <p:cNvPr id="12" name="Text 9"/>
          <p:cNvSpPr txBox="1"/>
          <p:nvPr/>
        </p:nvSpPr>
        <p:spPr>
          <a:xfrm>
            <a:off x="3831336" y="1581912"/>
            <a:ext cx="1975104" cy="365760"/>
          </a:xfrm>
          <a:prstGeom prst="rect">
            <a:avLst/>
          </a:prstGeom>
          <a:noFill/>
          <a:ln/>
        </p:spPr>
        <p:txBody>
          <a:bodyPr wrap="square" lIns="0" tIns="0" rIns="0" bIns="0" rtlCol="0" anchor="t"/>
          <a:lstStyle/>
          <a:p>
            <a:pPr indent="0" marL="0">
              <a:buNone/>
            </a:pPr>
            <a:r>
              <a:rPr lang="en-US" sz="1500" b="1" dirty="0">
                <a:solidFill>
                  <a:schemeClr val="tx2"/>
                </a:solidFill>
              </a:rPr>
              <a:t>Economic signals</a:t>
            </a:r>
            <a:endParaRPr lang="en-US" sz="1500" dirty="0"/>
          </a:p>
        </p:txBody>
      </p:sp>
      <p:sp>
        <p:nvSpPr>
          <p:cNvPr id="13" name="Text 10"/>
          <p:cNvSpPr txBox="1"/>
          <p:nvPr/>
        </p:nvSpPr>
        <p:spPr>
          <a:xfrm>
            <a:off x="3602736" y="2039112"/>
            <a:ext cx="2157984" cy="566928"/>
          </a:xfrm>
          <a:prstGeom prst="rect">
            <a:avLst/>
          </a:prstGeom>
          <a:noFill/>
          <a:ln/>
        </p:spPr>
        <p:txBody>
          <a:bodyPr wrap="square" lIns="0" tIns="0" rIns="0" bIns="0" rtlCol="0" anchor="t"/>
          <a:lstStyle/>
          <a:p>
            <a:pPr indent="0" marL="0">
              <a:buNone/>
            </a:pPr>
            <a:r>
              <a:rPr lang="en-US" sz="1200" b="1" dirty="0">
                <a:solidFill>
                  <a:schemeClr val="tx1"/>
                </a:solidFill>
              </a:rPr>
              <a:t>Economist surveys; the macro data itself</a:t>
            </a:r>
            <a:endParaRPr lang="en-US" sz="1200" dirty="0"/>
          </a:p>
        </p:txBody>
      </p:sp>
      <p:sp>
        <p:nvSpPr>
          <p:cNvPr id="14" name="Text 11"/>
          <p:cNvSpPr txBox="1"/>
          <p:nvPr/>
        </p:nvSpPr>
        <p:spPr>
          <a:xfrm>
            <a:off x="3602736" y="2624328"/>
            <a:ext cx="2157984" cy="548640"/>
          </a:xfrm>
          <a:prstGeom prst="rect">
            <a:avLst/>
          </a:prstGeom>
          <a:noFill/>
          <a:ln/>
        </p:spPr>
        <p:txBody>
          <a:bodyPr wrap="square" lIns="0" tIns="0" rIns="0" bIns="0" rtlCol="0" anchor="t"/>
          <a:lstStyle/>
          <a:p>
            <a:pPr indent="0" marL="0">
              <a:buNone/>
            </a:pPr>
            <a:r>
              <a:rPr lang="en-US" sz="1150" b="1" dirty="0">
                <a:solidFill>
                  <a:srgbClr val="6B7280"/>
                </a:solidFill>
              </a:rPr>
              <a:t>What it is  </a:t>
            </a:r>
            <a:pPr indent="0" marL="0">
              <a:buNone/>
            </a:pP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3602736" y="3191256"/>
            <a:ext cx="2157984" cy="530352"/>
          </a:xfrm>
          <a:prstGeom prst="rect">
            <a:avLst/>
          </a:prstGeom>
          <a:noFill/>
          <a:ln/>
        </p:spPr>
        <p:txBody>
          <a:bodyPr wrap="square" lIns="0" tIns="0" rIns="0" bIns="0" rtlCol="0" anchor="t"/>
          <a:lstStyle/>
          <a:p>
            <a:pPr indent="0" marL="0">
              <a:buNone/>
            </a:pPr>
            <a:r>
              <a:rPr lang="en-US" sz="1150" b="1" dirty="0">
                <a:solidFill>
                  <a:srgbClr val="6B7280"/>
                </a:solidFill>
              </a:rPr>
              <a:t>Strength  </a:t>
            </a:r>
            <a:pPr indent="0" marL="0">
              <a:buNone/>
            </a:pPr>
            <a:r>
              <a:rPr lang="en-US" sz="1150" dirty="0">
                <a:solidFill>
                  <a:schemeClr val="tx1"/>
                </a:solidFill>
              </a:rPr>
              <a:t>Broad human judgement; the data is the Fed's own input</a:t>
            </a:r>
            <a:endParaRPr lang="en-US" sz="1150" dirty="0"/>
          </a:p>
        </p:txBody>
      </p:sp>
      <p:sp>
        <p:nvSpPr>
          <p:cNvPr id="16" name="Shape 13"/>
          <p:cNvSpPr/>
          <p:nvPr/>
        </p:nvSpPr>
        <p:spPr>
          <a:xfrm>
            <a:off x="6199632" y="1417320"/>
            <a:ext cx="2615184" cy="2331720"/>
          </a:xfrm>
          <a:prstGeom prst="roundRect">
            <a:avLst>
              <a:gd name="adj" fmla="val 4706"/>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7" name="Shape 14"/>
          <p:cNvSpPr/>
          <p:nvPr/>
        </p:nvSpPr>
        <p:spPr>
          <a:xfrm>
            <a:off x="6428232" y="1691640"/>
            <a:ext cx="146304" cy="146304"/>
          </a:xfrm>
          <a:prstGeom prst="rect">
            <a:avLst/>
          </a:prstGeom>
          <a:solidFill>
            <a:srgbClr val="E9B44C"/>
          </a:solidFill>
          <a:ln w="12700">
            <a:solidFill>
              <a:srgbClr val="E9B44C"/>
            </a:solidFill>
            <a:prstDash val="solid"/>
          </a:ln>
        </p:spPr>
      </p:sp>
      <p:sp>
        <p:nvSpPr>
          <p:cNvPr id="18" name="Text 15"/>
          <p:cNvSpPr txBox="1"/>
          <p:nvPr/>
        </p:nvSpPr>
        <p:spPr>
          <a:xfrm>
            <a:off x="6656832" y="1581912"/>
            <a:ext cx="1975104" cy="365760"/>
          </a:xfrm>
          <a:prstGeom prst="rect">
            <a:avLst/>
          </a:prstGeom>
          <a:noFill/>
          <a:ln/>
        </p:spPr>
        <p:txBody>
          <a:bodyPr wrap="square" lIns="0" tIns="0" rIns="0" bIns="0" rtlCol="0" anchor="t"/>
          <a:lstStyle/>
          <a:p>
            <a:pPr indent="0" marL="0">
              <a:buNone/>
            </a:pPr>
            <a:r>
              <a:rPr lang="en-US" sz="1500" b="1" dirty="0">
                <a:solidFill>
                  <a:schemeClr val="tx2"/>
                </a:solidFill>
              </a:rPr>
              <a:t>Policy rules</a:t>
            </a:r>
            <a:endParaRPr lang="en-US" sz="1500" dirty="0"/>
          </a:p>
        </p:txBody>
      </p:sp>
      <p:sp>
        <p:nvSpPr>
          <p:cNvPr id="19" name="Text 16"/>
          <p:cNvSpPr txBox="1"/>
          <p:nvPr/>
        </p:nvSpPr>
        <p:spPr>
          <a:xfrm>
            <a:off x="6428232" y="2039112"/>
            <a:ext cx="2157984" cy="566928"/>
          </a:xfrm>
          <a:prstGeom prst="rect">
            <a:avLst/>
          </a:prstGeom>
          <a:noFill/>
          <a:ln/>
        </p:spPr>
        <p:txBody>
          <a:bodyPr wrap="square" lIns="0" tIns="0" rIns="0" bIns="0" rtlCol="0" anchor="t"/>
          <a:lstStyle/>
          <a:p>
            <a:pPr indent="0" marL="0">
              <a:buNone/>
            </a:pPr>
            <a:r>
              <a:rPr lang="en-US" sz="1200" b="1" dirty="0">
                <a:solidFill>
                  <a:schemeClr val="tx1"/>
                </a:solidFill>
              </a:rPr>
              <a:t>The Taylor family</a:t>
            </a:r>
            <a:endParaRPr lang="en-US" sz="1200" dirty="0"/>
          </a:p>
        </p:txBody>
      </p:sp>
      <p:sp>
        <p:nvSpPr>
          <p:cNvPr id="20" name="Text 17"/>
          <p:cNvSpPr txBox="1"/>
          <p:nvPr/>
        </p:nvSpPr>
        <p:spPr>
          <a:xfrm>
            <a:off x="6428232" y="2624328"/>
            <a:ext cx="2157984" cy="548640"/>
          </a:xfrm>
          <a:prstGeom prst="rect">
            <a:avLst/>
          </a:prstGeom>
          <a:noFill/>
          <a:ln/>
        </p:spPr>
        <p:txBody>
          <a:bodyPr wrap="square" lIns="0" tIns="0" rIns="0" bIns="0" rtlCol="0" anchor="t"/>
          <a:lstStyle/>
          <a:p>
            <a:pPr indent="0" marL="0">
              <a:buNone/>
            </a:pPr>
            <a:r>
              <a:rPr lang="en-US" sz="1150" b="1" dirty="0">
                <a:solidFill>
                  <a:srgbClr val="6B7280"/>
                </a:solidFill>
              </a:rPr>
              <a:t>What it is  </a:t>
            </a:r>
            <a:pPr indent="0" marL="0">
              <a:buNone/>
            </a:pPr>
            <a:r>
              <a:rPr lang="en-US" sz="1150" dirty="0">
                <a:solidFill>
                  <a:schemeClr val="tx1"/>
                </a:solidFill>
              </a:rPr>
              <a:t>The rate a formula says is appropriate given inflation and unemployment</a:t>
            </a:r>
            <a:endParaRPr lang="en-US" sz="1150" dirty="0"/>
          </a:p>
        </p:txBody>
      </p:sp>
      <p:sp>
        <p:nvSpPr>
          <p:cNvPr id="21" name="Text 18"/>
          <p:cNvSpPr txBox="1"/>
          <p:nvPr/>
        </p:nvSpPr>
        <p:spPr>
          <a:xfrm>
            <a:off x="6428232" y="3191256"/>
            <a:ext cx="2157984" cy="530352"/>
          </a:xfrm>
          <a:prstGeom prst="rect">
            <a:avLst/>
          </a:prstGeom>
          <a:noFill/>
          <a:ln/>
        </p:spPr>
        <p:txBody>
          <a:bodyPr wrap="square" lIns="0" tIns="0" rIns="0" bIns="0" rtlCol="0" anchor="t"/>
          <a:lstStyle/>
          <a:p>
            <a:pPr indent="0" marL="0">
              <a:buNone/>
            </a:pPr>
            <a:r>
              <a:rPr lang="en-US" sz="1150" b="1" dirty="0">
                <a:solidFill>
                  <a:srgbClr val="6B7280"/>
                </a:solidFill>
              </a:rPr>
              <a:t>Strength  </a:t>
            </a:r>
            <a:pPr indent="0" marL="0">
              <a:buNone/>
            </a:pPr>
            <a:r>
              <a:rPr lang="en-US" sz="1150" dirty="0">
                <a:solidFill>
                  <a:schemeClr val="tx1"/>
                </a:solidFill>
              </a:rPr>
              <a:t>Transparent; the Fed's own published benchmarks</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sp>
      <p:sp>
        <p:nvSpPr>
          <p:cNvPr id="24" name="Text 21"/>
          <p:cNvSpPr txBox="1"/>
          <p:nvPr/>
        </p:nvSpPr>
        <p:spPr>
          <a:xfrm>
            <a:off x="9482328" y="1581912"/>
            <a:ext cx="1975104" cy="365760"/>
          </a:xfrm>
          <a:prstGeom prst="rect">
            <a:avLst/>
          </a:prstGeom>
          <a:noFill/>
          <a:ln/>
        </p:spPr>
        <p:txBody>
          <a:bodyPr wrap="square" lIns="0" tIns="0" rIns="0" bIns="0" rtlCol="0" anchor="t"/>
          <a:lstStyle/>
          <a:p>
            <a:pPr indent="0" marL="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indent="0" marL="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indent="0" marL="0">
              <a:buNone/>
            </a:pPr>
            <a:r>
              <a:rPr lang="en-US" sz="1150" b="1" dirty="0">
                <a:solidFill>
                  <a:srgbClr val="6B7280"/>
                </a:solidFill>
              </a:rPr>
              <a:t>What it is  </a:t>
            </a:r>
            <a:pPr indent="0" marL="0">
              <a:buNone/>
            </a:pP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indent="0" marL="0">
              <a:buNone/>
            </a:pPr>
            <a:r>
              <a:rPr lang="en-US" sz="1150" b="1" dirty="0">
                <a:solidFill>
                  <a:srgbClr val="6B7280"/>
                </a:solidFill>
              </a:rPr>
              <a:t>Strength  </a:t>
            </a:r>
            <a:pPr indent="0" marL="0">
              <a:buNone/>
            </a:pP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sp>
      <p:sp>
        <p:nvSpPr>
          <p:cNvPr id="29" name="Text 26"/>
          <p:cNvSpPr txBox="1"/>
          <p:nvPr/>
        </p:nvSpPr>
        <p:spPr>
          <a:xfrm>
            <a:off x="548640" y="4663440"/>
            <a:ext cx="2194560" cy="274320"/>
          </a:xfrm>
          <a:prstGeom prst="rect">
            <a:avLst/>
          </a:prstGeom>
          <a:noFill/>
          <a:ln/>
        </p:spPr>
        <p:txBody>
          <a:bodyPr wrap="square" lIns="0" tIns="0" rIns="0" bIns="0" rtlCol="0" anchor="t"/>
          <a:lstStyle/>
          <a:p>
            <a:pPr indent="0" marL="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indent="0" marL="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algn="r" indent="0" marL="0">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algn="r" indent="0" marL="0">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sp>
      <p:sp>
        <p:nvSpPr>
          <p:cNvPr id="34" name="Text 31"/>
          <p:cNvSpPr txBox="1"/>
          <p:nvPr/>
        </p:nvSpPr>
        <p:spPr>
          <a:xfrm>
            <a:off x="859810" y="4078224"/>
            <a:ext cx="2103120" cy="274320"/>
          </a:xfrm>
          <a:prstGeom prst="rect">
            <a:avLst/>
          </a:prstGeom>
          <a:noFill/>
          <a:ln/>
        </p:spPr>
        <p:txBody>
          <a:bodyPr wrap="square" lIns="0" tIns="0" rIns="0" bIns="0" rtlCol="0" anchor="b"/>
          <a:lstStyle/>
          <a:p>
            <a:pPr algn="ctr" indent="0" marL="0">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sp>
      <p:sp>
        <p:nvSpPr>
          <p:cNvPr id="36" name="Text 33"/>
          <p:cNvSpPr txBox="1"/>
          <p:nvPr/>
        </p:nvSpPr>
        <p:spPr>
          <a:xfrm>
            <a:off x="2897734" y="4078224"/>
            <a:ext cx="2103120" cy="274320"/>
          </a:xfrm>
          <a:prstGeom prst="rect">
            <a:avLst/>
          </a:prstGeom>
          <a:noFill/>
          <a:ln/>
        </p:spPr>
        <p:txBody>
          <a:bodyPr wrap="square" lIns="0" tIns="0" rIns="0" bIns="0" rtlCol="0" anchor="b"/>
          <a:lstStyle/>
          <a:p>
            <a:pPr algn="ctr" indent="0" marL="0">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sp>
      <p:sp>
        <p:nvSpPr>
          <p:cNvPr id="38" name="Text 35"/>
          <p:cNvSpPr txBox="1"/>
          <p:nvPr/>
        </p:nvSpPr>
        <p:spPr>
          <a:xfrm>
            <a:off x="7188098" y="4078224"/>
            <a:ext cx="2103120" cy="274320"/>
          </a:xfrm>
          <a:prstGeom prst="rect">
            <a:avLst/>
          </a:prstGeom>
          <a:noFill/>
          <a:ln/>
        </p:spPr>
        <p:txBody>
          <a:bodyPr wrap="square" lIns="0" tIns="0" rIns="0" bIns="0" rtlCol="0" anchor="b"/>
          <a:lstStyle/>
          <a:p>
            <a:pPr algn="ctr" indent="0" marL="0">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sp>
      <p:sp>
        <p:nvSpPr>
          <p:cNvPr id="40" name="Text 37"/>
          <p:cNvSpPr txBox="1"/>
          <p:nvPr/>
        </p:nvSpPr>
        <p:spPr>
          <a:xfrm>
            <a:off x="9333281" y="4078224"/>
            <a:ext cx="2103120" cy="274320"/>
          </a:xfrm>
          <a:prstGeom prst="rect">
            <a:avLst/>
          </a:prstGeom>
          <a:noFill/>
          <a:ln/>
        </p:spPr>
        <p:txBody>
          <a:bodyPr wrap="square" lIns="0" tIns="0" rIns="0" bIns="0" rtlCol="0" anchor="b"/>
          <a:lstStyle/>
          <a:p>
            <a:pPr algn="ctr" indent="0" marL="0">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sp>
      <p:sp>
        <p:nvSpPr>
          <p:cNvPr id="43" name="Text 40"/>
          <p:cNvSpPr txBox="1"/>
          <p:nvPr/>
        </p:nvSpPr>
        <p:spPr>
          <a:xfrm>
            <a:off x="5454396" y="4809744"/>
            <a:ext cx="12801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algn="ctr" indent="0" marL="0">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indent="0" marL="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Four families, one pool, one number</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sp>
      <p:sp>
        <p:nvSpPr>
          <p:cNvPr id="5" name="Text 2"/>
          <p:cNvSpPr txBox="1"/>
          <p:nvPr/>
        </p:nvSpPr>
        <p:spPr>
          <a:xfrm>
            <a:off x="685800" y="1527048"/>
            <a:ext cx="2468880" cy="292608"/>
          </a:xfrm>
          <a:prstGeom prst="rect">
            <a:avLst/>
          </a:prstGeom>
          <a:noFill/>
          <a:ln/>
        </p:spPr>
        <p:txBody>
          <a:bodyPr wrap="square" lIns="0" tIns="0" rIns="0" bIns="0" rtlCol="0" anchor="t"/>
          <a:lstStyle/>
          <a:p>
            <a:pPr indent="0" marL="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indent="0" marL="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sp>
      <p:sp>
        <p:nvSpPr>
          <p:cNvPr id="9" name="Text 6"/>
          <p:cNvSpPr txBox="1"/>
          <p:nvPr/>
        </p:nvSpPr>
        <p:spPr>
          <a:xfrm>
            <a:off x="685800" y="2596896"/>
            <a:ext cx="2468880" cy="292608"/>
          </a:xfrm>
          <a:prstGeom prst="rect">
            <a:avLst/>
          </a:prstGeom>
          <a:noFill/>
          <a:ln/>
        </p:spPr>
        <p:txBody>
          <a:bodyPr wrap="square" lIns="0" tIns="0" rIns="0" bIns="0" rtlCol="0" anchor="t"/>
          <a:lstStyle/>
          <a:p>
            <a:pPr indent="0" marL="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indent="0" marL="0">
              <a:buNone/>
            </a:pPr>
            <a:r>
              <a:rPr lang="en-US" sz="950" dirty="0">
                <a:solidFill>
                  <a:schemeClr val="bg1"/>
                </a:solidFill>
              </a:rPr>
              <a:t>What followed each kind of decision over 32 years of FOMC history, conditioned on the last move</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sp>
      <p:sp>
        <p:nvSpPr>
          <p:cNvPr id="13" name="Text 10"/>
          <p:cNvSpPr txBox="1"/>
          <p:nvPr/>
        </p:nvSpPr>
        <p:spPr>
          <a:xfrm>
            <a:off x="685800" y="3666744"/>
            <a:ext cx="2468880" cy="292608"/>
          </a:xfrm>
          <a:prstGeom prst="rect">
            <a:avLst/>
          </a:prstGeom>
          <a:noFill/>
          <a:ln/>
        </p:spPr>
        <p:txBody>
          <a:bodyPr wrap="square" lIns="0" tIns="0" rIns="0" bIns="0" rtlCol="0" anchor="t"/>
          <a:lstStyle/>
          <a:p>
            <a:pPr indent="0" marL="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indent="0" marL="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sp>
      <p:sp>
        <p:nvSpPr>
          <p:cNvPr id="17" name="Text 14"/>
          <p:cNvSpPr txBox="1"/>
          <p:nvPr/>
        </p:nvSpPr>
        <p:spPr>
          <a:xfrm>
            <a:off x="685800" y="4736592"/>
            <a:ext cx="2468880" cy="292608"/>
          </a:xfrm>
          <a:prstGeom prst="rect">
            <a:avLst/>
          </a:prstGeom>
          <a:noFill/>
          <a:ln/>
        </p:spPr>
        <p:txBody>
          <a:bodyPr wrap="square" lIns="0" tIns="0" rIns="0" bIns="0" rtlCol="0" anchor="t"/>
          <a:lstStyle/>
          <a:p>
            <a:pPr indent="0" marL="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indent="0" marL="0">
              <a:buNone/>
            </a:pPr>
            <a:r>
              <a:rPr lang="en-US" sz="950" dirty="0">
                <a:solidFill>
                  <a:schemeClr val="bg1"/>
                </a:solidFill>
              </a:rPr>
              <a:t>Five specialist analysts reading the Fed's own words; every claim quoted and verified by code; a bounded lean,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sp>
      <p:sp>
        <p:nvSpPr>
          <p:cNvPr id="21" name="Text 18"/>
          <p:cNvSpPr txBox="1"/>
          <p:nvPr/>
        </p:nvSpPr>
        <p:spPr>
          <a:xfrm>
            <a:off x="3822192" y="1737360"/>
            <a:ext cx="1371600" cy="365760"/>
          </a:xfrm>
          <a:prstGeom prst="rect">
            <a:avLst/>
          </a:prstGeom>
          <a:noFill/>
          <a:ln/>
        </p:spPr>
        <p:txBody>
          <a:bodyPr wrap="square" lIns="0" tIns="0" rIns="0" bIns="0" rtlCol="0" anchor="t"/>
          <a:lstStyle/>
          <a:p>
            <a:pPr algn="ctr" indent="0" marL="0">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algn="ctr" indent="0" marL="0">
              <a:buNone/>
            </a:pPr>
            <a:r>
              <a:rPr lang="en-US" sz="950" dirty="0">
                <a:solidFill>
                  <a:schemeClr val="tx1"/>
                </a:solidFill>
              </a:rPr>
              <a:t>Weights 0.6 / 0.2 / 0.1 / 0.1, fixed and published. A 1.5% floor on every outcome. Then the analysts' lean, capped at 10 points. Code does this; no model writes the number.</a:t>
            </a:r>
            <a:endParaRPr lang="en-US" sz="950" dirty="0"/>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sp>
      <p:sp>
        <p:nvSpPr>
          <p:cNvPr id="25" name="Text 22"/>
          <p:cNvSpPr txBox="1"/>
          <p:nvPr/>
        </p:nvSpPr>
        <p:spPr>
          <a:xfrm>
            <a:off x="5724144" y="2862072"/>
            <a:ext cx="1417320" cy="365760"/>
          </a:xfrm>
          <a:prstGeom prst="rect">
            <a:avLst/>
          </a:prstGeom>
          <a:noFill/>
          <a:ln/>
        </p:spPr>
        <p:txBody>
          <a:bodyPr wrap="square" lIns="0" tIns="0" rIns="0" bIns="0" rtlCol="0" anchor="t"/>
          <a:lstStyle/>
          <a:p>
            <a:pPr algn="ctr" indent="0" marL="0">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algn="ctr" indent="0" marL="0">
              <a:buNone/>
            </a:pPr>
            <a:r>
              <a:rPr lang="en-US" sz="1050" dirty="0">
                <a:solidFill>
                  <a:schemeClr val="bg1"/>
                </a:solidFill>
              </a:rPr>
              <a:t>28 Oct, entry #18</a:t>
            </a:r>
            <a:endParaRPr lang="en-US" sz="1050" dirty="0"/>
          </a:p>
          <a:p>
            <a:pPr algn="ctr" indent="0" marL="0">
              <a:buNone/>
            </a:pPr>
            <a:r>
              <a:rPr lang="en-US" sz="1050" dirty="0">
                <a:solidFill>
                  <a:schemeClr val="bg1"/>
                </a:solidFill>
              </a:rPr>
              <a:t>no change 67.6%</a:t>
            </a:r>
            <a:endParaRPr lang="en-US" sz="1050" dirty="0"/>
          </a:p>
          <a:p>
            <a:pPr algn="ctr" indent="0" marL="0">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indent="0" marL="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sp>
      <p:sp>
        <p:nvSpPr>
          <p:cNvPr id="29" name="Text 26"/>
          <p:cNvSpPr txBox="1"/>
          <p:nvPr/>
        </p:nvSpPr>
        <p:spPr>
          <a:xfrm>
            <a:off x="7644384" y="1828800"/>
            <a:ext cx="1188720" cy="640080"/>
          </a:xfrm>
          <a:prstGeom prst="rect">
            <a:avLst/>
          </a:prstGeom>
          <a:noFill/>
          <a:ln/>
        </p:spPr>
        <p:txBody>
          <a:bodyPr wrap="square" lIns="0" tIns="0" rIns="0" bIns="0" rtlCol="0" anchor="ctr"/>
          <a:lstStyle/>
          <a:p>
            <a:pPr indent="0" marL="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indent="0" marL="0">
              <a:buNone/>
            </a:pPr>
            <a:r>
              <a:rPr lang="en-US" sz="1000" dirty="0">
                <a:solidFill>
                  <a:schemeClr val="tx1"/>
                </a:solidFill>
              </a:rPr>
              <a:t>23 items frozen and fingerprinted, dated in US time, data as first published. Nothing outside it may be read.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sp>
      <p:sp>
        <p:nvSpPr>
          <p:cNvPr id="32" name="Text 29"/>
          <p:cNvSpPr txBox="1"/>
          <p:nvPr/>
        </p:nvSpPr>
        <p:spPr>
          <a:xfrm>
            <a:off x="7644384" y="2542032"/>
            <a:ext cx="1188720" cy="640080"/>
          </a:xfrm>
          <a:prstGeom prst="rect">
            <a:avLst/>
          </a:prstGeom>
          <a:noFill/>
          <a:ln/>
        </p:spPr>
        <p:txBody>
          <a:bodyPr wrap="square" lIns="0" tIns="0" rIns="0" bIns="0" rtlCol="0" anchor="ctr"/>
          <a:lstStyle/>
          <a:p>
            <a:pPr indent="0" marL="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indent="0" marL="0">
              <a:buNone/>
            </a:pPr>
            <a:r>
              <a:rPr lang="en-US" sz="1000" dirty="0">
                <a:solidFill>
                  <a:schemeClr val="tx1"/>
                </a:solidFill>
              </a:rPr>
              <a:t>Computed by code and handed to the analysts as numbers: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sp>
      <p:sp>
        <p:nvSpPr>
          <p:cNvPr id="35" name="Text 32"/>
          <p:cNvSpPr txBox="1"/>
          <p:nvPr/>
        </p:nvSpPr>
        <p:spPr>
          <a:xfrm>
            <a:off x="7644384" y="3255264"/>
            <a:ext cx="1188720" cy="640080"/>
          </a:xfrm>
          <a:prstGeom prst="rect">
            <a:avLst/>
          </a:prstGeom>
          <a:noFill/>
          <a:ln/>
        </p:spPr>
        <p:txBody>
          <a:bodyPr wrap="square" lIns="0" tIns="0" rIns="0" bIns="0" rtlCol="0" anchor="ctr"/>
          <a:lstStyle/>
          <a:p>
            <a:pPr indent="0" marL="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indent="0" marL="0">
              <a:buNone/>
            </a:pPr>
            <a:r>
              <a:rPr lang="en-US" sz="1000" dirty="0">
                <a:solidFill>
                  <a:schemeClr val="tx1"/>
                </a:solidFill>
              </a:rPr>
              <a:t>Four families at fixed weights, the floor, then the specialists' lean.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sp>
      <p:sp>
        <p:nvSpPr>
          <p:cNvPr id="38" name="Text 35"/>
          <p:cNvSpPr txBox="1"/>
          <p:nvPr/>
        </p:nvSpPr>
        <p:spPr>
          <a:xfrm>
            <a:off x="7644384" y="3968496"/>
            <a:ext cx="1188720" cy="640080"/>
          </a:xfrm>
          <a:prstGeom prst="rect">
            <a:avLst/>
          </a:prstGeom>
          <a:noFill/>
          <a:ln/>
        </p:spPr>
        <p:txBody>
          <a:bodyPr wrap="square" lIns="0" tIns="0" rIns="0" bIns="0" rtlCol="0" anchor="ctr"/>
          <a:lstStyle/>
          <a:p>
            <a:pPr indent="0" marL="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indent="0" marL="0">
              <a:buNone/>
            </a:pPr>
            <a:r>
              <a:rPr lang="en-US" sz="1000" dirty="0">
                <a:solidFill>
                  <a:schemeClr val="tx1"/>
                </a:solidFill>
              </a:rPr>
              <a:t>Only analysts 4 to 8 enter the number. Analysts 1 to 3 are checks and balances on the ladder.</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sp>
      <p:sp>
        <p:nvSpPr>
          <p:cNvPr id="41" name="Text 38"/>
          <p:cNvSpPr txBox="1"/>
          <p:nvPr/>
        </p:nvSpPr>
        <p:spPr>
          <a:xfrm>
            <a:off x="7644384" y="4681728"/>
            <a:ext cx="1188720" cy="640080"/>
          </a:xfrm>
          <a:prstGeom prst="rect">
            <a:avLst/>
          </a:prstGeom>
          <a:noFill/>
          <a:ln/>
        </p:spPr>
        <p:txBody>
          <a:bodyPr wrap="square" lIns="0" tIns="0" rIns="0" bIns="0" rtlCol="0" anchor="ctr"/>
          <a:lstStyle/>
          <a:p>
            <a:pPr indent="0" marL="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indent="0" marL="0">
              <a:buNone/>
            </a:pPr>
            <a:r>
              <a:rPr lang="en-US" sz="1000" dirty="0">
                <a:solidFill>
                  <a:schemeClr val="tx1"/>
                </a:solidFill>
              </a:rPr>
              <a:t>Views tilt by at most 10 points and expire; watch-outs must be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sp>
      <p:sp>
        <p:nvSpPr>
          <p:cNvPr id="44" name="Text 41"/>
          <p:cNvSpPr txBox="1"/>
          <p:nvPr/>
        </p:nvSpPr>
        <p:spPr>
          <a:xfrm>
            <a:off x="7644384" y="5394960"/>
            <a:ext cx="1188720" cy="640080"/>
          </a:xfrm>
          <a:prstGeom prst="rect">
            <a:avLst/>
          </a:prstGeom>
          <a:noFill/>
          <a:ln/>
        </p:spPr>
        <p:txBody>
          <a:bodyPr wrap="square" lIns="0" tIns="0" rIns="0" bIns="0" rtlCol="0" anchor="ctr"/>
          <a:lstStyle/>
          <a:p>
            <a:pPr indent="0" marL="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indent="0" marL="0">
              <a:buNone/>
            </a:pPr>
            <a:r>
              <a:rPr lang="en-US" sz="1000" dirty="0">
                <a:solidFill>
                  <a:schemeClr val="tx1"/>
                </a:solidFill>
              </a:rPr>
              <a:t>Append-only, hash-chained; every entry recomputes from its snapshot and the runs it names.</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1828800"/>
                <a:gridCol w="4325112"/>
                <a:gridCol w="822960"/>
                <a:gridCol w="1188720"/>
                <a:gridCol w="822960"/>
                <a:gridCol w="822960"/>
                <a:gridCol w="1280160"/>
              </a:tblGrid>
              <a:tr h="402336">
                <a:tc>
                  <a:txBody>
                    <a:bodyPr/>
                    <a:lstStyle/>
                    <a:p>
                      <a:pPr indent="0" marL="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402336">
                <a:tc>
                  <a:txBody>
                    <a:bodyPr/>
                    <a:lstStyle/>
                    <a:p>
                      <a:pPr indent="0" marL="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November fed-funds future against the overnight rate: +2.5 bp expected, split between the two nearest outcomes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02336">
                <a:tc>
                  <a:txBody>
                    <a:bodyPr/>
                    <a:lstStyle/>
                    <a:p>
                      <a:pPr indent="0" marL="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12-month core PCE 3.0%, unemployment 4.2%, r* from the NY Fed DSGE model (0.65 / 1.86 / 3.06%); three level rules × nine r*/u* pairs plus the first-difference rule × three u*: 30 prescriptions, mean +22.5 bp</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02336">
                <a:tc>
                  <a:txBody>
                    <a:bodyPr/>
                    <a:lstStyle/>
                    <a:p>
                      <a:pPr indent="0" marL="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Polymarket, 26 Oct, $67m traded: 94.5% no change at the mid price, 94.9% once the five prices are renormalised</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02336">
                <a:tc>
                  <a:txBody>
                    <a:bodyPr/>
                    <a:lstStyle/>
                    <a:p>
                      <a:pPr indent="0" marL="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What followed a hike at the 49 scheduled meetings since 1994 that came after one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02336">
                <a:tc>
                  <a:txBody>
                    <a:bodyPr/>
                    <a:lstStyle/>
                    <a:p>
                      <a:pPr indent="0" marL="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Nine features on first-published data; failed v1, caveated v2</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02336">
                <a:tc>
                  <a:txBody>
                    <a:bodyPr/>
                    <a:lstStyle/>
                    <a:p>
                      <a:pPr indent="0" marL="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02336">
                <a:tc>
                  <a:txBody>
                    <a:bodyPr/>
                    <a:lstStyle/>
                    <a:p>
                      <a:pPr indent="0" marL="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indent="0" marL="0">
                        <a:buNone/>
                      </a:pPr>
                      <a:r>
                        <a:rPr lang="en-US" sz="1000" b="1" dirty="0">
                          <a:solidFill>
                            <a:srgbClr val="1B1F2A"/>
                          </a:solidFill>
                        </a:rPr>
                        <a:t>Specialists' lean: a modifier on the pooled number, not a model in the pool. </a:t>
                      </a:r>
                      <a:pPr indent="0" marL="0">
                        <a:buNone/>
                      </a:pPr>
                      <a:r>
                        <a:rPr lang="en-US" sz="1000" dirty="0">
                          <a:solidFill>
                            <a:srgbClr val="1B1F2A"/>
                          </a:solidFill>
                        </a:rPr>
                        <a:t>Mean of analysts 4 to 8, +4.0 bp hawkish = 4.0 points of probability 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algn="ctr" indent="0" marL="0">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algn="ctr" indent="0" marL="0">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algn="ctr" indent="0" marL="0">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algn="ctr" indent="0" marL="0">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algn="ctr" indent="0" marL="0">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r>
              <a:tr h="402336">
                <a:tc>
                  <a:txBody>
                    <a:bodyPr/>
                    <a:lstStyle/>
                    <a:p>
                      <a:pPr indent="0" marL="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6" name="Text 2"/>
          <p:cNvSpPr txBox="1"/>
          <p:nvPr/>
        </p:nvSpPr>
        <p:spPr>
          <a:xfrm>
            <a:off x="777240" y="5760720"/>
            <a:ext cx="2743200" cy="530352"/>
          </a:xfrm>
          <a:prstGeom prst="rect">
            <a:avLst/>
          </a:prstGeom>
          <a:noFill/>
          <a:ln/>
        </p:spPr>
        <p:txBody>
          <a:bodyPr wrap="square" lIns="0" tIns="0" rIns="0" bIns="0" rtlCol="0" anchor="ctr"/>
          <a:lstStyle/>
          <a:p>
            <a:pPr indent="0" marL="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indent="0" marL="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dirty="0">
                <a:solidFill>
                  <a:srgbClr val="FFFFFF"/>
                </a:solidFill>
              </a:rPr>
              <a:t>The language model's lean is the one line between Pooled and Machine track. It can tilt, it cannot write.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indent="0" marL="0">
              <a:buNone/>
            </a:pPr>
            <a:r>
              <a:rPr lang="en-US" sz="1200" dirty="0">
                <a:solidFill>
                  <a:schemeClr val="accent4"/>
                </a:solidFill>
              </a:rPr>
              <a:t>Three things a language model cannot be made to stop doing. None is removed; each is designed around, and the design is measured on every snapshot.</a:t>
            </a:r>
            <a:endParaRPr lang="en-US" sz="1200" dirty="0"/>
          </a:p>
        </p:txBody>
      </p:sp>
      <p:sp>
        <p:nvSpPr>
          <p:cNvPr id="5" name="Shape 2"/>
          <p:cNvSpPr/>
          <p:nvPr/>
        </p:nvSpPr>
        <p:spPr>
          <a:xfrm>
            <a:off x="548640" y="1627632"/>
            <a:ext cx="3593592" cy="960120"/>
          </a:xfrm>
          <a:prstGeom prst="roundRect">
            <a:avLst>
              <a:gd name="adj" fmla="val 9524"/>
            </a:avLst>
          </a:prstGeom>
          <a:solidFill>
            <a:srgbClr val="C8553D"/>
          </a:solidFill>
          <a:ln w="12700">
            <a:solidFill>
              <a:srgbClr val="C8553D"/>
            </a:solidFill>
            <a:prstDash val="solid"/>
          </a:ln>
        </p:spPr>
      </p:sp>
      <p:sp>
        <p:nvSpPr>
          <p:cNvPr id="6" name="Shape 3"/>
          <p:cNvSpPr/>
          <p:nvPr/>
        </p:nvSpPr>
        <p:spPr>
          <a:xfrm>
            <a:off x="548640" y="2404872"/>
            <a:ext cx="3593592" cy="182880"/>
          </a:xfrm>
          <a:prstGeom prst="rect">
            <a:avLst/>
          </a:prstGeom>
          <a:solidFill>
            <a:srgbClr val="C8553D"/>
          </a:solidFill>
          <a:ln w="12700">
            <a:solidFill>
              <a:srgbClr val="C8553D"/>
            </a:solidFill>
            <a:prstDash val="solid"/>
          </a:ln>
        </p:spPr>
      </p:sp>
      <p:sp>
        <p:nvSpPr>
          <p:cNvPr id="7" name="Text 4"/>
          <p:cNvSpPr txBox="1"/>
          <p:nvPr/>
        </p:nvSpPr>
        <p:spPr>
          <a:xfrm>
            <a:off x="704088" y="1719072"/>
            <a:ext cx="3319272" cy="182880"/>
          </a:xfrm>
          <a:prstGeom prst="rect">
            <a:avLst/>
          </a:prstGeom>
          <a:noFill/>
          <a:ln/>
        </p:spPr>
        <p:txBody>
          <a:bodyPr wrap="square" lIns="0" tIns="0" rIns="0" bIns="0" rtlCol="0" anchor="t"/>
          <a:lstStyle/>
          <a:p>
            <a:pPr indent="0" marL="0">
              <a:buNone/>
            </a:pPr>
            <a:r>
              <a:rPr lang="en-US" sz="900" b="1" spc="100" kern="0" dirty="0">
                <a:solidFill>
                  <a:srgbClr val="F8D7CE"/>
                </a:solidFill>
              </a:rPr>
              <a:t>LIMIT</a:t>
            </a:r>
            <a:endParaRPr lang="en-US" sz="900" dirty="0"/>
          </a:p>
        </p:txBody>
      </p:sp>
      <p:sp>
        <p:nvSpPr>
          <p:cNvPr id="8" name="Text 5"/>
          <p:cNvSpPr txBox="1"/>
          <p:nvPr/>
        </p:nvSpPr>
        <p:spPr>
          <a:xfrm>
            <a:off x="704088" y="1901952"/>
            <a:ext cx="3319272" cy="292608"/>
          </a:xfrm>
          <a:prstGeom prst="rect">
            <a:avLst/>
          </a:prstGeom>
          <a:noFill/>
          <a:ln/>
        </p:spPr>
        <p:txBody>
          <a:bodyPr wrap="square" lIns="0" tIns="0" rIns="0" bIns="0" rtlCol="0" anchor="t"/>
          <a:lstStyle/>
          <a:p>
            <a:pPr indent="0" marL="0">
              <a:buNone/>
            </a:pPr>
            <a:r>
              <a:rPr lang="en-US" sz="1400" b="1" dirty="0">
                <a:solidFill>
                  <a:schemeClr val="bg1"/>
                </a:solidFill>
              </a:rPr>
              <a:t>Memory cannot be switched off</a:t>
            </a:r>
            <a:endParaRPr lang="en-US" sz="1400" dirty="0"/>
          </a:p>
        </p:txBody>
      </p:sp>
      <p:sp>
        <p:nvSpPr>
          <p:cNvPr id="9" name="Text 6"/>
          <p:cNvSpPr txBox="1"/>
          <p:nvPr/>
        </p:nvSpPr>
        <p:spPr>
          <a:xfrm>
            <a:off x="704088" y="2194560"/>
            <a:ext cx="3319272" cy="365760"/>
          </a:xfrm>
          <a:prstGeom prst="rect">
            <a:avLst/>
          </a:prstGeom>
          <a:noFill/>
          <a:ln/>
        </p:spPr>
        <p:txBody>
          <a:bodyPr wrap="square" lIns="0" tIns="0" rIns="0" bIns="0" rtlCol="0" anchor="t"/>
          <a:lstStyle/>
          <a:p>
            <a:pPr indent="0" marL="0">
              <a:buNone/>
            </a:pPr>
            <a:r>
              <a:rPr lang="en-US" sz="1050" dirty="0">
                <a:solidFill>
                  <a:srgbClr val="F8D7CE"/>
                </a:solidFill>
              </a:rPr>
              <a:t>Everything it knows about the Fed is in its weights, and it will use it unless something stops it.</a:t>
            </a:r>
            <a:endParaRPr lang="en-US" sz="1050" dirty="0"/>
          </a:p>
        </p:txBody>
      </p:sp>
      <p:sp>
        <p:nvSpPr>
          <p:cNvPr id="10" name="Shape 7"/>
          <p:cNvSpPr/>
          <p:nvPr/>
        </p:nvSpPr>
        <p:spPr>
          <a:xfrm>
            <a:off x="548640" y="2587752"/>
            <a:ext cx="3593592" cy="2011680"/>
          </a:xfrm>
          <a:prstGeom prst="rect">
            <a:avLst/>
          </a:prstGeom>
          <a:solidFill>
            <a:srgbClr val="EEF2F7"/>
          </a:solidFill>
          <a:ln w="12700">
            <a:solidFill>
              <a:srgbClr val="EEF2F7"/>
            </a:solidFill>
            <a:prstDash val="solid"/>
          </a:ln>
        </p:spPr>
      </p:sp>
      <p:sp>
        <p:nvSpPr>
          <p:cNvPr id="11" name="Text 8"/>
          <p:cNvSpPr txBox="1"/>
          <p:nvPr/>
        </p:nvSpPr>
        <p:spPr>
          <a:xfrm>
            <a:off x="704088" y="2697480"/>
            <a:ext cx="3319272" cy="182880"/>
          </a:xfrm>
          <a:prstGeom prst="rect">
            <a:avLst/>
          </a:prstGeom>
          <a:noFill/>
          <a:ln/>
        </p:spPr>
        <p:txBody>
          <a:bodyPr wrap="square" lIns="0" tIns="0" rIns="0" bIns="0" rtlCol="0" anchor="t"/>
          <a:lstStyle/>
          <a:p>
            <a:pPr indent="0" marL="0">
              <a:buNone/>
            </a:pPr>
            <a:r>
              <a:rPr lang="en-US" sz="900" b="1" spc="100" kern="0" dirty="0">
                <a:solidFill>
                  <a:schemeClr val="accent4"/>
                </a:solidFill>
              </a:rPr>
              <a:t>WHAT WE DO</a:t>
            </a:r>
            <a:endParaRPr lang="en-US" sz="900" dirty="0"/>
          </a:p>
        </p:txBody>
      </p:sp>
      <p:sp>
        <p:nvSpPr>
          <p:cNvPr id="12" name="Text 9"/>
          <p:cNvSpPr txBox="1"/>
          <p:nvPr/>
        </p:nvSpPr>
        <p:spPr>
          <a:xfrm>
            <a:off x="70408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Prompt engineering: </a:t>
            </a:r>
            <a:pPr indent="0" marL="0">
              <a:spcAft>
                <a:spcPts val="500"/>
              </a:spcAft>
              <a:buNone/>
            </a:pPr>
            <a:r>
              <a:rPr lang="en-US" sz="1050" dirty="0">
                <a:solidFill>
                  <a:schemeClr val="tx1"/>
                </a:solidFill>
              </a:rPr>
              <a:t>use only the evidence; do not use anything you remember about the economy, the Fed or markets.</a:t>
            </a:r>
            <a:endParaRPr lang="en-US" sz="1050" dirty="0"/>
          </a:p>
          <a:p>
            <a:pPr marL="342900" indent="-342900">
              <a:buSzPct val="100000"/>
              <a:buChar char="•"/>
            </a:pPr>
            <a:r>
              <a:rPr lang="en-US" sz="1050" b="1" dirty="0">
                <a:solidFill>
                  <a:srgbClr val="1B1F2A"/>
                </a:solidFill>
              </a:rPr>
              <a:t>Answer shape: </a:t>
            </a:r>
            <a:pPr indent="0" marL="0">
              <a:spcAft>
                <a:spcPts val="500"/>
              </a:spcAft>
              <a:buNone/>
            </a:pPr>
            <a:r>
              <a:rPr lang="en-US" sz="1050" dirty="0">
                <a:solidFill>
                  <a:schemeClr val="tx1"/>
                </a:solidFill>
              </a:rPr>
              <a:t>every claim must carry a verbatim quote from a named item, so a remembered fact has nowhere to stand.</a:t>
            </a:r>
            <a:endParaRPr lang="en-US" sz="1050" dirty="0"/>
          </a:p>
          <a:p>
            <a:pPr marL="342900" indent="-342900">
              <a:buSzPct val="100000"/>
              <a:buChar char="•"/>
            </a:pPr>
            <a:r>
              <a:rPr lang="en-US" sz="1050" b="1" dirty="0">
                <a:solidFill>
                  <a:srgbClr val="1B1F2A"/>
                </a:solidFill>
              </a:rPr>
              <a:t>Harness: </a:t>
            </a:r>
            <a:pPr indent="0" marL="0">
              <a:spcAft>
                <a:spcPts val="500"/>
              </a:spcAft>
              <a:buNone/>
            </a:pPr>
            <a:r>
              <a:rPr lang="en-US" sz="1050" dirty="0">
                <a:solidFill>
                  <a:schemeClr val="tx1"/>
                </a:solidFill>
              </a:rPr>
              <a:t>every number in the answer is matched to the snapshot by code; one that is not found is flagged as from memory and sent back once to be removed.</a:t>
            </a:r>
            <a:endParaRPr lang="en-US" sz="1050" dirty="0"/>
          </a:p>
        </p:txBody>
      </p:sp>
      <p:sp>
        <p:nvSpPr>
          <p:cNvPr id="13" name="Shape 10"/>
          <p:cNvSpPr/>
          <p:nvPr/>
        </p:nvSpPr>
        <p:spPr>
          <a:xfrm>
            <a:off x="548640" y="4599432"/>
            <a:ext cx="3593592" cy="960120"/>
          </a:xfrm>
          <a:prstGeom prst="roundRect">
            <a:avLst>
              <a:gd name="adj" fmla="val 9524"/>
            </a:avLst>
          </a:prstGeom>
          <a:solidFill>
            <a:srgbClr val="FFFFFF"/>
          </a:solidFill>
          <a:ln w="12700">
            <a:solidFill>
              <a:srgbClr val="D5DBE5"/>
            </a:solidFill>
            <a:prstDash val="solid"/>
          </a:ln>
        </p:spPr>
      </p:sp>
      <p:sp>
        <p:nvSpPr>
          <p:cNvPr id="14" name="Text 11"/>
          <p:cNvSpPr txBox="1"/>
          <p:nvPr/>
        </p:nvSpPr>
        <p:spPr>
          <a:xfrm>
            <a:off x="704088" y="4690872"/>
            <a:ext cx="3319272" cy="182880"/>
          </a:xfrm>
          <a:prstGeom prst="rect">
            <a:avLst/>
          </a:prstGeom>
          <a:noFill/>
          <a:ln/>
        </p:spPr>
        <p:txBody>
          <a:bodyPr wrap="square" lIns="0" tIns="0" rIns="0" bIns="0" rtlCol="0" anchor="t"/>
          <a:lstStyle/>
          <a:p>
            <a:pPr indent="0" marL="0">
              <a:buNone/>
            </a:pPr>
            <a:r>
              <a:rPr lang="en-US" sz="900" b="1" spc="100" kern="0" dirty="0">
                <a:solidFill>
                  <a:schemeClr val="accent4"/>
                </a:solidFill>
              </a:rPr>
              <a:t>PROOF, 28 OCTOBER</a:t>
            </a:r>
            <a:endParaRPr lang="en-US" sz="900" dirty="0"/>
          </a:p>
        </p:txBody>
      </p:sp>
      <p:sp>
        <p:nvSpPr>
          <p:cNvPr id="15" name="Text 12"/>
          <p:cNvSpPr txBox="1"/>
          <p:nvPr/>
        </p:nvSpPr>
        <p:spPr>
          <a:xfrm>
            <a:off x="704088" y="4919472"/>
            <a:ext cx="1417320" cy="548640"/>
          </a:xfrm>
          <a:prstGeom prst="rect">
            <a:avLst/>
          </a:prstGeom>
          <a:noFill/>
          <a:ln/>
        </p:spPr>
        <p:txBody>
          <a:bodyPr wrap="square" lIns="0" tIns="0" rIns="0" bIns="0" rtlCol="0" anchor="ctr"/>
          <a:lstStyle/>
          <a:p>
            <a:pPr indent="0" marL="0">
              <a:buNone/>
            </a:pPr>
            <a:r>
              <a:rPr lang="en-US" sz="2200" b="1" dirty="0">
                <a:solidFill>
                  <a:srgbClr val="2C6E49"/>
                </a:solidFill>
                <a:latin typeface="Cambria" pitchFamily="34" charset="0"/>
                <a:ea typeface="Cambria" pitchFamily="34" charset="-122"/>
                <a:cs typeface="Cambria" pitchFamily="34" charset="-120"/>
              </a:rPr>
              <a:t>38 → 0</a:t>
            </a:r>
            <a:endParaRPr lang="en-US" sz="2200" dirty="0"/>
          </a:p>
        </p:txBody>
      </p:sp>
      <p:sp>
        <p:nvSpPr>
          <p:cNvPr id="16" name="Text 13"/>
          <p:cNvSpPr txBox="1"/>
          <p:nvPr/>
        </p:nvSpPr>
        <p:spPr>
          <a:xfrm>
            <a:off x="2148840" y="4892040"/>
            <a:ext cx="1856232" cy="621792"/>
          </a:xfrm>
          <a:prstGeom prst="rect">
            <a:avLst/>
          </a:prstGeom>
          <a:noFill/>
          <a:ln/>
        </p:spPr>
        <p:txBody>
          <a:bodyPr wrap="square" lIns="0" tIns="0" rIns="0" bIns="0" rtlCol="0" anchor="ctr"/>
          <a:lstStyle/>
          <a:p>
            <a:pPr indent="0" marL="0">
              <a:buNone/>
            </a:pPr>
            <a:r>
              <a:rPr lang="en-US" sz="1000" dirty="0">
                <a:solidFill>
                  <a:schemeClr val="tx1"/>
                </a:solidFill>
              </a:rPr>
              <a:t>figures in the answer that appear nowhere in the evidence: analyst 1, which sees no evidence, against analysts 2 to 8, five runs each</a:t>
            </a:r>
            <a:endParaRPr lang="en-US" sz="1000" dirty="0"/>
          </a:p>
        </p:txBody>
      </p:sp>
      <p:sp>
        <p:nvSpPr>
          <p:cNvPr id="17" name="Shape 14"/>
          <p:cNvSpPr/>
          <p:nvPr/>
        </p:nvSpPr>
        <p:spPr>
          <a:xfrm>
            <a:off x="4297680" y="1627632"/>
            <a:ext cx="3593592" cy="960120"/>
          </a:xfrm>
          <a:prstGeom prst="roundRect">
            <a:avLst>
              <a:gd name="adj" fmla="val 9524"/>
            </a:avLst>
          </a:prstGeom>
          <a:solidFill>
            <a:srgbClr val="C8553D"/>
          </a:solidFill>
          <a:ln w="12700">
            <a:solidFill>
              <a:srgbClr val="C8553D"/>
            </a:solidFill>
            <a:prstDash val="solid"/>
          </a:ln>
        </p:spPr>
      </p:sp>
      <p:sp>
        <p:nvSpPr>
          <p:cNvPr id="18" name="Shape 15"/>
          <p:cNvSpPr/>
          <p:nvPr/>
        </p:nvSpPr>
        <p:spPr>
          <a:xfrm>
            <a:off x="4297680" y="2404872"/>
            <a:ext cx="3593592" cy="182880"/>
          </a:xfrm>
          <a:prstGeom prst="rect">
            <a:avLst/>
          </a:prstGeom>
          <a:solidFill>
            <a:srgbClr val="C8553D"/>
          </a:solidFill>
          <a:ln w="12700">
            <a:solidFill>
              <a:srgbClr val="C8553D"/>
            </a:solidFill>
            <a:prstDash val="solid"/>
          </a:ln>
        </p:spPr>
      </p:sp>
      <p:sp>
        <p:nvSpPr>
          <p:cNvPr id="19" name="Text 16"/>
          <p:cNvSpPr txBox="1"/>
          <p:nvPr/>
        </p:nvSpPr>
        <p:spPr>
          <a:xfrm>
            <a:off x="4453128" y="1719072"/>
            <a:ext cx="3319272" cy="182880"/>
          </a:xfrm>
          <a:prstGeom prst="rect">
            <a:avLst/>
          </a:prstGeom>
          <a:noFill/>
          <a:ln/>
        </p:spPr>
        <p:txBody>
          <a:bodyPr wrap="square" lIns="0" tIns="0" rIns="0" bIns="0" rtlCol="0" anchor="t"/>
          <a:lstStyle/>
          <a:p>
            <a:pPr indent="0" marL="0">
              <a:buNone/>
            </a:pPr>
            <a:r>
              <a:rPr lang="en-US" sz="900" b="1" spc="100" kern="0" dirty="0">
                <a:solidFill>
                  <a:srgbClr val="F8D7CE"/>
                </a:solidFill>
              </a:rPr>
              <a:t>LIMIT</a:t>
            </a:r>
            <a:endParaRPr lang="en-US" sz="900" dirty="0"/>
          </a:p>
        </p:txBody>
      </p:sp>
      <p:sp>
        <p:nvSpPr>
          <p:cNvPr id="20" name="Text 17"/>
          <p:cNvSpPr txBox="1"/>
          <p:nvPr/>
        </p:nvSpPr>
        <p:spPr>
          <a:xfrm>
            <a:off x="4453128" y="1901952"/>
            <a:ext cx="3319272" cy="292608"/>
          </a:xfrm>
          <a:prstGeom prst="rect">
            <a:avLst/>
          </a:prstGeom>
          <a:noFill/>
          <a:ln/>
        </p:spPr>
        <p:txBody>
          <a:bodyPr wrap="square" lIns="0" tIns="0" rIns="0" bIns="0" rtlCol="0" anchor="t"/>
          <a:lstStyle/>
          <a:p>
            <a:pPr indent="0" marL="0">
              <a:buNone/>
            </a:pPr>
            <a:r>
              <a:rPr lang="en-US" sz="1400" b="1" dirty="0">
                <a:solidFill>
                  <a:schemeClr val="bg1"/>
                </a:solidFill>
              </a:rPr>
              <a:t>The same question gets different answers</a:t>
            </a:r>
            <a:endParaRPr lang="en-US" sz="1400" dirty="0"/>
          </a:p>
        </p:txBody>
      </p:sp>
      <p:sp>
        <p:nvSpPr>
          <p:cNvPr id="21" name="Text 18"/>
          <p:cNvSpPr txBox="1"/>
          <p:nvPr/>
        </p:nvSpPr>
        <p:spPr>
          <a:xfrm>
            <a:off x="4453128" y="2194560"/>
            <a:ext cx="3319272" cy="365760"/>
          </a:xfrm>
          <a:prstGeom prst="rect">
            <a:avLst/>
          </a:prstGeom>
          <a:noFill/>
          <a:ln/>
        </p:spPr>
        <p:txBody>
          <a:bodyPr wrap="square" lIns="0" tIns="0" rIns="0" bIns="0" rtlCol="0" anchor="t"/>
          <a:lstStyle/>
          <a:p>
            <a:pPr indent="0" marL="0">
              <a:buNone/>
            </a:pPr>
            <a:r>
              <a:rPr lang="en-US" sz="1050" dirty="0">
                <a:solidFill>
                  <a:srgbClr val="F8D7CE"/>
                </a:solidFill>
              </a:rPr>
              <a:t>Ask twice and the number moves.</a:t>
            </a:r>
            <a:endParaRPr lang="en-US" sz="1050" dirty="0"/>
          </a:p>
        </p:txBody>
      </p:sp>
      <p:sp>
        <p:nvSpPr>
          <p:cNvPr id="22" name="Shape 19"/>
          <p:cNvSpPr/>
          <p:nvPr/>
        </p:nvSpPr>
        <p:spPr>
          <a:xfrm>
            <a:off x="4297680" y="2587752"/>
            <a:ext cx="3593592" cy="2011680"/>
          </a:xfrm>
          <a:prstGeom prst="rect">
            <a:avLst/>
          </a:prstGeom>
          <a:solidFill>
            <a:srgbClr val="EEF2F7"/>
          </a:solidFill>
          <a:ln w="12700">
            <a:solidFill>
              <a:srgbClr val="EEF2F7"/>
            </a:solidFill>
            <a:prstDash val="solid"/>
          </a:ln>
        </p:spPr>
      </p:sp>
      <p:sp>
        <p:nvSpPr>
          <p:cNvPr id="23" name="Text 20"/>
          <p:cNvSpPr txBox="1"/>
          <p:nvPr/>
        </p:nvSpPr>
        <p:spPr>
          <a:xfrm>
            <a:off x="4453128" y="2697480"/>
            <a:ext cx="3319272" cy="182880"/>
          </a:xfrm>
          <a:prstGeom prst="rect">
            <a:avLst/>
          </a:prstGeom>
          <a:noFill/>
          <a:ln/>
        </p:spPr>
        <p:txBody>
          <a:bodyPr wrap="square" lIns="0" tIns="0" rIns="0" bIns="0" rtlCol="0" anchor="t"/>
          <a:lstStyle/>
          <a:p>
            <a:pPr indent="0" marL="0">
              <a:buNone/>
            </a:pPr>
            <a:r>
              <a:rPr lang="en-US" sz="900" b="1" spc="100" kern="0" dirty="0">
                <a:solidFill>
                  <a:schemeClr val="accent4"/>
                </a:solidFill>
              </a:rPr>
              <a:t>WHAT WE DO</a:t>
            </a:r>
            <a:endParaRPr lang="en-US" sz="900" dirty="0"/>
          </a:p>
        </p:txBody>
      </p:sp>
      <p:sp>
        <p:nvSpPr>
          <p:cNvPr id="24" name="Text 21"/>
          <p:cNvSpPr txBox="1"/>
          <p:nvPr/>
        </p:nvSpPr>
        <p:spPr>
          <a:xfrm>
            <a:off x="445312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Answer shape: </a:t>
            </a:r>
            <a:pPr indent="0" marL="0">
              <a:spcAft>
                <a:spcPts val="500"/>
              </a:spcAft>
              <a:buNone/>
            </a:pPr>
            <a:r>
              <a:rPr lang="en-US" sz="1050" dirty="0">
                <a:solidFill>
                  <a:schemeClr val="tx1"/>
                </a:solidFill>
              </a:rPr>
              <a:t>a JSON schema fixes the form of the answer; the runtime rejects anything else before anyone reads it.</a:t>
            </a:r>
            <a:endParaRPr lang="en-US" sz="1050" dirty="0"/>
          </a:p>
          <a:p>
            <a:pPr marL="342900" indent="-342900">
              <a:buSzPct val="100000"/>
              <a:buChar char="•"/>
            </a:pPr>
            <a:r>
              <a:rPr lang="en-US" sz="1050" b="1" dirty="0">
                <a:solidFill>
                  <a:srgbClr val="1B1F2A"/>
                </a:solidFill>
              </a:rPr>
              <a:t>Five identical runs </a:t>
            </a:r>
            <a:pPr indent="0" marL="0">
              <a:spcAft>
                <a:spcPts val="500"/>
              </a:spcAft>
              <a:buNone/>
            </a:pPr>
            <a:r>
              <a:rPr lang="en-US" sz="1050" dirty="0">
                <a:solidFill>
                  <a:schemeClr val="tx1"/>
                </a:solidFill>
              </a:rPr>
              <a:t>per analyst per snapshot: the same evidence, the same question, the same schema, only the run number differs. Each is stored and hashed, so it can be audited later.</a:t>
            </a:r>
            <a:endParaRPr lang="en-US" sz="1050" dirty="0"/>
          </a:p>
          <a:p>
            <a:pPr marL="342900" indent="-342900">
              <a:buSzPct val="100000"/>
              <a:buChar char="•"/>
            </a:pPr>
            <a:r>
              <a:rPr lang="en-US" sz="1050" b="1" dirty="0">
                <a:solidFill>
                  <a:srgbClr val="1B1F2A"/>
                </a:solidFill>
              </a:rPr>
              <a:t>Repeatability is measured: </a:t>
            </a:r>
            <a:pPr indent="0" marL="0">
              <a:spcAft>
                <a:spcPts val="500"/>
              </a:spcAft>
              <a:buNone/>
            </a:pPr>
            <a:r>
              <a:rPr lang="en-US" sz="1050" dirty="0">
                <a:solidFill>
                  <a:schemeClr val="tx1"/>
                </a:solidFill>
              </a:rPr>
              <a:t>how far the answer moves between those five runs. Pass mark: 2 points.</a:t>
            </a:r>
            <a:endParaRPr lang="en-US" sz="1050" dirty="0"/>
          </a:p>
        </p:txBody>
      </p:sp>
      <p:sp>
        <p:nvSpPr>
          <p:cNvPr id="25" name="Shape 22"/>
          <p:cNvSpPr/>
          <p:nvPr/>
        </p:nvSpPr>
        <p:spPr>
          <a:xfrm>
            <a:off x="4297680" y="4599432"/>
            <a:ext cx="3593592" cy="960120"/>
          </a:xfrm>
          <a:prstGeom prst="roundRect">
            <a:avLst>
              <a:gd name="adj" fmla="val 9524"/>
            </a:avLst>
          </a:prstGeom>
          <a:solidFill>
            <a:srgbClr val="FFFFFF"/>
          </a:solidFill>
          <a:ln w="12700">
            <a:solidFill>
              <a:srgbClr val="D5DBE5"/>
            </a:solidFill>
            <a:prstDash val="solid"/>
          </a:ln>
        </p:spPr>
      </p:sp>
      <p:sp>
        <p:nvSpPr>
          <p:cNvPr id="26" name="Text 23"/>
          <p:cNvSpPr txBox="1"/>
          <p:nvPr/>
        </p:nvSpPr>
        <p:spPr>
          <a:xfrm>
            <a:off x="4453128" y="4690872"/>
            <a:ext cx="3319272" cy="182880"/>
          </a:xfrm>
          <a:prstGeom prst="rect">
            <a:avLst/>
          </a:prstGeom>
          <a:noFill/>
          <a:ln/>
        </p:spPr>
        <p:txBody>
          <a:bodyPr wrap="square" lIns="0" tIns="0" rIns="0" bIns="0" rtlCol="0" anchor="t"/>
          <a:lstStyle/>
          <a:p>
            <a:pPr indent="0" marL="0">
              <a:buNone/>
            </a:pPr>
            <a:r>
              <a:rPr lang="en-US" sz="900" b="1" spc="100" kern="0" dirty="0">
                <a:solidFill>
                  <a:schemeClr val="accent4"/>
                </a:solidFill>
              </a:rPr>
              <a:t>PROOF, FOUR SNAPSHOTS</a:t>
            </a:r>
            <a:endParaRPr lang="en-US" sz="900" dirty="0"/>
          </a:p>
        </p:txBody>
      </p:sp>
      <p:sp>
        <p:nvSpPr>
          <p:cNvPr id="27" name="Text 24"/>
          <p:cNvSpPr txBox="1"/>
          <p:nvPr/>
        </p:nvSpPr>
        <p:spPr>
          <a:xfrm>
            <a:off x="4453128" y="4919472"/>
            <a:ext cx="1417320" cy="548640"/>
          </a:xfrm>
          <a:prstGeom prst="rect">
            <a:avLst/>
          </a:prstGeom>
          <a:noFill/>
          <a:ln/>
        </p:spPr>
        <p:txBody>
          <a:bodyPr wrap="square" lIns="0" tIns="0" rIns="0" bIns="0" rtlCol="0" anchor="ctr"/>
          <a:lstStyle/>
          <a:p>
            <a:pPr indent="0" marL="0">
              <a:buNone/>
            </a:pPr>
            <a:r>
              <a:rPr lang="en-US" sz="2200" b="1" dirty="0">
                <a:solidFill>
                  <a:srgbClr val="2C6E49"/>
                </a:solidFill>
                <a:latin typeface="Cambria" pitchFamily="34" charset="0"/>
                <a:ea typeface="Cambria" pitchFamily="34" charset="-122"/>
                <a:cs typeface="Cambria" pitchFamily="34" charset="-120"/>
              </a:rPr>
              <a:t>4.2 → 0.8</a:t>
            </a:r>
            <a:endParaRPr lang="en-US" sz="2200" dirty="0"/>
          </a:p>
        </p:txBody>
      </p:sp>
      <p:sp>
        <p:nvSpPr>
          <p:cNvPr id="28" name="Text 25"/>
          <p:cNvSpPr txBox="1"/>
          <p:nvPr/>
        </p:nvSpPr>
        <p:spPr>
          <a:xfrm>
            <a:off x="5897880" y="4892040"/>
            <a:ext cx="1856232" cy="621792"/>
          </a:xfrm>
          <a:prstGeom prst="rect">
            <a:avLst/>
          </a:prstGeom>
          <a:noFill/>
          <a:ln/>
        </p:spPr>
        <p:txBody>
          <a:bodyPr wrap="square" lIns="0" tIns="0" rIns="0" bIns="0" rtlCol="0" anchor="ctr"/>
          <a:lstStyle/>
          <a:p>
            <a:pPr indent="0" marL="0">
              <a:buNone/>
            </a:pPr>
            <a:r>
              <a:rPr lang="en-US" sz="1000" dirty="0">
                <a:solidFill>
                  <a:schemeClr val="tx1"/>
                </a:solidFill>
              </a:rPr>
              <a:t>how far the answer moves between identical runs: naive 4.2 points, specialists 0.8 bp, mean of four snapshots</a:t>
            </a:r>
            <a:endParaRPr lang="en-US" sz="1000" dirty="0"/>
          </a:p>
        </p:txBody>
      </p:sp>
      <p:sp>
        <p:nvSpPr>
          <p:cNvPr id="29" name="Shape 26"/>
          <p:cNvSpPr/>
          <p:nvPr/>
        </p:nvSpPr>
        <p:spPr>
          <a:xfrm>
            <a:off x="8046720" y="1627632"/>
            <a:ext cx="3593592" cy="960120"/>
          </a:xfrm>
          <a:prstGeom prst="roundRect">
            <a:avLst>
              <a:gd name="adj" fmla="val 9524"/>
            </a:avLst>
          </a:prstGeom>
          <a:solidFill>
            <a:srgbClr val="C8553D"/>
          </a:solidFill>
          <a:ln w="12700">
            <a:solidFill>
              <a:srgbClr val="C8553D"/>
            </a:solidFill>
            <a:prstDash val="solid"/>
          </a:ln>
        </p:spPr>
      </p:sp>
      <p:sp>
        <p:nvSpPr>
          <p:cNvPr id="30" name="Shape 27"/>
          <p:cNvSpPr/>
          <p:nvPr/>
        </p:nvSpPr>
        <p:spPr>
          <a:xfrm>
            <a:off x="8046720" y="2404872"/>
            <a:ext cx="3593592" cy="182880"/>
          </a:xfrm>
          <a:prstGeom prst="rect">
            <a:avLst/>
          </a:prstGeom>
          <a:solidFill>
            <a:srgbClr val="C8553D"/>
          </a:solidFill>
          <a:ln w="12700">
            <a:solidFill>
              <a:srgbClr val="C8553D"/>
            </a:solidFill>
            <a:prstDash val="solid"/>
          </a:ln>
        </p:spPr>
      </p:sp>
      <p:sp>
        <p:nvSpPr>
          <p:cNvPr id="31" name="Text 28"/>
          <p:cNvSpPr txBox="1"/>
          <p:nvPr/>
        </p:nvSpPr>
        <p:spPr>
          <a:xfrm>
            <a:off x="8202168" y="1719072"/>
            <a:ext cx="3319272" cy="182880"/>
          </a:xfrm>
          <a:prstGeom prst="rect">
            <a:avLst/>
          </a:prstGeom>
          <a:noFill/>
          <a:ln/>
        </p:spPr>
        <p:txBody>
          <a:bodyPr wrap="square" lIns="0" tIns="0" rIns="0" bIns="0" rtlCol="0" anchor="t"/>
          <a:lstStyle/>
          <a:p>
            <a:pPr indent="0" marL="0">
              <a:buNone/>
            </a:pPr>
            <a:r>
              <a:rPr lang="en-US" sz="900" b="1" spc="100" kern="0" dirty="0">
                <a:solidFill>
                  <a:srgbClr val="F8D7CE"/>
                </a:solidFill>
              </a:rPr>
              <a:t>LIMIT</a:t>
            </a:r>
            <a:endParaRPr lang="en-US" sz="900" dirty="0"/>
          </a:p>
        </p:txBody>
      </p:sp>
      <p:sp>
        <p:nvSpPr>
          <p:cNvPr id="32" name="Text 29"/>
          <p:cNvSpPr txBox="1"/>
          <p:nvPr/>
        </p:nvSpPr>
        <p:spPr>
          <a:xfrm>
            <a:off x="8202168" y="1901952"/>
            <a:ext cx="3319272" cy="292608"/>
          </a:xfrm>
          <a:prstGeom prst="rect">
            <a:avLst/>
          </a:prstGeom>
          <a:noFill/>
          <a:ln/>
        </p:spPr>
        <p:txBody>
          <a:bodyPr wrap="square" lIns="0" tIns="0" rIns="0" bIns="0" rtlCol="0" anchor="t"/>
          <a:lstStyle/>
          <a:p>
            <a:pPr indent="0" marL="0">
              <a:buNone/>
            </a:pPr>
            <a:r>
              <a:rPr lang="en-US" sz="1400" b="1" dirty="0">
                <a:solidFill>
                  <a:schemeClr val="bg1"/>
                </a:solidFill>
              </a:rPr>
              <a:t>It can invent its own support</a:t>
            </a:r>
            <a:endParaRPr lang="en-US" sz="1400" dirty="0"/>
          </a:p>
        </p:txBody>
      </p:sp>
      <p:sp>
        <p:nvSpPr>
          <p:cNvPr id="33" name="Text 30"/>
          <p:cNvSpPr txBox="1"/>
          <p:nvPr/>
        </p:nvSpPr>
        <p:spPr>
          <a:xfrm>
            <a:off x="8202168" y="2194560"/>
            <a:ext cx="3319272" cy="365760"/>
          </a:xfrm>
          <a:prstGeom prst="rect">
            <a:avLst/>
          </a:prstGeom>
          <a:noFill/>
          <a:ln/>
        </p:spPr>
        <p:txBody>
          <a:bodyPr wrap="square" lIns="0" tIns="0" rIns="0" bIns="0" rtlCol="0" anchor="t"/>
          <a:lstStyle/>
          <a:p>
            <a:pPr indent="0" marL="0">
              <a:buNone/>
            </a:pPr>
            <a:r>
              <a:rPr lang="en-US" sz="1050" dirty="0">
                <a:solidFill>
                  <a:srgbClr val="F8D7CE"/>
                </a:solidFill>
              </a:rPr>
              <a:t>A fluent quote or figure that was never in the document.</a:t>
            </a:r>
            <a:endParaRPr lang="en-US" sz="1050" dirty="0"/>
          </a:p>
        </p:txBody>
      </p:sp>
      <p:sp>
        <p:nvSpPr>
          <p:cNvPr id="34" name="Shape 31"/>
          <p:cNvSpPr/>
          <p:nvPr/>
        </p:nvSpPr>
        <p:spPr>
          <a:xfrm>
            <a:off x="8046720" y="2587752"/>
            <a:ext cx="3593592" cy="2011680"/>
          </a:xfrm>
          <a:prstGeom prst="rect">
            <a:avLst/>
          </a:prstGeom>
          <a:solidFill>
            <a:srgbClr val="EEF2F7"/>
          </a:solidFill>
          <a:ln w="12700">
            <a:solidFill>
              <a:srgbClr val="EEF2F7"/>
            </a:solidFill>
            <a:prstDash val="solid"/>
          </a:ln>
        </p:spPr>
      </p:sp>
      <p:sp>
        <p:nvSpPr>
          <p:cNvPr id="35" name="Text 32"/>
          <p:cNvSpPr txBox="1"/>
          <p:nvPr/>
        </p:nvSpPr>
        <p:spPr>
          <a:xfrm>
            <a:off x="8202168" y="2697480"/>
            <a:ext cx="3319272" cy="182880"/>
          </a:xfrm>
          <a:prstGeom prst="rect">
            <a:avLst/>
          </a:prstGeom>
          <a:noFill/>
          <a:ln/>
        </p:spPr>
        <p:txBody>
          <a:bodyPr wrap="square" lIns="0" tIns="0" rIns="0" bIns="0" rtlCol="0" anchor="t"/>
          <a:lstStyle/>
          <a:p>
            <a:pPr indent="0" marL="0">
              <a:buNone/>
            </a:pPr>
            <a:r>
              <a:rPr lang="en-US" sz="900" b="1" spc="100" kern="0" dirty="0">
                <a:solidFill>
                  <a:schemeClr val="accent4"/>
                </a:solidFill>
              </a:rPr>
              <a:t>WHAT WE DO</a:t>
            </a:r>
            <a:endParaRPr lang="en-US" sz="900" dirty="0"/>
          </a:p>
        </p:txBody>
      </p:sp>
      <p:sp>
        <p:nvSpPr>
          <p:cNvPr id="36" name="Text 33"/>
          <p:cNvSpPr txBox="1"/>
          <p:nvPr/>
        </p:nvSpPr>
        <p:spPr>
          <a:xfrm>
            <a:off x="820216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Harness: </a:t>
            </a:r>
            <a:pPr indent="0" marL="0">
              <a:spcAft>
                <a:spcPts val="500"/>
              </a:spcAft>
              <a:buNone/>
            </a:pPr>
            <a:r>
              <a:rPr lang="en-US" sz="1050" dirty="0">
                <a:solidFill>
                  <a:schemeClr val="tx1"/>
                </a:solidFill>
              </a:rPr>
              <a:t>every quote and every number in a claim is verified by code, not by a model. A quote must match its item character for character; a quote stitched from two places fails.</a:t>
            </a:r>
            <a:endParaRPr lang="en-US" sz="1050" dirty="0"/>
          </a:p>
          <a:p>
            <a:pPr marL="342900" indent="-342900">
              <a:buSzPct val="100000"/>
              <a:buChar char="•"/>
            </a:pPr>
            <a:r>
              <a:rPr lang="en-US" sz="1050" b="1" dirty="0">
                <a:solidFill>
                  <a:srgbClr val="1B1F2A"/>
                </a:solidFill>
              </a:rPr>
              <a:t>Bounds: </a:t>
            </a:r>
            <a:pPr indent="0" marL="0">
              <a:spcAft>
                <a:spcPts val="500"/>
              </a:spcAft>
              <a:buNone/>
            </a:pPr>
            <a:r>
              <a:rPr lang="en-US" sz="1050" dirty="0">
                <a:solidFill>
                  <a:schemeClr val="tx1"/>
                </a:solidFill>
              </a:rPr>
              <a:t>every watch-out must be answered by id; the direction call is clipped to ±10 bp.</a:t>
            </a:r>
            <a:endParaRPr lang="en-US" sz="1050" dirty="0"/>
          </a:p>
          <a:p>
            <a:pPr marL="342900" indent="-342900">
              <a:buSzPct val="100000"/>
              <a:buChar char="•"/>
            </a:pPr>
            <a:r>
              <a:rPr lang="en-US" sz="1050" b="1" dirty="0">
                <a:solidFill>
                  <a:srgbClr val="1B1F2A"/>
                </a:solidFill>
              </a:rPr>
              <a:t>One repair round </a:t>
            </a:r>
            <a:pPr indent="0" marL="0">
              <a:spcAft>
                <a:spcPts val="500"/>
              </a:spcAft>
              <a:buNone/>
            </a:pPr>
            <a:r>
              <a:rPr lang="en-US" sz="1050" dirty="0">
                <a:solidFill>
                  <a:schemeClr val="tx1"/>
                </a:solidFill>
              </a:rPr>
              <a:t>with the verifier's report; both answers are kept. What still fails is recorded as unverified, never hidden.</a:t>
            </a:r>
            <a:endParaRPr lang="en-US" sz="1050" dirty="0"/>
          </a:p>
        </p:txBody>
      </p:sp>
      <p:sp>
        <p:nvSpPr>
          <p:cNvPr id="37" name="Shape 34"/>
          <p:cNvSpPr/>
          <p:nvPr/>
        </p:nvSpPr>
        <p:spPr>
          <a:xfrm>
            <a:off x="8046720" y="4599432"/>
            <a:ext cx="3593592" cy="960120"/>
          </a:xfrm>
          <a:prstGeom prst="roundRect">
            <a:avLst>
              <a:gd name="adj" fmla="val 9524"/>
            </a:avLst>
          </a:prstGeom>
          <a:solidFill>
            <a:srgbClr val="FFFFFF"/>
          </a:solidFill>
          <a:ln w="12700">
            <a:solidFill>
              <a:srgbClr val="D5DBE5"/>
            </a:solidFill>
            <a:prstDash val="solid"/>
          </a:ln>
        </p:spPr>
      </p:sp>
      <p:sp>
        <p:nvSpPr>
          <p:cNvPr id="38" name="Text 35"/>
          <p:cNvSpPr txBox="1"/>
          <p:nvPr/>
        </p:nvSpPr>
        <p:spPr>
          <a:xfrm>
            <a:off x="8202168" y="4690872"/>
            <a:ext cx="3319272" cy="182880"/>
          </a:xfrm>
          <a:prstGeom prst="rect">
            <a:avLst/>
          </a:prstGeom>
          <a:noFill/>
          <a:ln/>
        </p:spPr>
        <p:txBody>
          <a:bodyPr wrap="square" lIns="0" tIns="0" rIns="0" bIns="0" rtlCol="0" anchor="t"/>
          <a:lstStyle/>
          <a:p>
            <a:pPr indent="0" marL="0">
              <a:buNone/>
            </a:pPr>
            <a:r>
              <a:rPr lang="en-US" sz="900" b="1" spc="100" kern="0" dirty="0">
                <a:solidFill>
                  <a:schemeClr val="accent4"/>
                </a:solidFill>
              </a:rPr>
              <a:t>PROOF, 28 OCTOBER</a:t>
            </a:r>
            <a:endParaRPr lang="en-US" sz="900" dirty="0"/>
          </a:p>
        </p:txBody>
      </p:sp>
      <p:sp>
        <p:nvSpPr>
          <p:cNvPr id="39" name="Text 36"/>
          <p:cNvSpPr txBox="1"/>
          <p:nvPr/>
        </p:nvSpPr>
        <p:spPr>
          <a:xfrm>
            <a:off x="8202168" y="4919472"/>
            <a:ext cx="1417320" cy="548640"/>
          </a:xfrm>
          <a:prstGeom prst="rect">
            <a:avLst/>
          </a:prstGeom>
          <a:noFill/>
          <a:ln/>
        </p:spPr>
        <p:txBody>
          <a:bodyPr wrap="square" lIns="0" tIns="0" rIns="0" bIns="0" rtlCol="0" anchor="ctr"/>
          <a:lstStyle/>
          <a:p>
            <a:pPr indent="0" marL="0">
              <a:buNone/>
            </a:pPr>
            <a:r>
              <a:rPr lang="en-US" sz="2200" b="1" dirty="0">
                <a:solidFill>
                  <a:srgbClr val="2C6E49"/>
                </a:solidFill>
                <a:latin typeface="Cambria" pitchFamily="34" charset="0"/>
                <a:ea typeface="Cambria" pitchFamily="34" charset="-122"/>
                <a:cs typeface="Cambria" pitchFamily="34" charset="-120"/>
              </a:rPr>
              <a:t>326 / 327</a:t>
            </a:r>
            <a:endParaRPr lang="en-US" sz="2200" dirty="0"/>
          </a:p>
        </p:txBody>
      </p:sp>
      <p:sp>
        <p:nvSpPr>
          <p:cNvPr id="40" name="Text 37"/>
          <p:cNvSpPr txBox="1"/>
          <p:nvPr/>
        </p:nvSpPr>
        <p:spPr>
          <a:xfrm>
            <a:off x="9646920" y="4892040"/>
            <a:ext cx="1856232" cy="621792"/>
          </a:xfrm>
          <a:prstGeom prst="rect">
            <a:avLst/>
          </a:prstGeom>
          <a:noFill/>
          <a:ln/>
        </p:spPr>
        <p:txBody>
          <a:bodyPr wrap="square" lIns="0" tIns="0" rIns="0" bIns="0" rtlCol="0" anchor="ctr"/>
          <a:lstStyle/>
          <a:p>
            <a:pPr indent="0" marL="0">
              <a:buNone/>
            </a:pPr>
            <a:r>
              <a:rPr lang="en-US" sz="1000" dirty="0">
                <a:solidFill>
                  <a:schemeClr val="tx1"/>
                </a:solidFill>
              </a:rPr>
              <a:t>claims whose quote code found verbatim, analysts 3 to 8, 30 runs; the one miss is on the record</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indent="0" marL="0">
              <a:buNone/>
            </a:pPr>
            <a:r>
              <a:rPr lang="en-US" sz="950" b="1" spc="100" kern="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sp>
      <p:sp>
        <p:nvSpPr>
          <p:cNvPr id="6" name="Text 3"/>
          <p:cNvSpPr txBox="1"/>
          <p:nvPr/>
        </p:nvSpPr>
        <p:spPr>
          <a:xfrm>
            <a:off x="1417320" y="1344168"/>
            <a:ext cx="1371600" cy="201168"/>
          </a:xfrm>
          <a:prstGeom prst="rect">
            <a:avLst/>
          </a:prstGeom>
          <a:noFill/>
          <a:ln/>
        </p:spPr>
        <p:txBody>
          <a:bodyPr wrap="square" lIns="0" tIns="0" rIns="0" bIns="0" rtlCol="0" anchor="ctr"/>
          <a:lstStyle/>
          <a:p>
            <a:pPr algn="ctr" indent="0" marL="0">
              <a:buNone/>
            </a:pPr>
            <a:r>
              <a:rPr lang="en-US" sz="800" b="1" spc="100" kern="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sp>
      <p:sp>
        <p:nvSpPr>
          <p:cNvPr id="9" name="Text 6"/>
          <p:cNvSpPr txBox="1"/>
          <p:nvPr/>
        </p:nvSpPr>
        <p:spPr>
          <a:xfrm>
            <a:off x="704088" y="1746504"/>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indent="0" marL="0">
              <a:buNone/>
            </a:pPr>
            <a:r>
              <a:rPr lang="en-US" sz="1300" b="1" dirty="0">
                <a:solidFill>
                  <a:schemeClr val="tx1"/>
                </a:solidFill>
              </a:rPr>
              <a:t>Naive</a:t>
            </a:r>
            <a:endParaRPr lang="en-US" sz="1300" dirty="0"/>
          </a:p>
        </p:txBody>
      </p:sp>
      <p:sp>
        <p:nvSpPr>
          <p:cNvPr id="11" name="Text 8"/>
          <p:cNvSpPr txBox="1"/>
          <p:nvPr/>
        </p:nvSpPr>
        <p:spPr>
          <a:xfrm>
            <a:off x="1207008" y="1984248"/>
            <a:ext cx="3017520" cy="292608"/>
          </a:xfrm>
          <a:prstGeom prst="rect">
            <a:avLst/>
          </a:prstGeom>
          <a:noFill/>
          <a:ln/>
        </p:spPr>
        <p:txBody>
          <a:bodyPr wrap="square" lIns="0" tIns="0" rIns="0" bIns="0" rtlCol="0" anchor="t"/>
          <a:lstStyle/>
          <a:p>
            <a:pPr indent="0" marL="0">
              <a:buNone/>
            </a:pPr>
            <a:r>
              <a:rPr lang="en-US" sz="1100" dirty="0">
                <a:solidFill>
                  <a:schemeClr val="tx1"/>
                </a:solidFill>
              </a:rPr>
              <a:t>The question and the date. Nothing else.</a:t>
            </a:r>
            <a:endParaRPr lang="en-US" sz="1100" dirty="0"/>
          </a:p>
        </p:txBody>
      </p:sp>
      <p:sp>
        <p:nvSpPr>
          <p:cNvPr id="12" name="Text 9"/>
          <p:cNvSpPr txBox="1"/>
          <p:nvPr/>
        </p:nvSpPr>
        <p:spPr>
          <a:xfrm>
            <a:off x="1207008" y="2276856"/>
            <a:ext cx="3017520" cy="438912"/>
          </a:xfrm>
          <a:prstGeom prst="rect">
            <a:avLst/>
          </a:prstGeom>
          <a:noFill/>
          <a:ln/>
        </p:spPr>
        <p:txBody>
          <a:bodyPr wrap="square" lIns="0" tIns="0" rIns="0" bIns="0" rtlCol="0" anchor="t"/>
          <a:lstStyle/>
          <a:p>
            <a:pPr indent="0" marL="0">
              <a:buNone/>
            </a:pPr>
            <a:r>
              <a:rPr lang="en-US" sz="1050" b="1" dirty="0">
                <a:solidFill>
                  <a:srgbClr val="6B7280"/>
                </a:solidFill>
              </a:rPr>
              <a:t>Intent: </a:t>
            </a:r>
            <a:pPr indent="0" marL="0">
              <a:buNone/>
            </a:pP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sp>
      <p:sp>
        <p:nvSpPr>
          <p:cNvPr id="15" name="Text 12"/>
          <p:cNvSpPr txBox="1"/>
          <p:nvPr/>
        </p:nvSpPr>
        <p:spPr>
          <a:xfrm>
            <a:off x="704088" y="299008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indent="0" marL="0">
              <a:buNone/>
            </a:pPr>
            <a:r>
              <a:rPr lang="en-US" sz="1300" b="1" dirty="0">
                <a:solidFill>
                  <a:schemeClr val="tx1"/>
                </a:solidFill>
              </a:rPr>
              <a:t>Evidence shown, nothing verified</a:t>
            </a:r>
            <a:endParaRPr lang="en-US" sz="1300" dirty="0"/>
          </a:p>
        </p:txBody>
      </p:sp>
      <p:sp>
        <p:nvSpPr>
          <p:cNvPr id="17" name="Text 14"/>
          <p:cNvSpPr txBox="1"/>
          <p:nvPr/>
        </p:nvSpPr>
        <p:spPr>
          <a:xfrm>
            <a:off x="1207008" y="3227832"/>
            <a:ext cx="3017520" cy="292608"/>
          </a:xfrm>
          <a:prstGeom prst="rect">
            <a:avLst/>
          </a:prstGeom>
          <a:noFill/>
          <a:ln/>
        </p:spPr>
        <p:txBody>
          <a:bodyPr wrap="square" lIns="0" tIns="0" rIns="0" bIns="0" rtlCol="0" anchor="t"/>
          <a:lstStyle/>
          <a:p>
            <a:pPr indent="0" marL="0">
              <a:buNone/>
            </a:pPr>
            <a:r>
              <a:rPr lang="en-US" sz="1100" dirty="0">
                <a:solidFill>
                  <a:schemeClr val="tx1"/>
                </a:solidFill>
              </a:rPr>
              <a:t>Every document and pre-read, 128,000 characters. Free-form answer.</a:t>
            </a:r>
            <a:endParaRPr lang="en-US" sz="1100" dirty="0"/>
          </a:p>
        </p:txBody>
      </p:sp>
      <p:sp>
        <p:nvSpPr>
          <p:cNvPr id="18" name="Text 15"/>
          <p:cNvSpPr txBox="1"/>
          <p:nvPr/>
        </p:nvSpPr>
        <p:spPr>
          <a:xfrm>
            <a:off x="1207008" y="3520440"/>
            <a:ext cx="3017520" cy="438912"/>
          </a:xfrm>
          <a:prstGeom prst="rect">
            <a:avLst/>
          </a:prstGeom>
          <a:noFill/>
          <a:ln/>
        </p:spPr>
        <p:txBody>
          <a:bodyPr wrap="square" lIns="0" tIns="0" rIns="0" bIns="0" rtlCol="0" anchor="t"/>
          <a:lstStyle/>
          <a:p>
            <a:pPr indent="0" marL="0">
              <a:buNone/>
            </a:pPr>
            <a:r>
              <a:rPr lang="en-US" sz="1050" b="1" dirty="0">
                <a:solidFill>
                  <a:srgbClr val="6B7280"/>
                </a:solidFill>
              </a:rPr>
              <a:t>Intent: </a:t>
            </a:r>
            <a:pPr indent="0" marL="0">
              <a:buNone/>
            </a:pP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sp>
      <p:sp>
        <p:nvSpPr>
          <p:cNvPr id="21" name="Text 18"/>
          <p:cNvSpPr txBox="1"/>
          <p:nvPr/>
        </p:nvSpPr>
        <p:spPr>
          <a:xfrm>
            <a:off x="704088" y="423367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indent="0" marL="0">
              <a:buNone/>
            </a:pPr>
            <a:r>
              <a:rPr lang="en-US" sz="1300" b="1" dirty="0">
                <a:solidFill>
                  <a:schemeClr val="tx1"/>
                </a:solidFill>
              </a:rPr>
              <a:t>Generalist with verifier</a:t>
            </a:r>
            <a:endParaRPr lang="en-US" sz="1300" dirty="0"/>
          </a:p>
        </p:txBody>
      </p:sp>
      <p:sp>
        <p:nvSpPr>
          <p:cNvPr id="23" name="Text 20"/>
          <p:cNvSpPr txBox="1"/>
          <p:nvPr/>
        </p:nvSpPr>
        <p:spPr>
          <a:xfrm>
            <a:off x="1207008" y="4471416"/>
            <a:ext cx="3017520" cy="292608"/>
          </a:xfrm>
          <a:prstGeom prst="rect">
            <a:avLst/>
          </a:prstGeom>
          <a:noFill/>
          <a:ln/>
        </p:spPr>
        <p:txBody>
          <a:bodyPr wrap="square" lIns="0" tIns="0" rIns="0" bIns="0" rtlCol="0" anchor="t"/>
          <a:lstStyle/>
          <a:p>
            <a:pPr indent="0" marL="0">
              <a:buNone/>
            </a:pPr>
            <a:r>
              <a:rPr lang="en-US" sz="1100" dirty="0">
                <a:solidFill>
                  <a:schemeClr val="tx1"/>
                </a:solidFill>
              </a:rPr>
              <a:t>Same evidence; a fixed answer shape, a quote per claim, code checks every quote and number.</a:t>
            </a:r>
            <a:endParaRPr lang="en-US" sz="1100" dirty="0"/>
          </a:p>
        </p:txBody>
      </p:sp>
      <p:sp>
        <p:nvSpPr>
          <p:cNvPr id="24" name="Text 21"/>
          <p:cNvSpPr txBox="1"/>
          <p:nvPr/>
        </p:nvSpPr>
        <p:spPr>
          <a:xfrm>
            <a:off x="1207008" y="4764024"/>
            <a:ext cx="3017520" cy="438912"/>
          </a:xfrm>
          <a:prstGeom prst="rect">
            <a:avLst/>
          </a:prstGeom>
          <a:noFill/>
          <a:ln/>
        </p:spPr>
        <p:txBody>
          <a:bodyPr wrap="square" lIns="0" tIns="0" rIns="0" bIns="0" rtlCol="0" anchor="t"/>
          <a:lstStyle/>
          <a:p>
            <a:pPr indent="0" marL="0">
              <a:buNone/>
            </a:pPr>
            <a:r>
              <a:rPr lang="en-US" sz="1050" b="1" dirty="0">
                <a:solidFill>
                  <a:srgbClr val="6B7280"/>
                </a:solidFill>
              </a:rPr>
              <a:t>Intent: </a:t>
            </a:r>
            <a:pPr indent="0" marL="0">
              <a:buNone/>
            </a:pP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sp>
      <p:sp>
        <p:nvSpPr>
          <p:cNvPr id="26" name="Text 23"/>
          <p:cNvSpPr txBox="1"/>
          <p:nvPr/>
        </p:nvSpPr>
        <p:spPr>
          <a:xfrm>
            <a:off x="5166360" y="1335024"/>
            <a:ext cx="3291840" cy="219456"/>
          </a:xfrm>
          <a:prstGeom prst="rect">
            <a:avLst/>
          </a:prstGeom>
          <a:noFill/>
          <a:ln/>
        </p:spPr>
        <p:txBody>
          <a:bodyPr wrap="square" lIns="0" tIns="0" rIns="0" bIns="0" rtlCol="0" anchor="ctr"/>
          <a:lstStyle/>
          <a:p>
            <a:pPr indent="0" marL="0">
              <a:buNone/>
            </a:pPr>
            <a:r>
              <a:rPr lang="en-US" sz="950" b="1" spc="100" kern="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sp>
      <p:sp>
        <p:nvSpPr>
          <p:cNvPr id="28" name="Text 25"/>
          <p:cNvSpPr txBox="1"/>
          <p:nvPr/>
        </p:nvSpPr>
        <p:spPr>
          <a:xfrm>
            <a:off x="8503920" y="1344168"/>
            <a:ext cx="1371600" cy="201168"/>
          </a:xfrm>
          <a:prstGeom prst="rect">
            <a:avLst/>
          </a:prstGeom>
          <a:noFill/>
          <a:ln/>
        </p:spPr>
        <p:txBody>
          <a:bodyPr wrap="square" lIns="0" tIns="0" rIns="0" bIns="0" rtlCol="0" anchor="ctr"/>
          <a:lstStyle/>
          <a:p>
            <a:pPr algn="ctr" indent="0" marL="0">
              <a:buNone/>
            </a:pPr>
            <a:r>
              <a:rPr lang="en-US" sz="800" b="1" spc="100" kern="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sp>
      <p:sp>
        <p:nvSpPr>
          <p:cNvPr id="30" name="Text 27"/>
          <p:cNvSpPr txBox="1"/>
          <p:nvPr/>
        </p:nvSpPr>
        <p:spPr>
          <a:xfrm>
            <a:off x="5349240" y="1737360"/>
            <a:ext cx="6108192" cy="457200"/>
          </a:xfrm>
          <a:prstGeom prst="rect">
            <a:avLst/>
          </a:prstGeom>
          <a:noFill/>
          <a:ln/>
        </p:spPr>
        <p:txBody>
          <a:bodyPr wrap="square" lIns="0" tIns="0" rIns="0" bIns="0" rtlCol="0" anchor="t"/>
          <a:lstStyle/>
          <a:p>
            <a:pPr indent="0" marL="0">
              <a:buNone/>
            </a:pPr>
            <a:r>
              <a:rPr lang="en-US" sz="1150" dirty="0">
                <a:solidFill>
                  <a:srgbClr val="CADCFC"/>
                </a:solidFill>
              </a:rPr>
              <a:t>Analyst 3's shape and verifier, with one change: each reader gets </a:t>
            </a:r>
            <a:pPr indent="0" marL="0">
              <a:buNone/>
            </a:pPr>
            <a:r>
              <a:rPr lang="en-US" sz="1150" b="1" dirty="0">
                <a:solidFill>
                  <a:srgbClr val="FFFFFF"/>
                </a:solidFill>
              </a:rPr>
              <a:t>one slice of evidence</a:t>
            </a:r>
            <a:pPr indent="0" marL="0">
              <a:buNone/>
            </a:pP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sp>
      <p:sp>
        <p:nvSpPr>
          <p:cNvPr id="33" name="Text 30"/>
          <p:cNvSpPr txBox="1"/>
          <p:nvPr/>
        </p:nvSpPr>
        <p:spPr>
          <a:xfrm>
            <a:off x="5458968" y="237744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indent="0" marL="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indent="0" marL="0">
              <a:buNone/>
            </a:pPr>
            <a:r>
              <a:rPr lang="en-US" sz="950" dirty="0">
                <a:solidFill>
                  <a:srgbClr val="CADCFC"/>
                </a:solidFill>
              </a:rPr>
              <a:t>Both statements, the minutes, the transcript, the speeches, the tone pre-read.</a:t>
            </a:r>
            <a:endParaRPr lang="en-US" sz="950" dirty="0"/>
          </a:p>
          <a:p>
            <a:pPr indent="0" marL="0">
              <a:buNone/>
            </a:pPr>
            <a:r>
              <a:rPr lang="en-US" sz="950" b="1" dirty="0">
                <a:solidFill>
                  <a:srgbClr val="FFFFFF"/>
                </a:solidFill>
              </a:rPr>
              <a:t>Intent: </a:t>
            </a:r>
            <a:pPr indent="0" marL="0">
              <a:buNone/>
            </a:pP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sp>
      <p:sp>
        <p:nvSpPr>
          <p:cNvPr id="38" name="Text 35"/>
          <p:cNvSpPr txBox="1"/>
          <p:nvPr/>
        </p:nvSpPr>
        <p:spPr>
          <a:xfrm>
            <a:off x="8567928" y="237744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indent="0" marL="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indent="0" marL="0">
              <a:buNone/>
            </a:pPr>
            <a:r>
              <a:rPr lang="en-US" sz="950" dirty="0">
                <a:solidFill>
                  <a:srgbClr val="CADCFC"/>
                </a:solidFill>
              </a:rPr>
              <a:t>The minutes only.</a:t>
            </a:r>
            <a:endParaRPr lang="en-US" sz="950" dirty="0"/>
          </a:p>
          <a:p>
            <a:pPr indent="0" marL="0">
              <a:buNone/>
            </a:pPr>
            <a:r>
              <a:rPr lang="en-US" sz="950" b="1" dirty="0">
                <a:solidFill>
                  <a:srgbClr val="FFFFFF"/>
                </a:solidFill>
              </a:rPr>
              <a:t>Intent: </a:t>
            </a:r>
            <a:pPr indent="0" marL="0">
              <a:buNone/>
            </a:pP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sp>
      <p:sp>
        <p:nvSpPr>
          <p:cNvPr id="43" name="Text 40"/>
          <p:cNvSpPr txBox="1"/>
          <p:nvPr/>
        </p:nvSpPr>
        <p:spPr>
          <a:xfrm>
            <a:off x="5458968" y="31638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indent="0" marL="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indent="0" marL="0">
              <a:buNone/>
            </a:pPr>
            <a:r>
              <a:rPr lang="en-US" sz="950" dirty="0">
                <a:solidFill>
                  <a:srgbClr val="CADCFC"/>
                </a:solidFill>
              </a:rPr>
              <a:t>Projections table, both statements, the inflation pre-read.</a:t>
            </a:r>
            <a:endParaRPr lang="en-US" sz="950" dirty="0"/>
          </a:p>
          <a:p>
            <a:pPr indent="0" marL="0">
              <a:buNone/>
            </a:pPr>
            <a:r>
              <a:rPr lang="en-US" sz="950" b="1" dirty="0">
                <a:solidFill>
                  <a:srgbClr val="FFFFFF"/>
                </a:solidFill>
              </a:rPr>
              <a:t>Intent: </a:t>
            </a:r>
            <a:pPr indent="0" marL="0">
              <a:buNone/>
            </a:pP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sp>
      <p:sp>
        <p:nvSpPr>
          <p:cNvPr id="48" name="Text 45"/>
          <p:cNvSpPr txBox="1"/>
          <p:nvPr/>
        </p:nvSpPr>
        <p:spPr>
          <a:xfrm>
            <a:off x="8567928" y="31638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indent="0" marL="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indent="0" marL="0">
              <a:buNone/>
            </a:pPr>
            <a:r>
              <a:rPr lang="en-US" sz="950" dirty="0">
                <a:solidFill>
                  <a:srgbClr val="CADCFC"/>
                </a:solidFill>
              </a:rPr>
              <a:t>Projections table, both statements, the labour pre-read.</a:t>
            </a:r>
            <a:endParaRPr lang="en-US" sz="950" dirty="0"/>
          </a:p>
          <a:p>
            <a:pPr indent="0" marL="0">
              <a:buNone/>
            </a:pPr>
            <a:r>
              <a:rPr lang="en-US" sz="950" b="1" dirty="0">
                <a:solidFill>
                  <a:srgbClr val="FFFFFF"/>
                </a:solidFill>
              </a:rPr>
              <a:t>Intent: </a:t>
            </a:r>
            <a:pPr indent="0" marL="0">
              <a:buNone/>
            </a:pP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sp>
      <p:sp>
        <p:nvSpPr>
          <p:cNvPr id="53" name="Text 50"/>
          <p:cNvSpPr txBox="1"/>
          <p:nvPr/>
        </p:nvSpPr>
        <p:spPr>
          <a:xfrm>
            <a:off x="5458968" y="39502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indent="0" marL="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indent="0" marL="0">
              <a:buNone/>
            </a:pPr>
            <a:r>
              <a:rPr lang="en-US" sz="950" dirty="0">
                <a:solidFill>
                  <a:srgbClr val="CADCFC"/>
                </a:solidFill>
              </a:rPr>
              <a:t>Both statements, the financial-conditions and base-rate pre-reads.</a:t>
            </a:r>
            <a:endParaRPr lang="en-US" sz="950" dirty="0"/>
          </a:p>
          <a:p>
            <a:pPr indent="0" marL="0">
              <a:buNone/>
            </a:pPr>
            <a:r>
              <a:rPr lang="en-US" sz="950" b="1" dirty="0">
                <a:solidFill>
                  <a:srgbClr val="FFFFFF"/>
                </a:solidFill>
              </a:rPr>
              <a:t>Intent: </a:t>
            </a:r>
            <a:pPr indent="0" marL="0">
              <a:buNone/>
            </a:pP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indent="0" marL="0">
              <a:buNone/>
            </a:pPr>
            <a:r>
              <a:rPr lang="en-US" sz="1150" dirty="0">
                <a:solidFill>
                  <a:srgbClr val="CADCFC"/>
                </a:solidFill>
              </a:rPr>
              <a:t>Output per specialist: all claims with verbatim quotes, and a decision on interest-rate direction of at most ±10 bp. The mean of the five model outputs becomes a modifier on the pooled number.</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sx="100000" sy="100000" kx="0" ky="0" algn="bl" rotWithShape="0" blurRad="50800" dist="12700" dir="5400000">
              <a:srgbClr val="000000">
                <a:alpha val="8000"/>
              </a:srgbClr>
            </a:outerShdw>
          </a:effectLst>
        </p:spPr>
      </p:sp>
      <p:sp>
        <p:nvSpPr>
          <p:cNvPr id="58" name="Text 55"/>
          <p:cNvSpPr txBox="1"/>
          <p:nvPr/>
        </p:nvSpPr>
        <p:spPr>
          <a:xfrm>
            <a:off x="704088" y="5596128"/>
            <a:ext cx="10780776" cy="237744"/>
          </a:xfrm>
          <a:prstGeom prst="rect">
            <a:avLst/>
          </a:prstGeom>
          <a:noFill/>
          <a:ln/>
        </p:spPr>
        <p:txBody>
          <a:bodyPr wrap="square" lIns="0" tIns="0" rIns="0" bIns="0" rtlCol="0" anchor="ctr"/>
          <a:lstStyle/>
          <a:p>
            <a:pPr indent="0" marL="0">
              <a:buNone/>
            </a:pPr>
            <a:r>
              <a:rPr lang="en-US" sz="1150" b="1" dirty="0">
                <a:solidFill>
                  <a:schemeClr val="tx1"/>
                </a:solidFill>
              </a:rPr>
              <a:t>Every analyst runs five times on the same snapshot. </a:t>
            </a:r>
            <a:pPr indent="0" marL="0">
              <a:buNone/>
            </a:pP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indent="0" marL="0">
              <a:buNone/>
            </a:pPr>
            <a:r>
              <a:rPr lang="en-US" sz="1000" b="1" dirty="0">
                <a:solidFill>
                  <a:schemeClr val="tx1"/>
                </a:solidFill>
              </a:rPr>
              <a:t>1 sets the baseline: </a:t>
            </a:r>
            <a:pPr indent="0" marL="0">
              <a:buNone/>
            </a:pP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indent="0" marL="0">
              <a:buNone/>
            </a:pPr>
            <a:r>
              <a:rPr lang="en-US" sz="1000" b="1" dirty="0">
                <a:solidFill>
                  <a:schemeClr val="tx1"/>
                </a:solidFill>
              </a:rPr>
              <a:t>2 tests immutable evidence: </a:t>
            </a:r>
            <a:pPr indent="0" marL="0">
              <a:buNone/>
            </a:pP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indent="0" marL="0">
              <a:buNone/>
            </a:pPr>
            <a:r>
              <a:rPr lang="en-US" sz="1000" b="1" dirty="0">
                <a:solidFill>
                  <a:schemeClr val="tx1"/>
                </a:solidFill>
              </a:rPr>
              <a:t>3 tests the answer shape and code verification: </a:t>
            </a:r>
            <a:pPr indent="0" marL="0">
              <a:buNone/>
            </a:pPr>
            <a:r>
              <a:rPr lang="en-US" sz="1000" dirty="0">
                <a:solidFill>
                  <a:schemeClr val="tx1"/>
                </a:solidFill>
              </a:rPr>
              <a:t>variance falls under 1 bp; every claim quoted and checked.</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How the five specialists are run, end to end</a:t>
            </a:r>
            <a:endParaRPr lang="en-US" sz="3200" dirty="0"/>
          </a:p>
        </p:txBody>
      </p:sp>
      <p:sp>
        <p:nvSpPr>
          <p:cNvPr id="4" name="Shape 1"/>
          <p:cNvSpPr/>
          <p:nvPr/>
        </p:nvSpPr>
        <p:spPr>
          <a:xfrm>
            <a:off x="548640" y="1298448"/>
            <a:ext cx="2111532" cy="1463040"/>
          </a:xfrm>
          <a:prstGeom prst="roundRect">
            <a:avLst>
              <a:gd name="adj" fmla="val 6250"/>
            </a:avLst>
          </a:prstGeom>
          <a:solidFill>
            <a:srgbClr val="1E2761"/>
          </a:solidFill>
          <a:ln w="12700">
            <a:solidFill>
              <a:srgbClr val="1E2761"/>
            </a:solidFill>
            <a:prstDash val="solid"/>
          </a:ln>
        </p:spPr>
      </p:sp>
      <p:sp>
        <p:nvSpPr>
          <p:cNvPr id="5" name="Text 2"/>
          <p:cNvSpPr txBox="1"/>
          <p:nvPr/>
        </p:nvSpPr>
        <p:spPr>
          <a:xfrm>
            <a:off x="685800" y="1389888"/>
            <a:ext cx="1837212" cy="182880"/>
          </a:xfrm>
          <a:prstGeom prst="rect">
            <a:avLst/>
          </a:prstGeom>
          <a:noFill/>
          <a:ln/>
        </p:spPr>
        <p:txBody>
          <a:bodyPr wrap="square" lIns="0" tIns="0" rIns="0" bIns="0" rtlCol="0" anchor="t"/>
          <a:lstStyle/>
          <a:p>
            <a:pPr indent="0" marL="0">
              <a:buNone/>
            </a:pPr>
            <a:r>
              <a:rPr lang="en-US" sz="900" b="1" spc="100" kern="0" dirty="0">
                <a:solidFill>
                  <a:srgbClr val="E9B44C"/>
                </a:solidFill>
              </a:rPr>
              <a:t>STAGE 1</a:t>
            </a:r>
            <a:endParaRPr lang="en-US" sz="900" dirty="0"/>
          </a:p>
        </p:txBody>
      </p:sp>
      <p:sp>
        <p:nvSpPr>
          <p:cNvPr id="6" name="Text 3"/>
          <p:cNvSpPr txBox="1"/>
          <p:nvPr/>
        </p:nvSpPr>
        <p:spPr>
          <a:xfrm>
            <a:off x="685800" y="1572768"/>
            <a:ext cx="1837212" cy="274320"/>
          </a:xfrm>
          <a:prstGeom prst="rect">
            <a:avLst/>
          </a:prstGeom>
          <a:noFill/>
          <a:ln/>
        </p:spPr>
        <p:txBody>
          <a:bodyPr wrap="square" lIns="0" tIns="0" rIns="0" bIns="0" rtlCol="0" anchor="t"/>
          <a:lstStyle/>
          <a:p>
            <a:pPr indent="0" marL="0">
              <a:buNone/>
            </a:pPr>
            <a:r>
              <a:rPr lang="en-US" sz="1250" b="1" dirty="0">
                <a:solidFill>
                  <a:schemeClr val="bg1"/>
                </a:solidFill>
              </a:rPr>
              <a:t>Tools off, slice only</a:t>
            </a:r>
            <a:endParaRPr lang="en-US" sz="1250" dirty="0"/>
          </a:p>
        </p:txBody>
      </p:sp>
      <p:sp>
        <p:nvSpPr>
          <p:cNvPr id="7" name="Text 4"/>
          <p:cNvSpPr txBox="1"/>
          <p:nvPr/>
        </p:nvSpPr>
        <p:spPr>
          <a:xfrm>
            <a:off x="685800" y="1847088"/>
            <a:ext cx="1837212" cy="868680"/>
          </a:xfrm>
          <a:prstGeom prst="rect">
            <a:avLst/>
          </a:prstGeom>
          <a:noFill/>
          <a:ln/>
        </p:spPr>
        <p:txBody>
          <a:bodyPr wrap="square" lIns="0" tIns="0" rIns="0" bIns="0" rtlCol="0" anchor="t"/>
          <a:lstStyle/>
          <a:p>
            <a:pPr indent="0" marL="0">
              <a:buNone/>
            </a:pPr>
            <a:r>
              <a:rPr lang="en-US" sz="950" dirty="0">
                <a:solidFill>
                  <a:srgbClr val="CADCFC"/>
                </a:solidFill>
              </a:rPr>
              <a:t>No browsing, no files, no session: enforced by the runtime. Each specialist sees only its slice of the frozen snapshot. Memory is not off; it is detected: every number is checked against the evidence.</a:t>
            </a:r>
            <a:endParaRPr lang="en-US" sz="950" dirty="0"/>
          </a:p>
        </p:txBody>
      </p:sp>
      <p:sp>
        <p:nvSpPr>
          <p:cNvPr id="8" name="Shape 5"/>
          <p:cNvSpPr/>
          <p:nvPr/>
        </p:nvSpPr>
        <p:spPr>
          <a:xfrm>
            <a:off x="2793675" y="1298448"/>
            <a:ext cx="2111532" cy="1463040"/>
          </a:xfrm>
          <a:prstGeom prst="roundRect">
            <a:avLst>
              <a:gd name="adj" fmla="val 6250"/>
            </a:avLst>
          </a:prstGeom>
          <a:solidFill>
            <a:srgbClr val="1E2761"/>
          </a:solidFill>
          <a:ln w="12700">
            <a:solidFill>
              <a:srgbClr val="1E2761"/>
            </a:solidFill>
            <a:prstDash val="solid"/>
          </a:ln>
        </p:spPr>
      </p:sp>
      <p:sp>
        <p:nvSpPr>
          <p:cNvPr id="9" name="Text 6"/>
          <p:cNvSpPr txBox="1"/>
          <p:nvPr/>
        </p:nvSpPr>
        <p:spPr>
          <a:xfrm>
            <a:off x="2930835" y="1389888"/>
            <a:ext cx="1837212" cy="182880"/>
          </a:xfrm>
          <a:prstGeom prst="rect">
            <a:avLst/>
          </a:prstGeom>
          <a:noFill/>
          <a:ln/>
        </p:spPr>
        <p:txBody>
          <a:bodyPr wrap="square" lIns="0" tIns="0" rIns="0" bIns="0" rtlCol="0" anchor="t"/>
          <a:lstStyle/>
          <a:p>
            <a:pPr indent="0" marL="0">
              <a:buNone/>
            </a:pPr>
            <a:r>
              <a:rPr lang="en-US" sz="900" b="1" spc="100" kern="0" dirty="0">
                <a:solidFill>
                  <a:srgbClr val="E9B44C"/>
                </a:solidFill>
              </a:rPr>
              <a:t>STAGE 2</a:t>
            </a:r>
            <a:endParaRPr lang="en-US" sz="900" dirty="0"/>
          </a:p>
        </p:txBody>
      </p:sp>
      <p:sp>
        <p:nvSpPr>
          <p:cNvPr id="10" name="Text 7"/>
          <p:cNvSpPr txBox="1"/>
          <p:nvPr/>
        </p:nvSpPr>
        <p:spPr>
          <a:xfrm>
            <a:off x="2930835" y="1572768"/>
            <a:ext cx="1837212" cy="274320"/>
          </a:xfrm>
          <a:prstGeom prst="rect">
            <a:avLst/>
          </a:prstGeom>
          <a:noFill/>
          <a:ln/>
        </p:spPr>
        <p:txBody>
          <a:bodyPr wrap="square" lIns="0" tIns="0" rIns="0" bIns="0" rtlCol="0" anchor="t"/>
          <a:lstStyle/>
          <a:p>
            <a:pPr indent="0" marL="0">
              <a:buNone/>
            </a:pPr>
            <a:r>
              <a:rPr lang="en-US" sz="1250" b="1" dirty="0">
                <a:solidFill>
                  <a:schemeClr val="bg1"/>
                </a:solidFill>
              </a:rPr>
              <a:t>Immutable evidence</a:t>
            </a:r>
            <a:endParaRPr lang="en-US" sz="1250" dirty="0"/>
          </a:p>
        </p:txBody>
      </p:sp>
      <p:sp>
        <p:nvSpPr>
          <p:cNvPr id="11" name="Text 8"/>
          <p:cNvSpPr txBox="1"/>
          <p:nvPr/>
        </p:nvSpPr>
        <p:spPr>
          <a:xfrm>
            <a:off x="2930835" y="1847088"/>
            <a:ext cx="1837212" cy="868680"/>
          </a:xfrm>
          <a:prstGeom prst="rect">
            <a:avLst/>
          </a:prstGeom>
          <a:noFill/>
          <a:ln/>
        </p:spPr>
        <p:txBody>
          <a:bodyPr wrap="square" lIns="0" tIns="0" rIns="0" bIns="0" rtlCol="0" anchor="t"/>
          <a:lstStyle/>
          <a:p>
            <a:pPr indent="0" marL="0">
              <a:buNone/>
            </a:pPr>
            <a:r>
              <a:rPr lang="en-US" sz="950" dirty="0">
                <a:solidFill>
                  <a:srgbClr val="CADCFC"/>
                </a:solidFill>
              </a:rPr>
              <a:t>One frozen, hashed snapshot; each analyst gets only its slice. Pre-reads are numbers computed by code and handed over as text: the model never does sums.</a:t>
            </a:r>
            <a:endParaRPr lang="en-US" sz="950" dirty="0"/>
          </a:p>
        </p:txBody>
      </p:sp>
      <p:sp>
        <p:nvSpPr>
          <p:cNvPr id="12" name="Shape 9"/>
          <p:cNvSpPr/>
          <p:nvPr/>
        </p:nvSpPr>
        <p:spPr>
          <a:xfrm>
            <a:off x="5038710" y="1298448"/>
            <a:ext cx="2111532" cy="1463040"/>
          </a:xfrm>
          <a:prstGeom prst="roundRect">
            <a:avLst>
              <a:gd name="adj" fmla="val 6250"/>
            </a:avLst>
          </a:prstGeom>
          <a:solidFill>
            <a:srgbClr val="1E2761"/>
          </a:solidFill>
          <a:ln w="12700">
            <a:solidFill>
              <a:srgbClr val="1E2761"/>
            </a:solidFill>
            <a:prstDash val="solid"/>
          </a:ln>
        </p:spPr>
      </p:sp>
      <p:sp>
        <p:nvSpPr>
          <p:cNvPr id="13" name="Text 10"/>
          <p:cNvSpPr txBox="1"/>
          <p:nvPr/>
        </p:nvSpPr>
        <p:spPr>
          <a:xfrm>
            <a:off x="5175870" y="1389888"/>
            <a:ext cx="1837212" cy="182880"/>
          </a:xfrm>
          <a:prstGeom prst="rect">
            <a:avLst/>
          </a:prstGeom>
          <a:noFill/>
          <a:ln/>
        </p:spPr>
        <p:txBody>
          <a:bodyPr wrap="square" lIns="0" tIns="0" rIns="0" bIns="0" rtlCol="0" anchor="t"/>
          <a:lstStyle/>
          <a:p>
            <a:pPr indent="0" marL="0">
              <a:buNone/>
            </a:pPr>
            <a:r>
              <a:rPr lang="en-US" sz="900" b="1" spc="100" kern="0" dirty="0">
                <a:solidFill>
                  <a:srgbClr val="E9B44C"/>
                </a:solidFill>
              </a:rPr>
              <a:t>STAGE 3</a:t>
            </a:r>
            <a:endParaRPr lang="en-US" sz="900" dirty="0"/>
          </a:p>
        </p:txBody>
      </p:sp>
      <p:sp>
        <p:nvSpPr>
          <p:cNvPr id="14" name="Text 11"/>
          <p:cNvSpPr txBox="1"/>
          <p:nvPr/>
        </p:nvSpPr>
        <p:spPr>
          <a:xfrm>
            <a:off x="5175870" y="1572768"/>
            <a:ext cx="1837212" cy="274320"/>
          </a:xfrm>
          <a:prstGeom prst="rect">
            <a:avLst/>
          </a:prstGeom>
          <a:noFill/>
          <a:ln/>
        </p:spPr>
        <p:txBody>
          <a:bodyPr wrap="square" lIns="0" tIns="0" rIns="0" bIns="0" rtlCol="0" anchor="t"/>
          <a:lstStyle/>
          <a:p>
            <a:pPr indent="0" marL="0">
              <a:buNone/>
            </a:pPr>
            <a:r>
              <a:rPr lang="en-US" sz="1250" b="1" dirty="0">
                <a:solidFill>
                  <a:schemeClr val="bg1"/>
                </a:solidFill>
              </a:rPr>
              <a:t>Fixed answer shape</a:t>
            </a:r>
            <a:endParaRPr lang="en-US" sz="1250" dirty="0"/>
          </a:p>
        </p:txBody>
      </p:sp>
      <p:sp>
        <p:nvSpPr>
          <p:cNvPr id="15" name="Text 12"/>
          <p:cNvSpPr txBox="1"/>
          <p:nvPr/>
        </p:nvSpPr>
        <p:spPr>
          <a:xfrm>
            <a:off x="5175870" y="1847088"/>
            <a:ext cx="1837212" cy="868680"/>
          </a:xfrm>
          <a:prstGeom prst="rect">
            <a:avLst/>
          </a:prstGeom>
          <a:noFill/>
          <a:ln/>
        </p:spPr>
        <p:txBody>
          <a:bodyPr wrap="square" lIns="0" tIns="0" rIns="0" bIns="0" rtlCol="0" anchor="t"/>
          <a:lstStyle/>
          <a:p>
            <a:pPr indent="0" marL="0">
              <a:buNone/>
            </a:pPr>
            <a:r>
              <a:rPr lang="en-US" sz="950" dirty="0">
                <a:solidFill>
                  <a:srgbClr val="CADCFC"/>
                </a:solidFill>
              </a:rPr>
              <a:t>A JSON schema enforced by the runtime: claims with a verbatim quote and item id, a report on each watch-out, a lean within ±10 bp. Anything else is rejected unread.</a:t>
            </a:r>
            <a:endParaRPr lang="en-US" sz="950" dirty="0"/>
          </a:p>
        </p:txBody>
      </p:sp>
      <p:sp>
        <p:nvSpPr>
          <p:cNvPr id="16" name="Shape 13"/>
          <p:cNvSpPr/>
          <p:nvPr/>
        </p:nvSpPr>
        <p:spPr>
          <a:xfrm>
            <a:off x="7283745" y="1298448"/>
            <a:ext cx="2111532" cy="1463040"/>
          </a:xfrm>
          <a:prstGeom prst="roundRect">
            <a:avLst>
              <a:gd name="adj" fmla="val 6250"/>
            </a:avLst>
          </a:prstGeom>
          <a:solidFill>
            <a:srgbClr val="1E2761"/>
          </a:solidFill>
          <a:ln w="12700">
            <a:solidFill>
              <a:srgbClr val="1E2761"/>
            </a:solidFill>
            <a:prstDash val="solid"/>
          </a:ln>
        </p:spPr>
      </p:sp>
      <p:sp>
        <p:nvSpPr>
          <p:cNvPr id="17" name="Text 14"/>
          <p:cNvSpPr txBox="1"/>
          <p:nvPr/>
        </p:nvSpPr>
        <p:spPr>
          <a:xfrm>
            <a:off x="7420905" y="1389888"/>
            <a:ext cx="1837212" cy="182880"/>
          </a:xfrm>
          <a:prstGeom prst="rect">
            <a:avLst/>
          </a:prstGeom>
          <a:noFill/>
          <a:ln/>
        </p:spPr>
        <p:txBody>
          <a:bodyPr wrap="square" lIns="0" tIns="0" rIns="0" bIns="0" rtlCol="0" anchor="t"/>
          <a:lstStyle/>
          <a:p>
            <a:pPr indent="0" marL="0">
              <a:buNone/>
            </a:pPr>
            <a:r>
              <a:rPr lang="en-US" sz="900" b="1" spc="100" kern="0" dirty="0">
                <a:solidFill>
                  <a:srgbClr val="E9B44C"/>
                </a:solidFill>
              </a:rPr>
              <a:t>STAGE 4</a:t>
            </a:r>
            <a:endParaRPr lang="en-US" sz="900" dirty="0"/>
          </a:p>
        </p:txBody>
      </p:sp>
      <p:sp>
        <p:nvSpPr>
          <p:cNvPr id="18" name="Text 15"/>
          <p:cNvSpPr txBox="1"/>
          <p:nvPr/>
        </p:nvSpPr>
        <p:spPr>
          <a:xfrm>
            <a:off x="7420905" y="1572768"/>
            <a:ext cx="1837212" cy="274320"/>
          </a:xfrm>
          <a:prstGeom prst="rect">
            <a:avLst/>
          </a:prstGeom>
          <a:noFill/>
          <a:ln/>
        </p:spPr>
        <p:txBody>
          <a:bodyPr wrap="square" lIns="0" tIns="0" rIns="0" bIns="0" rtlCol="0" anchor="t"/>
          <a:lstStyle/>
          <a:p>
            <a:pPr indent="0" marL="0">
              <a:buNone/>
            </a:pPr>
            <a:r>
              <a:rPr lang="en-US" sz="1250" b="1" dirty="0">
                <a:solidFill>
                  <a:schemeClr val="bg1"/>
                </a:solidFill>
              </a:rPr>
              <a:t>Verified by code, no LLM</a:t>
            </a:r>
            <a:endParaRPr lang="en-US" sz="1250" dirty="0"/>
          </a:p>
        </p:txBody>
      </p:sp>
      <p:sp>
        <p:nvSpPr>
          <p:cNvPr id="19" name="Text 16"/>
          <p:cNvSpPr txBox="1"/>
          <p:nvPr/>
        </p:nvSpPr>
        <p:spPr>
          <a:xfrm>
            <a:off x="7420905" y="1847088"/>
            <a:ext cx="1837212" cy="868680"/>
          </a:xfrm>
          <a:prstGeom prst="rect">
            <a:avLst/>
          </a:prstGeom>
          <a:noFill/>
          <a:ln/>
        </p:spPr>
        <p:txBody>
          <a:bodyPr wrap="square" lIns="0" tIns="0" rIns="0" bIns="0" rtlCol="0" anchor="t"/>
          <a:lstStyle/>
          <a:p>
            <a:pPr indent="0" marL="0">
              <a:buNone/>
            </a:pPr>
            <a:r>
              <a:rPr lang="en-US" sz="950" dirty="0">
                <a:solidFill>
                  <a:srgbClr val="CADCFC"/>
                </a:solidFill>
              </a:rPr>
              <a:t>Each quote string-matched to its item; each number matched to the snapshot; watch-outs by id; lean clipped. A failure goes back once with the report, then stands as it is.</a:t>
            </a:r>
            <a:endParaRPr lang="en-US" sz="950" dirty="0"/>
          </a:p>
        </p:txBody>
      </p:sp>
      <p:sp>
        <p:nvSpPr>
          <p:cNvPr id="20" name="Shape 17"/>
          <p:cNvSpPr/>
          <p:nvPr/>
        </p:nvSpPr>
        <p:spPr>
          <a:xfrm>
            <a:off x="9528780" y="1298448"/>
            <a:ext cx="2111532" cy="1463040"/>
          </a:xfrm>
          <a:prstGeom prst="roundRect">
            <a:avLst>
              <a:gd name="adj" fmla="val 6250"/>
            </a:avLst>
          </a:prstGeom>
          <a:solidFill>
            <a:srgbClr val="1E2761"/>
          </a:solidFill>
          <a:ln w="12700">
            <a:solidFill>
              <a:srgbClr val="1E2761"/>
            </a:solidFill>
            <a:prstDash val="solid"/>
          </a:ln>
        </p:spPr>
      </p:sp>
      <p:sp>
        <p:nvSpPr>
          <p:cNvPr id="21" name="Text 18"/>
          <p:cNvSpPr txBox="1"/>
          <p:nvPr/>
        </p:nvSpPr>
        <p:spPr>
          <a:xfrm>
            <a:off x="9665940" y="1389888"/>
            <a:ext cx="1837212" cy="182880"/>
          </a:xfrm>
          <a:prstGeom prst="rect">
            <a:avLst/>
          </a:prstGeom>
          <a:noFill/>
          <a:ln/>
        </p:spPr>
        <p:txBody>
          <a:bodyPr wrap="square" lIns="0" tIns="0" rIns="0" bIns="0" rtlCol="0" anchor="t"/>
          <a:lstStyle/>
          <a:p>
            <a:pPr indent="0" marL="0">
              <a:buNone/>
            </a:pPr>
            <a:r>
              <a:rPr lang="en-US" sz="900" b="1" spc="100" kern="0" dirty="0">
                <a:solidFill>
                  <a:srgbClr val="E9B44C"/>
                </a:solidFill>
              </a:rPr>
              <a:t>STAGE 5</a:t>
            </a:r>
            <a:endParaRPr lang="en-US" sz="900" dirty="0"/>
          </a:p>
        </p:txBody>
      </p:sp>
      <p:sp>
        <p:nvSpPr>
          <p:cNvPr id="22" name="Text 19"/>
          <p:cNvSpPr txBox="1"/>
          <p:nvPr/>
        </p:nvSpPr>
        <p:spPr>
          <a:xfrm>
            <a:off x="9665940" y="1572768"/>
            <a:ext cx="1837212" cy="274320"/>
          </a:xfrm>
          <a:prstGeom prst="rect">
            <a:avLst/>
          </a:prstGeom>
          <a:noFill/>
          <a:ln/>
        </p:spPr>
        <p:txBody>
          <a:bodyPr wrap="square" lIns="0" tIns="0" rIns="0" bIns="0" rtlCol="0" anchor="t"/>
          <a:lstStyle/>
          <a:p>
            <a:pPr indent="0" marL="0">
              <a:buNone/>
            </a:pPr>
            <a:r>
              <a:rPr lang="en-US" sz="1250" b="1" dirty="0">
                <a:solidFill>
                  <a:schemeClr val="bg1"/>
                </a:solidFill>
              </a:rPr>
              <a:t>Recorded, five times</a:t>
            </a:r>
            <a:endParaRPr lang="en-US" sz="1250" dirty="0"/>
          </a:p>
        </p:txBody>
      </p:sp>
      <p:sp>
        <p:nvSpPr>
          <p:cNvPr id="23" name="Text 20"/>
          <p:cNvSpPr txBox="1"/>
          <p:nvPr/>
        </p:nvSpPr>
        <p:spPr>
          <a:xfrm>
            <a:off x="9665940" y="1847088"/>
            <a:ext cx="1837212" cy="868680"/>
          </a:xfrm>
          <a:prstGeom prst="rect">
            <a:avLst/>
          </a:prstGeom>
          <a:noFill/>
          <a:ln/>
        </p:spPr>
        <p:txBody>
          <a:bodyPr wrap="square" lIns="0" tIns="0" rIns="0" bIns="0" rtlCol="0" anchor="t"/>
          <a:lstStyle/>
          <a:p>
            <a:pPr indent="0" marL="0">
              <a:buNone/>
            </a:pPr>
            <a:r>
              <a:rPr lang="en-US" sz="950" dirty="0">
                <a:solidFill>
                  <a:srgbClr val="CADCFC"/>
                </a:solidFill>
              </a:rPr>
              <a:t>Stored under a hash of the prompt with the full output; replays exactly. Five identical runs measure repeatability. Only then may a lean touch the number.</a:t>
            </a:r>
            <a:endParaRPr lang="en-US" sz="950" dirty="0"/>
          </a:p>
        </p:txBody>
      </p:sp>
      <p:sp>
        <p:nvSpPr>
          <p:cNvPr id="24" name="Shape 21"/>
          <p:cNvSpPr/>
          <p:nvPr/>
        </p:nvSpPr>
        <p:spPr>
          <a:xfrm>
            <a:off x="548640" y="2948940"/>
            <a:ext cx="2245035" cy="1234440"/>
          </a:xfrm>
          <a:prstGeom prst="rect">
            <a:avLst/>
          </a:prstGeom>
          <a:solidFill>
            <a:srgbClr val="CADCFC"/>
          </a:solidFill>
          <a:ln w="12700">
            <a:solidFill>
              <a:srgbClr val="CADCFC"/>
            </a:solidFill>
            <a:prstDash val="solid"/>
          </a:ln>
        </p:spPr>
      </p:sp>
      <p:sp>
        <p:nvSpPr>
          <p:cNvPr id="25" name="Text 22"/>
          <p:cNvSpPr txBox="1"/>
          <p:nvPr/>
        </p:nvSpPr>
        <p:spPr>
          <a:xfrm>
            <a:off x="548640" y="3218688"/>
            <a:ext cx="2245035" cy="365760"/>
          </a:xfrm>
          <a:prstGeom prst="rect">
            <a:avLst/>
          </a:prstGeom>
          <a:noFill/>
          <a:ln/>
        </p:spPr>
        <p:txBody>
          <a:bodyPr wrap="square" lIns="0" tIns="0" rIns="0" bIns="0" rtlCol="0" anchor="ctr"/>
          <a:lstStyle/>
          <a:p>
            <a:pPr algn="ctr" indent="0" marL="0">
              <a:buNone/>
            </a:pPr>
            <a:r>
              <a:rPr lang="en-US" sz="1800" b="1" dirty="0">
                <a:solidFill>
                  <a:schemeClr val="tx1"/>
                </a:solidFill>
              </a:rPr>
              <a:t>25 runs</a:t>
            </a:r>
            <a:endParaRPr lang="en-US" sz="1800" dirty="0"/>
          </a:p>
        </p:txBody>
      </p:sp>
      <p:sp>
        <p:nvSpPr>
          <p:cNvPr id="26" name="Text 23"/>
          <p:cNvSpPr txBox="1"/>
          <p:nvPr/>
        </p:nvSpPr>
        <p:spPr>
          <a:xfrm>
            <a:off x="548640" y="3584448"/>
            <a:ext cx="2245035" cy="274320"/>
          </a:xfrm>
          <a:prstGeom prst="rect">
            <a:avLst/>
          </a:prstGeom>
          <a:noFill/>
          <a:ln/>
        </p:spPr>
        <p:txBody>
          <a:bodyPr wrap="square" lIns="0" tIns="0" rIns="0" bIns="0" rtlCol="0" anchor="ctr"/>
          <a:lstStyle/>
          <a:p>
            <a:pPr algn="ctr" indent="0" marL="0">
              <a:buNone/>
            </a:pPr>
            <a:r>
              <a:rPr lang="en-US" sz="1000" dirty="0">
                <a:solidFill>
                  <a:schemeClr val="tx1"/>
                </a:solidFill>
              </a:rPr>
              <a:t>5 specialists × 5 identical runs</a:t>
            </a:r>
            <a:endParaRPr lang="en-US" sz="1000" dirty="0"/>
          </a:p>
        </p:txBody>
      </p:sp>
      <p:sp>
        <p:nvSpPr>
          <p:cNvPr id="27" name="Shape 24"/>
          <p:cNvSpPr/>
          <p:nvPr/>
        </p:nvSpPr>
        <p:spPr>
          <a:xfrm>
            <a:off x="2793675" y="2985516"/>
            <a:ext cx="2245035" cy="1161288"/>
          </a:xfrm>
          <a:prstGeom prst="rect">
            <a:avLst/>
          </a:prstGeom>
          <a:solidFill>
            <a:srgbClr val="B9CEF3"/>
          </a:solidFill>
          <a:ln w="12700">
            <a:solidFill>
              <a:srgbClr val="B9CEF3"/>
            </a:solidFill>
            <a:prstDash val="solid"/>
          </a:ln>
        </p:spPr>
      </p:sp>
      <p:sp>
        <p:nvSpPr>
          <p:cNvPr id="28" name="Text 25"/>
          <p:cNvSpPr txBox="1"/>
          <p:nvPr/>
        </p:nvSpPr>
        <p:spPr>
          <a:xfrm>
            <a:off x="2793675" y="3218688"/>
            <a:ext cx="2245035" cy="365760"/>
          </a:xfrm>
          <a:prstGeom prst="rect">
            <a:avLst/>
          </a:prstGeom>
          <a:noFill/>
          <a:ln/>
        </p:spPr>
        <p:txBody>
          <a:bodyPr wrap="square" lIns="0" tIns="0" rIns="0" bIns="0" rtlCol="0" anchor="ctr"/>
          <a:lstStyle/>
          <a:p>
            <a:pPr algn="ctr" indent="0" marL="0">
              <a:buNone/>
            </a:pPr>
            <a:r>
              <a:rPr lang="en-US" sz="1800" b="1" dirty="0">
                <a:solidFill>
                  <a:schemeClr val="tx1"/>
                </a:solidFill>
              </a:rPr>
              <a:t>25 prompts</a:t>
            </a:r>
            <a:endParaRPr lang="en-US" sz="1800" dirty="0"/>
          </a:p>
        </p:txBody>
      </p:sp>
      <p:sp>
        <p:nvSpPr>
          <p:cNvPr id="29" name="Text 26"/>
          <p:cNvSpPr txBox="1"/>
          <p:nvPr/>
        </p:nvSpPr>
        <p:spPr>
          <a:xfrm>
            <a:off x="2793675" y="3584448"/>
            <a:ext cx="2245035" cy="274320"/>
          </a:xfrm>
          <a:prstGeom prst="rect">
            <a:avLst/>
          </a:prstGeom>
          <a:noFill/>
          <a:ln/>
        </p:spPr>
        <p:txBody>
          <a:bodyPr wrap="square" lIns="0" tIns="0" rIns="0" bIns="0" rtlCol="0" anchor="ctr"/>
          <a:lstStyle/>
          <a:p>
            <a:pPr algn="ctr" indent="0" marL="0">
              <a:buNone/>
            </a:pPr>
            <a:r>
              <a:rPr lang="en-US" sz="1000" dirty="0">
                <a:solidFill>
                  <a:schemeClr val="tx1"/>
                </a:solidFill>
              </a:rPr>
              <a:t>one slice each, hashed</a:t>
            </a:r>
            <a:endParaRPr lang="en-US" sz="1000" dirty="0"/>
          </a:p>
        </p:txBody>
      </p:sp>
      <p:sp>
        <p:nvSpPr>
          <p:cNvPr id="30" name="Shape 27"/>
          <p:cNvSpPr/>
          <p:nvPr/>
        </p:nvSpPr>
        <p:spPr>
          <a:xfrm>
            <a:off x="5038710" y="3031236"/>
            <a:ext cx="2245035" cy="1069848"/>
          </a:xfrm>
          <a:prstGeom prst="rect">
            <a:avLst/>
          </a:prstGeom>
          <a:solidFill>
            <a:srgbClr val="A8C3EC"/>
          </a:solidFill>
          <a:ln w="12700">
            <a:solidFill>
              <a:srgbClr val="A8C3EC"/>
            </a:solidFill>
            <a:prstDash val="solid"/>
          </a:ln>
        </p:spPr>
      </p:sp>
      <p:sp>
        <p:nvSpPr>
          <p:cNvPr id="31" name="Text 28"/>
          <p:cNvSpPr txBox="1"/>
          <p:nvPr/>
        </p:nvSpPr>
        <p:spPr>
          <a:xfrm>
            <a:off x="5038710" y="3218688"/>
            <a:ext cx="2245035" cy="365760"/>
          </a:xfrm>
          <a:prstGeom prst="rect">
            <a:avLst/>
          </a:prstGeom>
          <a:noFill/>
          <a:ln/>
        </p:spPr>
        <p:txBody>
          <a:bodyPr wrap="square" lIns="0" tIns="0" rIns="0" bIns="0" rtlCol="0" anchor="ctr"/>
          <a:lstStyle/>
          <a:p>
            <a:pPr algn="ctr" indent="0" marL="0">
              <a:buNone/>
            </a:pPr>
            <a:r>
              <a:rPr lang="en-US" sz="1800" b="1" dirty="0">
                <a:solidFill>
                  <a:schemeClr val="tx1"/>
                </a:solidFill>
              </a:rPr>
              <a:t>263 claims</a:t>
            </a:r>
            <a:endParaRPr lang="en-US" sz="1800" dirty="0"/>
          </a:p>
        </p:txBody>
      </p:sp>
      <p:sp>
        <p:nvSpPr>
          <p:cNvPr id="32" name="Text 29"/>
          <p:cNvSpPr txBox="1"/>
          <p:nvPr/>
        </p:nvSpPr>
        <p:spPr>
          <a:xfrm>
            <a:off x="5038710" y="3584448"/>
            <a:ext cx="2245035" cy="274320"/>
          </a:xfrm>
          <a:prstGeom prst="rect">
            <a:avLst/>
          </a:prstGeom>
          <a:noFill/>
          <a:ln/>
        </p:spPr>
        <p:txBody>
          <a:bodyPr wrap="square" lIns="0" tIns="0" rIns="0" bIns="0" rtlCol="0" anchor="ctr"/>
          <a:lstStyle/>
          <a:p>
            <a:pPr algn="ctr" indent="0" marL="0">
              <a:buNone/>
            </a:pPr>
            <a:r>
              <a:rPr lang="en-US" sz="1000" dirty="0">
                <a:solidFill>
                  <a:schemeClr val="tx1"/>
                </a:solidFill>
              </a:rPr>
              <a:t>every one with a verbatim quote</a:t>
            </a:r>
            <a:endParaRPr lang="en-US" sz="1000" dirty="0"/>
          </a:p>
        </p:txBody>
      </p:sp>
      <p:sp>
        <p:nvSpPr>
          <p:cNvPr id="33" name="Shape 30"/>
          <p:cNvSpPr/>
          <p:nvPr/>
        </p:nvSpPr>
        <p:spPr>
          <a:xfrm>
            <a:off x="7283745" y="3063240"/>
            <a:ext cx="2245035" cy="1005840"/>
          </a:xfrm>
          <a:prstGeom prst="rect">
            <a:avLst/>
          </a:prstGeom>
          <a:solidFill>
            <a:srgbClr val="97B7E5"/>
          </a:solidFill>
          <a:ln w="12700">
            <a:solidFill>
              <a:srgbClr val="97B7E5"/>
            </a:solidFill>
            <a:prstDash val="solid"/>
          </a:ln>
        </p:spPr>
      </p:sp>
      <p:sp>
        <p:nvSpPr>
          <p:cNvPr id="34" name="Text 31"/>
          <p:cNvSpPr txBox="1"/>
          <p:nvPr/>
        </p:nvSpPr>
        <p:spPr>
          <a:xfrm>
            <a:off x="7283745" y="3218688"/>
            <a:ext cx="2245035" cy="365760"/>
          </a:xfrm>
          <a:prstGeom prst="rect">
            <a:avLst/>
          </a:prstGeom>
          <a:noFill/>
          <a:ln/>
        </p:spPr>
        <p:txBody>
          <a:bodyPr wrap="square" lIns="0" tIns="0" rIns="0" bIns="0" rtlCol="0" anchor="ctr"/>
          <a:lstStyle/>
          <a:p>
            <a:pPr algn="ctr" indent="0" marL="0">
              <a:buNone/>
            </a:pPr>
            <a:r>
              <a:rPr lang="en-US" sz="1800" b="1" dirty="0">
                <a:solidFill>
                  <a:schemeClr val="tx1"/>
                </a:solidFill>
              </a:rPr>
              <a:t>263 verified</a:t>
            </a:r>
            <a:endParaRPr lang="en-US" sz="1800" dirty="0"/>
          </a:p>
        </p:txBody>
      </p:sp>
      <p:sp>
        <p:nvSpPr>
          <p:cNvPr id="35" name="Text 32"/>
          <p:cNvSpPr txBox="1"/>
          <p:nvPr/>
        </p:nvSpPr>
        <p:spPr>
          <a:xfrm>
            <a:off x="7283745" y="3584448"/>
            <a:ext cx="2245035" cy="274320"/>
          </a:xfrm>
          <a:prstGeom prst="rect">
            <a:avLst/>
          </a:prstGeom>
          <a:noFill/>
          <a:ln/>
        </p:spPr>
        <p:txBody>
          <a:bodyPr wrap="square" lIns="0" tIns="0" rIns="0" bIns="0" rtlCol="0" anchor="ctr"/>
          <a:lstStyle/>
          <a:p>
            <a:pPr algn="ctr" indent="0" marL="0">
              <a:buNone/>
            </a:pPr>
            <a:r>
              <a:rPr lang="en-US" sz="1000" dirty="0">
                <a:solidFill>
                  <a:schemeClr val="tx1"/>
                </a:solidFill>
              </a:rPr>
              <a:t>100%; 0 numbers from memory</a:t>
            </a:r>
            <a:endParaRPr lang="en-US" sz="1000" dirty="0"/>
          </a:p>
        </p:txBody>
      </p:sp>
      <p:sp>
        <p:nvSpPr>
          <p:cNvPr id="36" name="Shape 33"/>
          <p:cNvSpPr/>
          <p:nvPr/>
        </p:nvSpPr>
        <p:spPr>
          <a:xfrm>
            <a:off x="9528780" y="3191256"/>
            <a:ext cx="2111532" cy="749808"/>
          </a:xfrm>
          <a:prstGeom prst="rect">
            <a:avLst/>
          </a:prstGeom>
          <a:solidFill>
            <a:srgbClr val="1E2761"/>
          </a:solidFill>
          <a:ln w="12700">
            <a:solidFill>
              <a:srgbClr val="1E2761"/>
            </a:solidFill>
            <a:prstDash val="solid"/>
          </a:ln>
        </p:spPr>
      </p:sp>
      <p:sp>
        <p:nvSpPr>
          <p:cNvPr id="37" name="Text 34"/>
          <p:cNvSpPr txBox="1"/>
          <p:nvPr/>
        </p:nvSpPr>
        <p:spPr>
          <a:xfrm>
            <a:off x="9528780" y="3218688"/>
            <a:ext cx="2111532" cy="365760"/>
          </a:xfrm>
          <a:prstGeom prst="rect">
            <a:avLst/>
          </a:prstGeom>
          <a:noFill/>
          <a:ln/>
        </p:spPr>
        <p:txBody>
          <a:bodyPr wrap="square" lIns="0" tIns="0" rIns="0" bIns="0" rtlCol="0" anchor="ctr"/>
          <a:lstStyle/>
          <a:p>
            <a:pPr algn="ctr" indent="0" marL="0">
              <a:buNone/>
            </a:pPr>
            <a:r>
              <a:rPr lang="en-US" sz="1800" b="1" dirty="0">
                <a:solidFill>
                  <a:schemeClr val="bg1"/>
                </a:solidFill>
              </a:rPr>
              <a:t>5 direction calls</a:t>
            </a:r>
            <a:endParaRPr lang="en-US" sz="1800" dirty="0"/>
          </a:p>
        </p:txBody>
      </p:sp>
      <p:sp>
        <p:nvSpPr>
          <p:cNvPr id="38" name="Text 35"/>
          <p:cNvSpPr txBox="1"/>
          <p:nvPr/>
        </p:nvSpPr>
        <p:spPr>
          <a:xfrm>
            <a:off x="9528780" y="3584448"/>
            <a:ext cx="2111532" cy="274320"/>
          </a:xfrm>
          <a:prstGeom prst="rect">
            <a:avLst/>
          </a:prstGeom>
          <a:noFill/>
          <a:ln/>
        </p:spPr>
        <p:txBody>
          <a:bodyPr wrap="square" lIns="0" tIns="0" rIns="0" bIns="0" rtlCol="0" anchor="ctr"/>
          <a:lstStyle/>
          <a:p>
            <a:pPr algn="ctr" indent="0" marL="0">
              <a:buNone/>
            </a:pPr>
            <a:r>
              <a:rPr lang="en-US" sz="1000" dirty="0">
                <a:solidFill>
                  <a:srgbClr val="CADCFC"/>
                </a:solidFill>
              </a:rPr>
              <a:t>+6.0 · +6.2 · +5.8 · −1.4 · +3.4 bp</a:t>
            </a:r>
            <a:endParaRPr lang="en-US" sz="1000" dirty="0"/>
          </a:p>
        </p:txBody>
      </p:sp>
      <p:sp>
        <p:nvSpPr>
          <p:cNvPr id="39" name="Shape 36"/>
          <p:cNvSpPr/>
          <p:nvPr/>
        </p:nvSpPr>
        <p:spPr>
          <a:xfrm>
            <a:off x="548640" y="4526280"/>
            <a:ext cx="4434840" cy="1737360"/>
          </a:xfrm>
          <a:prstGeom prst="roundRect">
            <a:avLst>
              <a:gd name="adj" fmla="val 6316"/>
            </a:avLst>
          </a:prstGeom>
          <a:solidFill>
            <a:srgbClr val="FBEFEA"/>
          </a:solidFill>
          <a:ln w="12700">
            <a:solidFill>
              <a:srgbClr val="FBEFEA"/>
            </a:solidFill>
            <a:prstDash val="solid"/>
          </a:ln>
          <a:effectLst>
            <a:outerShdw sx="100000" sy="100000" kx="0" ky="0" algn="bl" rotWithShape="0" blurRad="50800" dist="12700" dir="5400000">
              <a:srgbClr val="000000">
                <a:alpha val="8000"/>
              </a:srgbClr>
            </a:outerShdw>
          </a:effectLst>
        </p:spPr>
      </p:sp>
      <p:sp>
        <p:nvSpPr>
          <p:cNvPr id="40" name="Text 37"/>
          <p:cNvSpPr txBox="1"/>
          <p:nvPr/>
        </p:nvSpPr>
        <p:spPr>
          <a:xfrm>
            <a:off x="704088" y="4617720"/>
            <a:ext cx="4114800" cy="182880"/>
          </a:xfrm>
          <a:prstGeom prst="rect">
            <a:avLst/>
          </a:prstGeom>
          <a:noFill/>
          <a:ln/>
        </p:spPr>
        <p:txBody>
          <a:bodyPr wrap="square" lIns="0" tIns="0" rIns="0" bIns="0" rtlCol="0" anchor="t"/>
          <a:lstStyle/>
          <a:p>
            <a:pPr indent="0" marL="0">
              <a:buNone/>
            </a:pPr>
            <a:r>
              <a:rPr lang="en-US" sz="900" b="1" spc="100" kern="0" dirty="0">
                <a:solidFill>
                  <a:srgbClr val="C8553D"/>
                </a:solidFill>
              </a:rPr>
              <a:t>WHAT THE FIVE SAID, AND WHAT IT DID TO THE NUMBER</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04088" y="4873752"/>
          <a:ext cx="2057400" cy="914400"/>
        </p:xfrm>
        <a:graphic>
          <a:graphicData uri="http://schemas.openxmlformats.org/drawingml/2006/table">
            <a:tbl>
              <a:tblPr/>
              <a:tblGrid>
                <a:gridCol w="1325880"/>
                <a:gridCol w="731520"/>
              </a:tblGrid>
              <a:tr h="201168">
                <a:tc>
                  <a:txBody>
                    <a:bodyPr/>
                    <a:lstStyle/>
                    <a:p>
                      <a:pPr indent="0" marL="0">
                        <a:buNone/>
                      </a:pPr>
                      <a:r>
                        <a:rPr lang="en-US" sz="950" dirty="0">
                          <a:solidFill>
                            <a:srgbClr val="1B1F2A"/>
                          </a:solidFill>
                        </a:rPr>
                        <a:t>Communications</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950" b="1" dirty="0">
                          <a:solidFill>
                            <a:srgbClr val="1B1F2A"/>
                          </a:solidFill>
                        </a:rPr>
                        <a:t>+6.0 hike</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r>
              <a:tr h="201168">
                <a:tc>
                  <a:txBody>
                    <a:bodyPr/>
                    <a:lstStyle/>
                    <a:p>
                      <a:pPr indent="0" marL="0">
                        <a:buNone/>
                      </a:pPr>
                      <a:r>
                        <a:rPr lang="en-US" sz="950" dirty="0">
                          <a:solidFill>
                            <a:srgbClr val="1B1F2A"/>
                          </a:solidFill>
                        </a:rPr>
                        <a:t>Minutes</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950" b="1" dirty="0">
                          <a:solidFill>
                            <a:srgbClr val="1B1F2A"/>
                          </a:solidFill>
                        </a:rPr>
                        <a:t>+6.2 hike</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r>
              <a:tr h="201168">
                <a:tc>
                  <a:txBody>
                    <a:bodyPr/>
                    <a:lstStyle/>
                    <a:p>
                      <a:pPr indent="0" marL="0">
                        <a:buNone/>
                      </a:pPr>
                      <a:r>
                        <a:rPr lang="en-US" sz="950" dirty="0">
                          <a:solidFill>
                            <a:srgbClr val="1B1F2A"/>
                          </a:solidFill>
                        </a:rPr>
                        <a:t>Inflation</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950" b="1" dirty="0">
                          <a:solidFill>
                            <a:srgbClr val="1B1F2A"/>
                          </a:solidFill>
                        </a:rPr>
                        <a:t>+5.8 hike</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r>
              <a:tr h="201168">
                <a:tc>
                  <a:txBody>
                    <a:bodyPr/>
                    <a:lstStyle/>
                    <a:p>
                      <a:pPr indent="0" marL="0">
                        <a:buNone/>
                      </a:pPr>
                      <a:r>
                        <a:rPr lang="en-US" sz="950" dirty="0">
                          <a:solidFill>
                            <a:srgbClr val="1B1F2A"/>
                          </a:solidFill>
                        </a:rPr>
                        <a:t>Financial conditions</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950" b="1" dirty="0">
                          <a:solidFill>
                            <a:srgbClr val="1B1F2A"/>
                          </a:solidFill>
                        </a:rPr>
                        <a:t>+3.4 hike</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r>
              <a:tr h="201168">
                <a:tc>
                  <a:txBody>
                    <a:bodyPr/>
                    <a:lstStyle/>
                    <a:p>
                      <a:pPr indent="0" marL="0">
                        <a:buNone/>
                      </a:pPr>
                      <a:r>
                        <a:rPr lang="en-US" sz="950" dirty="0">
                          <a:solidFill>
                            <a:srgbClr val="2C6E49"/>
                          </a:solidFill>
                        </a:rPr>
                        <a:t>Labour market</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950" b="1" dirty="0">
                          <a:solidFill>
                            <a:srgbClr val="2C6E49"/>
                          </a:solidFill>
                        </a:rPr>
                        <a:t>−1.4 no hike</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r>
              <a:tr h="201168">
                <a:tc>
                  <a:txBody>
                    <a:bodyPr/>
                    <a:lstStyle/>
                    <a:p>
                      <a:pPr indent="0" marL="0">
                        <a:buNone/>
                      </a:pPr>
                      <a:r>
                        <a:rPr lang="en-US" sz="950" b="1" dirty="0">
                          <a:solidFill>
                            <a:srgbClr val="1B1F2A"/>
                          </a:solidFill>
                        </a:rPr>
                        <a:t>Equal-weight mean</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950" b="1" dirty="0">
                          <a:solidFill>
                            <a:srgbClr val="1B1F2A"/>
                          </a:solidFill>
                        </a:rPr>
                        <a:t>+4.0 bp</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r>
            </a:tbl>
          </a:graphicData>
        </a:graphic>
      </p:graphicFrame>
      <p:sp>
        <p:nvSpPr>
          <p:cNvPr id="42" name="Text 38"/>
          <p:cNvSpPr txBox="1"/>
          <p:nvPr/>
        </p:nvSpPr>
        <p:spPr>
          <a:xfrm>
            <a:off x="2880360" y="4873752"/>
            <a:ext cx="1965960" cy="822960"/>
          </a:xfrm>
          <a:prstGeom prst="rect">
            <a:avLst/>
          </a:prstGeom>
          <a:noFill/>
          <a:ln/>
        </p:spPr>
        <p:txBody>
          <a:bodyPr wrap="square" lIns="0" tIns="0" rIns="0" bIns="0" rtlCol="0" anchor="t"/>
          <a:lstStyle/>
          <a:p>
            <a:pPr indent="0" marL="0">
              <a:buNone/>
            </a:pPr>
            <a:r>
              <a:rPr lang="en-US" sz="950" b="1" dirty="0">
                <a:solidFill>
                  <a:schemeClr val="tx1"/>
                </a:solidFill>
              </a:rPr>
              <a:t>Four say hike, one says hold back. </a:t>
            </a:r>
            <a:pPr indent="0" marL="0">
              <a:buNone/>
            </a:pPr>
            <a:r>
              <a:rPr lang="en-US" sz="950" dirty="0">
                <a:solidFill>
                  <a:schemeClr val="tx1"/>
                </a:solidFill>
              </a:rPr>
              <a:t>Plain average, one vote each: +4.0 bp.</a:t>
            </a:r>
            <a:endParaRPr lang="en-US" sz="950" dirty="0"/>
          </a:p>
          <a:p>
            <a:pPr indent="0" marL="0">
              <a:buNone/>
            </a:pPr>
            <a:r>
              <a:rPr lang="en-US" sz="950" b="1" dirty="0">
                <a:solidFill>
                  <a:schemeClr val="tx1"/>
                </a:solidFill>
              </a:rPr>
              <a:t>+4.0 bp = 4.0 points of probability </a:t>
            </a:r>
            <a:pPr indent="0" marL="0">
              <a:buNone/>
            </a:pPr>
            <a:r>
              <a:rPr lang="en-US" sz="950" dirty="0">
                <a:solidFill>
                  <a:schemeClr val="tx1"/>
                </a:solidFill>
              </a:rPr>
              <a:t>moved toward a hike, after the pool:</a:t>
            </a:r>
            <a:endParaRPr lang="en-US" sz="950" dirty="0"/>
          </a:p>
        </p:txBody>
      </p:sp>
      <p:sp>
        <p:nvSpPr>
          <p:cNvPr id="43" name="Text 39"/>
          <p:cNvSpPr txBox="1"/>
          <p:nvPr/>
        </p:nvSpPr>
        <p:spPr>
          <a:xfrm>
            <a:off x="2880360" y="5715000"/>
            <a:ext cx="2011680" cy="27432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+25 bp: 20.2% → 22.4%</a:t>
            </a:r>
            <a:endParaRPr lang="en-US" sz="1300" dirty="0"/>
          </a:p>
        </p:txBody>
      </p:sp>
      <p:sp>
        <p:nvSpPr>
          <p:cNvPr id="44" name="Text 40"/>
          <p:cNvSpPr txBox="1"/>
          <p:nvPr/>
        </p:nvSpPr>
        <p:spPr>
          <a:xfrm>
            <a:off x="2880360" y="5989320"/>
            <a:ext cx="2011680" cy="237744"/>
          </a:xfrm>
          <a:prstGeom prst="rect">
            <a:avLst/>
          </a:prstGeom>
          <a:noFill/>
          <a:ln/>
        </p:spPr>
        <p:txBody>
          <a:bodyPr wrap="square" lIns="0" tIns="0" rIns="0" bIns="0" rtlCol="0" anchor="t"/>
          <a:lstStyle/>
          <a:p>
            <a:pPr indent="0" marL="0">
              <a:buNone/>
            </a:pPr>
            <a:r>
              <a:rPr lang="en-US" sz="900" dirty="0">
                <a:solidFill>
                  <a:schemeClr val="accent4"/>
                </a:solidFill>
              </a:rPr>
              <a:t>+50 bp 6.0 → 7.7; no change 70.9 → 67.6; cuts 3.0 → 2.3</a:t>
            </a:r>
            <a:endParaRPr lang="en-US" sz="900" dirty="0"/>
          </a:p>
        </p:txBody>
      </p:sp>
      <p:sp>
        <p:nvSpPr>
          <p:cNvPr id="45" name="Shape 41"/>
          <p:cNvSpPr/>
          <p:nvPr/>
        </p:nvSpPr>
        <p:spPr>
          <a:xfrm>
            <a:off x="5120640" y="4526280"/>
            <a:ext cx="6519672" cy="1737360"/>
          </a:xfrm>
          <a:prstGeom prst="roundRect">
            <a:avLst>
              <a:gd name="adj" fmla="val 6316"/>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46" name="Text 42"/>
          <p:cNvSpPr txBox="1"/>
          <p:nvPr/>
        </p:nvSpPr>
        <p:spPr>
          <a:xfrm>
            <a:off x="5276088" y="4617720"/>
            <a:ext cx="6208776" cy="182880"/>
          </a:xfrm>
          <a:prstGeom prst="rect">
            <a:avLst/>
          </a:prstGeom>
          <a:noFill/>
          <a:ln/>
        </p:spPr>
        <p:txBody>
          <a:bodyPr wrap="square" lIns="0" tIns="0" rIns="0" bIns="0" rtlCol="0" anchor="t"/>
          <a:lstStyle/>
          <a:p>
            <a:pPr indent="0" marL="0">
              <a:buNone/>
            </a:pPr>
            <a:r>
              <a:rPr lang="en-US" sz="900" b="1" spc="100" kern="0" dirty="0">
                <a:solidFill>
                  <a:schemeClr val="accent4"/>
                </a:solidFill>
              </a:rPr>
              <a:t>ONE VERIFIED CLAIM, AS RECORDED · ANALYST 4, COMMUNICATIONS, RUN 1 OF 5</a:t>
            </a:r>
            <a:endParaRPr lang="en-US" sz="900" dirty="0"/>
          </a:p>
        </p:txBody>
      </p:sp>
      <p:sp>
        <p:nvSpPr>
          <p:cNvPr id="47" name="Text 43"/>
          <p:cNvSpPr txBox="1"/>
          <p:nvPr/>
        </p:nvSpPr>
        <p:spPr>
          <a:xfrm>
            <a:off x="5276088" y="4873752"/>
            <a:ext cx="6208776" cy="365760"/>
          </a:xfrm>
          <a:prstGeom prst="rect">
            <a:avLst/>
          </a:prstGeom>
          <a:noFill/>
          <a:ln/>
        </p:spPr>
        <p:txBody>
          <a:bodyPr wrap="square" lIns="0" tIns="0" rIns="0" bIns="0" rtlCol="0" anchor="t"/>
          <a:lstStyle/>
          <a:p>
            <a:pPr indent="0" marL="0">
              <a:buNone/>
            </a:pPr>
            <a:r>
              <a:rPr lang="en-US" sz="1100" b="1" dirty="0">
                <a:solidFill>
                  <a:schemeClr val="tx1"/>
                </a:solidFill>
              </a:rPr>
              <a:t>Claim </a:t>
            </a:r>
            <a:pPr indent="0" marL="0">
              <a:buNone/>
            </a:pPr>
            <a:r>
              <a:rPr lang="en-US" sz="1100" dirty="0">
                <a:solidFill>
                  <a:schemeClr val="tx1"/>
                </a:solidFill>
              </a:rPr>
              <a:t>The September statement stressed elevated inflation and a resolve to return to target on a timelier basis.</a:t>
            </a:r>
            <a:endParaRPr lang="en-US" sz="1100" dirty="0"/>
          </a:p>
        </p:txBody>
      </p:sp>
      <p:sp>
        <p:nvSpPr>
          <p:cNvPr id="48" name="Text 44"/>
          <p:cNvSpPr txBox="1"/>
          <p:nvPr/>
        </p:nvSpPr>
        <p:spPr>
          <a:xfrm>
            <a:off x="5276088" y="5276088"/>
            <a:ext cx="6208776" cy="457200"/>
          </a:xfrm>
          <a:prstGeom prst="rect">
            <a:avLst/>
          </a:prstGeom>
          <a:noFill/>
          <a:ln/>
        </p:spPr>
        <p:txBody>
          <a:bodyPr wrap="square" lIns="0" tIns="0" rIns="0" bIns="0" rtlCol="0" anchor="t"/>
          <a:lstStyle/>
          <a:p>
            <a:pPr indent="0" marL="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49" name="Text 45"/>
          <p:cNvSpPr txBox="1"/>
          <p:nvPr/>
        </p:nvSpPr>
        <p:spPr>
          <a:xfrm>
            <a:off x="5276088" y="5806440"/>
            <a:ext cx="6208776" cy="365760"/>
          </a:xfrm>
          <a:prstGeom prst="rect">
            <a:avLst/>
          </a:prstGeom>
          <a:noFill/>
          <a:ln/>
        </p:spPr>
        <p:txBody>
          <a:bodyPr wrap="square" lIns="0" tIns="0" rIns="0" bIns="0" rtlCol="0" anchor="t"/>
          <a:lstStyle/>
          <a:p>
            <a:pPr indent="0" marL="0">
              <a:buNone/>
            </a:pPr>
            <a:r>
              <a:rPr lang="en-US" sz="1000" dirty="0">
                <a:solidFill>
                  <a:schemeClr val="accent4"/>
                </a:solidFill>
              </a:rPr>
              <a:t>Item </a:t>
            </a:r>
            <a:pPr indent="0" marL="0">
              <a:buNone/>
            </a:pPr>
            <a:r>
              <a:rPr lang="en-US" sz="1000" b="1" dirty="0">
                <a:solidFill>
                  <a:srgbClr val="1B1F2A"/>
                </a:solidFill>
              </a:rPr>
              <a:t>fed.statement.2026-09-16</a:t>
            </a:r>
            <a:pPr indent="0" marL="0">
              <a:buNone/>
            </a:pPr>
            <a:r>
              <a:rPr lang="en-US" sz="1000" dirty="0">
                <a:solidFill>
                  <a:schemeClr val="accent4"/>
                </a:solidFill>
              </a:rPr>
              <a:t> · quote found by code, character for character · lean hawkish · 12 of 12 claims in this run verified</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indent="0" marL="0">
              <a:buNone/>
            </a:pPr>
            <a:r>
              <a:rPr lang="en-US" sz="1300" b="1" dirty="0">
                <a:solidFill>
                  <a:schemeClr val="tx2"/>
                </a:solidFill>
              </a:rPr>
              <a:t>Repeatability: variance between identical runs (pp)</a:t>
            </a:r>
            <a:endParaRPr lang="en-US" sz="1300" dirty="0"/>
          </a:p>
        </p:txBody>
      </p:sp>
      <p:graphicFrame>
        <p:nvGraphicFramePr>
          <p:cNvPr id="5" name="Chart 0" descr=""/>
          <p:cNvGraphicFramePr/>
          <p:nvPr/>
        </p:nvGraphicFramePr>
        <p:xfrm>
          <a:off x="548640" y="1691640"/>
          <a:ext cx="3544824" cy="35661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indent="0" marL="0">
              <a:buNone/>
            </a:pPr>
            <a:r>
              <a:rPr lang="en-US" sz="950" dirty="0">
                <a:solidFill>
                  <a:schemeClr val="accent4"/>
                </a:solidFill>
              </a:rPr>
              <a:t>Largest standard deviation across five runs, mean of four snapshots. Pass mark 2 pp. Analysts 3 to 8: standard deviation of the lean, 1 bp = 1 pp.</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indent="0" marL="0">
              <a:buNone/>
            </a:pPr>
            <a:r>
              <a:rPr lang="en-US" sz="1300" b="1" dirty="0">
                <a:solidFill>
                  <a:schemeClr val="tx2"/>
                </a:solidFill>
              </a:rPr>
              <a:t>Numbers from memory (count)</a:t>
            </a:r>
            <a:endParaRPr lang="en-US" sz="1300" dirty="0"/>
          </a:p>
        </p:txBody>
      </p:sp>
      <p:graphicFrame>
        <p:nvGraphicFramePr>
          <p:cNvPr id="8" name="Chart 1" descr=""/>
          <p:cNvGraphicFramePr/>
          <p:nvPr/>
        </p:nvGraphicFramePr>
        <p:xfrm>
          <a:off x="4322064" y="1691640"/>
          <a:ext cx="3544824" cy="356616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indent="0" marL="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indent="0" marL="0">
              <a:buNone/>
            </a:pPr>
            <a:r>
              <a:rPr lang="en-US" sz="1300" b="1" dirty="0">
                <a:solidFill>
                  <a:schemeClr val="tx2"/>
                </a:solidFill>
              </a:rPr>
              <a:t>Claims with a verbatim quote (%)</a:t>
            </a:r>
            <a:endParaRPr lang="en-US" sz="1300" dirty="0"/>
          </a:p>
        </p:txBody>
      </p:sp>
      <p:graphicFrame>
        <p:nvGraphicFramePr>
          <p:cNvPr id="11" name="Chart 2" descr=""/>
          <p:cNvGraphicFramePr/>
          <p:nvPr/>
        </p:nvGraphicFramePr>
        <p:xfrm>
          <a:off x="8095488" y="1691640"/>
          <a:ext cx="3544824" cy="3566160"/>
        </p:xfrm>
        <a:graphic xmlns:a="http://schemas.openxmlformats.org/drawingml/2006/main">
          <a:graphicData uri="http://schemas.openxmlformats.org/drawingml/2006/chart">
            <c:chart xmlns:c="http://schemas.openxmlformats.org/drawingml/2006/chart" r:id="rId3"/>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indent="0" marL="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indent="0" marL="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2 +25 bp at 50 to 57%; analyst 3 +5.8 to +7.0 bp hawkish; specialists +4.0 to +4.4 bp, labour 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the specialists said on 28 October</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737360"/>
                <a:gridCol w="2743200"/>
                <a:gridCol w="1280160"/>
                <a:gridCol w="1005840"/>
              </a:tblGrid>
              <a:tr h="502920">
                <a:tc>
                  <a:txBody>
                    <a:bodyPr/>
                    <a:lstStyle/>
                    <a:p>
                      <a:pPr indent="0" marL="0">
                        <a:buNone/>
                      </a:pPr>
                      <a:r>
                        <a:rPr lang="en-US" sz="1150" b="1" dirty="0">
                          <a:solidFill>
                            <a:srgbClr val="FFFFFF"/>
                          </a:solidFill>
                        </a:rPr>
                        <a:t>Analyst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Reads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Lean (5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Verified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502920">
                <a:tc>
                  <a:txBody>
                    <a:bodyPr/>
                    <a:lstStyle/>
                    <a:p>
                      <a:pPr indent="0" marL="0">
                        <a:buNone/>
                      </a:pPr>
                      <a:r>
                        <a:rPr lang="en-US" sz="1150" dirty="0">
                          <a:solidFill>
                            <a:srgbClr val="1B1F2A"/>
                          </a:solidFill>
                        </a:rPr>
                        <a:t>4 Communications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Both statements, minutes, transcript, speeches, tone pre-read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+6.0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5 Minutes digest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The minutes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+6.2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6 Inflation</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Inflation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+5.8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7 Labour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Labour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−1.4 bp, no hike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8 Financial conditions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Financial pre-read, base rates,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Shape 1"/>
          <p:cNvSpPr/>
          <p:nvPr/>
        </p:nvSpPr>
        <p:spPr>
          <a:xfrm>
            <a:off x="7680960" y="1417320"/>
            <a:ext cx="3959352" cy="3429000"/>
          </a:xfrm>
          <a:prstGeom prst="roundRect">
            <a:avLst>
              <a:gd name="adj" fmla="val 32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6" name="Text 2"/>
          <p:cNvSpPr txBox="1"/>
          <p:nvPr/>
        </p:nvSpPr>
        <p:spPr>
          <a:xfrm>
            <a:off x="7955280" y="1600200"/>
            <a:ext cx="3474720" cy="365760"/>
          </a:xfrm>
          <a:prstGeom prst="rect">
            <a:avLst/>
          </a:prstGeom>
          <a:noFill/>
          <a:ln/>
        </p:spPr>
        <p:txBody>
          <a:bodyPr wrap="square" lIns="0" tIns="0" rIns="0" bIns="0" rtlCol="0" anchor="t"/>
          <a:lstStyle/>
          <a:p>
            <a:pPr indent="0" marL="0">
              <a:buNone/>
            </a:pPr>
            <a:r>
              <a:rPr lang="en-US" sz="1400" b="1" dirty="0">
                <a:solidFill>
                  <a:schemeClr val="tx2"/>
                </a:solidFill>
              </a:rPr>
              <a:t>One claim, as recorded</a:t>
            </a:r>
            <a:endParaRPr lang="en-US" sz="1400" dirty="0"/>
          </a:p>
        </p:txBody>
      </p:sp>
      <p:sp>
        <p:nvSpPr>
          <p:cNvPr id="7" name="Text 3"/>
          <p:cNvSpPr txBox="1"/>
          <p:nvPr/>
        </p:nvSpPr>
        <p:spPr>
          <a:xfrm>
            <a:off x="7955280" y="2011680"/>
            <a:ext cx="3474720" cy="822960"/>
          </a:xfrm>
          <a:prstGeom prst="rect">
            <a:avLst/>
          </a:prstGeom>
          <a:noFill/>
          <a:ln/>
        </p:spPr>
        <p:txBody>
          <a:bodyPr wrap="square" lIns="0" tIns="0" rIns="0" bIns="0" rtlCol="0" anchor="t"/>
          <a:lstStyle/>
          <a:p>
            <a:pPr indent="0" marL="0">
              <a:buNone/>
            </a:pPr>
            <a:r>
              <a:rPr lang="en-US" sz="1200" dirty="0">
                <a:solidFill>
                  <a:schemeClr val="tx1"/>
                </a:solidFill>
              </a:rPr>
              <a:t>Communications analyst, run 1 of 5: the September statement stressed elevated inflation and a resolve to return to target on a timelier basis.</a:t>
            </a:r>
            <a:endParaRPr lang="en-US" sz="1200" dirty="0"/>
          </a:p>
        </p:txBody>
      </p:sp>
      <p:sp>
        <p:nvSpPr>
          <p:cNvPr id="8" name="Text 4"/>
          <p:cNvSpPr txBox="1"/>
          <p:nvPr/>
        </p:nvSpPr>
        <p:spPr>
          <a:xfrm>
            <a:off x="7955280" y="2834640"/>
            <a:ext cx="3474720" cy="822960"/>
          </a:xfrm>
          <a:prstGeom prst="rect">
            <a:avLst/>
          </a:prstGeom>
          <a:noFill/>
          <a:ln/>
        </p:spPr>
        <p:txBody>
          <a:bodyPr wrap="square" lIns="0" tIns="0" rIns="0" bIns="0" rtlCol="0" anchor="t"/>
          <a:lstStyle/>
          <a:p>
            <a:pPr indent="0" marL="0">
              <a:buNone/>
            </a:pPr>
            <a:r>
              <a:rPr lang="en-US" sz="100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1000" dirty="0"/>
          </a:p>
        </p:txBody>
      </p:sp>
      <p:sp>
        <p:nvSpPr>
          <p:cNvPr id="9" name="Text 5"/>
          <p:cNvSpPr txBox="1"/>
          <p:nvPr/>
        </p:nvSpPr>
        <p:spPr>
          <a:xfrm>
            <a:off x="7955280" y="3703320"/>
            <a:ext cx="3474720" cy="1005840"/>
          </a:xfrm>
          <a:prstGeom prst="rect">
            <a:avLst/>
          </a:prstGeom>
          <a:noFill/>
          <a:ln/>
        </p:spPr>
        <p:txBody>
          <a:bodyPr wrap="square" lIns="0" tIns="0" rIns="0" bIns="0" rtlCol="0" anchor="t"/>
          <a:lstStyle/>
          <a:p>
            <a:pPr indent="0" marL="0">
              <a:buNone/>
            </a:pPr>
            <a:r>
              <a:rPr lang="en-US" sz="1100" dirty="0">
                <a:solidFill>
                  <a:schemeClr val="tx1"/>
                </a:solidFill>
              </a:rPr>
              <a:t>Item fed.statement.2026-09-16 · quote found by code, character for character · 12 of 12 claims in this run verified, none from memory.</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 the lean, grounded, 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scorecard: eight of ten dimensions measured by code</a:t>
            </a:r>
            <a:endParaRPr lang="en-US" sz="3200" dirty="0"/>
          </a:p>
        </p:txBody>
      </p:sp>
      <p:sp>
        <p:nvSpPr>
          <p:cNvPr id="4" name="Shape 1"/>
          <p:cNvSpPr/>
          <p:nvPr/>
        </p:nvSpPr>
        <p:spPr>
          <a:xfrm>
            <a:off x="54864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685800" y="1737360"/>
            <a:ext cx="384048" cy="384048"/>
          </a:xfrm>
          <a:prstGeom prst="ellipse">
            <a:avLst/>
          </a:prstGeom>
          <a:solidFill>
            <a:srgbClr val="2C6E49"/>
          </a:solidFill>
          <a:ln w="12700">
            <a:solidFill>
              <a:srgbClr val="2C6E49"/>
            </a:solidFill>
            <a:prstDash val="solid"/>
          </a:ln>
        </p:spPr>
      </p:sp>
      <p:sp>
        <p:nvSpPr>
          <p:cNvPr id="6" name="Text 3"/>
          <p:cNvSpPr txBox="1"/>
          <p:nvPr/>
        </p:nvSpPr>
        <p:spPr>
          <a:xfrm>
            <a:off x="68580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7" name="Text 4"/>
          <p:cNvSpPr txBox="1"/>
          <p:nvPr/>
        </p:nvSpPr>
        <p:spPr>
          <a:xfrm>
            <a:off x="117043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Repeatability</a:t>
            </a:r>
            <a:endParaRPr lang="en-US" sz="1200" dirty="0"/>
          </a:p>
        </p:txBody>
      </p:sp>
      <p:sp>
        <p:nvSpPr>
          <p:cNvPr id="8" name="Text 5"/>
          <p:cNvSpPr txBox="1"/>
          <p:nvPr/>
        </p:nvSpPr>
        <p:spPr>
          <a:xfrm>
            <a:off x="117043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9" name="Shape 6"/>
          <p:cNvSpPr/>
          <p:nvPr/>
        </p:nvSpPr>
        <p:spPr>
          <a:xfrm>
            <a:off x="278892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2926080" y="1737360"/>
            <a:ext cx="384048" cy="384048"/>
          </a:xfrm>
          <a:prstGeom prst="ellipse">
            <a:avLst/>
          </a:prstGeom>
          <a:solidFill>
            <a:srgbClr val="2C6E49"/>
          </a:solidFill>
          <a:ln w="12700">
            <a:solidFill>
              <a:srgbClr val="2C6E49"/>
            </a:solidFill>
            <a:prstDash val="solid"/>
          </a:ln>
        </p:spPr>
      </p:sp>
      <p:sp>
        <p:nvSpPr>
          <p:cNvPr id="11" name="Text 8"/>
          <p:cNvSpPr txBox="1"/>
          <p:nvPr/>
        </p:nvSpPr>
        <p:spPr>
          <a:xfrm>
            <a:off x="292608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2" name="Text 9"/>
          <p:cNvSpPr txBox="1"/>
          <p:nvPr/>
        </p:nvSpPr>
        <p:spPr>
          <a:xfrm>
            <a:off x="341071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Quotes verified</a:t>
            </a:r>
            <a:endParaRPr lang="en-US" sz="1200" dirty="0"/>
          </a:p>
        </p:txBody>
      </p:sp>
      <p:sp>
        <p:nvSpPr>
          <p:cNvPr id="13" name="Text 10"/>
          <p:cNvSpPr txBox="1"/>
          <p:nvPr/>
        </p:nvSpPr>
        <p:spPr>
          <a:xfrm>
            <a:off x="341071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14" name="Shape 11"/>
          <p:cNvSpPr/>
          <p:nvPr/>
        </p:nvSpPr>
        <p:spPr>
          <a:xfrm>
            <a:off x="502920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5" name="Shape 12"/>
          <p:cNvSpPr/>
          <p:nvPr/>
        </p:nvSpPr>
        <p:spPr>
          <a:xfrm>
            <a:off x="5166360" y="1737360"/>
            <a:ext cx="384048" cy="384048"/>
          </a:xfrm>
          <a:prstGeom prst="ellipse">
            <a:avLst/>
          </a:prstGeom>
          <a:solidFill>
            <a:srgbClr val="2C6E49"/>
          </a:solidFill>
          <a:ln w="12700">
            <a:solidFill>
              <a:srgbClr val="2C6E49"/>
            </a:solidFill>
            <a:prstDash val="solid"/>
          </a:ln>
        </p:spPr>
      </p:sp>
      <p:sp>
        <p:nvSpPr>
          <p:cNvPr id="16" name="Text 13"/>
          <p:cNvSpPr txBox="1"/>
          <p:nvPr/>
        </p:nvSpPr>
        <p:spPr>
          <a:xfrm>
            <a:off x="516636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7" name="Text 14"/>
          <p:cNvSpPr txBox="1"/>
          <p:nvPr/>
        </p:nvSpPr>
        <p:spPr>
          <a:xfrm>
            <a:off x="565099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Numbers from memory</a:t>
            </a:r>
            <a:endParaRPr lang="en-US" sz="1200" dirty="0"/>
          </a:p>
        </p:txBody>
      </p:sp>
      <p:sp>
        <p:nvSpPr>
          <p:cNvPr id="18" name="Text 15"/>
          <p:cNvSpPr txBox="1"/>
          <p:nvPr/>
        </p:nvSpPr>
        <p:spPr>
          <a:xfrm>
            <a:off x="565099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19" name="Shape 16"/>
          <p:cNvSpPr/>
          <p:nvPr/>
        </p:nvSpPr>
        <p:spPr>
          <a:xfrm>
            <a:off x="726948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0" name="Shape 17"/>
          <p:cNvSpPr/>
          <p:nvPr/>
        </p:nvSpPr>
        <p:spPr>
          <a:xfrm>
            <a:off x="7406640" y="1737360"/>
            <a:ext cx="384048" cy="384048"/>
          </a:xfrm>
          <a:prstGeom prst="ellipse">
            <a:avLst/>
          </a:prstGeom>
          <a:solidFill>
            <a:srgbClr val="2C6E49"/>
          </a:solidFill>
          <a:ln w="12700">
            <a:solidFill>
              <a:srgbClr val="2C6E49"/>
            </a:solidFill>
            <a:prstDash val="solid"/>
          </a:ln>
        </p:spPr>
      </p:sp>
      <p:sp>
        <p:nvSpPr>
          <p:cNvPr id="21" name="Text 18"/>
          <p:cNvSpPr txBox="1"/>
          <p:nvPr/>
        </p:nvSpPr>
        <p:spPr>
          <a:xfrm>
            <a:off x="740664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22" name="Text 19"/>
          <p:cNvSpPr txBox="1"/>
          <p:nvPr/>
        </p:nvSpPr>
        <p:spPr>
          <a:xfrm>
            <a:off x="789127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Shock direction</a:t>
            </a:r>
            <a:endParaRPr lang="en-US" sz="1200" dirty="0"/>
          </a:p>
        </p:txBody>
      </p:sp>
      <p:sp>
        <p:nvSpPr>
          <p:cNvPr id="23" name="Text 20"/>
          <p:cNvSpPr txBox="1"/>
          <p:nvPr/>
        </p:nvSpPr>
        <p:spPr>
          <a:xfrm>
            <a:off x="789127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24" name="Shape 21"/>
          <p:cNvSpPr/>
          <p:nvPr/>
        </p:nvSpPr>
        <p:spPr>
          <a:xfrm>
            <a:off x="950976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5" name="Shape 22"/>
          <p:cNvSpPr/>
          <p:nvPr/>
        </p:nvSpPr>
        <p:spPr>
          <a:xfrm>
            <a:off x="9646920" y="1737360"/>
            <a:ext cx="384048" cy="384048"/>
          </a:xfrm>
          <a:prstGeom prst="ellipse">
            <a:avLst/>
          </a:prstGeom>
          <a:solidFill>
            <a:srgbClr val="2C6E49"/>
          </a:solidFill>
          <a:ln w="12700">
            <a:solidFill>
              <a:srgbClr val="2C6E49"/>
            </a:solidFill>
            <a:prstDash val="solid"/>
          </a:ln>
        </p:spPr>
      </p:sp>
      <p:sp>
        <p:nvSpPr>
          <p:cNvPr id="26" name="Text 23"/>
          <p:cNvSpPr txBox="1"/>
          <p:nvPr/>
        </p:nvSpPr>
        <p:spPr>
          <a:xfrm>
            <a:off x="964692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7" name="Text 24"/>
          <p:cNvSpPr txBox="1"/>
          <p:nvPr/>
        </p:nvSpPr>
        <p:spPr>
          <a:xfrm>
            <a:off x="1013155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Noise invariance</a:t>
            </a:r>
            <a:endParaRPr lang="en-US" sz="1200" dirty="0"/>
          </a:p>
        </p:txBody>
      </p:sp>
      <p:sp>
        <p:nvSpPr>
          <p:cNvPr id="28" name="Text 25"/>
          <p:cNvSpPr txBox="1"/>
          <p:nvPr/>
        </p:nvSpPr>
        <p:spPr>
          <a:xfrm>
            <a:off x="1013155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29" name="Shape 26"/>
          <p:cNvSpPr/>
          <p:nvPr/>
        </p:nvSpPr>
        <p:spPr>
          <a:xfrm>
            <a:off x="54864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30" name="Shape 27"/>
          <p:cNvSpPr/>
          <p:nvPr/>
        </p:nvSpPr>
        <p:spPr>
          <a:xfrm>
            <a:off x="685800" y="2880360"/>
            <a:ext cx="384048" cy="384048"/>
          </a:xfrm>
          <a:prstGeom prst="ellipse">
            <a:avLst/>
          </a:prstGeom>
          <a:solidFill>
            <a:srgbClr val="E9B44C"/>
          </a:solidFill>
          <a:ln w="12700">
            <a:solidFill>
              <a:srgbClr val="E9B44C"/>
            </a:solidFill>
            <a:prstDash val="solid"/>
          </a:ln>
        </p:spPr>
      </p:sp>
      <p:sp>
        <p:nvSpPr>
          <p:cNvPr id="31" name="Text 28"/>
          <p:cNvSpPr txBox="1"/>
          <p:nvPr/>
        </p:nvSpPr>
        <p:spPr>
          <a:xfrm>
            <a:off x="68580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32" name="Text 29"/>
          <p:cNvSpPr txBox="1"/>
          <p:nvPr/>
        </p:nvSpPr>
        <p:spPr>
          <a:xfrm>
            <a:off x="117043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Rewording</a:t>
            </a:r>
            <a:endParaRPr lang="en-US" sz="1200" dirty="0"/>
          </a:p>
        </p:txBody>
      </p:sp>
      <p:sp>
        <p:nvSpPr>
          <p:cNvPr id="33" name="Text 30"/>
          <p:cNvSpPr txBox="1"/>
          <p:nvPr/>
        </p:nvSpPr>
        <p:spPr>
          <a:xfrm>
            <a:off x="117043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typed inputs only</a:t>
            </a:r>
            <a:endParaRPr lang="en-US" sz="1000" dirty="0"/>
          </a:p>
        </p:txBody>
      </p:sp>
      <p:sp>
        <p:nvSpPr>
          <p:cNvPr id="34" name="Shape 31"/>
          <p:cNvSpPr/>
          <p:nvPr/>
        </p:nvSpPr>
        <p:spPr>
          <a:xfrm>
            <a:off x="278892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35" name="Shape 32"/>
          <p:cNvSpPr/>
          <p:nvPr/>
        </p:nvSpPr>
        <p:spPr>
          <a:xfrm>
            <a:off x="2926080" y="2880360"/>
            <a:ext cx="384048" cy="384048"/>
          </a:xfrm>
          <a:prstGeom prst="ellipse">
            <a:avLst/>
          </a:prstGeom>
          <a:solidFill>
            <a:srgbClr val="2C6E49"/>
          </a:solidFill>
          <a:ln w="12700">
            <a:solidFill>
              <a:srgbClr val="2C6E49"/>
            </a:solidFill>
            <a:prstDash val="solid"/>
          </a:ln>
        </p:spPr>
      </p:sp>
      <p:sp>
        <p:nvSpPr>
          <p:cNvPr id="36" name="Text 33"/>
          <p:cNvSpPr txBox="1"/>
          <p:nvPr/>
        </p:nvSpPr>
        <p:spPr>
          <a:xfrm>
            <a:off x="292608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7</a:t>
            </a:r>
            <a:endParaRPr lang="en-US" sz="1000" dirty="0"/>
          </a:p>
        </p:txBody>
      </p:sp>
      <p:sp>
        <p:nvSpPr>
          <p:cNvPr id="37" name="Text 34"/>
          <p:cNvSpPr txBox="1"/>
          <p:nvPr/>
        </p:nvSpPr>
        <p:spPr>
          <a:xfrm>
            <a:off x="341071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Coherence</a:t>
            </a:r>
            <a:endParaRPr lang="en-US" sz="1200" dirty="0"/>
          </a:p>
        </p:txBody>
      </p:sp>
      <p:sp>
        <p:nvSpPr>
          <p:cNvPr id="38" name="Text 35"/>
          <p:cNvSpPr txBox="1"/>
          <p:nvPr/>
        </p:nvSpPr>
        <p:spPr>
          <a:xfrm>
            <a:off x="341071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39" name="Shape 36"/>
          <p:cNvSpPr/>
          <p:nvPr/>
        </p:nvSpPr>
        <p:spPr>
          <a:xfrm>
            <a:off x="502920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40" name="Shape 37"/>
          <p:cNvSpPr/>
          <p:nvPr/>
        </p:nvSpPr>
        <p:spPr>
          <a:xfrm>
            <a:off x="5166360" y="2880360"/>
            <a:ext cx="384048" cy="384048"/>
          </a:xfrm>
          <a:prstGeom prst="ellipse">
            <a:avLst/>
          </a:prstGeom>
          <a:solidFill>
            <a:srgbClr val="6B7280"/>
          </a:solidFill>
          <a:ln w="12700">
            <a:solidFill>
              <a:srgbClr val="6B7280"/>
            </a:solidFill>
            <a:prstDash val="solid"/>
          </a:ln>
        </p:spPr>
      </p:sp>
      <p:sp>
        <p:nvSpPr>
          <p:cNvPr id="41" name="Text 38"/>
          <p:cNvSpPr txBox="1"/>
          <p:nvPr/>
        </p:nvSpPr>
        <p:spPr>
          <a:xfrm>
            <a:off x="516636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8</a:t>
            </a:r>
            <a:endParaRPr lang="en-US" sz="1000" dirty="0"/>
          </a:p>
        </p:txBody>
      </p:sp>
      <p:sp>
        <p:nvSpPr>
          <p:cNvPr id="42" name="Text 39"/>
          <p:cNvSpPr txBox="1"/>
          <p:nvPr/>
        </p:nvSpPr>
        <p:spPr>
          <a:xfrm>
            <a:off x="565099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Reasoning quality</a:t>
            </a:r>
            <a:endParaRPr lang="en-US" sz="1200" dirty="0"/>
          </a:p>
        </p:txBody>
      </p:sp>
      <p:sp>
        <p:nvSpPr>
          <p:cNvPr id="43" name="Text 40"/>
          <p:cNvSpPr txBox="1"/>
          <p:nvPr/>
        </p:nvSpPr>
        <p:spPr>
          <a:xfrm>
            <a:off x="565099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not built: rubric grader</a:t>
            </a:r>
            <a:endParaRPr lang="en-US" sz="1000" dirty="0"/>
          </a:p>
        </p:txBody>
      </p:sp>
      <p:sp>
        <p:nvSpPr>
          <p:cNvPr id="44" name="Shape 41"/>
          <p:cNvSpPr/>
          <p:nvPr/>
        </p:nvSpPr>
        <p:spPr>
          <a:xfrm>
            <a:off x="726948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45" name="Shape 42"/>
          <p:cNvSpPr/>
          <p:nvPr/>
        </p:nvSpPr>
        <p:spPr>
          <a:xfrm>
            <a:off x="7406640" y="2880360"/>
            <a:ext cx="384048" cy="384048"/>
          </a:xfrm>
          <a:prstGeom prst="ellipse">
            <a:avLst/>
          </a:prstGeom>
          <a:solidFill>
            <a:srgbClr val="2C6E49"/>
          </a:solidFill>
          <a:ln w="12700">
            <a:solidFill>
              <a:srgbClr val="2C6E49"/>
            </a:solidFill>
            <a:prstDash val="solid"/>
          </a:ln>
        </p:spPr>
      </p:sp>
      <p:sp>
        <p:nvSpPr>
          <p:cNvPr id="46" name="Text 43"/>
          <p:cNvSpPr txBox="1"/>
          <p:nvPr/>
        </p:nvSpPr>
        <p:spPr>
          <a:xfrm>
            <a:off x="740664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9</a:t>
            </a:r>
            <a:endParaRPr lang="en-US" sz="1000" dirty="0"/>
          </a:p>
        </p:txBody>
      </p:sp>
      <p:sp>
        <p:nvSpPr>
          <p:cNvPr id="47" name="Text 44"/>
          <p:cNvSpPr txBox="1"/>
          <p:nvPr/>
        </p:nvSpPr>
        <p:spPr>
          <a:xfrm>
            <a:off x="789127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Replay</a:t>
            </a:r>
            <a:endParaRPr lang="en-US" sz="1200" dirty="0"/>
          </a:p>
        </p:txBody>
      </p:sp>
      <p:sp>
        <p:nvSpPr>
          <p:cNvPr id="48" name="Text 45"/>
          <p:cNvSpPr txBox="1"/>
          <p:nvPr/>
        </p:nvSpPr>
        <p:spPr>
          <a:xfrm>
            <a:off x="789127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49" name="Shape 46"/>
          <p:cNvSpPr/>
          <p:nvPr/>
        </p:nvSpPr>
        <p:spPr>
          <a:xfrm>
            <a:off x="950976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0" name="Shape 47"/>
          <p:cNvSpPr/>
          <p:nvPr/>
        </p:nvSpPr>
        <p:spPr>
          <a:xfrm>
            <a:off x="9646920" y="2880360"/>
            <a:ext cx="384048" cy="384048"/>
          </a:xfrm>
          <a:prstGeom prst="ellipse">
            <a:avLst/>
          </a:prstGeom>
          <a:solidFill>
            <a:srgbClr val="2C6E49"/>
          </a:solidFill>
          <a:ln w="12700">
            <a:solidFill>
              <a:srgbClr val="2C6E49"/>
            </a:solidFill>
            <a:prstDash val="solid"/>
          </a:ln>
        </p:spPr>
      </p:sp>
      <p:sp>
        <p:nvSpPr>
          <p:cNvPr id="51" name="Text 48"/>
          <p:cNvSpPr txBox="1"/>
          <p:nvPr/>
        </p:nvSpPr>
        <p:spPr>
          <a:xfrm>
            <a:off x="964692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10</a:t>
            </a:r>
            <a:endParaRPr lang="en-US" sz="1000" dirty="0"/>
          </a:p>
        </p:txBody>
      </p:sp>
      <p:sp>
        <p:nvSpPr>
          <p:cNvPr id="52" name="Text 49"/>
          <p:cNvSpPr txBox="1"/>
          <p:nvPr/>
        </p:nvSpPr>
        <p:spPr>
          <a:xfrm>
            <a:off x="1013155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Human-input discipline</a:t>
            </a:r>
            <a:endParaRPr lang="en-US" sz="1200" dirty="0"/>
          </a:p>
        </p:txBody>
      </p:sp>
      <p:sp>
        <p:nvSpPr>
          <p:cNvPr id="53" name="Text 50"/>
          <p:cNvSpPr txBox="1"/>
          <p:nvPr/>
        </p:nvSpPr>
        <p:spPr>
          <a:xfrm>
            <a:off x="1013155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54" name="Shape 51"/>
          <p:cNvSpPr/>
          <p:nvPr/>
        </p:nvSpPr>
        <p:spPr>
          <a:xfrm>
            <a:off x="548640" y="3931920"/>
            <a:ext cx="5486400" cy="2194560"/>
          </a:xfrm>
          <a:prstGeom prst="roundRect">
            <a:avLst>
              <a:gd name="adj" fmla="val 50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5" name="Text 52"/>
          <p:cNvSpPr txBox="1"/>
          <p:nvPr/>
        </p:nvSpPr>
        <p:spPr>
          <a:xfrm>
            <a:off x="822960" y="4069080"/>
            <a:ext cx="4937760" cy="365760"/>
          </a:xfrm>
          <a:prstGeom prst="rect">
            <a:avLst/>
          </a:prstGeom>
          <a:noFill/>
          <a:ln/>
        </p:spPr>
        <p:txBody>
          <a:bodyPr wrap="square" lIns="0" tIns="0" rIns="0" bIns="0" rtlCol="0" anchor="t"/>
          <a:lstStyle/>
          <a:p>
            <a:pPr indent="0" marL="0">
              <a:buNone/>
            </a:pPr>
            <a:r>
              <a:rPr lang="en-US" sz="1400" b="1" dirty="0">
                <a:solidFill>
                  <a:schemeClr val="tx2"/>
                </a:solidFill>
              </a:rPr>
              <a:t>Measured by code on the 28 October snapshot</a:t>
            </a:r>
            <a:endParaRPr lang="en-US" sz="1400" dirty="0"/>
          </a:p>
        </p:txBody>
      </p:sp>
      <p:sp>
        <p:nvSpPr>
          <p:cNvPr id="56" name="Text 53"/>
          <p:cNvSpPr txBox="1"/>
          <p:nvPr/>
        </p:nvSpPr>
        <p:spPr>
          <a:xfrm>
            <a:off x="822960" y="4480560"/>
            <a:ext cx="493776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Shock direction: 7 shocks, one input each, the pool must move the right way: 7 of 7</a:t>
            </a:r>
            <a:endParaRPr lang="en-US" sz="1200" dirty="0"/>
          </a:p>
          <a:p>
            <a:pPr marL="342900" indent="-342900">
              <a:spcAft>
                <a:spcPts val="600"/>
              </a:spcAft>
              <a:buSzPct val="100000"/>
              <a:buChar char="•"/>
            </a:pPr>
            <a:r>
              <a:rPr lang="en-US" sz="1200" dirty="0">
                <a:solidFill>
                  <a:schemeClr val="tx1"/>
                </a:solidFill>
              </a:rPr>
              <a:t>Noise: 5 irrelevant changes to the snapshot: 0.0 points moved</a:t>
            </a:r>
            <a:endParaRPr lang="en-US" sz="1200" dirty="0"/>
          </a:p>
          <a:p>
            <a:pPr marL="342900" indent="-342900">
              <a:spcAft>
                <a:spcPts val="600"/>
              </a:spcAft>
              <a:buSzPct val="100000"/>
              <a:buChar char="•"/>
            </a:pPr>
            <a:r>
              <a:rPr lang="en-US" sz="1200" dirty="0">
                <a:solidFill>
                  <a:schemeClr val="tx1"/>
                </a:solidFill>
              </a:rPr>
              <a:t>Coherence: every ledger entry adds up and every difference is attributable</a:t>
            </a:r>
            <a:endParaRPr lang="en-US" sz="1200" dirty="0"/>
          </a:p>
          <a:p>
            <a:pPr marL="342900" indent="-342900">
              <a:spcAft>
                <a:spcPts val="600"/>
              </a:spcAft>
              <a:buSzPct val="100000"/>
              <a:buChar char="•"/>
            </a:pPr>
            <a:r>
              <a:rPr lang="en-US" sz="1200" dirty="0">
                <a:solidFill>
                  <a:schemeClr val="tx1"/>
                </a:solidFill>
              </a:rPr>
              <a:t>Replay: entries under the current spec recompute exactly, from the analyst runs they name</a:t>
            </a:r>
            <a:endParaRPr lang="en-US" sz="1200" dirty="0"/>
          </a:p>
        </p:txBody>
      </p:sp>
      <p:sp>
        <p:nvSpPr>
          <p:cNvPr id="57" name="Shape 54"/>
          <p:cNvSpPr/>
          <p:nvPr/>
        </p:nvSpPr>
        <p:spPr>
          <a:xfrm>
            <a:off x="6309360" y="3931920"/>
            <a:ext cx="5330952" cy="2194560"/>
          </a:xfrm>
          <a:prstGeom prst="roundRect">
            <a:avLst>
              <a:gd name="adj" fmla="val 50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8" name="Text 55"/>
          <p:cNvSpPr txBox="1"/>
          <p:nvPr/>
        </p:nvSpPr>
        <p:spPr>
          <a:xfrm>
            <a:off x="6583680" y="4069080"/>
            <a:ext cx="4846320" cy="365760"/>
          </a:xfrm>
          <a:prstGeom prst="rect">
            <a:avLst/>
          </a:prstGeom>
          <a:noFill/>
          <a:ln/>
        </p:spPr>
        <p:txBody>
          <a:bodyPr wrap="square" lIns="0" tIns="0" rIns="0" bIns="0" rtlCol="0" anchor="t"/>
          <a:lstStyle/>
          <a:p>
            <a:pPr indent="0" marL="0">
              <a:buNone/>
            </a:pPr>
            <a:r>
              <a:rPr lang="en-US" sz="1400" b="1" dirty="0">
                <a:solidFill>
                  <a:schemeClr val="tx2"/>
                </a:solidFill>
              </a:rPr>
              <a:t>What it has already caught</a:t>
            </a:r>
            <a:endParaRPr lang="en-US" sz="1400" dirty="0"/>
          </a:p>
        </p:txBody>
      </p:sp>
      <p:sp>
        <p:nvSpPr>
          <p:cNvPr id="59" name="Text 56"/>
          <p:cNvSpPr txBox="1"/>
          <p:nvPr/>
        </p:nvSpPr>
        <p:spPr>
          <a:xfrm>
            <a:off x="6583680" y="4480560"/>
            <a:ext cx="4846320" cy="15544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rPr>
              <a:t>Four ledger entries stopped replaying after a model rule changed outside the hashed spec; amendment #5 put every rule inside the hash.</a:t>
            </a:r>
            <a:endParaRPr lang="en-US" sz="1100" dirty="0"/>
          </a:p>
          <a:p>
            <a:pPr marL="342900" indent="-342900">
              <a:spcAft>
                <a:spcPts val="600"/>
              </a:spcAft>
              <a:buSzPct val="100000"/>
              <a:buChar char="•"/>
            </a:pPr>
            <a:r>
              <a:rPr lang="en-US" sz="1100" dirty="0">
                <a:solidFill>
                  <a:schemeClr val="tx1"/>
                </a:solidFill>
              </a:rPr>
              <a:t>A shock test was perturbing the wrong odds entry once two were on file; a red cell on the drift table pointed at it.</a:t>
            </a:r>
            <a:endParaRPr lang="en-US" sz="1100" dirty="0"/>
          </a:p>
          <a:p>
            <a:pPr marL="342900" indent="-342900">
              <a:spcAft>
                <a:spcPts val="600"/>
              </a:spcAft>
              <a:buSzPct val="100000"/>
              <a:buChar char="•"/>
            </a:pPr>
            <a:r>
              <a:rPr lang="en-US" sz="1100" dirty="0">
                <a:solidFill>
                  <a:schemeClr val="tx1"/>
                </a:solidFill>
              </a:rPr>
              <a:t>Replay was reading the latest analyst runs instead of the runs the entry used; a rerun would have broken an honest entry. Fixed the same day, with a test.</a:t>
            </a:r>
            <a:endParaRPr lang="en-US" sz="1100" dirty="0"/>
          </a:p>
          <a:p>
            <a:pPr marL="342900" indent="-342900">
              <a:spcAft>
                <a:spcPts val="600"/>
              </a:spcAft>
              <a:buSzPct val="100000"/>
              <a:buChar char="•"/>
            </a:pPr>
            <a:r>
              <a:rPr lang="en-US" sz="1100" dirty="0">
                <a:solidFill>
                  <a:schemeClr val="tx1"/>
                </a:solidFill>
              </a:rPr>
              <a:t>A verifier false positive (a zero written as 0 in the evidence); fixed, records re-scored without calling the model.</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this does not claim, and what comes next</a:t>
            </a:r>
            <a:endParaRPr lang="en-US" sz="3200" dirty="0"/>
          </a:p>
        </p:txBody>
      </p:sp>
      <p:sp>
        <p:nvSpPr>
          <p:cNvPr id="4" name="Text 1"/>
          <p:cNvSpPr txBox="1"/>
          <p:nvPr/>
        </p:nvSpPr>
        <p:spPr>
          <a:xfrm>
            <a:off x="548640" y="1371600"/>
            <a:ext cx="5486400" cy="365760"/>
          </a:xfrm>
          <a:prstGeom prst="rect">
            <a:avLst/>
          </a:prstGeom>
          <a:noFill/>
          <a:ln/>
        </p:spPr>
        <p:txBody>
          <a:bodyPr wrap="square" lIns="0" tIns="0" rIns="0" bIns="0" rtlCol="0" anchor="t"/>
          <a:lstStyle/>
          <a:p>
            <a:pPr indent="0" marL="0">
              <a:buNone/>
            </a:pPr>
            <a:r>
              <a:rPr lang="en-US" sz="1600" b="1" dirty="0">
                <a:solidFill>
                  <a:schemeClr val="tx2"/>
                </a:solidFill>
              </a:rPr>
              <a:t>What this does not claim</a:t>
            </a:r>
            <a:endParaRPr lang="en-US" sz="1600" dirty="0"/>
          </a:p>
        </p:txBody>
      </p:sp>
      <p:sp>
        <p:nvSpPr>
          <p:cNvPr id="5" name="Shape 2"/>
          <p:cNvSpPr/>
          <p:nvPr/>
        </p:nvSpPr>
        <p:spPr>
          <a:xfrm>
            <a:off x="548640" y="1828800"/>
            <a:ext cx="548640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6" name="Text 3"/>
          <p:cNvSpPr txBox="1"/>
          <p:nvPr/>
        </p:nvSpPr>
        <p:spPr>
          <a:xfrm>
            <a:off x="777240" y="1901952"/>
            <a:ext cx="5029200" cy="320040"/>
          </a:xfrm>
          <a:prstGeom prst="rect">
            <a:avLst/>
          </a:prstGeom>
          <a:noFill/>
          <a:ln/>
        </p:spPr>
        <p:txBody>
          <a:bodyPr wrap="square" lIns="0" tIns="0" rIns="0" bIns="0" rtlCol="0" anchor="t"/>
          <a:lstStyle/>
          <a:p>
            <a:pPr indent="0" marL="0">
              <a:buNone/>
            </a:pPr>
            <a:r>
              <a:rPr lang="en-US" sz="1300" b="1" dirty="0">
                <a:solidFill>
                  <a:schemeClr val="tx2"/>
                </a:solidFill>
              </a:rPr>
              <a:t>One scored decision</a:t>
            </a:r>
            <a:endParaRPr lang="en-US" sz="1300" dirty="0"/>
          </a:p>
        </p:txBody>
      </p:sp>
      <p:sp>
        <p:nvSpPr>
          <p:cNvPr id="7" name="Text 4"/>
          <p:cNvSpPr txBox="1"/>
          <p:nvPr/>
        </p:nvSpPr>
        <p:spPr>
          <a:xfrm>
            <a:off x="777240" y="2212848"/>
            <a:ext cx="5029200" cy="548640"/>
          </a:xfrm>
          <a:prstGeom prst="rect">
            <a:avLst/>
          </a:prstGeom>
          <a:noFill/>
          <a:ln/>
        </p:spPr>
        <p:txBody>
          <a:bodyPr wrap="square" lIns="0" tIns="0" rIns="0" bIns="0" rtlCol="0" anchor="t"/>
          <a:lstStyle/>
          <a:p>
            <a:pPr indent="0" marL="0">
              <a:buNone/>
            </a:pPr>
            <a:r>
              <a:rPr lang="en-US" sz="1050" dirty="0">
                <a:solidFill>
                  <a:schemeClr val="tx1"/>
                </a:solidFill>
              </a:rPr>
              <a:t>28 October is the first. Everything before it is process evidence, which is the point, but calibration needs a record.</a:t>
            </a:r>
            <a:endParaRPr lang="en-US" sz="1050" dirty="0"/>
          </a:p>
        </p:txBody>
      </p:sp>
      <p:sp>
        <p:nvSpPr>
          <p:cNvPr id="8" name="Shape 5"/>
          <p:cNvSpPr/>
          <p:nvPr/>
        </p:nvSpPr>
        <p:spPr>
          <a:xfrm>
            <a:off x="548640" y="2880360"/>
            <a:ext cx="548640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9" name="Text 6"/>
          <p:cNvSpPr txBox="1"/>
          <p:nvPr/>
        </p:nvSpPr>
        <p:spPr>
          <a:xfrm>
            <a:off x="777240" y="2953512"/>
            <a:ext cx="5029200" cy="320040"/>
          </a:xfrm>
          <a:prstGeom prst="rect">
            <a:avLst/>
          </a:prstGeom>
          <a:noFill/>
          <a:ln/>
        </p:spPr>
        <p:txBody>
          <a:bodyPr wrap="square" lIns="0" tIns="0" rIns="0" bIns="0" rtlCol="0" anchor="t"/>
          <a:lstStyle/>
          <a:p>
            <a:pPr indent="0" marL="0">
              <a:buNone/>
            </a:pPr>
            <a:r>
              <a:rPr lang="en-US" sz="1300" b="1" dirty="0">
                <a:solidFill>
                  <a:schemeClr val="tx2"/>
                </a:solidFill>
              </a:rPr>
              <a:t>Weights are judgement</a:t>
            </a:r>
            <a:endParaRPr lang="en-US" sz="1300" dirty="0"/>
          </a:p>
        </p:txBody>
      </p:sp>
      <p:sp>
        <p:nvSpPr>
          <p:cNvPr id="10" name="Text 7"/>
          <p:cNvSpPr txBox="1"/>
          <p:nvPr/>
        </p:nvSpPr>
        <p:spPr>
          <a:xfrm>
            <a:off x="777240" y="3264408"/>
            <a:ext cx="5029200" cy="548640"/>
          </a:xfrm>
          <a:prstGeom prst="rect">
            <a:avLst/>
          </a:prstGeom>
          <a:noFill/>
          <a:ln/>
        </p:spPr>
        <p:txBody>
          <a:bodyPr wrap="square" lIns="0" tIns="0" rIns="0" bIns="0" rtlCol="0" anchor="t"/>
          <a:lstStyle/>
          <a:p>
            <a:pPr indent="0" marL="0">
              <a:buNone/>
            </a:pPr>
            <a:r>
              <a:rPr lang="en-US" sz="1050" dirty="0">
                <a:solidFill>
                  <a:schemeClr val="tx1"/>
                </a:solidFill>
              </a:rPr>
              <a:t>Market 0.6, Taylor 0.2, odds 0.1, base rates 0.1, the floor and the lean cap were set by reasoning and logged, never fitted.</a:t>
            </a:r>
            <a:endParaRPr lang="en-US" sz="1050" dirty="0"/>
          </a:p>
        </p:txBody>
      </p:sp>
      <p:sp>
        <p:nvSpPr>
          <p:cNvPr id="11" name="Shape 8"/>
          <p:cNvSpPr/>
          <p:nvPr/>
        </p:nvSpPr>
        <p:spPr>
          <a:xfrm>
            <a:off x="548640" y="3931920"/>
            <a:ext cx="548640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2" name="Text 9"/>
          <p:cNvSpPr txBox="1"/>
          <p:nvPr/>
        </p:nvSpPr>
        <p:spPr>
          <a:xfrm>
            <a:off x="777240" y="4005072"/>
            <a:ext cx="5029200" cy="320040"/>
          </a:xfrm>
          <a:prstGeom prst="rect">
            <a:avLst/>
          </a:prstGeom>
          <a:noFill/>
          <a:ln/>
        </p:spPr>
        <p:txBody>
          <a:bodyPr wrap="square" lIns="0" tIns="0" rIns="0" bIns="0" rtlCol="0" anchor="t"/>
          <a:lstStyle/>
          <a:p>
            <a:pPr indent="0" marL="0">
              <a:buNone/>
            </a:pPr>
            <a:r>
              <a:rPr lang="en-US" sz="1300" b="1" dirty="0">
                <a:solidFill>
                  <a:schemeClr val="tx2"/>
                </a:solidFill>
              </a:rPr>
              <a:t>The fitted model is outside</a:t>
            </a:r>
            <a:endParaRPr lang="en-US" sz="1300" dirty="0"/>
          </a:p>
        </p:txBody>
      </p:sp>
      <p:sp>
        <p:nvSpPr>
          <p:cNvPr id="13" name="Text 10"/>
          <p:cNvSpPr txBox="1"/>
          <p:nvPr/>
        </p:nvSpPr>
        <p:spPr>
          <a:xfrm>
            <a:off x="777240" y="4315968"/>
            <a:ext cx="5029200" cy="548640"/>
          </a:xfrm>
          <a:prstGeom prst="rect">
            <a:avLst/>
          </a:prstGeom>
          <a:noFill/>
          <a:ln/>
        </p:spPr>
        <p:txBody>
          <a:bodyPr wrap="square" lIns="0" tIns="0" rIns="0" bIns="0" rtlCol="0" anchor="t"/>
          <a:lstStyle/>
          <a:p>
            <a:pPr indent="0" marL="0">
              <a:buNone/>
            </a:pPr>
            <a:r>
              <a:rPr lang="en-US" sz="1050" dirty="0">
                <a:solidFill>
                  <a:schemeClr val="tx1"/>
                </a:solidFill>
              </a:rPr>
              <a:t>Probit v1 failed its gate and was reported, not tuned; v2 beats the base rate but carries a contamination caveat, so weight 0. About 130 usable decisions, 68% holds: no gradient-boosted anything.</a:t>
            </a:r>
            <a:endParaRPr lang="en-US" sz="1050" dirty="0"/>
          </a:p>
        </p:txBody>
      </p:sp>
      <p:sp>
        <p:nvSpPr>
          <p:cNvPr id="14" name="Shape 11"/>
          <p:cNvSpPr/>
          <p:nvPr/>
        </p:nvSpPr>
        <p:spPr>
          <a:xfrm>
            <a:off x="548640" y="4983480"/>
            <a:ext cx="548640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5" name="Text 12"/>
          <p:cNvSpPr txBox="1"/>
          <p:nvPr/>
        </p:nvSpPr>
        <p:spPr>
          <a:xfrm>
            <a:off x="777240" y="5056632"/>
            <a:ext cx="5029200" cy="320040"/>
          </a:xfrm>
          <a:prstGeom prst="rect">
            <a:avLst/>
          </a:prstGeom>
          <a:noFill/>
          <a:ln/>
        </p:spPr>
        <p:txBody>
          <a:bodyPr wrap="square" lIns="0" tIns="0" rIns="0" bIns="0" rtlCol="0" anchor="t"/>
          <a:lstStyle/>
          <a:p>
            <a:pPr indent="0" marL="0">
              <a:buNone/>
            </a:pPr>
            <a:r>
              <a:rPr lang="en-US" sz="1300" b="1" dirty="0">
                <a:solidFill>
                  <a:schemeClr val="tx2"/>
                </a:solidFill>
              </a:rPr>
              <a:t>The market is the anchor</a:t>
            </a:r>
            <a:endParaRPr lang="en-US" sz="1300" dirty="0"/>
          </a:p>
        </p:txBody>
      </p:sp>
      <p:sp>
        <p:nvSpPr>
          <p:cNvPr id="16" name="Text 13"/>
          <p:cNvSpPr txBox="1"/>
          <p:nvPr/>
        </p:nvSpPr>
        <p:spPr>
          <a:xfrm>
            <a:off x="777240" y="5367528"/>
            <a:ext cx="5029200" cy="548640"/>
          </a:xfrm>
          <a:prstGeom prst="rect">
            <a:avLst/>
          </a:prstGeom>
          <a:noFill/>
          <a:ln/>
        </p:spPr>
        <p:txBody>
          <a:bodyPr wrap="square" lIns="0" tIns="0" rIns="0" bIns="0" rtlCol="0" anchor="t"/>
          <a:lstStyle/>
          <a:p>
            <a:pPr indent="0" marL="0">
              <a:buNone/>
            </a:pPr>
            <a:r>
              <a:rPr lang="en-US" sz="1050" dirty="0">
                <a:solidFill>
                  <a:schemeClr val="tx1"/>
                </a:solidFill>
              </a:rPr>
              <a:t>At five weeks futures call most decisions. The claim is auditability and discipline, not a better hit rate.</a:t>
            </a:r>
            <a:endParaRPr lang="en-US" sz="1050" dirty="0"/>
          </a:p>
        </p:txBody>
      </p:sp>
      <p:sp>
        <p:nvSpPr>
          <p:cNvPr id="17" name="Text 14"/>
          <p:cNvSpPr txBox="1"/>
          <p:nvPr/>
        </p:nvSpPr>
        <p:spPr>
          <a:xfrm>
            <a:off x="6355080" y="1371600"/>
            <a:ext cx="5486400" cy="365760"/>
          </a:xfrm>
          <a:prstGeom prst="rect">
            <a:avLst/>
          </a:prstGeom>
          <a:noFill/>
          <a:ln/>
        </p:spPr>
        <p:txBody>
          <a:bodyPr wrap="square" lIns="0" tIns="0" rIns="0" bIns="0" rtlCol="0" anchor="t"/>
          <a:lstStyle/>
          <a:p>
            <a:pPr indent="0" marL="0">
              <a:buNone/>
            </a:pPr>
            <a:r>
              <a:rPr lang="en-US" sz="1600" b="1" dirty="0">
                <a:solidFill>
                  <a:schemeClr val="tx2"/>
                </a:solidFill>
              </a:rPr>
              <a:t>What comes next, in order of value</a:t>
            </a:r>
            <a:endParaRPr lang="en-US" sz="1600" dirty="0"/>
          </a:p>
        </p:txBody>
      </p:sp>
      <p:sp>
        <p:nvSpPr>
          <p:cNvPr id="18" name="Shape 15"/>
          <p:cNvSpPr/>
          <p:nvPr/>
        </p:nvSpPr>
        <p:spPr>
          <a:xfrm>
            <a:off x="6355080" y="1920240"/>
            <a:ext cx="384048" cy="384048"/>
          </a:xfrm>
          <a:prstGeom prst="ellipse">
            <a:avLst/>
          </a:prstGeom>
          <a:solidFill>
            <a:srgbClr val="1E2761"/>
          </a:solidFill>
          <a:ln w="12700">
            <a:solidFill>
              <a:srgbClr val="1E2761"/>
            </a:solidFill>
            <a:prstDash val="solid"/>
          </a:ln>
        </p:spPr>
      </p:sp>
      <p:sp>
        <p:nvSpPr>
          <p:cNvPr id="19" name="Text 16"/>
          <p:cNvSpPr txBox="1"/>
          <p:nvPr/>
        </p:nvSpPr>
        <p:spPr>
          <a:xfrm>
            <a:off x="6355080" y="1920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0" name="Text 17"/>
          <p:cNvSpPr txBox="1"/>
          <p:nvPr/>
        </p:nvSpPr>
        <p:spPr>
          <a:xfrm>
            <a:off x="6858000" y="1828800"/>
            <a:ext cx="4800600" cy="365760"/>
          </a:xfrm>
          <a:prstGeom prst="rect">
            <a:avLst/>
          </a:prstGeom>
          <a:noFill/>
          <a:ln/>
        </p:spPr>
        <p:txBody>
          <a:bodyPr wrap="square" lIns="0" tIns="0" rIns="0" bIns="0" rtlCol="0" anchor="ctr"/>
          <a:lstStyle/>
          <a:p>
            <a:pPr indent="0" marL="0">
              <a:buNone/>
            </a:pPr>
            <a:r>
              <a:rPr lang="en-US" sz="1300" b="1" dirty="0">
                <a:solidFill>
                  <a:schemeClr val="tx2"/>
                </a:solidFill>
              </a:rPr>
              <a:t>The December window, same chain: running now</a:t>
            </a:r>
            <a:endParaRPr lang="en-US" sz="1300" dirty="0"/>
          </a:p>
        </p:txBody>
      </p:sp>
      <p:sp>
        <p:nvSpPr>
          <p:cNvPr id="21" name="Text 18"/>
          <p:cNvSpPr txBox="1"/>
          <p:nvPr/>
        </p:nvSpPr>
        <p:spPr>
          <a:xfrm>
            <a:off x="6858000" y="2194560"/>
            <a:ext cx="4800600" cy="640080"/>
          </a:xfrm>
          <a:prstGeom prst="rect">
            <a:avLst/>
          </a:prstGeom>
          <a:noFill/>
          <a:ln/>
        </p:spPr>
        <p:txBody>
          <a:bodyPr wrap="square" lIns="0" tIns="0" rIns="0" bIns="0" rtlCol="0" anchor="t"/>
          <a:lstStyle/>
          <a:p>
            <a:pPr indent="0" marL="0">
              <a:buNone/>
            </a:pPr>
            <a:r>
              <a:rPr lang="en-US" sz="1050" dirty="0">
                <a:solidFill>
                  <a:schemeClr val="tx1"/>
                </a:solidFill>
              </a:rPr>
              <a:t>The 9 December meeting is less certain (the market prices a hike at about 85%), so reading the evidence has more to add. The chain needed only a new target.</a:t>
            </a:r>
            <a:endParaRPr lang="en-US" sz="1050" dirty="0"/>
          </a:p>
        </p:txBody>
      </p:sp>
      <p:sp>
        <p:nvSpPr>
          <p:cNvPr id="22" name="Shape 19"/>
          <p:cNvSpPr/>
          <p:nvPr/>
        </p:nvSpPr>
        <p:spPr>
          <a:xfrm>
            <a:off x="6355080" y="2971800"/>
            <a:ext cx="384048" cy="384048"/>
          </a:xfrm>
          <a:prstGeom prst="ellipse">
            <a:avLst/>
          </a:prstGeom>
          <a:solidFill>
            <a:srgbClr val="1E2761"/>
          </a:solidFill>
          <a:ln w="12700">
            <a:solidFill>
              <a:srgbClr val="1E2761"/>
            </a:solidFill>
            <a:prstDash val="solid"/>
          </a:ln>
        </p:spPr>
      </p:sp>
      <p:sp>
        <p:nvSpPr>
          <p:cNvPr id="23" name="Text 20"/>
          <p:cNvSpPr txBox="1"/>
          <p:nvPr/>
        </p:nvSpPr>
        <p:spPr>
          <a:xfrm>
            <a:off x="6355080" y="2971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4" name="Text 21"/>
          <p:cNvSpPr txBox="1"/>
          <p:nvPr/>
        </p:nvSpPr>
        <p:spPr>
          <a:xfrm>
            <a:off x="6858000" y="2880360"/>
            <a:ext cx="4800600" cy="365760"/>
          </a:xfrm>
          <a:prstGeom prst="rect">
            <a:avLst/>
          </a:prstGeom>
          <a:noFill/>
          <a:ln/>
        </p:spPr>
        <p:txBody>
          <a:bodyPr wrap="square" lIns="0" tIns="0" rIns="0" bIns="0" rtlCol="0" anchor="ctr"/>
          <a:lstStyle/>
          <a:p>
            <a:pPr indent="0" marL="0">
              <a:buNone/>
            </a:pPr>
            <a:r>
              <a:rPr lang="en-US" sz="1300" b="1" dirty="0">
                <a:solidFill>
                  <a:schemeClr val="tx2"/>
                </a:solidFill>
              </a:rPr>
              <a:t>Pre-registered weight sets, scored live</a:t>
            </a:r>
            <a:endParaRPr lang="en-US" sz="1300" dirty="0"/>
          </a:p>
        </p:txBody>
      </p:sp>
      <p:sp>
        <p:nvSpPr>
          <p:cNvPr id="25" name="Text 22"/>
          <p:cNvSpPr txBox="1"/>
          <p:nvPr/>
        </p:nvSpPr>
        <p:spPr>
          <a:xfrm>
            <a:off x="6858000" y="3246120"/>
            <a:ext cx="4800600" cy="640080"/>
          </a:xfrm>
          <a:prstGeom prst="rect">
            <a:avLst/>
          </a:prstGeom>
          <a:noFill/>
          <a:ln/>
        </p:spPr>
        <p:txBody>
          <a:bodyPr wrap="square" lIns="0" tIns="0" rIns="0" bIns="0" rtlCol="0" anchor="t"/>
          <a:lstStyle/>
          <a:p>
            <a:pPr indent="0" marL="0">
              <a:buNone/>
            </a:pPr>
            <a:r>
              <a:rPr lang="en-US" sz="1050" dirty="0">
                <a:solidFill>
                  <a:schemeClr val="tx1"/>
                </a:solidFill>
              </a:rPr>
              <a:t>Three or four candidate sets written down now, all scored on every live decision; the live set changes only by amendment on that record.</a:t>
            </a:r>
            <a:endParaRPr lang="en-US" sz="1050" dirty="0"/>
          </a:p>
        </p:txBody>
      </p:sp>
      <p:sp>
        <p:nvSpPr>
          <p:cNvPr id="26" name="Shape 23"/>
          <p:cNvSpPr/>
          <p:nvPr/>
        </p:nvSpPr>
        <p:spPr>
          <a:xfrm>
            <a:off x="6355080" y="4023360"/>
            <a:ext cx="384048" cy="384048"/>
          </a:xfrm>
          <a:prstGeom prst="ellipse">
            <a:avLst/>
          </a:prstGeom>
          <a:solidFill>
            <a:srgbClr val="1E2761"/>
          </a:solidFill>
          <a:ln w="12700">
            <a:solidFill>
              <a:srgbClr val="1E2761"/>
            </a:solidFill>
            <a:prstDash val="solid"/>
          </a:ln>
        </p:spPr>
      </p:sp>
      <p:sp>
        <p:nvSpPr>
          <p:cNvPr id="27" name="Text 24"/>
          <p:cNvSpPr txBox="1"/>
          <p:nvPr/>
        </p:nvSpPr>
        <p:spPr>
          <a:xfrm>
            <a:off x="6355080" y="40233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8" name="Text 25"/>
          <p:cNvSpPr txBox="1"/>
          <p:nvPr/>
        </p:nvSpPr>
        <p:spPr>
          <a:xfrm>
            <a:off x="6858000" y="3931920"/>
            <a:ext cx="4800600" cy="365760"/>
          </a:xfrm>
          <a:prstGeom prst="rect">
            <a:avLst/>
          </a:prstGeom>
          <a:noFill/>
          <a:ln/>
        </p:spPr>
        <p:txBody>
          <a:bodyPr wrap="square" lIns="0" tIns="0" rIns="0" bIns="0" rtlCol="0" anchor="ctr"/>
          <a:lstStyle/>
          <a:p>
            <a:pPr indent="0" marL="0">
              <a:buNone/>
            </a:pPr>
            <a:r>
              <a:rPr lang="en-US" sz="1300" b="1" dirty="0">
                <a:solidFill>
                  <a:schemeClr val="tx2"/>
                </a:solidFill>
              </a:rPr>
              <a:t>An events agent for regime shifts</a:t>
            </a:r>
            <a:endParaRPr lang="en-US" sz="1300" dirty="0"/>
          </a:p>
        </p:txBody>
      </p:sp>
      <p:sp>
        <p:nvSpPr>
          <p:cNvPr id="29" name="Text 26"/>
          <p:cNvSpPr txBox="1"/>
          <p:nvPr/>
        </p:nvSpPr>
        <p:spPr>
          <a:xfrm>
            <a:off x="6858000" y="4297680"/>
            <a:ext cx="4800600" cy="640080"/>
          </a:xfrm>
          <a:prstGeom prst="rect">
            <a:avLst/>
          </a:prstGeom>
          <a:noFill/>
          <a:ln/>
        </p:spPr>
        <p:txBody>
          <a:bodyPr wrap="square" lIns="0" tIns="0" rIns="0" bIns="0" rtlCol="0" anchor="t"/>
          <a:lstStyle/>
          <a:p>
            <a:pPr indent="0" marL="0">
              <a:buNone/>
            </a:pPr>
            <a:r>
              <a:rPr lang="en-US" sz="1050" dirty="0">
                <a:solidFill>
                  <a:schemeClr val="tx1"/>
                </a:solidFill>
              </a:rPr>
              <a:t>1987, 1998, 2008, 2020: the Fed cut on financial stress, not the data the models read. A watch-out agent that scans for bank failures, funding stress and dislocations, and raises a watch-out every analyst must answer.</a:t>
            </a:r>
            <a:endParaRPr lang="en-US" sz="1050" dirty="0"/>
          </a:p>
        </p:txBody>
      </p:sp>
      <p:sp>
        <p:nvSpPr>
          <p:cNvPr id="30" name="Shape 27"/>
          <p:cNvSpPr/>
          <p:nvPr/>
        </p:nvSpPr>
        <p:spPr>
          <a:xfrm>
            <a:off x="6355080" y="5074920"/>
            <a:ext cx="384048" cy="384048"/>
          </a:xfrm>
          <a:prstGeom prst="ellipse">
            <a:avLst/>
          </a:prstGeom>
          <a:solidFill>
            <a:srgbClr val="1E2761"/>
          </a:solidFill>
          <a:ln w="12700">
            <a:solidFill>
              <a:srgbClr val="1E2761"/>
            </a:solidFill>
            <a:prstDash val="solid"/>
          </a:ln>
        </p:spPr>
      </p:sp>
      <p:sp>
        <p:nvSpPr>
          <p:cNvPr id="31" name="Text 28"/>
          <p:cNvSpPr txBox="1"/>
          <p:nvPr/>
        </p:nvSpPr>
        <p:spPr>
          <a:xfrm>
            <a:off x="6355080" y="50749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2" name="Text 29"/>
          <p:cNvSpPr txBox="1"/>
          <p:nvPr/>
        </p:nvSpPr>
        <p:spPr>
          <a:xfrm>
            <a:off x="6858000" y="4983480"/>
            <a:ext cx="4800600" cy="365760"/>
          </a:xfrm>
          <a:prstGeom prst="rect">
            <a:avLst/>
          </a:prstGeom>
          <a:noFill/>
          <a:ln/>
        </p:spPr>
        <p:txBody>
          <a:bodyPr wrap="square" lIns="0" tIns="0" rIns="0" bIns="0" rtlCol="0" anchor="ctr"/>
          <a:lstStyle/>
          <a:p>
            <a:pPr indent="0" marL="0">
              <a:buNone/>
            </a:pPr>
            <a:r>
              <a:rPr lang="en-US" sz="1300" b="1" dirty="0">
                <a:solidFill>
                  <a:schemeClr val="tx2"/>
                </a:solidFill>
              </a:rPr>
              <a:t>Reasoning quality and a second model family</a:t>
            </a:r>
            <a:endParaRPr lang="en-US" sz="1300" dirty="0"/>
          </a:p>
        </p:txBody>
      </p:sp>
      <p:sp>
        <p:nvSpPr>
          <p:cNvPr id="33" name="Text 30"/>
          <p:cNvSpPr txBox="1"/>
          <p:nvPr/>
        </p:nvSpPr>
        <p:spPr>
          <a:xfrm>
            <a:off x="6858000" y="5349240"/>
            <a:ext cx="4800600" cy="640080"/>
          </a:xfrm>
          <a:prstGeom prst="rect">
            <a:avLst/>
          </a:prstGeom>
          <a:noFill/>
          <a:ln/>
        </p:spPr>
        <p:txBody>
          <a:bodyPr wrap="square" lIns="0" tIns="0" rIns="0" bIns="0" rtlCol="0" anchor="t"/>
          <a:lstStyle/>
          <a:p>
            <a:pPr indent="0" marL="0">
              <a:buNone/>
            </a:pPr>
            <a:r>
              <a:rPr lang="en-US" sz="1050" dirty="0">
                <a:solidFill>
                  <a:schemeClr val="tx1"/>
                </a:solidFill>
              </a:rPr>
              <a:t>Twenty traces hand-graded, a model grader trusted only once it agrees; a second model family to show the harness, not the model, does the work.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lIns="0" tIns="0" rIns="0" bIns="0" rtlCol="0" anchor="b"/>
          <a:lstStyle/>
          <a:p>
            <a:pPr algn="l" indent="0" marL="0">
              <a:buNone/>
            </a:pPr>
            <a:r>
              <a:rPr lang="en-US" sz="4000" b="1" dirty="0">
                <a:solidFill>
                  <a:schemeClr val="bg1"/>
                </a:solidFill>
              </a:rPr>
              <a:t>Three things to take away</a:t>
            </a: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algn="l" marL="342900" indent="-342900">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algn="l" marL="342900" indent="-342900">
              <a:buSzPct val="100000"/>
              <a:buChar char="•"/>
            </a:pPr>
            <a:r>
              <a:rPr lang="en-US" sz="2000" dirty="0">
                <a:solidFill>
                  <a:srgbClr val="CADCFC"/>
                </a:solidFill>
              </a:rPr>
              <a:t>The ask: scrutinise the scorecard, challenge a quote, and tell us which other decisions deserve the same chain. The 28 October call is on file; December is already running.</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017520"/>
                <a:gridCol w="2011680"/>
                <a:gridCol w="2011680"/>
                <a:gridCol w="2011680"/>
                <a:gridCol w="2039112"/>
              </a:tblGrid>
              <a:tr h="777240">
                <a:tc>
                  <a:txBody>
                    <a:bodyPr/>
                    <a:lstStyle/>
                    <a:p>
                      <a:pPr indent="0" marL="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777240">
                <a:tc>
                  <a:txBody>
                    <a:bodyPr/>
                    <a:lstStyle/>
                    <a:p>
                      <a:pPr indent="0" marL="0">
                        <a:buNone/>
                      </a:pPr>
                      <a:r>
                        <a:rPr lang="en-US" sz="1150" dirty="0">
                          <a:solidFill>
                            <a:srgbClr val="1B1F2A"/>
                          </a:solidFill>
                        </a:rPr>
                        <a:t>Repeatability (≤ 2 pp)</a:t>
                      </a:r>
                      <a:endParaRPr lang="en-US" sz="1150" dirty="0"/>
                    </a:p>
                    <a:p>
                      <a:pPr indent="0" marL="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0.6 / 0.5 / 0.5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0.5 / 0.8 / 1.2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Quotes verified (≥ 95%)</a:t>
                      </a:r>
                      <a:endParaRPr lang="en-US" sz="1150" dirty="0"/>
                    </a:p>
                    <a:p>
                      <a:pPr indent="0" marL="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Numbers from memory (exactly 0)</a:t>
                      </a:r>
                      <a:endParaRPr lang="en-US" sz="1150" dirty="0"/>
                    </a:p>
                    <a:p>
                      <a:pPr indent="0" marL="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+7.0 / +6.6 / +6.4 / +5.8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+4.4 / +4.1 / +4.4 / +4.0 bp hawkish; labour 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indent="0" marL="0">
              <a:buNone/>
            </a:pPr>
            <a:r>
              <a:rPr lang="en-US" sz="1050" dirty="0">
                <a:solidFill>
                  <a:schemeClr val="accent4"/>
                </a:solidFill>
              </a:rPr>
              <a:t>Snapshots of 15, 24, 26 and 28 October 2026. Analysts 3 to 8 report repeatability in basis points of their direction call because they output a lean,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FedCast</cp:lastModifiedBy>
  <cp:revision>1</cp:revision>
  <dcterms:created xsi:type="dcterms:W3CDTF">2026-10-29T15:19:39Z</dcterms:created>
  <dcterms:modified xsi:type="dcterms:W3CDTF">2026-10-29T15:19:39Z</dcterms:modified>
</cp:coreProperties>
</file>