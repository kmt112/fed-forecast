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 id="{CCE3A166-3062-B012-ACBA-5B1B5710B73F}">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9015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a language model inside an engineered harness gives forecasts that are measurably more repeatable and more faithful to evidence than the same model asked naively, and we prove it by measuring the process, not by waiting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it is, in one line, the diagram, and four things it does. Right: the three reasons we built it. Spend the time on the right-hand side; the diagram is there so the room can see the four families and that code, not a model, combines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marL="0" indent="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marL="0" indent="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marL="0" indent="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marL="0" indent="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marL="0" indent="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07618" y="277682"/>
            <a:ext cx="1232199" cy="123219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FedCast is, and why we built it</a:t>
            </a:r>
            <a:endParaRPr lang="en-US" sz="3200" dirty="0"/>
          </a:p>
        </p:txBody>
      </p:sp>
      <p:sp>
        <p:nvSpPr>
          <p:cNvPr id="4" name="Text 1"/>
          <p:cNvSpPr txBox="1"/>
          <p:nvPr/>
        </p:nvSpPr>
        <p:spPr>
          <a:xfrm>
            <a:off x="548640" y="1234440"/>
            <a:ext cx="11091672" cy="548640"/>
          </a:xfrm>
          <a:prstGeom prst="rect">
            <a:avLst/>
          </a:prstGeom>
          <a:noFill/>
          <a:ln/>
        </p:spPr>
        <p:txBody>
          <a:bodyPr wrap="square" lIns="0" tIns="0" rIns="0" bIns="0" rtlCol="0" anchor="t"/>
          <a:lstStyle/>
          <a:p>
            <a:pPr marL="0" indent="0">
              <a:buNone/>
            </a:pPr>
            <a:r>
              <a:rPr lang="en-US" sz="1350" dirty="0">
                <a:solidFill>
                  <a:schemeClr val="tx1"/>
                </a:solidFill>
              </a:rPr>
              <a:t>A forecast of the next FOMC decision as probabilities over five outcomes, from one frozen snapshot of evidence. </a:t>
            </a:r>
          </a:p>
          <a:p>
            <a:pPr marL="0" indent="0">
              <a:buNone/>
            </a:pPr>
            <a:r>
              <a:rPr lang="en-US" sz="1350" dirty="0"/>
              <a:t>As of 27 October, for </a:t>
            </a:r>
            <a:r>
              <a:rPr lang="en-US" sz="1350" dirty="0">
                <a:solidFill>
                  <a:schemeClr val="tx1"/>
                </a:solidFill>
              </a:rPr>
              <a:t>28 October 2026: no change 71%, +25 bps 23%.</a:t>
            </a:r>
            <a:endParaRPr lang="en-US" sz="1350" dirty="0"/>
          </a:p>
        </p:txBody>
      </p:sp>
      <p:sp>
        <p:nvSpPr>
          <p:cNvPr id="5" name="Shape 2"/>
          <p:cNvSpPr/>
          <p:nvPr/>
        </p:nvSpPr>
        <p:spPr>
          <a:xfrm>
            <a:off x="548640" y="1874520"/>
            <a:ext cx="2514600" cy="676656"/>
          </a:xfrm>
          <a:prstGeom prst="roundRect">
            <a:avLst>
              <a:gd name="adj" fmla="val 10811"/>
            </a:avLst>
          </a:prstGeom>
          <a:solidFill>
            <a:srgbClr val="1E2761"/>
          </a:solidFill>
          <a:ln w="12700">
            <a:solidFill>
              <a:srgbClr val="1E2761"/>
            </a:solidFill>
            <a:prstDash val="solid"/>
          </a:ln>
        </p:spPr>
      </p:sp>
      <p:sp>
        <p:nvSpPr>
          <p:cNvPr id="6" name="Text 3"/>
          <p:cNvSpPr txBox="1"/>
          <p:nvPr/>
        </p:nvSpPr>
        <p:spPr>
          <a:xfrm>
            <a:off x="676656" y="1929384"/>
            <a:ext cx="2258568" cy="274320"/>
          </a:xfrm>
          <a:prstGeom prst="rect">
            <a:avLst/>
          </a:prstGeom>
          <a:noFill/>
          <a:ln/>
        </p:spPr>
        <p:txBody>
          <a:bodyPr wrap="square" lIns="0" tIns="0" rIns="0" bIns="0" rtlCol="0" anchor="t"/>
          <a:lstStyle/>
          <a:p>
            <a:pPr marL="0" indent="0">
              <a:buNone/>
            </a:pPr>
            <a:r>
              <a:rPr lang="en-US" sz="1200" b="1" dirty="0">
                <a:solidFill>
                  <a:schemeClr val="bg1"/>
                </a:solidFill>
              </a:rPr>
              <a:t>Economic predictors</a:t>
            </a:r>
            <a:endParaRPr lang="en-US" sz="1200" dirty="0"/>
          </a:p>
        </p:txBody>
      </p:sp>
      <p:sp>
        <p:nvSpPr>
          <p:cNvPr id="7" name="Text 4"/>
          <p:cNvSpPr txBox="1"/>
          <p:nvPr/>
        </p:nvSpPr>
        <p:spPr>
          <a:xfrm>
            <a:off x="676656" y="2176272"/>
            <a:ext cx="2258568" cy="365760"/>
          </a:xfrm>
          <a:prstGeom prst="rect">
            <a:avLst/>
          </a:prstGeom>
          <a:noFill/>
          <a:ln/>
        </p:spPr>
        <p:txBody>
          <a:bodyPr wrap="square" lIns="0" tIns="0" rIns="0" bIns="0" rtlCol="0" anchor="t"/>
          <a:lstStyle/>
          <a:p>
            <a:pPr marL="0" indent="0">
              <a:buNone/>
            </a:pPr>
            <a:r>
              <a:rPr lang="en-US" sz="850" dirty="0">
                <a:solidFill>
                  <a:schemeClr val="bg1"/>
                </a:solidFill>
              </a:rPr>
              <a:t>Fed funds futures, the Fed's own Taylor rules, Polymarket odds</a:t>
            </a:r>
            <a:endParaRPr lang="en-US" sz="850" dirty="0"/>
          </a:p>
        </p:txBody>
      </p:sp>
      <p:sp>
        <p:nvSpPr>
          <p:cNvPr id="8" name="Shape 5"/>
          <p:cNvSpPr/>
          <p:nvPr/>
        </p:nvSpPr>
        <p:spPr>
          <a:xfrm>
            <a:off x="3136392" y="2212848"/>
            <a:ext cx="365760" cy="0"/>
          </a:xfrm>
          <a:prstGeom prst="line">
            <a:avLst/>
          </a:prstGeom>
          <a:noFill/>
          <a:ln w="19050">
            <a:solidFill>
              <a:srgbClr val="6B7280"/>
            </a:solidFill>
            <a:prstDash val="solid"/>
            <a:tailEnd type="triangle"/>
          </a:ln>
        </p:spPr>
      </p:sp>
      <p:sp>
        <p:nvSpPr>
          <p:cNvPr id="9" name="Shape 6"/>
          <p:cNvSpPr/>
          <p:nvPr/>
        </p:nvSpPr>
        <p:spPr>
          <a:xfrm>
            <a:off x="548640" y="2624328"/>
            <a:ext cx="2514600" cy="676656"/>
          </a:xfrm>
          <a:prstGeom prst="roundRect">
            <a:avLst>
              <a:gd name="adj" fmla="val 10811"/>
            </a:avLst>
          </a:prstGeom>
          <a:solidFill>
            <a:srgbClr val="1E2761"/>
          </a:solidFill>
          <a:ln w="12700">
            <a:solidFill>
              <a:srgbClr val="1E2761"/>
            </a:solidFill>
            <a:prstDash val="solid"/>
          </a:ln>
        </p:spPr>
      </p:sp>
      <p:sp>
        <p:nvSpPr>
          <p:cNvPr id="10" name="Text 7"/>
          <p:cNvSpPr txBox="1"/>
          <p:nvPr/>
        </p:nvSpPr>
        <p:spPr>
          <a:xfrm>
            <a:off x="676656" y="2679192"/>
            <a:ext cx="2258568" cy="274320"/>
          </a:xfrm>
          <a:prstGeom prst="rect">
            <a:avLst/>
          </a:prstGeom>
          <a:noFill/>
          <a:ln/>
        </p:spPr>
        <p:txBody>
          <a:bodyPr wrap="square" lIns="0" tIns="0" rIns="0" bIns="0" rtlCol="0" anchor="t"/>
          <a:lstStyle/>
          <a:p>
            <a:pPr marL="0" indent="0">
              <a:buNone/>
            </a:pPr>
            <a:r>
              <a:rPr lang="en-US" sz="1200" b="1" dirty="0">
                <a:solidFill>
                  <a:schemeClr val="bg1"/>
                </a:solidFill>
              </a:rPr>
              <a:t>Empirical data</a:t>
            </a:r>
            <a:endParaRPr lang="en-US" sz="1200" dirty="0"/>
          </a:p>
        </p:txBody>
      </p:sp>
      <p:sp>
        <p:nvSpPr>
          <p:cNvPr id="11" name="Text 8"/>
          <p:cNvSpPr txBox="1"/>
          <p:nvPr/>
        </p:nvSpPr>
        <p:spPr>
          <a:xfrm>
            <a:off x="676656" y="2926080"/>
            <a:ext cx="2258568" cy="365760"/>
          </a:xfrm>
          <a:prstGeom prst="rect">
            <a:avLst/>
          </a:prstGeom>
          <a:noFill/>
          <a:ln/>
        </p:spPr>
        <p:txBody>
          <a:bodyPr wrap="square" lIns="0" tIns="0" rIns="0" bIns="0" rtlCol="0" anchor="t"/>
          <a:lstStyle/>
          <a:p>
            <a:pPr marL="0" indent="0">
              <a:buNone/>
            </a:pPr>
            <a:r>
              <a:rPr lang="en-US" sz="850" dirty="0">
                <a:solidFill>
                  <a:schemeClr val="bg1"/>
                </a:solidFill>
              </a:rPr>
              <a:t>What followed each kind of decision over 32 years of FOMC history</a:t>
            </a:r>
            <a:r>
              <a:rPr lang="en-US" sz="850" dirty="0" err="1">
                <a:solidFill>
                  <a:schemeClr val="bg1"/>
                </a:solidFill>
              </a:rPr>
              <a:t/>
            </a:r>
            <a:r>
              <a:rPr lang="en-US" sz="850" dirty="0">
                <a:solidFill>
                  <a:schemeClr val="bg1"/>
                </a:solidFill>
              </a:rPr>
              <a:t/>
            </a:r>
            <a:endParaRPr lang="en-US" sz="850" dirty="0"/>
          </a:p>
        </p:txBody>
      </p:sp>
      <p:sp>
        <p:nvSpPr>
          <p:cNvPr id="12" name="Shape 9"/>
          <p:cNvSpPr/>
          <p:nvPr/>
        </p:nvSpPr>
        <p:spPr>
          <a:xfrm>
            <a:off x="3136392" y="2962656"/>
            <a:ext cx="365760" cy="0"/>
          </a:xfrm>
          <a:prstGeom prst="line">
            <a:avLst/>
          </a:prstGeom>
          <a:noFill/>
          <a:ln w="19050">
            <a:solidFill>
              <a:srgbClr val="6B7280"/>
            </a:solidFill>
            <a:prstDash val="solid"/>
            <a:tailEnd type="triangle"/>
          </a:ln>
        </p:spPr>
      </p:sp>
      <p:sp>
        <p:nvSpPr>
          <p:cNvPr id="13" name="Shape 10"/>
          <p:cNvSpPr/>
          <p:nvPr/>
        </p:nvSpPr>
        <p:spPr>
          <a:xfrm>
            <a:off x="548640" y="3374136"/>
            <a:ext cx="2514600" cy="676656"/>
          </a:xfrm>
          <a:prstGeom prst="roundRect">
            <a:avLst>
              <a:gd name="adj" fmla="val 10811"/>
            </a:avLst>
          </a:prstGeom>
          <a:solidFill>
            <a:srgbClr val="6B7280"/>
          </a:solidFill>
          <a:ln w="12700">
            <a:solidFill>
              <a:srgbClr val="6B7280"/>
            </a:solidFill>
            <a:prstDash val="solid"/>
          </a:ln>
        </p:spPr>
      </p:sp>
      <p:sp>
        <p:nvSpPr>
          <p:cNvPr id="14" name="Text 11"/>
          <p:cNvSpPr txBox="1"/>
          <p:nvPr/>
        </p:nvSpPr>
        <p:spPr>
          <a:xfrm>
            <a:off x="676656" y="3429000"/>
            <a:ext cx="2258568" cy="274320"/>
          </a:xfrm>
          <a:prstGeom prst="rect">
            <a:avLst/>
          </a:prstGeom>
          <a:noFill/>
          <a:ln/>
        </p:spPr>
        <p:txBody>
          <a:bodyPr wrap="square" lIns="0" tIns="0" rIns="0" bIns="0" rtlCol="0" anchor="t"/>
          <a:lstStyle/>
          <a:p>
            <a:pPr marL="0" indent="0">
              <a:buNone/>
            </a:pPr>
            <a:r>
              <a:rPr lang="en-US" sz="1200" b="1" dirty="0">
                <a:solidFill>
                  <a:schemeClr val="bg1"/>
                </a:solidFill>
              </a:rPr>
              <a:t>Classic ML</a:t>
            </a:r>
            <a:endParaRPr lang="en-US" sz="1200" dirty="0"/>
          </a:p>
        </p:txBody>
      </p:sp>
      <p:sp>
        <p:nvSpPr>
          <p:cNvPr id="15" name="Text 12"/>
          <p:cNvSpPr txBox="1"/>
          <p:nvPr/>
        </p:nvSpPr>
        <p:spPr>
          <a:xfrm>
            <a:off x="676656" y="3675888"/>
            <a:ext cx="2258568" cy="365760"/>
          </a:xfrm>
          <a:prstGeom prst="rect">
            <a:avLst/>
          </a:prstGeom>
          <a:noFill/>
          <a:ln/>
        </p:spPr>
        <p:txBody>
          <a:bodyPr wrap="square" lIns="0" tIns="0" rIns="0" bIns="0" rtlCol="0" anchor="t"/>
          <a:lstStyle/>
          <a:p>
            <a:pPr marL="0" indent="0">
              <a:buNone/>
            </a:pPr>
            <a:r>
              <a:rPr lang="en-US" sz="850" dirty="0">
                <a:solidFill>
                  <a:schemeClr val="bg1"/>
                </a:solidFill>
              </a:rPr>
              <a:t>An ordered probit fitted on data as first published; shown, not yet in the number</a:t>
            </a:r>
            <a:endParaRPr lang="en-US" sz="850" dirty="0"/>
          </a:p>
        </p:txBody>
      </p:sp>
      <p:sp>
        <p:nvSpPr>
          <p:cNvPr id="16" name="Shape 13"/>
          <p:cNvSpPr/>
          <p:nvPr/>
        </p:nvSpPr>
        <p:spPr>
          <a:xfrm>
            <a:off x="3136392" y="3712464"/>
            <a:ext cx="365760" cy="0"/>
          </a:xfrm>
          <a:prstGeom prst="line">
            <a:avLst/>
          </a:prstGeom>
          <a:noFill/>
          <a:ln w="19050">
            <a:solidFill>
              <a:srgbClr val="6B7280"/>
            </a:solidFill>
            <a:prstDash val="solid"/>
            <a:tailEnd type="triangle"/>
          </a:ln>
        </p:spPr>
      </p:sp>
      <p:sp>
        <p:nvSpPr>
          <p:cNvPr id="17" name="Shape 14"/>
          <p:cNvSpPr/>
          <p:nvPr/>
        </p:nvSpPr>
        <p:spPr>
          <a:xfrm>
            <a:off x="548640" y="4123944"/>
            <a:ext cx="2514600" cy="676656"/>
          </a:xfrm>
          <a:prstGeom prst="roundRect">
            <a:avLst>
              <a:gd name="adj" fmla="val 10811"/>
            </a:avLst>
          </a:prstGeom>
          <a:solidFill>
            <a:srgbClr val="C8553D"/>
          </a:solidFill>
          <a:ln w="12700">
            <a:solidFill>
              <a:srgbClr val="C8553D"/>
            </a:solidFill>
            <a:prstDash val="solid"/>
          </a:ln>
        </p:spPr>
      </p:sp>
      <p:sp>
        <p:nvSpPr>
          <p:cNvPr id="18" name="Text 15"/>
          <p:cNvSpPr txBox="1"/>
          <p:nvPr/>
        </p:nvSpPr>
        <p:spPr>
          <a:xfrm>
            <a:off x="676656" y="4178808"/>
            <a:ext cx="2258568" cy="274320"/>
          </a:xfrm>
          <a:prstGeom prst="rect">
            <a:avLst/>
          </a:prstGeom>
          <a:noFill/>
          <a:ln/>
        </p:spPr>
        <p:txBody>
          <a:bodyPr wrap="square" lIns="0" tIns="0" rIns="0" bIns="0" rtlCol="0" anchor="t"/>
          <a:lstStyle/>
          <a:p>
            <a:pPr marL="0" indent="0">
              <a:buNone/>
            </a:pPr>
            <a:r>
              <a:rPr lang="en-US" sz="1200" b="1" dirty="0">
                <a:solidFill>
                  <a:schemeClr val="bg1"/>
                </a:solidFill>
              </a:rPr>
              <a:t>LLM-derived</a:t>
            </a:r>
            <a:endParaRPr lang="en-US" sz="1200" dirty="0"/>
          </a:p>
        </p:txBody>
      </p:sp>
      <p:sp>
        <p:nvSpPr>
          <p:cNvPr id="19" name="Text 16"/>
          <p:cNvSpPr txBox="1"/>
          <p:nvPr/>
        </p:nvSpPr>
        <p:spPr>
          <a:xfrm>
            <a:off x="676656" y="4425696"/>
            <a:ext cx="2258568" cy="365760"/>
          </a:xfrm>
          <a:prstGeom prst="rect">
            <a:avLst/>
          </a:prstGeom>
          <a:noFill/>
          <a:ln/>
        </p:spPr>
        <p:txBody>
          <a:bodyPr wrap="square" lIns="0" tIns="0" rIns="0" bIns="0" rtlCol="0" anchor="t"/>
          <a:lstStyle/>
          <a:p>
            <a:pPr marL="0" indent="0">
              <a:buNone/>
            </a:pPr>
            <a:r>
              <a:rPr lang="en-US" sz="850" dirty="0">
                <a:solidFill>
                  <a:schemeClr val="bg1"/>
                </a:solidFill>
              </a:rPr>
              <a:t>Five specialist analysts reading the Fed's own words; every claim quoted and verified by code</a:t>
            </a:r>
            <a:endParaRPr lang="en-US" sz="850" dirty="0"/>
          </a:p>
        </p:txBody>
      </p:sp>
      <p:sp>
        <p:nvSpPr>
          <p:cNvPr id="20" name="Shape 17"/>
          <p:cNvSpPr/>
          <p:nvPr/>
        </p:nvSpPr>
        <p:spPr>
          <a:xfrm>
            <a:off x="3136392" y="4462272"/>
            <a:ext cx="365760" cy="0"/>
          </a:xfrm>
          <a:prstGeom prst="line">
            <a:avLst/>
          </a:prstGeom>
          <a:noFill/>
          <a:ln w="19050">
            <a:solidFill>
              <a:srgbClr val="6B7280"/>
            </a:solidFill>
            <a:prstDash val="solid"/>
            <a:tailEnd type="triangle"/>
          </a:ln>
        </p:spPr>
      </p:sp>
      <p:sp>
        <p:nvSpPr>
          <p:cNvPr id="21" name="Shape 18"/>
          <p:cNvSpPr/>
          <p:nvPr/>
        </p:nvSpPr>
        <p:spPr>
          <a:xfrm>
            <a:off x="3566160" y="1874520"/>
            <a:ext cx="1234440" cy="2926080"/>
          </a:xfrm>
          <a:prstGeom prst="roundRect">
            <a:avLst>
              <a:gd name="adj" fmla="val 7407"/>
            </a:avLst>
          </a:prstGeom>
          <a:solidFill>
            <a:srgbClr val="EEF2F7"/>
          </a:solidFill>
          <a:ln w="12700">
            <a:solidFill>
              <a:srgbClr val="CADCFC"/>
            </a:solidFill>
            <a:prstDash val="solid"/>
          </a:ln>
        </p:spPr>
      </p:sp>
      <p:sp>
        <p:nvSpPr>
          <p:cNvPr id="22" name="Text 19"/>
          <p:cNvSpPr txBox="1"/>
          <p:nvPr/>
        </p:nvSpPr>
        <p:spPr>
          <a:xfrm>
            <a:off x="3566160" y="2103120"/>
            <a:ext cx="1234440" cy="365760"/>
          </a:xfrm>
          <a:prstGeom prst="rect">
            <a:avLst/>
          </a:prstGeom>
          <a:noFill/>
          <a:ln/>
        </p:spPr>
        <p:txBody>
          <a:bodyPr wrap="square" lIns="0" tIns="0" rIns="0" bIns="0" rtlCol="0" anchor="t"/>
          <a:lstStyle/>
          <a:p>
            <a:pPr marL="0" indent="0" algn="ctr">
              <a:buNone/>
            </a:pPr>
            <a:r>
              <a:rPr lang="en-US" sz="1400" b="1" dirty="0">
                <a:solidFill>
                  <a:schemeClr val="tx2"/>
                </a:solidFill>
              </a:rPr>
              <a:t>Pool</a:t>
            </a:r>
            <a:endParaRPr lang="en-US" sz="1400" dirty="0"/>
          </a:p>
        </p:txBody>
      </p:sp>
      <p:sp>
        <p:nvSpPr>
          <p:cNvPr id="23" name="Text 20"/>
          <p:cNvSpPr txBox="1"/>
          <p:nvPr/>
        </p:nvSpPr>
        <p:spPr>
          <a:xfrm>
            <a:off x="3657600" y="2560320"/>
            <a:ext cx="1051560" cy="2560320"/>
          </a:xfrm>
          <a:prstGeom prst="rect">
            <a:avLst/>
          </a:prstGeom>
          <a:noFill/>
          <a:ln/>
        </p:spPr>
        <p:txBody>
          <a:bodyPr wrap="square" lIns="0" tIns="0" rIns="0" bIns="0" rtlCol="0" anchor="t"/>
          <a:lstStyle/>
          <a:p>
            <a:pPr marL="0" indent="0" algn="ctr">
              <a:buNone/>
            </a:pPr>
            <a:r>
              <a:rPr lang="en-US" sz="900" dirty="0">
                <a:solidFill>
                  <a:schemeClr val="tx1"/>
                </a:solidFill>
              </a:rPr>
              <a:t>Combined by code with fixed, published weights. No model writes the number.</a:t>
            </a:r>
            <a:endParaRPr lang="en-US" sz="900" dirty="0"/>
          </a:p>
        </p:txBody>
      </p:sp>
      <p:sp>
        <p:nvSpPr>
          <p:cNvPr id="24" name="Shape 21"/>
          <p:cNvSpPr/>
          <p:nvPr/>
        </p:nvSpPr>
        <p:spPr>
          <a:xfrm>
            <a:off x="4864608" y="3337560"/>
            <a:ext cx="365760" cy="0"/>
          </a:xfrm>
          <a:prstGeom prst="line">
            <a:avLst/>
          </a:prstGeom>
          <a:noFill/>
          <a:ln w="19050">
            <a:solidFill>
              <a:srgbClr val="6B7280"/>
            </a:solidFill>
            <a:prstDash val="solid"/>
            <a:tailEnd type="triangle"/>
          </a:ln>
        </p:spPr>
      </p:sp>
      <p:sp>
        <p:nvSpPr>
          <p:cNvPr id="25" name="Shape 22"/>
          <p:cNvSpPr/>
          <p:nvPr/>
        </p:nvSpPr>
        <p:spPr>
          <a:xfrm>
            <a:off x="5303520" y="2697480"/>
            <a:ext cx="1280160" cy="1280160"/>
          </a:xfrm>
          <a:prstGeom prst="roundRect">
            <a:avLst>
              <a:gd name="adj" fmla="val 7143"/>
            </a:avLst>
          </a:prstGeom>
          <a:solidFill>
            <a:srgbClr val="1E2761"/>
          </a:solidFill>
          <a:ln w="12700">
            <a:solidFill>
              <a:srgbClr val="1E2761"/>
            </a:solidFill>
            <a:prstDash val="solid"/>
          </a:ln>
        </p:spPr>
      </p:sp>
      <p:sp>
        <p:nvSpPr>
          <p:cNvPr id="26" name="Text 23"/>
          <p:cNvSpPr txBox="1"/>
          <p:nvPr/>
        </p:nvSpPr>
        <p:spPr>
          <a:xfrm>
            <a:off x="5303520" y="2788920"/>
            <a:ext cx="1280160" cy="365760"/>
          </a:xfrm>
          <a:prstGeom prst="rect">
            <a:avLst/>
          </a:prstGeom>
          <a:noFill/>
          <a:ln/>
        </p:spPr>
        <p:txBody>
          <a:bodyPr wrap="square" lIns="0" tIns="0" rIns="0" bIns="0" rtlCol="0" anchor="t"/>
          <a:lstStyle/>
          <a:p>
            <a:pPr marL="0" indent="0" algn="ctr">
              <a:buNone/>
            </a:pPr>
            <a:r>
              <a:rPr lang="en-US" sz="1300" b="1" dirty="0">
                <a:solidFill>
                  <a:schemeClr val="bg1"/>
                </a:solidFill>
              </a:rPr>
              <a:t>Forecast, as of 27 October</a:t>
            </a:r>
            <a:endParaRPr lang="en-US" sz="1300" dirty="0"/>
          </a:p>
        </p:txBody>
      </p:sp>
      <p:sp>
        <p:nvSpPr>
          <p:cNvPr id="27" name="Text 24"/>
          <p:cNvSpPr txBox="1"/>
          <p:nvPr/>
        </p:nvSpPr>
        <p:spPr>
          <a:xfrm>
            <a:off x="5303520" y="3200400"/>
            <a:ext cx="1280160" cy="731520"/>
          </a:xfrm>
          <a:prstGeom prst="rect">
            <a:avLst/>
          </a:prstGeom>
          <a:noFill/>
          <a:ln/>
        </p:spPr>
        <p:txBody>
          <a:bodyPr wrap="square" lIns="0" tIns="0" rIns="0" bIns="0" rtlCol="0" anchor="t"/>
          <a:lstStyle/>
          <a:p>
            <a:pPr marL="0" indent="0" algn="ctr">
              <a:buNone/>
            </a:pPr>
            <a:r>
              <a:rPr lang="en-US" sz="1050" dirty="0">
                <a:solidFill>
                  <a:schemeClr val="bg1"/>
                </a:solidFill>
              </a:rPr>
              <a:t>no change 71%</a:t>
            </a:r>
            <a:endParaRPr lang="en-US" sz="1050" dirty="0"/>
          </a:p>
          <a:p>
            <a:pPr marL="0" indent="0" algn="ctr">
              <a:buNone/>
            </a:pPr>
            <a:r>
              <a:rPr lang="en-US" sz="1050" dirty="0">
                <a:solidFill>
                  <a:schemeClr val="bg1"/>
                </a:solidFill>
              </a:rPr>
              <a:t>+25 bps 23%</a:t>
            </a:r>
            <a:endParaRPr lang="en-US" sz="1050" dirty="0"/>
          </a:p>
        </p:txBody>
      </p:sp>
      <p:sp>
        <p:nvSpPr>
          <p:cNvPr id="28" name="Text 25"/>
          <p:cNvSpPr txBox="1"/>
          <p:nvPr/>
        </p:nvSpPr>
        <p:spPr>
          <a:xfrm>
            <a:off x="548640" y="4983480"/>
            <a:ext cx="6400800" cy="274320"/>
          </a:xfrm>
          <a:prstGeom prst="rect">
            <a:avLst/>
          </a:prstGeom>
          <a:noFill/>
          <a:ln/>
        </p:spPr>
        <p:txBody>
          <a:bodyPr wrap="square" lIns="0" tIns="0" rIns="0" bIns="0" rtlCol="0" anchor="t"/>
          <a:lstStyle/>
          <a:p>
            <a:pPr marL="0" indent="0">
              <a:buNone/>
            </a:pPr>
            <a:r>
              <a:rPr lang="en-US" sz="1200" b="1" dirty="0">
                <a:solidFill>
                  <a:schemeClr val="tx2"/>
                </a:solidFill>
              </a:rPr>
              <a:t>What it does</a:t>
            </a:r>
            <a:endParaRPr lang="en-US" sz="1200" dirty="0"/>
          </a:p>
        </p:txBody>
      </p:sp>
      <p:sp>
        <p:nvSpPr>
          <p:cNvPr id="29" name="Text 26"/>
          <p:cNvSpPr txBox="1"/>
          <p:nvPr/>
        </p:nvSpPr>
        <p:spPr>
          <a:xfrm>
            <a:off x="548640" y="5257800"/>
            <a:ext cx="6492240" cy="109728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chemeClr val="tx1"/>
                </a:solidFill>
              </a:rPr>
              <a:t>Freezes one fingerprinted snapshot of evidence per forecast; nothing outside it may be read.</a:t>
            </a:r>
            <a:endParaRPr lang="en-US" sz="950" dirty="0"/>
          </a:p>
          <a:p>
            <a:pPr marL="342900" indent="-342900">
              <a:spcAft>
                <a:spcPts val="200"/>
              </a:spcAft>
              <a:buSzPct val="100000"/>
              <a:buChar char="•"/>
            </a:pPr>
            <a:r>
              <a:rPr lang="en-US" sz="950" dirty="0">
                <a:solidFill>
                  <a:schemeClr val="tx1"/>
                </a:solidFill>
              </a:rPr>
              <a:t>Enforces repeatability: five identical runs per analyst, tools off, every quote/output checked by code, a pre-registered scorecard on every snapshot.</a:t>
            </a:r>
            <a:endParaRPr lang="en-US" sz="950" dirty="0"/>
          </a:p>
          <a:p>
            <a:pPr marL="342900" indent="-342900">
              <a:spcAft>
                <a:spcPts val="200"/>
              </a:spcAft>
              <a:buSzPct val="100000"/>
              <a:buChar char="•"/>
            </a:pPr>
            <a:r>
              <a:rPr lang="en-US" sz="950" dirty="0">
                <a:solidFill>
                  <a:schemeClr val="tx1"/>
                </a:solidFill>
              </a:rPr>
              <a:t>Offers typed channels for human judgement (views, watch-outs, documents, odds): bounded, recorded, scored afterwards. None active today.</a:t>
            </a:r>
            <a:endParaRPr lang="en-US" sz="950" dirty="0"/>
          </a:p>
          <a:p>
            <a:pPr marL="342900" indent="-342900">
              <a:spcAft>
                <a:spcPts val="200"/>
              </a:spcAft>
              <a:buSzPct val="100000"/>
              <a:buChar char="•"/>
            </a:pPr>
            <a:r>
              <a:rPr lang="en-US" sz="950" dirty="0">
                <a:solidFill>
                  <a:schemeClr val="tx1"/>
                </a:solidFill>
              </a:rPr>
              <a:t>Keeps every snapshot and forecast in a hash-chained ledger, so the number's path can be read back as information arrived.</a:t>
            </a:r>
            <a:endParaRPr lang="en-US" sz="950" dirty="0"/>
          </a:p>
        </p:txBody>
      </p:sp>
      <p:sp>
        <p:nvSpPr>
          <p:cNvPr id="30" name="Text 27"/>
          <p:cNvSpPr txBox="1"/>
          <p:nvPr/>
        </p:nvSpPr>
        <p:spPr>
          <a:xfrm>
            <a:off x="7315200" y="1828800"/>
            <a:ext cx="4325112" cy="365760"/>
          </a:xfrm>
          <a:prstGeom prst="rect">
            <a:avLst/>
          </a:prstGeom>
          <a:noFill/>
          <a:ln/>
        </p:spPr>
        <p:txBody>
          <a:bodyPr wrap="square" lIns="0" tIns="0" rIns="0" bIns="0" rtlCol="0" anchor="t"/>
          <a:lstStyle/>
          <a:p>
            <a:pPr marL="0" indent="0">
              <a:buNone/>
            </a:pPr>
            <a:r>
              <a:rPr lang="en-US" sz="1700" b="1" dirty="0">
                <a:solidFill>
                  <a:schemeClr val="tx2"/>
                </a:solidFill>
              </a:rPr>
              <a:t>Why we built it</a:t>
            </a:r>
            <a:endParaRPr lang="en-US" sz="1700" dirty="0"/>
          </a:p>
        </p:txBody>
      </p:sp>
      <p:sp>
        <p:nvSpPr>
          <p:cNvPr id="31" name="Shape 28"/>
          <p:cNvSpPr/>
          <p:nvPr/>
        </p:nvSpPr>
        <p:spPr>
          <a:xfrm>
            <a:off x="7315200" y="2304288"/>
            <a:ext cx="384048" cy="384048"/>
          </a:xfrm>
          <a:prstGeom prst="ellipse">
            <a:avLst/>
          </a:prstGeom>
          <a:solidFill>
            <a:srgbClr val="1E2761"/>
          </a:solidFill>
          <a:ln w="12700">
            <a:solidFill>
              <a:srgbClr val="1E2761"/>
            </a:solidFill>
            <a:prstDash val="solid"/>
          </a:ln>
        </p:spPr>
      </p:sp>
      <p:sp>
        <p:nvSpPr>
          <p:cNvPr id="32" name="Text 29"/>
          <p:cNvSpPr txBox="1"/>
          <p:nvPr/>
        </p:nvSpPr>
        <p:spPr>
          <a:xfrm>
            <a:off x="7315200" y="23042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33" name="Text 30"/>
          <p:cNvSpPr txBox="1"/>
          <p:nvPr/>
        </p:nvSpPr>
        <p:spPr>
          <a:xfrm>
            <a:off x="7818120" y="22677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Fed prediction tools are judged on outcomes, which cannot be repeated</a:t>
            </a:r>
            <a:endParaRPr lang="en-US" sz="1200" dirty="0"/>
          </a:p>
        </p:txBody>
      </p:sp>
      <p:sp>
        <p:nvSpPr>
          <p:cNvPr id="34" name="Text 31"/>
          <p:cNvSpPr txBox="1"/>
          <p:nvPr/>
        </p:nvSpPr>
        <p:spPr>
          <a:xfrm>
            <a:off x="7818120" y="2670048"/>
            <a:ext cx="3822192" cy="960120"/>
          </a:xfrm>
          <a:prstGeom prst="rect">
            <a:avLst/>
          </a:prstGeom>
          <a:noFill/>
          <a:ln/>
        </p:spPr>
        <p:txBody>
          <a:bodyPr wrap="square" lIns="0" tIns="0" rIns="0" bIns="0" rtlCol="0" anchor="t"/>
          <a:lstStyle/>
          <a:p>
            <a:r>
              <a:rPr lang="en-US" sz="950" dirty="0">
                <a:solidFill>
                  <a:schemeClr val="tx1"/>
                </a:solidFill>
              </a:rPr>
              <a:t>Many Fed tools exist. With only eight decisions a year, </a:t>
            </a:r>
            <a:r>
              <a:rPr lang="en-US" sz="950" dirty="0"/>
              <a:t>a hit rate cannot separate luck from skill, and next year is a different draw. </a:t>
            </a:r>
            <a:r>
              <a:rPr lang="en-US" sz="950" b="1" dirty="0"/>
              <a:t>We believe a robust process requires repeatability.</a:t>
            </a:r>
          </a:p>
          <a:p>
            <a:pPr marL="0" indent="0">
              <a:buNone/>
            </a:pPr>
            <a:r>
              <a:rPr lang="en-US" sz="950" dirty="0">
                <a:solidFill>
                  <a:schemeClr val="tx1"/>
                </a:solidFill>
              </a:rPr>
              <a:t>So we judge ours on a pre-registered process: does the same evidence give the same answer, can every claim be traced, does a shock move the number the right way.</a:t>
            </a:r>
            <a:endParaRPr lang="en-US" sz="950" dirty="0"/>
          </a:p>
        </p:txBody>
      </p:sp>
      <p:sp>
        <p:nvSpPr>
          <p:cNvPr id="35" name="Shape 32"/>
          <p:cNvSpPr/>
          <p:nvPr/>
        </p:nvSpPr>
        <p:spPr>
          <a:xfrm>
            <a:off x="7315200" y="3675888"/>
            <a:ext cx="384048" cy="384048"/>
          </a:xfrm>
          <a:prstGeom prst="ellipse">
            <a:avLst/>
          </a:prstGeom>
          <a:solidFill>
            <a:srgbClr val="1E2761"/>
          </a:solidFill>
          <a:ln w="12700">
            <a:solidFill>
              <a:srgbClr val="1E2761"/>
            </a:solidFill>
            <a:prstDash val="solid"/>
          </a:ln>
        </p:spPr>
      </p:sp>
      <p:sp>
        <p:nvSpPr>
          <p:cNvPr id="36" name="Text 33"/>
          <p:cNvSpPr txBox="1"/>
          <p:nvPr/>
        </p:nvSpPr>
        <p:spPr>
          <a:xfrm>
            <a:off x="7315200" y="36758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37" name="Text 34"/>
          <p:cNvSpPr txBox="1"/>
          <p:nvPr/>
        </p:nvSpPr>
        <p:spPr>
          <a:xfrm>
            <a:off x="7818120" y="36393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Most lean too far one way</a:t>
            </a:r>
            <a:endParaRPr lang="en-US" sz="1200" dirty="0"/>
          </a:p>
        </p:txBody>
      </p:sp>
      <p:sp>
        <p:nvSpPr>
          <p:cNvPr id="38" name="Text 35"/>
          <p:cNvSpPr txBox="1"/>
          <p:nvPr/>
        </p:nvSpPr>
        <p:spPr>
          <a:xfrm>
            <a:off x="7818120" y="4041648"/>
            <a:ext cx="3822192" cy="960120"/>
          </a:xfrm>
          <a:prstGeom prst="rect">
            <a:avLst/>
          </a:prstGeom>
          <a:noFill/>
          <a:ln/>
        </p:spPr>
        <p:txBody>
          <a:bodyPr wrap="square" lIns="0" tIns="0" rIns="0" bIns="0" rtlCol="0" anchor="t"/>
          <a:lstStyle/>
          <a:p>
            <a:pPr marL="0" indent="0">
              <a:buNone/>
            </a:pPr>
            <a:r>
              <a:rPr lang="en-US" sz="950" dirty="0">
                <a:solidFill>
                  <a:schemeClr val="tx1"/>
                </a:solidFill>
              </a:rPr>
              <a:t>Either empirical formulas and market prices alone, or everything thrown at a language model. Ours combines the three: </a:t>
            </a:r>
            <a:r>
              <a:rPr lang="en-US" sz="950" b="1" dirty="0">
                <a:solidFill>
                  <a:schemeClr val="tx1"/>
                </a:solidFill>
              </a:rPr>
              <a:t>empirical data</a:t>
            </a:r>
            <a:r>
              <a:rPr lang="en-US" sz="950" dirty="0">
                <a:solidFill>
                  <a:schemeClr val="tx1"/>
                </a:solidFill>
              </a:rPr>
              <a:t>, </a:t>
            </a:r>
            <a:r>
              <a:rPr lang="en-US" sz="950" b="1" dirty="0">
                <a:solidFill>
                  <a:schemeClr val="tx1"/>
                </a:solidFill>
              </a:rPr>
              <a:t>classic ML</a:t>
            </a:r>
            <a:r>
              <a:rPr lang="en-US" sz="950" dirty="0">
                <a:solidFill>
                  <a:schemeClr val="tx1"/>
                </a:solidFill>
              </a:rPr>
              <a:t> and a </a:t>
            </a:r>
            <a:r>
              <a:rPr lang="en-US" sz="950" b="1" dirty="0">
                <a:solidFill>
                  <a:schemeClr val="tx1"/>
                </a:solidFill>
              </a:rPr>
              <a:t>harnessed LLM</a:t>
            </a:r>
            <a:r>
              <a:rPr lang="en-US" sz="950" dirty="0">
                <a:solidFill>
                  <a:schemeClr val="tx1"/>
                </a:solidFill>
              </a:rPr>
              <a:t>, each with a stated role and a stated weight, combined by code.</a:t>
            </a:r>
            <a:endParaRPr lang="en-US" sz="950" dirty="0"/>
          </a:p>
        </p:txBody>
      </p:sp>
      <p:sp>
        <p:nvSpPr>
          <p:cNvPr id="39" name="Shape 36"/>
          <p:cNvSpPr/>
          <p:nvPr/>
        </p:nvSpPr>
        <p:spPr>
          <a:xfrm>
            <a:off x="7315200" y="5047488"/>
            <a:ext cx="384048" cy="384048"/>
          </a:xfrm>
          <a:prstGeom prst="ellipse">
            <a:avLst/>
          </a:prstGeom>
          <a:solidFill>
            <a:srgbClr val="1E2761"/>
          </a:solidFill>
          <a:ln w="12700">
            <a:solidFill>
              <a:srgbClr val="1E2761"/>
            </a:solidFill>
            <a:prstDash val="solid"/>
          </a:ln>
        </p:spPr>
      </p:sp>
      <p:sp>
        <p:nvSpPr>
          <p:cNvPr id="40" name="Text 37"/>
          <p:cNvSpPr txBox="1"/>
          <p:nvPr/>
        </p:nvSpPr>
        <p:spPr>
          <a:xfrm>
            <a:off x="7315200" y="50474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41" name="Text 38"/>
          <p:cNvSpPr txBox="1"/>
          <p:nvPr/>
        </p:nvSpPr>
        <p:spPr>
          <a:xfrm>
            <a:off x="7818120" y="50109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What this model offers</a:t>
            </a:r>
            <a:endParaRPr lang="en-US" sz="1200" dirty="0"/>
          </a:p>
        </p:txBody>
      </p:sp>
      <p:sp>
        <p:nvSpPr>
          <p:cNvPr id="42" name="Text 39"/>
          <p:cNvSpPr txBox="1"/>
          <p:nvPr/>
        </p:nvSpPr>
        <p:spPr>
          <a:xfrm>
            <a:off x="7818119" y="5413248"/>
            <a:ext cx="3934609" cy="960120"/>
          </a:xfrm>
          <a:prstGeom prst="rect">
            <a:avLst/>
          </a:prstGeom>
          <a:noFill/>
          <a:ln/>
        </p:spPr>
        <p:txBody>
          <a:bodyPr wrap="square" lIns="0" tIns="0" rIns="0" bIns="0" rtlCol="0" anchor="t"/>
          <a:lstStyle/>
          <a:p>
            <a:pPr marL="0" indent="0">
              <a:buNone/>
            </a:pPr>
            <a:r>
              <a:rPr lang="en-US" sz="950" b="1" dirty="0">
                <a:solidFill>
                  <a:schemeClr val="tx1"/>
                </a:solidFill>
              </a:rPr>
              <a:t>Auditability</a:t>
            </a:r>
            <a:r>
              <a:rPr lang="en-US" sz="950" dirty="0">
                <a:solidFill>
                  <a:schemeClr val="tx1"/>
                </a:solidFill>
              </a:rPr>
              <a:t>: every input visible, every forecast replayable. </a:t>
            </a:r>
          </a:p>
          <a:p>
            <a:pPr marL="0" indent="0">
              <a:buNone/>
            </a:pPr>
            <a:r>
              <a:rPr lang="en-US" sz="950" b="1" dirty="0">
                <a:solidFill>
                  <a:schemeClr val="tx1"/>
                </a:solidFill>
              </a:rPr>
              <a:t>Evidence-based</a:t>
            </a:r>
            <a:r>
              <a:rPr lang="en-US" sz="950" dirty="0">
                <a:solidFill>
                  <a:schemeClr val="tx1"/>
                </a:solidFill>
              </a:rPr>
              <a:t>: every claim quoted and verified, nothing from memory. A harnessed LLM cannot give random or spurious answers; a naive LLM is kept as the control, so what the harness adds is measured, not assumed. Anyone can see how one piece of evidence moves the decision. </a:t>
            </a:r>
          </a:p>
          <a:p>
            <a:pPr marL="0" indent="0">
              <a:buNone/>
            </a:pPr>
            <a:r>
              <a:rPr lang="en-US" sz="950" b="1" dirty="0" err="1"/>
              <a:t>Backtest</a:t>
            </a:r>
            <a:r>
              <a:rPr lang="en-US" sz="950" b="1" dirty="0"/>
              <a:t>-able</a:t>
            </a:r>
            <a:r>
              <a:rPr lang="en-US" sz="950" dirty="0"/>
              <a:t>: </a:t>
            </a:r>
            <a:r>
              <a:rPr lang="en-US" sz="950" dirty="0">
                <a:solidFill>
                  <a:schemeClr val="tx1"/>
                </a:solidFill>
              </a:rPr>
              <a:t>the model can be scrutinised and improved, instead of hoping the LLM works.</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951</Words>
  <Application>Microsoft Office PowerPoint</Application>
  <PresentationFormat>Widescreen</PresentationFormat>
  <Paragraphs>66</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Cambria</vt:lpstr>
      <vt:lpstr>FedCast</vt:lpstr>
      <vt:lpstr>FedCast</vt:lpstr>
      <vt:lpstr>About me</vt:lpstr>
      <vt:lpstr>What FedCast is, and why we built it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short brief</dc:title>
  <dc:subject>PptxGenJS Presentation</dc:subject>
  <dc:creator>FedCast</dc:creator>
  <cp:lastModifiedBy>Kahming Tan</cp:lastModifiedBy>
  <cp:revision>1</cp:revision>
  <dcterms:created xsi:type="dcterms:W3CDTF">2026-10-27T17:26:35Z</dcterms:created>
  <dcterms:modified xsi:type="dcterms:W3CDTF">2026-10-27T17:35:00Z</dcterms:modified>
</cp:coreProperties>
</file>