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ief" id="{cce3a166-3062-b012-acba-5b1b5710b73f}">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a language model inside an engineered harness gives forecasts that are measurably more repeatable and more faithful to evidence than the same model asked naively, and we prove it by measuring the process, not by waiting for eight decisions a year to come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thread: every system on the right put a model's output in front of people making live decisions, and the hard part was never the model, it was earning trust in what it said. FedCast is that problem made explicit and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it is, in one line, the diagram, and four things it does. Right: the three reasons we built it. Spend the time on the right-hand side; the diagram is there so the room can see the four families and that code, not a model, combines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520440"/>
            <a:ext cx="11091672" cy="1463040"/>
          </a:xfrm>
          <a:prstGeom prst="rect">
            <a:avLst/>
          </a:prstGeom>
          <a:noFill/>
          <a:ln/>
        </p:spPr>
        <p:txBody>
          <a:bodyPr wrap="square" rtlCol="0"/>
          <a:lstStyle>
            <a:lvl1pPr algn="l" indent="0" marL="0">
              <a:buNone/>
              <a:defRPr lang="en-US" sz="2000" dirty="0">
                <a:solidFill>
                  <a:srgbClr val="CADCF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FedCast · Fullerton session ·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280160"/>
          </a:xfrm>
          <a:prstGeom prst="rect">
            <a:avLst/>
          </a:prstGeom>
          <a:noFill/>
          <a:ln/>
        </p:spPr>
        <p:txBody>
          <a:bodyPr wrap="square" lIns="0" tIns="0" rIns="0" bIns="0" rtlCol="0" anchor="b"/>
          <a:lstStyle/>
          <a:p>
            <a:pPr algn="l" indent="0" marL="0">
              <a:buNone/>
            </a:pPr>
            <a:r>
              <a:rPr lang="en-US" sz="4000" b="1" dirty="0">
                <a:solidFill>
                  <a:schemeClr val="bg1"/>
                </a:solidFill>
              </a:rPr>
              <a:t>FedCast</a:t>
            </a:r>
            <a:endParaRPr lang="en-US" sz="4000" dirty="0"/>
          </a:p>
        </p:txBody>
      </p:sp>
      <p:sp>
        <p:nvSpPr>
          <p:cNvPr id="3" name="Text 0"/>
          <p:cNvSpPr/>
          <p:nvPr>
            <p:ph idx="101" type="body" hasCustomPrompt="1"/>
          </p:nvPr>
        </p:nvSpPr>
        <p:spPr>
          <a:xfrm>
            <a:off x="548640" y="3520440"/>
            <a:ext cx="11091672" cy="1463040"/>
          </a:xfrm>
          <a:prstGeom prst="rect">
            <a:avLst/>
          </a:prstGeom>
          <a:noFill/>
          <a:ln/>
        </p:spPr>
        <p:txBody>
          <a:bodyPr wrap="square" lIns="0" tIns="0" rIns="0" bIns="0" rtlCol="0" anchor="t"/>
          <a:lstStyle/>
          <a:p>
            <a:pPr algn="l" indent="0" marL="0">
              <a:buNone/>
            </a:pPr>
            <a:r>
              <a:rPr lang="en-US" sz="2000" dirty="0">
                <a:solidFill>
                  <a:srgbClr val="CADCFC"/>
                </a:solidFill>
              </a:rPr>
              <a:t>A forecaster for the next Federal Reserve rate decision, built to be judged by its process rather than its luck</a:t>
            </a:r>
            <a:endParaRPr lang="en-US" sz="2000" dirty="0"/>
          </a:p>
        </p:txBody>
      </p:sp>
      <p:sp>
        <p:nvSpPr>
          <p:cNvPr id="4" name="Text 2"/>
          <p:cNvSpPr txBox="1"/>
          <p:nvPr/>
        </p:nvSpPr>
        <p:spPr>
          <a:xfrm>
            <a:off x="548640" y="5852160"/>
            <a:ext cx="7315200" cy="365760"/>
          </a:xfrm>
          <a:prstGeom prst="rect">
            <a:avLst/>
          </a:prstGeom>
          <a:noFill/>
          <a:ln/>
        </p:spPr>
        <p:txBody>
          <a:bodyPr wrap="square" lIns="0" tIns="0" rIns="0" bIns="0" rtlCol="0" anchor="t"/>
          <a:lstStyle/>
          <a:p>
            <a:pPr indent="0" marL="0">
              <a:buNone/>
            </a:pPr>
            <a:r>
              <a:rPr lang="en-US" sz="1400" dirty="0">
                <a:solidFill>
                  <a:srgbClr val="CADCFC"/>
                </a:solidFill>
              </a:rPr>
              <a:t>Tan Kah Ming · Fullerton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About me</a:t>
            </a:r>
            <a:endParaRPr lang="en-US" sz="3200" dirty="0"/>
          </a:p>
        </p:txBody>
      </p:sp>
      <p:sp>
        <p:nvSpPr>
          <p:cNvPr id="4" name="Shape 1"/>
          <p:cNvSpPr/>
          <p:nvPr/>
        </p:nvSpPr>
        <p:spPr>
          <a:xfrm>
            <a:off x="548640" y="1417320"/>
            <a:ext cx="4480560" cy="4663440"/>
          </a:xfrm>
          <a:prstGeom prst="roundRect">
            <a:avLst>
              <a:gd name="adj" fmla="val 2449"/>
            </a:avLst>
          </a:prstGeom>
          <a:solidFill>
            <a:srgbClr val="EEF2F7"/>
          </a:solidFill>
          <a:ln w="12700">
            <a:solidFill>
              <a:srgbClr val="EEF2F7"/>
            </a:solidFill>
            <a:prstDash val="solid"/>
          </a:ln>
          <a:effectLst>
            <a:outerShdw sx="100000" sy="100000" kx="0" ky="0" algn="bl" rotWithShape="0" blurRad="50800" dist="12700" dir="5400000">
              <a:srgbClr val="000000">
                <a:alpha val="8000"/>
              </a:srgbClr>
            </a:outerShdw>
          </a:effectLst>
        </p:spPr>
      </p:sp>
      <p:sp>
        <p:nvSpPr>
          <p:cNvPr id="5" name="Text 2"/>
          <p:cNvSpPr txBox="1"/>
          <p:nvPr/>
        </p:nvSpPr>
        <p:spPr>
          <a:xfrm>
            <a:off x="868680" y="1645920"/>
            <a:ext cx="3840480" cy="50292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Tan Kah Ming</a:t>
            </a:r>
            <a:endParaRPr lang="en-US" sz="2400" dirty="0"/>
          </a:p>
        </p:txBody>
      </p:sp>
      <p:sp>
        <p:nvSpPr>
          <p:cNvPr id="6" name="Text 3"/>
          <p:cNvSpPr txBox="1"/>
          <p:nvPr/>
        </p:nvSpPr>
        <p:spPr>
          <a:xfrm>
            <a:off x="868680" y="2194560"/>
            <a:ext cx="3840480" cy="731520"/>
          </a:xfrm>
          <a:prstGeom prst="rect">
            <a:avLst/>
          </a:prstGeom>
          <a:noFill/>
          <a:ln/>
        </p:spPr>
        <p:txBody>
          <a:bodyPr wrap="square" lIns="0" tIns="0" rIns="0" bIns="0" rtlCol="0" anchor="t"/>
          <a:lstStyle/>
          <a:p>
            <a:pPr indent="0" marL="0">
              <a:buNone/>
            </a:pPr>
            <a:r>
              <a:rPr lang="en-US" sz="1250" dirty="0">
                <a:solidFill>
                  <a:schemeClr val="tx1"/>
                </a:solidFill>
              </a:rPr>
              <a:t>Senior AI, Data and Technology Consultant, seconded to Temasek Holdings, Digital Innovation (2023 to now)</a:t>
            </a:r>
            <a:endParaRPr lang="en-US" sz="1250" dirty="0"/>
          </a:p>
        </p:txBody>
      </p:sp>
      <p:sp>
        <p:nvSpPr>
          <p:cNvPr id="7" name="Text 4"/>
          <p:cNvSpPr txBox="1"/>
          <p:nvPr/>
        </p:nvSpPr>
        <p:spPr>
          <a:xfrm>
            <a:off x="868680" y="3017520"/>
            <a:ext cx="3840480" cy="320040"/>
          </a:xfrm>
          <a:prstGeom prst="rect">
            <a:avLst/>
          </a:prstGeom>
          <a:noFill/>
          <a:ln/>
        </p:spPr>
        <p:txBody>
          <a:bodyPr wrap="square" lIns="0" tIns="0" rIns="0" bIns="0" rtlCol="0" anchor="t"/>
          <a:lstStyle/>
          <a:p>
            <a:pPr indent="0" marL="0">
              <a:buNone/>
            </a:pPr>
            <a:r>
              <a:rPr lang="en-US" sz="1200" b="1" dirty="0">
                <a:solidFill>
                  <a:schemeClr val="tx2"/>
                </a:solidFill>
              </a:rPr>
              <a:t>Before that</a:t>
            </a:r>
            <a:endParaRPr lang="en-US" sz="1200" dirty="0"/>
          </a:p>
        </p:txBody>
      </p:sp>
      <p:sp>
        <p:nvSpPr>
          <p:cNvPr id="8" name="Text 5"/>
          <p:cNvSpPr txBox="1"/>
          <p:nvPr/>
        </p:nvSpPr>
        <p:spPr>
          <a:xfrm>
            <a:off x="868680" y="3337560"/>
            <a:ext cx="384048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1"/>
                </a:solidFill>
              </a:rPr>
              <a:t>Data scientist, RSAF Data Office: authored the Air Force's AI strategy, set up its first digital unit</a:t>
            </a:r>
            <a:endParaRPr lang="en-US" sz="1150" dirty="0"/>
          </a:p>
          <a:p>
            <a:pPr marL="342900" indent="-342900">
              <a:spcAft>
                <a:spcPts val="600"/>
              </a:spcAft>
              <a:buSzPct val="100000"/>
              <a:buChar char="•"/>
            </a:pPr>
            <a:r>
              <a:rPr lang="en-US" sz="1150" dirty="0">
                <a:solidFill>
                  <a:schemeClr val="tx1"/>
                </a:solidFill>
              </a:rPr>
              <a:t>Air engineering and weapons logistics officer, where the data-driven habit started (Weibull analysis, predictive maintenance)</a:t>
            </a:r>
            <a:endParaRPr lang="en-US" sz="1150" dirty="0"/>
          </a:p>
        </p:txBody>
      </p:sp>
      <p:sp>
        <p:nvSpPr>
          <p:cNvPr id="9" name="Text 6"/>
          <p:cNvSpPr txBox="1"/>
          <p:nvPr/>
        </p:nvSpPr>
        <p:spPr>
          <a:xfrm>
            <a:off x="868680" y="4663440"/>
            <a:ext cx="3840480" cy="320040"/>
          </a:xfrm>
          <a:prstGeom prst="rect">
            <a:avLst/>
          </a:prstGeom>
          <a:noFill/>
          <a:ln/>
        </p:spPr>
        <p:txBody>
          <a:bodyPr wrap="square" lIns="0" tIns="0" rIns="0" bIns="0" rtlCol="0" anchor="t"/>
          <a:lstStyle/>
          <a:p>
            <a:pPr indent="0" marL="0">
              <a:buNone/>
            </a:pPr>
            <a:r>
              <a:rPr lang="en-US" sz="1200" b="1" dirty="0">
                <a:solidFill>
                  <a:schemeClr val="tx2"/>
                </a:solidFill>
              </a:rPr>
              <a:t>Training</a:t>
            </a:r>
            <a:endParaRPr lang="en-US" sz="1200" dirty="0"/>
          </a:p>
        </p:txBody>
      </p:sp>
      <p:sp>
        <p:nvSpPr>
          <p:cNvPr id="10" name="Text 7"/>
          <p:cNvSpPr txBox="1"/>
          <p:nvPr/>
        </p:nvSpPr>
        <p:spPr>
          <a:xfrm>
            <a:off x="868680" y="4983480"/>
            <a:ext cx="3840480" cy="1005840"/>
          </a:xfrm>
          <a:prstGeom prst="rect">
            <a:avLst/>
          </a:prstGeom>
          <a:noFill/>
          <a:ln/>
        </p:spPr>
        <p:txBody>
          <a:bodyPr wrap="square" lIns="0" tIns="0" rIns="0" bIns="0" rtlCol="0" anchor="t"/>
          <a:lstStyle/>
          <a:p>
            <a:pPr indent="0" marL="0">
              <a:buNone/>
            </a:pPr>
            <a:r>
              <a:rPr lang="en-US" sz="1150" dirty="0">
                <a:solidFill>
                  <a:schemeClr val="tx1"/>
                </a:solidFill>
              </a:rPr>
              <a:t>M.Eng Aeronautical Engineering, Imperial College London · Graduate Certificate in Predictive Analytics, NUS · CFA Level 3 candidate (February 2027)</a:t>
            </a:r>
            <a:endParaRPr lang="en-US" sz="1150" dirty="0"/>
          </a:p>
        </p:txBody>
      </p:sp>
      <p:sp>
        <p:nvSpPr>
          <p:cNvPr id="11" name="Text 8"/>
          <p:cNvSpPr txBox="1"/>
          <p:nvPr/>
        </p:nvSpPr>
        <p:spPr>
          <a:xfrm>
            <a:off x="5394960" y="1463040"/>
            <a:ext cx="6263640" cy="411480"/>
          </a:xfrm>
          <a:prstGeom prst="rect">
            <a:avLst/>
          </a:prstGeom>
          <a:noFill/>
          <a:ln/>
        </p:spPr>
        <p:txBody>
          <a:bodyPr wrap="square" lIns="0" tIns="0" rIns="0" bIns="0" rtlCol="0" anchor="t"/>
          <a:lstStyle/>
          <a:p>
            <a:pPr indent="0" marL="0">
              <a:buNone/>
            </a:pPr>
            <a:r>
              <a:rPr lang="en-US" sz="1600" b="1" dirty="0">
                <a:solidFill>
                  <a:schemeClr val="tx2"/>
                </a:solidFill>
              </a:rPr>
              <a:t>Things I have built that models had to earn trust in</a:t>
            </a:r>
            <a:endParaRPr lang="en-US" sz="1600" dirty="0"/>
          </a:p>
        </p:txBody>
      </p:sp>
      <p:sp>
        <p:nvSpPr>
          <p:cNvPr id="12" name="Shape 9"/>
          <p:cNvSpPr/>
          <p:nvPr/>
        </p:nvSpPr>
        <p:spPr>
          <a:xfrm>
            <a:off x="5394960" y="2011680"/>
            <a:ext cx="384048" cy="384048"/>
          </a:xfrm>
          <a:prstGeom prst="ellipse">
            <a:avLst/>
          </a:prstGeom>
          <a:solidFill>
            <a:srgbClr val="1E2761"/>
          </a:solidFill>
          <a:ln w="12700">
            <a:solidFill>
              <a:srgbClr val="1E2761"/>
            </a:solidFill>
            <a:prstDash val="solid"/>
          </a:ln>
        </p:spPr>
      </p:sp>
      <p:sp>
        <p:nvSpPr>
          <p:cNvPr id="13" name="Text 10"/>
          <p:cNvSpPr txBox="1"/>
          <p:nvPr/>
        </p:nvSpPr>
        <p:spPr>
          <a:xfrm>
            <a:off x="5394960"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Text 11"/>
          <p:cNvSpPr txBox="1"/>
          <p:nvPr/>
        </p:nvSpPr>
        <p:spPr>
          <a:xfrm>
            <a:off x="5897880" y="1965960"/>
            <a:ext cx="5760720" cy="320040"/>
          </a:xfrm>
          <a:prstGeom prst="rect">
            <a:avLst/>
          </a:prstGeom>
          <a:noFill/>
          <a:ln/>
        </p:spPr>
        <p:txBody>
          <a:bodyPr wrap="square" lIns="0" tIns="0" rIns="0" bIns="0" rtlCol="0" anchor="t"/>
          <a:lstStyle/>
          <a:p>
            <a:pPr indent="0" marL="0">
              <a:buNone/>
            </a:pPr>
            <a:r>
              <a:rPr lang="en-US" sz="1300" b="1" dirty="0">
                <a:solidFill>
                  <a:schemeClr val="tx2"/>
                </a:solidFill>
              </a:rPr>
              <a:t>Investment analytics at Temasek</a:t>
            </a:r>
            <a:endParaRPr lang="en-US" sz="1300" dirty="0"/>
          </a:p>
        </p:txBody>
      </p:sp>
      <p:sp>
        <p:nvSpPr>
          <p:cNvPr id="15" name="Text 12"/>
          <p:cNvSpPr txBox="1"/>
          <p:nvPr/>
        </p:nvSpPr>
        <p:spPr>
          <a:xfrm>
            <a:off x="5897880" y="2286000"/>
            <a:ext cx="5760720" cy="713232"/>
          </a:xfrm>
          <a:prstGeom prst="rect">
            <a:avLst/>
          </a:prstGeom>
          <a:noFill/>
          <a:ln/>
        </p:spPr>
        <p:txBody>
          <a:bodyPr wrap="square" lIns="0" tIns="0" rIns="0" bIns="0" rtlCol="0" anchor="t"/>
          <a:lstStyle/>
          <a:p>
            <a:pPr indent="0" marL="0">
              <a:buNone/>
            </a:pPr>
            <a:r>
              <a:rPr lang="en-US" sz="1050" dirty="0">
                <a:solidFill>
                  <a:schemeClr val="tx1"/>
                </a:solidFill>
              </a:rPr>
              <a:t>An AI-assisted analyst performance and attribution platform for 50+ investment professionals, with an LLM signal tracker for high-conviction ideas; signal cadence moved from monthly to daily, every recommendation logged in real time.</a:t>
            </a:r>
            <a:endParaRPr lang="en-US" sz="1050" dirty="0"/>
          </a:p>
        </p:txBody>
      </p:sp>
      <p:sp>
        <p:nvSpPr>
          <p:cNvPr id="16" name="Shape 13"/>
          <p:cNvSpPr/>
          <p:nvPr/>
        </p:nvSpPr>
        <p:spPr>
          <a:xfrm>
            <a:off x="5394960" y="3035808"/>
            <a:ext cx="384048" cy="384048"/>
          </a:xfrm>
          <a:prstGeom prst="ellipse">
            <a:avLst/>
          </a:prstGeom>
          <a:solidFill>
            <a:srgbClr val="1E2761"/>
          </a:solidFill>
          <a:ln w="12700">
            <a:solidFill>
              <a:srgbClr val="1E2761"/>
            </a:solidFill>
            <a:prstDash val="solid"/>
          </a:ln>
        </p:spPr>
      </p:sp>
      <p:sp>
        <p:nvSpPr>
          <p:cNvPr id="17" name="Text 14"/>
          <p:cNvSpPr txBox="1"/>
          <p:nvPr/>
        </p:nvSpPr>
        <p:spPr>
          <a:xfrm>
            <a:off x="5394960" y="30358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8" name="Text 15"/>
          <p:cNvSpPr txBox="1"/>
          <p:nvPr/>
        </p:nvSpPr>
        <p:spPr>
          <a:xfrm>
            <a:off x="5897880" y="2990088"/>
            <a:ext cx="5760720" cy="320040"/>
          </a:xfrm>
          <a:prstGeom prst="rect">
            <a:avLst/>
          </a:prstGeom>
          <a:noFill/>
          <a:ln/>
        </p:spPr>
        <p:txBody>
          <a:bodyPr wrap="square" lIns="0" tIns="0" rIns="0" bIns="0" rtlCol="0" anchor="t"/>
          <a:lstStyle/>
          <a:p>
            <a:pPr indent="0" marL="0">
              <a:buNone/>
            </a:pPr>
            <a:r>
              <a:rPr lang="en-US" sz="1300" b="1" dirty="0">
                <a:solidFill>
                  <a:schemeClr val="tx2"/>
                </a:solidFill>
              </a:rPr>
              <a:t>Valuation and execution</a:t>
            </a:r>
            <a:endParaRPr lang="en-US" sz="1300" dirty="0"/>
          </a:p>
        </p:txBody>
      </p:sp>
      <p:sp>
        <p:nvSpPr>
          <p:cNvPr id="19" name="Text 16"/>
          <p:cNvSpPr txBox="1"/>
          <p:nvPr/>
        </p:nvSpPr>
        <p:spPr>
          <a:xfrm>
            <a:off x="5897880" y="3310128"/>
            <a:ext cx="5760720" cy="713232"/>
          </a:xfrm>
          <a:prstGeom prst="rect">
            <a:avLst/>
          </a:prstGeom>
          <a:noFill/>
          <a:ln/>
        </p:spPr>
        <p:txBody>
          <a:bodyPr wrap="square" lIns="0" tIns="0" rIns="0" bIns="0" rtlCol="0" anchor="t"/>
          <a:lstStyle/>
          <a:p>
            <a:pPr indent="0" marL="0">
              <a:buNone/>
            </a:pPr>
            <a:r>
              <a:rPr lang="en-US" sz="1050" dirty="0">
                <a:solidFill>
                  <a:schemeClr val="tx1"/>
                </a:solidFill>
              </a:rPr>
              <a:t>A machine-learning mark-to-market for private holdings, systematic and reproducible; and an AI-driven order management system on AWS processing about S$30m a day, replacing an email-based workflow.</a:t>
            </a:r>
            <a:endParaRPr lang="en-US" sz="1050" dirty="0"/>
          </a:p>
        </p:txBody>
      </p:sp>
      <p:sp>
        <p:nvSpPr>
          <p:cNvPr id="20" name="Shape 17"/>
          <p:cNvSpPr/>
          <p:nvPr/>
        </p:nvSpPr>
        <p:spPr>
          <a:xfrm>
            <a:off x="5394960" y="4059936"/>
            <a:ext cx="384048" cy="384048"/>
          </a:xfrm>
          <a:prstGeom prst="ellipse">
            <a:avLst/>
          </a:prstGeom>
          <a:solidFill>
            <a:srgbClr val="1E2761"/>
          </a:solidFill>
          <a:ln w="12700">
            <a:solidFill>
              <a:srgbClr val="1E2761"/>
            </a:solidFill>
            <a:prstDash val="solid"/>
          </a:ln>
        </p:spPr>
      </p:sp>
      <p:sp>
        <p:nvSpPr>
          <p:cNvPr id="21" name="Text 18"/>
          <p:cNvSpPr txBox="1"/>
          <p:nvPr/>
        </p:nvSpPr>
        <p:spPr>
          <a:xfrm>
            <a:off x="5394960" y="40599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19"/>
          <p:cNvSpPr txBox="1"/>
          <p:nvPr/>
        </p:nvSpPr>
        <p:spPr>
          <a:xfrm>
            <a:off x="5897880" y="4014216"/>
            <a:ext cx="5760720" cy="320040"/>
          </a:xfrm>
          <a:prstGeom prst="rect">
            <a:avLst/>
          </a:prstGeom>
          <a:noFill/>
          <a:ln/>
        </p:spPr>
        <p:txBody>
          <a:bodyPr wrap="square" lIns="0" tIns="0" rIns="0" bIns="0" rtlCol="0" anchor="t"/>
          <a:lstStyle/>
          <a:p>
            <a:pPr indent="0" marL="0">
              <a:buNone/>
            </a:pPr>
            <a:r>
              <a:rPr lang="en-US" sz="1300" b="1" dirty="0">
                <a:solidFill>
                  <a:schemeClr val="tx2"/>
                </a:solidFill>
              </a:rPr>
              <a:t>Forecasting under a scoreboard</a:t>
            </a:r>
            <a:endParaRPr lang="en-US" sz="1300" dirty="0"/>
          </a:p>
        </p:txBody>
      </p:sp>
      <p:sp>
        <p:nvSpPr>
          <p:cNvPr id="23" name="Text 20"/>
          <p:cNvSpPr txBox="1"/>
          <p:nvPr/>
        </p:nvSpPr>
        <p:spPr>
          <a:xfrm>
            <a:off x="5897880" y="4334256"/>
            <a:ext cx="5760720" cy="713232"/>
          </a:xfrm>
          <a:prstGeom prst="rect">
            <a:avLst/>
          </a:prstGeom>
          <a:noFill/>
          <a:ln/>
        </p:spPr>
        <p:txBody>
          <a:bodyPr wrap="square" lIns="0" tIns="0" rIns="0" bIns="0" rtlCol="0" anchor="t"/>
          <a:lstStyle/>
          <a:p>
            <a:pPr indent="0" marL="0">
              <a:buNone/>
            </a:pPr>
            <a:r>
              <a:rPr lang="en-US" sz="1050" dirty="0">
                <a:solidFill>
                  <a:schemeClr val="tx1"/>
                </a:solidFill>
              </a:rPr>
              <a:t>4th of 160+ teams (MIT, DoD, USAF) in the 2023 USAF AI Accelerator, predicting pilot flying difficulty from physiology; an ammunition recommender (quantile LightGBM) that cut wastage with no shortfall, Defence Manpower Committee Innovation Award 2022.</a:t>
            </a:r>
            <a:endParaRPr lang="en-US" sz="1050" dirty="0"/>
          </a:p>
        </p:txBody>
      </p:sp>
      <p:sp>
        <p:nvSpPr>
          <p:cNvPr id="24" name="Shape 21"/>
          <p:cNvSpPr/>
          <p:nvPr/>
        </p:nvSpPr>
        <p:spPr>
          <a:xfrm>
            <a:off x="5394960" y="5084064"/>
            <a:ext cx="384048" cy="384048"/>
          </a:xfrm>
          <a:prstGeom prst="ellipse">
            <a:avLst/>
          </a:prstGeom>
          <a:solidFill>
            <a:srgbClr val="1E2761"/>
          </a:solidFill>
          <a:ln w="12700">
            <a:solidFill>
              <a:srgbClr val="1E2761"/>
            </a:solidFill>
            <a:prstDash val="solid"/>
          </a:ln>
        </p:spPr>
      </p:sp>
      <p:sp>
        <p:nvSpPr>
          <p:cNvPr id="25" name="Text 22"/>
          <p:cNvSpPr txBox="1"/>
          <p:nvPr/>
        </p:nvSpPr>
        <p:spPr>
          <a:xfrm>
            <a:off x="5394960" y="50840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Text 23"/>
          <p:cNvSpPr txBox="1"/>
          <p:nvPr/>
        </p:nvSpPr>
        <p:spPr>
          <a:xfrm>
            <a:off x="5897880" y="5038344"/>
            <a:ext cx="5760720" cy="320040"/>
          </a:xfrm>
          <a:prstGeom prst="rect">
            <a:avLst/>
          </a:prstGeom>
          <a:noFill/>
          <a:ln/>
        </p:spPr>
        <p:txBody>
          <a:bodyPr wrap="square" lIns="0" tIns="0" rIns="0" bIns="0" rtlCol="0" anchor="t"/>
          <a:lstStyle/>
          <a:p>
            <a:pPr indent="0" marL="0">
              <a:buNone/>
            </a:pPr>
            <a:r>
              <a:rPr lang="en-US" sz="1300" b="1" dirty="0">
                <a:solidFill>
                  <a:schemeClr val="tx2"/>
                </a:solidFill>
              </a:rPr>
              <a:t>COVID-19, 2021</a:t>
            </a:r>
            <a:endParaRPr lang="en-US" sz="1300" dirty="0"/>
          </a:p>
        </p:txBody>
      </p:sp>
      <p:sp>
        <p:nvSpPr>
          <p:cNvPr id="27" name="Text 24"/>
          <p:cNvSpPr txBox="1"/>
          <p:nvPr/>
        </p:nvSpPr>
        <p:spPr>
          <a:xfrm>
            <a:off x="5897880" y="5358384"/>
            <a:ext cx="5760720" cy="713232"/>
          </a:xfrm>
          <a:prstGeom prst="rect">
            <a:avLst/>
          </a:prstGeom>
          <a:noFill/>
          <a:ln/>
        </p:spPr>
        <p:txBody>
          <a:bodyPr wrap="square" lIns="0" tIns="0" rIns="0" bIns="0" rtlCol="0" anchor="t"/>
          <a:lstStyle/>
          <a:p>
            <a:pPr indent="0" marL="0">
              <a:buNone/>
            </a:pPr>
            <a:r>
              <a:rPr lang="en-US" sz="1050" dirty="0">
                <a:solidFill>
                  <a:schemeClr val="tx1"/>
                </a:solidFill>
              </a:rPr>
              <a:t>Built, in weeks, the system that engaged every home-recovery patient in Singapore, 10,000 people a day, on form.sg, Azure and Zendesk. The lesson that carries over: a system people rely on must say what it knows and what it does not.</a:t>
            </a:r>
            <a:endParaRPr lang="en-US" sz="10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What FedCast is, and why we built it</a:t>
            </a:r>
            <a:endParaRPr lang="en-US" sz="3200" dirty="0"/>
          </a:p>
        </p:txBody>
      </p:sp>
      <p:sp>
        <p:nvSpPr>
          <p:cNvPr id="4" name="Text 1"/>
          <p:cNvSpPr txBox="1"/>
          <p:nvPr/>
        </p:nvSpPr>
        <p:spPr>
          <a:xfrm>
            <a:off x="548640" y="1234440"/>
            <a:ext cx="11091672" cy="548640"/>
          </a:xfrm>
          <a:prstGeom prst="rect">
            <a:avLst/>
          </a:prstGeom>
          <a:noFill/>
          <a:ln/>
        </p:spPr>
        <p:txBody>
          <a:bodyPr wrap="square" lIns="0" tIns="0" rIns="0" bIns="0" rtlCol="0" anchor="t"/>
          <a:lstStyle/>
          <a:p>
            <a:pPr indent="0" marL="0">
              <a:buNone/>
            </a:pPr>
            <a:r>
              <a:rPr lang="en-US" sz="1350" dirty="0">
                <a:solidFill>
                  <a:schemeClr val="tx1"/>
                </a:solidFill>
              </a:rPr>
              <a:t>A forecast of the next FOMC decision as probabilities over five outcomes, from one frozen snapshot of evidence. Today, for 28 October 2026: no change 71%, +25 bps 23%.</a:t>
            </a:r>
            <a:endParaRPr lang="en-US" sz="1350" dirty="0"/>
          </a:p>
        </p:txBody>
      </p:sp>
      <p:sp>
        <p:nvSpPr>
          <p:cNvPr id="5" name="Shape 2"/>
          <p:cNvSpPr/>
          <p:nvPr/>
        </p:nvSpPr>
        <p:spPr>
          <a:xfrm>
            <a:off x="548640" y="1874520"/>
            <a:ext cx="2514600" cy="676656"/>
          </a:xfrm>
          <a:prstGeom prst="roundRect">
            <a:avLst>
              <a:gd name="adj" fmla="val 10811"/>
            </a:avLst>
          </a:prstGeom>
          <a:solidFill>
            <a:srgbClr val="1E2761"/>
          </a:solidFill>
          <a:ln w="12700">
            <a:solidFill>
              <a:srgbClr val="1E2761"/>
            </a:solidFill>
            <a:prstDash val="solid"/>
          </a:ln>
        </p:spPr>
      </p:sp>
      <p:sp>
        <p:nvSpPr>
          <p:cNvPr id="6" name="Text 3"/>
          <p:cNvSpPr txBox="1"/>
          <p:nvPr/>
        </p:nvSpPr>
        <p:spPr>
          <a:xfrm>
            <a:off x="676656" y="1929384"/>
            <a:ext cx="2258568" cy="274320"/>
          </a:xfrm>
          <a:prstGeom prst="rect">
            <a:avLst/>
          </a:prstGeom>
          <a:noFill/>
          <a:ln/>
        </p:spPr>
        <p:txBody>
          <a:bodyPr wrap="square" lIns="0" tIns="0" rIns="0" bIns="0" rtlCol="0" anchor="t"/>
          <a:lstStyle/>
          <a:p>
            <a:pPr indent="0" marL="0">
              <a:buNone/>
            </a:pPr>
            <a:r>
              <a:rPr lang="en-US" sz="1200" b="1" dirty="0">
                <a:solidFill>
                  <a:schemeClr val="bg1"/>
                </a:solidFill>
              </a:rPr>
              <a:t>Economic predictors</a:t>
            </a:r>
            <a:endParaRPr lang="en-US" sz="1200" dirty="0"/>
          </a:p>
        </p:txBody>
      </p:sp>
      <p:sp>
        <p:nvSpPr>
          <p:cNvPr id="7" name="Text 4"/>
          <p:cNvSpPr txBox="1"/>
          <p:nvPr/>
        </p:nvSpPr>
        <p:spPr>
          <a:xfrm>
            <a:off x="676656" y="2176272"/>
            <a:ext cx="2258568" cy="365760"/>
          </a:xfrm>
          <a:prstGeom prst="rect">
            <a:avLst/>
          </a:prstGeom>
          <a:noFill/>
          <a:ln/>
        </p:spPr>
        <p:txBody>
          <a:bodyPr wrap="square" lIns="0" tIns="0" rIns="0" bIns="0" rtlCol="0" anchor="t"/>
          <a:lstStyle/>
          <a:p>
            <a:pPr indent="0" marL="0">
              <a:buNone/>
            </a:pPr>
            <a:r>
              <a:rPr lang="en-US" sz="850" dirty="0">
                <a:solidFill>
                  <a:schemeClr val="bg1"/>
                </a:solidFill>
              </a:rPr>
              <a:t>Fed funds futures, the Fed's own Taylor rules, prediction-market odds</a:t>
            </a:r>
            <a:endParaRPr lang="en-US" sz="850" dirty="0"/>
          </a:p>
        </p:txBody>
      </p:sp>
      <p:sp>
        <p:nvSpPr>
          <p:cNvPr id="8" name="Shape 5"/>
          <p:cNvSpPr/>
          <p:nvPr/>
        </p:nvSpPr>
        <p:spPr>
          <a:xfrm>
            <a:off x="3136392" y="2212848"/>
            <a:ext cx="365760" cy="0"/>
          </a:xfrm>
          <a:prstGeom prst="line">
            <a:avLst/>
          </a:prstGeom>
          <a:noFill/>
          <a:ln w="19050">
            <a:solidFill>
              <a:srgbClr val="6B7280"/>
            </a:solidFill>
            <a:prstDash val="solid"/>
            <a:tailEnd type="triangle"/>
          </a:ln>
        </p:spPr>
      </p:sp>
      <p:sp>
        <p:nvSpPr>
          <p:cNvPr id="9" name="Shape 6"/>
          <p:cNvSpPr/>
          <p:nvPr/>
        </p:nvSpPr>
        <p:spPr>
          <a:xfrm>
            <a:off x="548640" y="2624328"/>
            <a:ext cx="2514600" cy="676656"/>
          </a:xfrm>
          <a:prstGeom prst="roundRect">
            <a:avLst>
              <a:gd name="adj" fmla="val 10811"/>
            </a:avLst>
          </a:prstGeom>
          <a:solidFill>
            <a:srgbClr val="1E2761"/>
          </a:solidFill>
          <a:ln w="12700">
            <a:solidFill>
              <a:srgbClr val="1E2761"/>
            </a:solidFill>
            <a:prstDash val="solid"/>
          </a:ln>
        </p:spPr>
      </p:sp>
      <p:sp>
        <p:nvSpPr>
          <p:cNvPr id="10" name="Text 7"/>
          <p:cNvSpPr txBox="1"/>
          <p:nvPr/>
        </p:nvSpPr>
        <p:spPr>
          <a:xfrm>
            <a:off x="676656" y="2679192"/>
            <a:ext cx="2258568" cy="274320"/>
          </a:xfrm>
          <a:prstGeom prst="rect">
            <a:avLst/>
          </a:prstGeom>
          <a:noFill/>
          <a:ln/>
        </p:spPr>
        <p:txBody>
          <a:bodyPr wrap="square" lIns="0" tIns="0" rIns="0" bIns="0" rtlCol="0" anchor="t"/>
          <a:lstStyle/>
          <a:p>
            <a:pPr indent="0" marL="0">
              <a:buNone/>
            </a:pPr>
            <a:r>
              <a:rPr lang="en-US" sz="1200" b="1" dirty="0">
                <a:solidFill>
                  <a:schemeClr val="bg1"/>
                </a:solidFill>
              </a:rPr>
              <a:t>Empirical data</a:t>
            </a:r>
            <a:endParaRPr lang="en-US" sz="1200" dirty="0"/>
          </a:p>
        </p:txBody>
      </p:sp>
      <p:sp>
        <p:nvSpPr>
          <p:cNvPr id="11" name="Text 8"/>
          <p:cNvSpPr txBox="1"/>
          <p:nvPr/>
        </p:nvSpPr>
        <p:spPr>
          <a:xfrm>
            <a:off x="676656" y="2926080"/>
            <a:ext cx="2258568" cy="365760"/>
          </a:xfrm>
          <a:prstGeom prst="rect">
            <a:avLst/>
          </a:prstGeom>
          <a:noFill/>
          <a:ln/>
        </p:spPr>
        <p:txBody>
          <a:bodyPr wrap="square" lIns="0" tIns="0" rIns="0" bIns="0" rtlCol="0" anchor="t"/>
          <a:lstStyle/>
          <a:p>
            <a:pPr indent="0" marL="0">
              <a:buNone/>
            </a:pPr>
            <a:r>
              <a:rPr lang="en-US" sz="850" dirty="0">
                <a:solidFill>
                  <a:schemeClr val="bg1"/>
                </a:solidFill>
              </a:rPr>
              <a:t>What followed each kind of decision over 32 years of FOMC history</a:t>
            </a:r>
            <a:endParaRPr lang="en-US" sz="850" dirty="0"/>
          </a:p>
        </p:txBody>
      </p:sp>
      <p:sp>
        <p:nvSpPr>
          <p:cNvPr id="12" name="Shape 9"/>
          <p:cNvSpPr/>
          <p:nvPr/>
        </p:nvSpPr>
        <p:spPr>
          <a:xfrm>
            <a:off x="3136392" y="2962656"/>
            <a:ext cx="365760" cy="0"/>
          </a:xfrm>
          <a:prstGeom prst="line">
            <a:avLst/>
          </a:prstGeom>
          <a:noFill/>
          <a:ln w="19050">
            <a:solidFill>
              <a:srgbClr val="6B7280"/>
            </a:solidFill>
            <a:prstDash val="solid"/>
            <a:tailEnd type="triangle"/>
          </a:ln>
        </p:spPr>
      </p:sp>
      <p:sp>
        <p:nvSpPr>
          <p:cNvPr id="13" name="Shape 10"/>
          <p:cNvSpPr/>
          <p:nvPr/>
        </p:nvSpPr>
        <p:spPr>
          <a:xfrm>
            <a:off x="548640" y="3374136"/>
            <a:ext cx="2514600" cy="676656"/>
          </a:xfrm>
          <a:prstGeom prst="roundRect">
            <a:avLst>
              <a:gd name="adj" fmla="val 10811"/>
            </a:avLst>
          </a:prstGeom>
          <a:solidFill>
            <a:srgbClr val="6B7280"/>
          </a:solidFill>
          <a:ln w="12700">
            <a:solidFill>
              <a:srgbClr val="6B7280"/>
            </a:solidFill>
            <a:prstDash val="solid"/>
          </a:ln>
        </p:spPr>
      </p:sp>
      <p:sp>
        <p:nvSpPr>
          <p:cNvPr id="14" name="Text 11"/>
          <p:cNvSpPr txBox="1"/>
          <p:nvPr/>
        </p:nvSpPr>
        <p:spPr>
          <a:xfrm>
            <a:off x="676656" y="3429000"/>
            <a:ext cx="2258568" cy="274320"/>
          </a:xfrm>
          <a:prstGeom prst="rect">
            <a:avLst/>
          </a:prstGeom>
          <a:noFill/>
          <a:ln/>
        </p:spPr>
        <p:txBody>
          <a:bodyPr wrap="square" lIns="0" tIns="0" rIns="0" bIns="0" rtlCol="0" anchor="t"/>
          <a:lstStyle/>
          <a:p>
            <a:pPr indent="0" marL="0">
              <a:buNone/>
            </a:pPr>
            <a:r>
              <a:rPr lang="en-US" sz="1200" b="1" dirty="0">
                <a:solidFill>
                  <a:schemeClr val="bg1"/>
                </a:solidFill>
              </a:rPr>
              <a:t>Classic ML</a:t>
            </a:r>
            <a:endParaRPr lang="en-US" sz="1200" dirty="0"/>
          </a:p>
        </p:txBody>
      </p:sp>
      <p:sp>
        <p:nvSpPr>
          <p:cNvPr id="15" name="Text 12"/>
          <p:cNvSpPr txBox="1"/>
          <p:nvPr/>
        </p:nvSpPr>
        <p:spPr>
          <a:xfrm>
            <a:off x="676656" y="3675888"/>
            <a:ext cx="2258568" cy="365760"/>
          </a:xfrm>
          <a:prstGeom prst="rect">
            <a:avLst/>
          </a:prstGeom>
          <a:noFill/>
          <a:ln/>
        </p:spPr>
        <p:txBody>
          <a:bodyPr wrap="square" lIns="0" tIns="0" rIns="0" bIns="0" rtlCol="0" anchor="t"/>
          <a:lstStyle/>
          <a:p>
            <a:pPr indent="0" marL="0">
              <a:buNone/>
            </a:pPr>
            <a:r>
              <a:rPr lang="en-US" sz="850" dirty="0">
                <a:solidFill>
                  <a:schemeClr val="bg1"/>
                </a:solidFill>
              </a:rPr>
              <a:t>An ordered probit fitted on data as first published; shown, not yet in the number</a:t>
            </a:r>
            <a:endParaRPr lang="en-US" sz="850" dirty="0"/>
          </a:p>
        </p:txBody>
      </p:sp>
      <p:sp>
        <p:nvSpPr>
          <p:cNvPr id="16" name="Shape 13"/>
          <p:cNvSpPr/>
          <p:nvPr/>
        </p:nvSpPr>
        <p:spPr>
          <a:xfrm>
            <a:off x="3136392" y="3712464"/>
            <a:ext cx="365760" cy="0"/>
          </a:xfrm>
          <a:prstGeom prst="line">
            <a:avLst/>
          </a:prstGeom>
          <a:noFill/>
          <a:ln w="19050">
            <a:solidFill>
              <a:srgbClr val="6B7280"/>
            </a:solidFill>
            <a:prstDash val="solid"/>
            <a:tailEnd type="triangle"/>
          </a:ln>
        </p:spPr>
      </p:sp>
      <p:sp>
        <p:nvSpPr>
          <p:cNvPr id="17" name="Shape 14"/>
          <p:cNvSpPr/>
          <p:nvPr/>
        </p:nvSpPr>
        <p:spPr>
          <a:xfrm>
            <a:off x="548640" y="4123944"/>
            <a:ext cx="2514600" cy="676656"/>
          </a:xfrm>
          <a:prstGeom prst="roundRect">
            <a:avLst>
              <a:gd name="adj" fmla="val 10811"/>
            </a:avLst>
          </a:prstGeom>
          <a:solidFill>
            <a:srgbClr val="C8553D"/>
          </a:solidFill>
          <a:ln w="12700">
            <a:solidFill>
              <a:srgbClr val="C8553D"/>
            </a:solidFill>
            <a:prstDash val="solid"/>
          </a:ln>
        </p:spPr>
      </p:sp>
      <p:sp>
        <p:nvSpPr>
          <p:cNvPr id="18" name="Text 15"/>
          <p:cNvSpPr txBox="1"/>
          <p:nvPr/>
        </p:nvSpPr>
        <p:spPr>
          <a:xfrm>
            <a:off x="676656" y="4178808"/>
            <a:ext cx="2258568" cy="274320"/>
          </a:xfrm>
          <a:prstGeom prst="rect">
            <a:avLst/>
          </a:prstGeom>
          <a:noFill/>
          <a:ln/>
        </p:spPr>
        <p:txBody>
          <a:bodyPr wrap="square" lIns="0" tIns="0" rIns="0" bIns="0" rtlCol="0" anchor="t"/>
          <a:lstStyle/>
          <a:p>
            <a:pPr indent="0" marL="0">
              <a:buNone/>
            </a:pPr>
            <a:r>
              <a:rPr lang="en-US" sz="1200" b="1" dirty="0">
                <a:solidFill>
                  <a:schemeClr val="bg1"/>
                </a:solidFill>
              </a:rPr>
              <a:t>LLM-derived</a:t>
            </a:r>
            <a:endParaRPr lang="en-US" sz="1200" dirty="0"/>
          </a:p>
        </p:txBody>
      </p:sp>
      <p:sp>
        <p:nvSpPr>
          <p:cNvPr id="19" name="Text 16"/>
          <p:cNvSpPr txBox="1"/>
          <p:nvPr/>
        </p:nvSpPr>
        <p:spPr>
          <a:xfrm>
            <a:off x="676656" y="4425696"/>
            <a:ext cx="2258568" cy="365760"/>
          </a:xfrm>
          <a:prstGeom prst="rect">
            <a:avLst/>
          </a:prstGeom>
          <a:noFill/>
          <a:ln/>
        </p:spPr>
        <p:txBody>
          <a:bodyPr wrap="square" lIns="0" tIns="0" rIns="0" bIns="0" rtlCol="0" anchor="t"/>
          <a:lstStyle/>
          <a:p>
            <a:pPr indent="0" marL="0">
              <a:buNone/>
            </a:pPr>
            <a:r>
              <a:rPr lang="en-US" sz="850" dirty="0">
                <a:solidFill>
                  <a:schemeClr val="bg1"/>
                </a:solidFill>
              </a:rPr>
              <a:t>Five specialist analysts reading the Fed's own words; every claim quoted and verified by code</a:t>
            </a:r>
            <a:endParaRPr lang="en-US" sz="850" dirty="0"/>
          </a:p>
        </p:txBody>
      </p:sp>
      <p:sp>
        <p:nvSpPr>
          <p:cNvPr id="20" name="Shape 17"/>
          <p:cNvSpPr/>
          <p:nvPr/>
        </p:nvSpPr>
        <p:spPr>
          <a:xfrm>
            <a:off x="3136392" y="4462272"/>
            <a:ext cx="365760" cy="0"/>
          </a:xfrm>
          <a:prstGeom prst="line">
            <a:avLst/>
          </a:prstGeom>
          <a:noFill/>
          <a:ln w="19050">
            <a:solidFill>
              <a:srgbClr val="6B7280"/>
            </a:solidFill>
            <a:prstDash val="solid"/>
            <a:tailEnd type="triangle"/>
          </a:ln>
        </p:spPr>
      </p:sp>
      <p:sp>
        <p:nvSpPr>
          <p:cNvPr id="21" name="Shape 18"/>
          <p:cNvSpPr/>
          <p:nvPr/>
        </p:nvSpPr>
        <p:spPr>
          <a:xfrm>
            <a:off x="3566160" y="1874520"/>
            <a:ext cx="1234440" cy="2926080"/>
          </a:xfrm>
          <a:prstGeom prst="roundRect">
            <a:avLst>
              <a:gd name="adj" fmla="val 7407"/>
            </a:avLst>
          </a:prstGeom>
          <a:solidFill>
            <a:srgbClr val="EEF2F7"/>
          </a:solidFill>
          <a:ln w="12700">
            <a:solidFill>
              <a:srgbClr val="CADCFC"/>
            </a:solidFill>
            <a:prstDash val="solid"/>
          </a:ln>
        </p:spPr>
      </p:sp>
      <p:sp>
        <p:nvSpPr>
          <p:cNvPr id="22" name="Text 19"/>
          <p:cNvSpPr txBox="1"/>
          <p:nvPr/>
        </p:nvSpPr>
        <p:spPr>
          <a:xfrm>
            <a:off x="3566160" y="2103120"/>
            <a:ext cx="1234440" cy="365760"/>
          </a:xfrm>
          <a:prstGeom prst="rect">
            <a:avLst/>
          </a:prstGeom>
          <a:noFill/>
          <a:ln/>
        </p:spPr>
        <p:txBody>
          <a:bodyPr wrap="square" lIns="0" tIns="0" rIns="0" bIns="0" rtlCol="0" anchor="t"/>
          <a:lstStyle/>
          <a:p>
            <a:pPr algn="ctr" indent="0" marL="0">
              <a:buNone/>
            </a:pPr>
            <a:r>
              <a:rPr lang="en-US" sz="1400" b="1" dirty="0">
                <a:solidFill>
                  <a:schemeClr val="tx2"/>
                </a:solidFill>
              </a:rPr>
              <a:t>Pool</a:t>
            </a:r>
            <a:endParaRPr lang="en-US" sz="1400" dirty="0"/>
          </a:p>
        </p:txBody>
      </p:sp>
      <p:sp>
        <p:nvSpPr>
          <p:cNvPr id="23" name="Text 20"/>
          <p:cNvSpPr txBox="1"/>
          <p:nvPr/>
        </p:nvSpPr>
        <p:spPr>
          <a:xfrm>
            <a:off x="3657600" y="2560320"/>
            <a:ext cx="1051560" cy="2560320"/>
          </a:xfrm>
          <a:prstGeom prst="rect">
            <a:avLst/>
          </a:prstGeom>
          <a:noFill/>
          <a:ln/>
        </p:spPr>
        <p:txBody>
          <a:bodyPr wrap="square" lIns="0" tIns="0" rIns="0" bIns="0" rtlCol="0" anchor="t"/>
          <a:lstStyle/>
          <a:p>
            <a:pPr algn="ctr" indent="0" marL="0">
              <a:buNone/>
            </a:pPr>
            <a:r>
              <a:rPr lang="en-US" sz="900" dirty="0">
                <a:solidFill>
                  <a:schemeClr val="tx1"/>
                </a:solidFill>
              </a:rPr>
              <a:t>Combined by code with fixed, published weights. No model writes the number.</a:t>
            </a:r>
            <a:endParaRPr lang="en-US" sz="900" dirty="0"/>
          </a:p>
        </p:txBody>
      </p:sp>
      <p:sp>
        <p:nvSpPr>
          <p:cNvPr id="24" name="Shape 21"/>
          <p:cNvSpPr/>
          <p:nvPr/>
        </p:nvSpPr>
        <p:spPr>
          <a:xfrm>
            <a:off x="4864608" y="3337560"/>
            <a:ext cx="365760" cy="0"/>
          </a:xfrm>
          <a:prstGeom prst="line">
            <a:avLst/>
          </a:prstGeom>
          <a:noFill/>
          <a:ln w="19050">
            <a:solidFill>
              <a:srgbClr val="6B7280"/>
            </a:solidFill>
            <a:prstDash val="solid"/>
            <a:tailEnd type="triangle"/>
          </a:ln>
        </p:spPr>
      </p:sp>
      <p:sp>
        <p:nvSpPr>
          <p:cNvPr id="25" name="Shape 22"/>
          <p:cNvSpPr/>
          <p:nvPr/>
        </p:nvSpPr>
        <p:spPr>
          <a:xfrm>
            <a:off x="5303520" y="2697480"/>
            <a:ext cx="1280160" cy="1280160"/>
          </a:xfrm>
          <a:prstGeom prst="roundRect">
            <a:avLst>
              <a:gd name="adj" fmla="val 7143"/>
            </a:avLst>
          </a:prstGeom>
          <a:solidFill>
            <a:srgbClr val="1E2761"/>
          </a:solidFill>
          <a:ln w="12700">
            <a:solidFill>
              <a:srgbClr val="1E2761"/>
            </a:solidFill>
            <a:prstDash val="solid"/>
          </a:ln>
        </p:spPr>
      </p:sp>
      <p:sp>
        <p:nvSpPr>
          <p:cNvPr id="26" name="Text 23"/>
          <p:cNvSpPr txBox="1"/>
          <p:nvPr/>
        </p:nvSpPr>
        <p:spPr>
          <a:xfrm>
            <a:off x="5303520" y="2788920"/>
            <a:ext cx="1280160" cy="365760"/>
          </a:xfrm>
          <a:prstGeom prst="rect">
            <a:avLst/>
          </a:prstGeom>
          <a:noFill/>
          <a:ln/>
        </p:spPr>
        <p:txBody>
          <a:bodyPr wrap="square" lIns="0" tIns="0" rIns="0" bIns="0" rtlCol="0" anchor="t"/>
          <a:lstStyle/>
          <a:p>
            <a:pPr algn="ctr" indent="0" marL="0">
              <a:buNone/>
            </a:pPr>
            <a:r>
              <a:rPr lang="en-US" sz="1300" b="1" dirty="0">
                <a:solidFill>
                  <a:schemeClr val="bg1"/>
                </a:solidFill>
              </a:rPr>
              <a:t>Forecast</a:t>
            </a:r>
            <a:endParaRPr lang="en-US" sz="1300" dirty="0"/>
          </a:p>
        </p:txBody>
      </p:sp>
      <p:sp>
        <p:nvSpPr>
          <p:cNvPr id="27" name="Text 24"/>
          <p:cNvSpPr txBox="1"/>
          <p:nvPr/>
        </p:nvSpPr>
        <p:spPr>
          <a:xfrm>
            <a:off x="5303520" y="3200400"/>
            <a:ext cx="1280160" cy="731520"/>
          </a:xfrm>
          <a:prstGeom prst="rect">
            <a:avLst/>
          </a:prstGeom>
          <a:noFill/>
          <a:ln/>
        </p:spPr>
        <p:txBody>
          <a:bodyPr wrap="square" lIns="0" tIns="0" rIns="0" bIns="0" rtlCol="0" anchor="t"/>
          <a:lstStyle/>
          <a:p>
            <a:pPr algn="ctr" indent="0" marL="0">
              <a:buNone/>
            </a:pPr>
            <a:r>
              <a:rPr lang="en-US" sz="1050" dirty="0">
                <a:solidFill>
                  <a:schemeClr val="bg1"/>
                </a:solidFill>
              </a:rPr>
              <a:t>no change 71%</a:t>
            </a:r>
            <a:endParaRPr lang="en-US" sz="1050" dirty="0"/>
          </a:p>
          <a:p>
            <a:pPr algn="ctr" indent="0" marL="0">
              <a:buNone/>
            </a:pPr>
            <a:r>
              <a:rPr lang="en-US" sz="1050" dirty="0">
                <a:solidFill>
                  <a:schemeClr val="bg1"/>
                </a:solidFill>
              </a:rPr>
              <a:t>+25 bps 23%</a:t>
            </a:r>
            <a:endParaRPr lang="en-US" sz="1050" dirty="0"/>
          </a:p>
        </p:txBody>
      </p:sp>
      <p:sp>
        <p:nvSpPr>
          <p:cNvPr id="28" name="Text 25"/>
          <p:cNvSpPr txBox="1"/>
          <p:nvPr/>
        </p:nvSpPr>
        <p:spPr>
          <a:xfrm>
            <a:off x="548640" y="4983480"/>
            <a:ext cx="6400800" cy="274320"/>
          </a:xfrm>
          <a:prstGeom prst="rect">
            <a:avLst/>
          </a:prstGeom>
          <a:noFill/>
          <a:ln/>
        </p:spPr>
        <p:txBody>
          <a:bodyPr wrap="square" lIns="0" tIns="0" rIns="0" bIns="0" rtlCol="0" anchor="t"/>
          <a:lstStyle/>
          <a:p>
            <a:pPr indent="0" marL="0">
              <a:buNone/>
            </a:pPr>
            <a:r>
              <a:rPr lang="en-US" sz="1200" b="1" dirty="0">
                <a:solidFill>
                  <a:schemeClr val="tx2"/>
                </a:solidFill>
              </a:rPr>
              <a:t>What it does</a:t>
            </a:r>
            <a:endParaRPr lang="en-US" sz="1200" dirty="0"/>
          </a:p>
        </p:txBody>
      </p:sp>
      <p:sp>
        <p:nvSpPr>
          <p:cNvPr id="29" name="Text 26"/>
          <p:cNvSpPr txBox="1"/>
          <p:nvPr/>
        </p:nvSpPr>
        <p:spPr>
          <a:xfrm>
            <a:off x="548640" y="5257800"/>
            <a:ext cx="6492240" cy="109728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chemeClr val="tx1"/>
                </a:solidFill>
              </a:rPr>
              <a:t>Freezes one fingerprinted snapshot of evidence per forecast; nothing outside it may be read.</a:t>
            </a:r>
            <a:endParaRPr lang="en-US" sz="950" dirty="0"/>
          </a:p>
          <a:p>
            <a:pPr marL="342900" indent="-342900">
              <a:spcAft>
                <a:spcPts val="200"/>
              </a:spcAft>
              <a:buSzPct val="100000"/>
              <a:buChar char="•"/>
            </a:pPr>
            <a:r>
              <a:rPr lang="en-US" sz="950" dirty="0">
                <a:solidFill>
                  <a:schemeClr val="tx1"/>
                </a:solidFill>
              </a:rPr>
              <a:t>Enforces repeatability: five identical runs per analyst, tools off, every quote checked by code, a pre-registered scorecard on every snapshot.</a:t>
            </a:r>
            <a:endParaRPr lang="en-US" sz="950" dirty="0"/>
          </a:p>
          <a:p>
            <a:pPr marL="342900" indent="-342900">
              <a:spcAft>
                <a:spcPts val="200"/>
              </a:spcAft>
              <a:buSzPct val="100000"/>
              <a:buChar char="•"/>
            </a:pPr>
            <a:r>
              <a:rPr lang="en-US" sz="950" dirty="0">
                <a:solidFill>
                  <a:schemeClr val="tx1"/>
                </a:solidFill>
              </a:rPr>
              <a:t>Offers typed channels for human judgement (views, watch-outs, documents, odds): bounded, recorded, scored afterwards. None active today.</a:t>
            </a:r>
            <a:endParaRPr lang="en-US" sz="950" dirty="0"/>
          </a:p>
          <a:p>
            <a:pPr marL="342900" indent="-342900">
              <a:spcAft>
                <a:spcPts val="200"/>
              </a:spcAft>
              <a:buSzPct val="100000"/>
              <a:buChar char="•"/>
            </a:pPr>
            <a:r>
              <a:rPr lang="en-US" sz="950" dirty="0">
                <a:solidFill>
                  <a:schemeClr val="tx1"/>
                </a:solidFill>
              </a:rPr>
              <a:t>Keeps every snapshot and forecast in a hash-chained ledger, so the number's path can be read back as information arrived.</a:t>
            </a:r>
            <a:endParaRPr lang="en-US" sz="950" dirty="0"/>
          </a:p>
        </p:txBody>
      </p:sp>
      <p:sp>
        <p:nvSpPr>
          <p:cNvPr id="30" name="Text 27"/>
          <p:cNvSpPr txBox="1"/>
          <p:nvPr/>
        </p:nvSpPr>
        <p:spPr>
          <a:xfrm>
            <a:off x="7315200" y="1828800"/>
            <a:ext cx="4325112" cy="365760"/>
          </a:xfrm>
          <a:prstGeom prst="rect">
            <a:avLst/>
          </a:prstGeom>
          <a:noFill/>
          <a:ln/>
        </p:spPr>
        <p:txBody>
          <a:bodyPr wrap="square" lIns="0" tIns="0" rIns="0" bIns="0" rtlCol="0" anchor="t"/>
          <a:lstStyle/>
          <a:p>
            <a:pPr indent="0" marL="0">
              <a:buNone/>
            </a:pPr>
            <a:r>
              <a:rPr lang="en-US" sz="1700" b="1" dirty="0">
                <a:solidFill>
                  <a:schemeClr val="tx2"/>
                </a:solidFill>
              </a:rPr>
              <a:t>Why we built it</a:t>
            </a:r>
            <a:endParaRPr lang="en-US" sz="1700" dirty="0"/>
          </a:p>
        </p:txBody>
      </p:sp>
      <p:sp>
        <p:nvSpPr>
          <p:cNvPr id="31" name="Shape 28"/>
          <p:cNvSpPr/>
          <p:nvPr/>
        </p:nvSpPr>
        <p:spPr>
          <a:xfrm>
            <a:off x="7315200" y="2304288"/>
            <a:ext cx="384048" cy="384048"/>
          </a:xfrm>
          <a:prstGeom prst="ellipse">
            <a:avLst/>
          </a:prstGeom>
          <a:solidFill>
            <a:srgbClr val="1E2761"/>
          </a:solidFill>
          <a:ln w="12700">
            <a:solidFill>
              <a:srgbClr val="1E2761"/>
            </a:solidFill>
            <a:prstDash val="solid"/>
          </a:ln>
        </p:spPr>
      </p:sp>
      <p:sp>
        <p:nvSpPr>
          <p:cNvPr id="32" name="Text 29"/>
          <p:cNvSpPr txBox="1"/>
          <p:nvPr/>
        </p:nvSpPr>
        <p:spPr>
          <a:xfrm>
            <a:off x="7315200" y="2304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3" name="Text 30"/>
          <p:cNvSpPr txBox="1"/>
          <p:nvPr/>
        </p:nvSpPr>
        <p:spPr>
          <a:xfrm>
            <a:off x="7818120" y="2267712"/>
            <a:ext cx="3822192" cy="365760"/>
          </a:xfrm>
          <a:prstGeom prst="rect">
            <a:avLst/>
          </a:prstGeom>
          <a:noFill/>
          <a:ln/>
        </p:spPr>
        <p:txBody>
          <a:bodyPr wrap="square" lIns="0" tIns="0" rIns="0" bIns="0" rtlCol="0" anchor="t"/>
          <a:lstStyle/>
          <a:p>
            <a:pPr indent="0" marL="0">
              <a:buNone/>
            </a:pPr>
            <a:r>
              <a:rPr lang="en-US" sz="1200" b="1" dirty="0">
                <a:solidFill>
                  <a:schemeClr val="tx2"/>
                </a:solidFill>
              </a:rPr>
              <a:t>Fed prediction tools are judged on outcomes, which cannot be repeated</a:t>
            </a:r>
            <a:endParaRPr lang="en-US" sz="1200" dirty="0"/>
          </a:p>
        </p:txBody>
      </p:sp>
      <p:sp>
        <p:nvSpPr>
          <p:cNvPr id="34" name="Text 31"/>
          <p:cNvSpPr txBox="1"/>
          <p:nvPr/>
        </p:nvSpPr>
        <p:spPr>
          <a:xfrm>
            <a:off x="7818120" y="2670048"/>
            <a:ext cx="3822192" cy="960120"/>
          </a:xfrm>
          <a:prstGeom prst="rect">
            <a:avLst/>
          </a:prstGeom>
          <a:noFill/>
          <a:ln/>
        </p:spPr>
        <p:txBody>
          <a:bodyPr wrap="square" lIns="0" tIns="0" rIns="0" bIns="0" rtlCol="0" anchor="t"/>
          <a:lstStyle/>
          <a:p>
            <a:pPr indent="0" marL="0">
              <a:buNone/>
            </a:pPr>
            <a:r>
              <a:rPr lang="en-US" sz="950" dirty="0">
                <a:solidFill>
                  <a:schemeClr val="tx1"/>
                </a:solidFill>
              </a:rPr>
              <a:t>There are many of them. Eight decisions a year make a hit rate neither predictable nor repeatable as a measure of a tool. We judge ours on a pre-registered process: is the same answer produced from the same evidence, can every claim be traced, does a shock move the number the right way.</a:t>
            </a:r>
            <a:endParaRPr lang="en-US" sz="950" dirty="0"/>
          </a:p>
        </p:txBody>
      </p:sp>
      <p:sp>
        <p:nvSpPr>
          <p:cNvPr id="35" name="Shape 32"/>
          <p:cNvSpPr/>
          <p:nvPr/>
        </p:nvSpPr>
        <p:spPr>
          <a:xfrm>
            <a:off x="7315200" y="3675888"/>
            <a:ext cx="384048" cy="384048"/>
          </a:xfrm>
          <a:prstGeom prst="ellipse">
            <a:avLst/>
          </a:prstGeom>
          <a:solidFill>
            <a:srgbClr val="1E2761"/>
          </a:solidFill>
          <a:ln w="12700">
            <a:solidFill>
              <a:srgbClr val="1E2761"/>
            </a:solidFill>
            <a:prstDash val="solid"/>
          </a:ln>
        </p:spPr>
      </p:sp>
      <p:sp>
        <p:nvSpPr>
          <p:cNvPr id="36" name="Text 33"/>
          <p:cNvSpPr txBox="1"/>
          <p:nvPr/>
        </p:nvSpPr>
        <p:spPr>
          <a:xfrm>
            <a:off x="7315200" y="36758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7" name="Text 34"/>
          <p:cNvSpPr txBox="1"/>
          <p:nvPr/>
        </p:nvSpPr>
        <p:spPr>
          <a:xfrm>
            <a:off x="7818120" y="3639312"/>
            <a:ext cx="3822192" cy="365760"/>
          </a:xfrm>
          <a:prstGeom prst="rect">
            <a:avLst/>
          </a:prstGeom>
          <a:noFill/>
          <a:ln/>
        </p:spPr>
        <p:txBody>
          <a:bodyPr wrap="square" lIns="0" tIns="0" rIns="0" bIns="0" rtlCol="0" anchor="t"/>
          <a:lstStyle/>
          <a:p>
            <a:pPr indent="0" marL="0">
              <a:buNone/>
            </a:pPr>
            <a:r>
              <a:rPr lang="en-US" sz="1200" b="1" dirty="0">
                <a:solidFill>
                  <a:schemeClr val="tx2"/>
                </a:solidFill>
              </a:rPr>
              <a:t>Most lean too far one way</a:t>
            </a:r>
            <a:endParaRPr lang="en-US" sz="1200" dirty="0"/>
          </a:p>
        </p:txBody>
      </p:sp>
      <p:sp>
        <p:nvSpPr>
          <p:cNvPr id="38" name="Text 35"/>
          <p:cNvSpPr txBox="1"/>
          <p:nvPr/>
        </p:nvSpPr>
        <p:spPr>
          <a:xfrm>
            <a:off x="7818120" y="4041648"/>
            <a:ext cx="3822192" cy="960120"/>
          </a:xfrm>
          <a:prstGeom prst="rect">
            <a:avLst/>
          </a:prstGeom>
          <a:noFill/>
          <a:ln/>
        </p:spPr>
        <p:txBody>
          <a:bodyPr wrap="square" lIns="0" tIns="0" rIns="0" bIns="0" rtlCol="0" anchor="t"/>
          <a:lstStyle/>
          <a:p>
            <a:pPr indent="0" marL="0">
              <a:buNone/>
            </a:pPr>
            <a:r>
              <a:rPr lang="en-US" sz="950" dirty="0">
                <a:solidFill>
                  <a:schemeClr val="tx1"/>
                </a:solidFill>
              </a:rPr>
              <a:t>Either empirical formulas and market prices alone, or everything thrown at a language model. Ours harmonises the three: empirical data, classic ML and a harnessed LLM, each with a stated role and a stated weight, combined by code.</a:t>
            </a:r>
            <a:endParaRPr lang="en-US" sz="950" dirty="0"/>
          </a:p>
        </p:txBody>
      </p:sp>
      <p:sp>
        <p:nvSpPr>
          <p:cNvPr id="39" name="Shape 36"/>
          <p:cNvSpPr/>
          <p:nvPr/>
        </p:nvSpPr>
        <p:spPr>
          <a:xfrm>
            <a:off x="7315200" y="5047488"/>
            <a:ext cx="384048" cy="384048"/>
          </a:xfrm>
          <a:prstGeom prst="ellipse">
            <a:avLst/>
          </a:prstGeom>
          <a:solidFill>
            <a:srgbClr val="1E2761"/>
          </a:solidFill>
          <a:ln w="12700">
            <a:solidFill>
              <a:srgbClr val="1E2761"/>
            </a:solidFill>
            <a:prstDash val="solid"/>
          </a:ln>
        </p:spPr>
      </p:sp>
      <p:sp>
        <p:nvSpPr>
          <p:cNvPr id="40" name="Text 37"/>
          <p:cNvSpPr txBox="1"/>
          <p:nvPr/>
        </p:nvSpPr>
        <p:spPr>
          <a:xfrm>
            <a:off x="7315200" y="50474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1" name="Text 38"/>
          <p:cNvSpPr txBox="1"/>
          <p:nvPr/>
        </p:nvSpPr>
        <p:spPr>
          <a:xfrm>
            <a:off x="7818120" y="5010912"/>
            <a:ext cx="3822192" cy="365760"/>
          </a:xfrm>
          <a:prstGeom prst="rect">
            <a:avLst/>
          </a:prstGeom>
          <a:noFill/>
          <a:ln/>
        </p:spPr>
        <p:txBody>
          <a:bodyPr wrap="square" lIns="0" tIns="0" rIns="0" bIns="0" rtlCol="0" anchor="t"/>
          <a:lstStyle/>
          <a:p>
            <a:pPr indent="0" marL="0">
              <a:buNone/>
            </a:pPr>
            <a:r>
              <a:rPr lang="en-US" sz="1200" b="1" dirty="0">
                <a:solidFill>
                  <a:schemeClr val="tx2"/>
                </a:solidFill>
              </a:rPr>
              <a:t>What that buys</a:t>
            </a:r>
            <a:endParaRPr lang="en-US" sz="1200" dirty="0"/>
          </a:p>
        </p:txBody>
      </p:sp>
      <p:sp>
        <p:nvSpPr>
          <p:cNvPr id="42" name="Text 39"/>
          <p:cNvSpPr txBox="1"/>
          <p:nvPr/>
        </p:nvSpPr>
        <p:spPr>
          <a:xfrm>
            <a:off x="7818120" y="5413248"/>
            <a:ext cx="3822192" cy="960120"/>
          </a:xfrm>
          <a:prstGeom prst="rect">
            <a:avLst/>
          </a:prstGeom>
          <a:noFill/>
          <a:ln/>
        </p:spPr>
        <p:txBody>
          <a:bodyPr wrap="square" lIns="0" tIns="0" rIns="0" bIns="0" rtlCol="0" anchor="t"/>
          <a:lstStyle/>
          <a:p>
            <a:pPr indent="0" marL="0">
              <a:buNone/>
            </a:pPr>
            <a:r>
              <a:rPr lang="en-US" sz="950" dirty="0">
                <a:solidFill>
                  <a:schemeClr val="tx1"/>
                </a:solidFill>
              </a:rPr>
              <a:t>Auditability: every input visible, every forecast replayable. Evidence-based: every claim quoted and verified, nothing from memory. A harnessed LLM that cannot give random or spurious answers, and a naive LLM kept as the control that shows what the harness adds. Users can study how one piece of evidence moves the decision. The model can be scrutinised and improved, rather than hoping the LLM works.</a:t>
            </a:r>
            <a:endParaRPr lang="en-US" sz="9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FedCast">
  <a:themeElements>
    <a:clrScheme name="FedCast">
      <a:dk1>
        <a:srgbClr val="1B1F2A"/>
      </a:dk1>
      <a:lt1>
        <a:srgbClr val="FFFFFF"/>
      </a:lt1>
      <a:dk2>
        <a:srgbClr val="1E2761"/>
      </a:dk2>
      <a:lt2>
        <a:srgbClr val="EEF2F7"/>
      </a:lt2>
      <a:accent1>
        <a:srgbClr val="1E2761"/>
      </a:accent1>
      <a:accent2>
        <a:srgbClr val="C8553D"/>
      </a:accent2>
      <a:accent3>
        <a:srgbClr val="2C6E49"/>
      </a:accent3>
      <a:accent4>
        <a:srgbClr val="6B7280"/>
      </a:accent4>
      <a:accent5>
        <a:srgbClr val="CADCFC"/>
      </a:accent5>
      <a:accent6>
        <a:srgbClr val="E9B44C"/>
      </a:accent6>
      <a:hlink>
        <a:srgbClr val="1E2761"/>
      </a:hlink>
      <a:folHlink>
        <a:srgbClr val="6B7280"/>
      </a:folHlink>
    </a:clrScheme>
    <a:fontScheme name="FedCa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FedCast: short brief</dc:title>
  <dc:subject>PptxGenJS Presentation</dc:subject>
  <dc:creator>FedCast</dc:creator>
  <cp:lastModifiedBy>FedCast</cp:lastModifiedBy>
  <cp:revision>1</cp:revision>
  <dcterms:created xsi:type="dcterms:W3CDTF">2026-10-27T17:26:35Z</dcterms:created>
  <dcterms:modified xsi:type="dcterms:W3CDTF">2026-10-27T17:26:35Z</dcterms:modified>
</cp:coreProperties>
</file>