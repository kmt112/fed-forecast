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82" r:id="rId4"/>
    <p:sldId id="284" r:id="rId5"/>
    <p:sldId id="259" r:id="rId6"/>
    <p:sldId id="261" r:id="rId7"/>
    <p:sldId id="260" r:id="rId8"/>
    <p:sldId id="281" r:id="rId9"/>
    <p:sldId id="263" r:id="rId10"/>
    <p:sldId id="264" r:id="rId11"/>
    <p:sldId id="283" r:id="rId12"/>
    <p:sldId id="266" r:id="rId13"/>
    <p:sldId id="268" r:id="rId14"/>
    <p:sldId id="269" r:id="rId15"/>
    <p:sldId id="267" r:id="rId16"/>
    <p:sldId id="271" r:id="rId17"/>
    <p:sldId id="273" r:id="rId18"/>
    <p:sldId id="274" r:id="rId19"/>
    <p:sldId id="275" r:id="rId20"/>
    <p:sldId id="276" r:id="rId21"/>
    <p:sldId id="277" r:id="rId22"/>
    <p:sldId id="278" r:id="rId23"/>
    <p:sldId id="279"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60"/>
            <p14:sldId id="281"/>
          </p14:sldIdLst>
        </p14:section>
        <p14:section name="How it works" id="{51E39E62-D42A-5461-E95E-6B45ACE96CC0}">
          <p14:sldIdLst>
            <p14:sldId id="263"/>
            <p14:sldId id="264"/>
            <p14:sldId id="283"/>
          </p14:sldIdLst>
        </p14:section>
        <p14:section name="The harness" id="{92928B70-AC41-17EA-8015-68E5296D82D9}">
          <p14:sldIdLst>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a decision was made, here is how we called it, why we built the tool this way, how the number is put together, what the language model is allowed to do and how we prove it behaves, and what comes next. Six stops, with the app opened between them.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three points: where the numbers come from, the pool of classic models, the LLM analysts on top. Right, three points: we hit the target but so did the market and the odds, and we do not claim to beat them at five weeks; the LLM analysts got the direction right, and the table shows each one's opinion against the vote; every reason is a quote found in the evidence, and one decision proves little, so the scoring is formal and the rest of the talk is about process.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signal exist already; each is good at one thing. Market prices are the best single predictor at thirty days and are the anchor of the pool. Surveys carry judgement; FedCast takes the data the committee reads instead, as history and a fitted model. The rules are the Fed's own benchmarks. The LLM papers show a model can read the Fed, on sixteen meetings. FedCast's claim is not a better guess but the combination: one of each kind, pooled by code at fixed weights, every number traceable to frozen evidence.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the first is the one to land. Eight decisions a year cannot tell skill from luck, so we judge the process with a scorecard fixed before any code. Second, auditable means concrete: an analyst that says inflation is elevated must quote the line it read and code must find it. Third, because everything is quotable and the analysts can read only the evidence, a wrong call is a traceable wrong call, and because the harness is repeatable it goes wrong the same way every time, so a fix can be tested and stays fixed. Details later in the deck: the ladder, the scorecard, the drift table.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diagram from the brief. Four families of input, combined by code with fixed, published weights; no model writes the number. The language-model family enters only as a bounded opinion. Right: the chain in order, each line a view in the app. Walk the diagram first, then the chain.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18, the final one before the meeting. The pool is a weighted average, then the floor. The specialists</a:t>
            </a:r>
            <a:r>
              <a:rPr lang="en-US"/>
              <a:t>' mean score of +4.0 is 4.0 points of probability </a:t>
            </a:r>
            <a:r>
              <a:rPr lang="en-US" dirty="0"/>
              <a:t>moved toward a hike, through the same capped mechanism a human view uses</a:t>
            </a:r>
            <a:r>
              <a:rPr lang="en-US"/>
              <a:t>. The opinion </a:t>
            </a:r>
            <a:r>
              <a:rPr lang="en-US" dirty="0"/>
              <a:t>row is tinted and labelled 'after pooling': it is a modifier on the pooled number, not a model in the pool. Then the footer: the weights are judgement, logged; ideally they would be backtested, but there is no live record yet, so live scores from 28 October onward decide them by amendment.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a language model cannot be made to stop doing: it remembers, it varies between runs, and it can invent support. None is removed; each is designed around. The proof is on the harness slide later.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51336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the same frozen evidence, eight configurations. Left: analysts 1 to 3 are controls, drawn grey and dashed; they never enter the number. Right: the five specialists that do. Every analyst runs five times on the same snapshot; for 1 to 3 those runs build the benchmark 4 to 8 are measured against. Analyst 1 sets the baseline (variance, numbers from memory, nothing quoted); 2 tests what immutable evidence fixes; 3 tests the answer shape and code verification. Each rung adds one thing, so the change in the measurements is the value of that thing.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a:t>
            </a:r>
            <a:r>
              <a:rPr lang="en-US"/>
              <a:t>in their opinion, which is already in points of probability, </a:t>
            </a:r>
            <a:r>
              <a:rPr lang="en-US" dirty="0"/>
              <a:t>so the four bars are comparable.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of method, then the outcome. Each specialist runs five times on the same frozen snapshot; the five answers must sit within the variance pass mark, every claim must carry a quote code finds, and no number may come from memory. Only then </a:t>
            </a:r>
            <a:r>
              <a:rPr lang="en-US"/>
              <a:t>does the opinion count. </a:t>
            </a:r>
            <a:r>
              <a:rPr lang="en-US" dirty="0"/>
              <a:t>The band is the 28 October run; bottom left is what the five said and what it did to the number; bottom right is one claim as recorded, with the quote code found.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a quote comes from, open the statement claim on analyst 4: the quote is the statement's own line, found by code in item fed.statement.2026-09-16.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follow-ups, in order of value. One: pre-registered weight sets scored on every live decision, so the weights stop being judgement. Two: reasoning quality graded by people in the app, which becomes the tenth measured dimension and a gate. Three: an events agent for the regime shifts the models cannot read. Four: a second model family to show the harness, not the model, does the work. Five: other central banks; the chain needs a calendar, a rate series, the statements and a curve, and the scorecard transfers unchanged. Six: better classical models, judged by the expanding window only.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The score: already in points of probability, capped at 10 like a human view. The average: one vote each. The spread: the points leave every bucket on the hold-or-cut side and land on both hike buckets, in proportion to size and distance from the middle, so the shape of the distribution is kept and nothing goes to zero.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quant side's own test. A first ordered probit, spec frozen before fitting, failed its out-of-sample gate and was reported, not tuned. A second version beats the base rate on the expanding window but was specified after seeing the first fail, so it carries a contamination caveat and waits for live decisions. The base rates, which need no fitting, beat the fitted model and are the yardstick. Below: why no gradient-boosted anything.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494271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a:t>
            </a:r>
            <a:r>
              <a:rPr lang="en-US" dirty="0"/>
              <a:t>.</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307592"/>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The 28 October decision, what our outcome says.</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148840"/>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Four kinds of signal already exist; </a:t>
            </a:r>
          </a:p>
          <a:p>
            <a:pPr marL="171450" indent="-171450">
              <a:buFont typeface="Arial" panose="020B0604020202020204" pitchFamily="34" charset="0"/>
              <a:buChar char="•"/>
            </a:pPr>
            <a:r>
              <a:rPr lang="en-US" sz="1150" dirty="0">
                <a:solidFill>
                  <a:schemeClr val="tx1"/>
                </a:solidFill>
              </a:rPr>
              <a:t>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Model Architecture</a:t>
            </a:r>
          </a:p>
          <a:p>
            <a:pPr marL="171450" indent="-171450">
              <a:buFont typeface="Arial" panose="020B0604020202020204" pitchFamily="34" charset="0"/>
              <a:buChar char="•"/>
            </a:pPr>
            <a:r>
              <a:rPr lang="en-US" sz="1150" dirty="0"/>
              <a:t>A</a:t>
            </a:r>
            <a:r>
              <a:rPr lang="en-US" sz="1150" dirty="0">
                <a:solidFill>
                  <a:schemeClr val="tx1"/>
                </a:solidFill>
              </a:rPr>
              <a:t>pp showcase</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Limitations of model and how we workaround it. </a:t>
            </a:r>
          </a:p>
          <a:p>
            <a:pPr marL="171450" indent="-171450">
              <a:buFont typeface="Arial" panose="020B0604020202020204" pitchFamily="34" charset="0"/>
              <a:buChar char="•"/>
            </a:pPr>
            <a:r>
              <a:rPr lang="en-US" sz="1150" dirty="0">
                <a:solidFill>
                  <a:schemeClr val="tx1"/>
                </a:solidFill>
              </a:rPr>
              <a:t>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81888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Effectiveness of the harness</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59612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Follow up</a:t>
            </a:r>
          </a:p>
          <a:p>
            <a:pPr marL="171450" indent="-171450">
              <a:buFont typeface="Arial" panose="020B0604020202020204" pitchFamily="34" charset="0"/>
              <a:buChar char="•"/>
            </a:pPr>
            <a:r>
              <a:rPr lang="en-US" sz="1150" dirty="0" err="1"/>
              <a:t>QnA</a:t>
            </a:r>
            <a:endParaRPr lang="en-US" sz="1150" dirty="0"/>
          </a:p>
          <a:p>
            <a:pPr marL="171450" indent="-171450">
              <a:buFont typeface="Arial" panose="020B0604020202020204" pitchFamily="34" charset="0"/>
              <a:buChar char="•"/>
            </a:pPr>
            <a:r>
              <a:rPr lang="en-US" sz="1150" dirty="0">
                <a:solidFill>
                  <a:schemeClr val="tx1"/>
                </a:solidFill>
              </a:rPr>
              <a:t>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Fed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weighted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a:t>
            </a:r>
            <a:r>
              <a:rPr lang="en-US" sz="1000" b="1" dirty="0">
                <a:solidFill>
                  <a:schemeClr val="tx1"/>
                </a:solidFill>
              </a:rPr>
              <a:t>no change 70.9%, hike 26.2%.</a:t>
            </a:r>
            <a:endParaRPr lang="en-US" sz="1000" b="1"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a:t>
            </a:r>
          </a:p>
          <a:p>
            <a:pPr marL="0" indent="0">
              <a:buNone/>
            </a:pPr>
            <a:r>
              <a:rPr lang="en-US" sz="1000" dirty="0">
                <a:solidFill>
                  <a:schemeClr val="tx1"/>
                </a:solidFill>
              </a:rPr>
              <a:t> Their mean opinion moves 4 points toward a hike: </a:t>
            </a:r>
          </a:p>
          <a:p>
            <a:pPr marL="0" indent="0">
              <a:buNone/>
            </a:pPr>
            <a:r>
              <a:rPr lang="en-US" sz="1000" b="1" dirty="0">
                <a:solidFill>
                  <a:schemeClr val="tx1"/>
                </a:solidFill>
              </a:rPr>
              <a:t>no change 67.6%, +25 bps 22.4%, +50 bps 7.7%.</a:t>
            </a:r>
            <a:endParaRPr lang="en-US" sz="1000" b="1"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56632"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We are at early stages of model building hence </a:t>
            </a:r>
            <a:r>
              <a:rPr lang="en-US" sz="1300" b="1" dirty="0">
                <a:solidFill>
                  <a:schemeClr val="tx1"/>
                </a:solidFill>
              </a:rPr>
              <a:t>process takes precedence over results</a:t>
            </a:r>
            <a:r>
              <a:rPr lang="en-US" sz="1300" dirty="0">
                <a:solidFill>
                  <a:schemeClr val="tx1"/>
                </a:solidFill>
              </a:rPr>
              <a:t>.</a:t>
            </a:r>
            <a:endParaRPr lang="en-US" sz="1300" dirty="0"/>
          </a:p>
          <a:p>
            <a:pPr marL="342900" indent="-342900">
              <a:spcAft>
                <a:spcPts val="800"/>
              </a:spcAft>
              <a:buSzPct val="100000"/>
              <a:buChar char="•"/>
            </a:pPr>
            <a:r>
              <a:rPr lang="en-US" sz="1300" dirty="0">
                <a:solidFill>
                  <a:schemeClr val="tx1"/>
                </a:solidFill>
              </a:rPr>
              <a:t>A good repeatable process ensures repeatability: </a:t>
            </a:r>
          </a:p>
          <a:p>
            <a:pPr marL="800100" lvl="1" indent="-342900">
              <a:spcAft>
                <a:spcPts val="800"/>
              </a:spcAft>
              <a:buSzPct val="100000"/>
              <a:buChar char="•"/>
            </a:pPr>
            <a:r>
              <a:rPr lang="en-US" sz="1300" dirty="0"/>
              <a:t>S</a:t>
            </a:r>
            <a:r>
              <a:rPr lang="en-US" sz="1300" dirty="0">
                <a:solidFill>
                  <a:schemeClr val="tx1"/>
                </a:solidFill>
              </a:rPr>
              <a:t>ame evidence, same answer?</a:t>
            </a:r>
          </a:p>
          <a:p>
            <a:pPr marL="800100" lvl="1" indent="-342900">
              <a:spcAft>
                <a:spcPts val="800"/>
              </a:spcAft>
              <a:buSzPct val="100000"/>
              <a:buChar char="•"/>
            </a:pPr>
            <a:r>
              <a:rPr lang="en-US" sz="1300" dirty="0"/>
              <a:t>Is </a:t>
            </a:r>
            <a:r>
              <a:rPr lang="en-US" sz="1300" dirty="0">
                <a:solidFill>
                  <a:schemeClr val="tx1"/>
                </a:solidFill>
              </a:rPr>
              <a:t>every claim quoted? </a:t>
            </a:r>
          </a:p>
          <a:p>
            <a:pPr marL="800100" lvl="1" indent="-342900">
              <a:spcAft>
                <a:spcPts val="800"/>
              </a:spcAft>
              <a:buSzPct val="100000"/>
              <a:buChar char="•"/>
            </a:pPr>
            <a:r>
              <a:rPr lang="en-US" sz="1300" dirty="0">
                <a:solidFill>
                  <a:schemeClr val="tx1"/>
                </a:solidFill>
              </a:rPr>
              <a:t>any number from memory? </a:t>
            </a:r>
          </a:p>
          <a:p>
            <a:pPr marL="800100" lvl="1" indent="-342900">
              <a:spcAft>
                <a:spcPts val="800"/>
              </a:spcAft>
              <a:buSzPct val="100000"/>
              <a:buChar char="•"/>
            </a:pPr>
            <a:r>
              <a:rPr lang="en-US" sz="1300" dirty="0"/>
              <a:t>Does </a:t>
            </a:r>
            <a:r>
              <a:rPr lang="en-US" sz="1300" dirty="0">
                <a:solidFill>
                  <a:schemeClr val="tx1"/>
                </a:solidFill>
              </a:rPr>
              <a:t>a shock moves the number 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build every step to be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a:t>
            </a:r>
            <a:r>
              <a:rPr lang="en-US" sz="1300" b="1" dirty="0">
                <a:solidFill>
                  <a:schemeClr val="tx1"/>
                </a:solidFill>
              </a:rPr>
              <a:t>it is flagged as from memory</a:t>
            </a:r>
            <a:endParaRPr lang="en-US" sz="1300" b="1"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p>
          <a:p>
            <a:pPr marL="342900" indent="-342900">
              <a:spcAft>
                <a:spcPts val="800"/>
              </a:spcAft>
              <a:buSzPct val="100000"/>
              <a:buChar char="•"/>
            </a:pPr>
            <a:r>
              <a:rPr lang="en-US" sz="1300" dirty="0"/>
              <a:t>We believe that this method allows us to </a:t>
            </a:r>
            <a:r>
              <a:rPr lang="en-US" sz="1300" b="1" dirty="0"/>
              <a:t>use less expensive models </a:t>
            </a:r>
            <a:r>
              <a:rPr lang="en-US" sz="1300" dirty="0"/>
              <a:t>as well</a:t>
            </a:r>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Since is quotable and the human analyst can read only the evidence, so a wrong call is a traceable wrong call: we see which quote led were.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 Ensemble model</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a:t>
            </a:r>
          </a:p>
          <a:p>
            <a:pPr marL="0" indent="0" algn="ctr">
              <a:buNone/>
            </a:pPr>
            <a:endParaRPr lang="en-US" sz="950" dirty="0"/>
          </a:p>
          <a:p>
            <a:pPr marL="0" indent="0" algn="ctr">
              <a:buNone/>
            </a:pPr>
            <a:r>
              <a:rPr lang="en-US" sz="950" dirty="0">
                <a:solidFill>
                  <a:schemeClr val="tx1"/>
                </a:solidFill>
              </a:rPr>
              <a:t> </a:t>
            </a:r>
            <a:r>
              <a:rPr lang="en-US" sz="950" dirty="0"/>
              <a:t>LLM analyst opinions then skew it.</a:t>
            </a:r>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3165394686"/>
              </p:ext>
            </p:extLst>
          </p:nvPr>
        </p:nvGraphicFramePr>
        <p:xfrm>
          <a:off x="548640" y="1325880"/>
          <a:ext cx="11091672" cy="3899916"/>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November fed-funds future against the overnight rate: +2.5 bp expected, split between the two nearest outcomes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12-month core PCE 3.0%, unemployment 4.2%, r* from the NY Fed DSGE model (0.65 / 1.86 / 3.06%); three level rules × nine r*/u* pairs plus the first-difference rule × three u*: 30 prescriptions, mean +22.5 bp</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Polymarket, 26 Oct, $67m traded: 94.5% no change at the mid price, 94.9% once the five prices are renormalised</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What followed a hike at the 49 scheduled meetings since 1994 that came after one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Nine features on first-published data; failed v1, caveated v2</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Three things a language model cannot be made to stop doing. None is removed; each is designed around, and the design is measured on every snapshot.</a:t>
            </a:r>
            <a:endParaRPr lang="en-US" sz="1200" dirty="0"/>
          </a:p>
        </p:txBody>
      </p:sp>
      <p:sp>
        <p:nvSpPr>
          <p:cNvPr id="5" name="Shape 2"/>
          <p:cNvSpPr/>
          <p:nvPr/>
        </p:nvSpPr>
        <p:spPr>
          <a:xfrm>
            <a:off x="548640" y="1645920"/>
            <a:ext cx="3593592" cy="1051560"/>
          </a:xfrm>
          <a:prstGeom prst="roundRect">
            <a:avLst>
              <a:gd name="adj" fmla="val 8696"/>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514600"/>
            <a:ext cx="3593592"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31520" y="1755648"/>
            <a:ext cx="322783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31520" y="1956816"/>
            <a:ext cx="3227832" cy="329184"/>
          </a:xfrm>
          <a:prstGeom prst="rect">
            <a:avLst/>
          </a:prstGeom>
          <a:noFill/>
          <a:ln/>
        </p:spPr>
        <p:txBody>
          <a:bodyPr wrap="square" lIns="0" tIns="0" rIns="0" bIns="0" rtlCol="0" anchor="t"/>
          <a:lstStyle/>
          <a:p>
            <a:pPr marL="0" indent="0">
              <a:buNone/>
            </a:pPr>
            <a:r>
              <a:rPr lang="en-US" sz="1500" b="1" dirty="0">
                <a:solidFill>
                  <a:schemeClr val="bg1"/>
                </a:solidFill>
              </a:rPr>
              <a:t>Memory cannot be switched off</a:t>
            </a:r>
            <a:endParaRPr lang="en-US" sz="1500" dirty="0"/>
          </a:p>
        </p:txBody>
      </p:sp>
      <p:sp>
        <p:nvSpPr>
          <p:cNvPr id="9" name="Text 6"/>
          <p:cNvSpPr txBox="1"/>
          <p:nvPr/>
        </p:nvSpPr>
        <p:spPr>
          <a:xfrm>
            <a:off x="731520" y="2286000"/>
            <a:ext cx="3227832" cy="384048"/>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a:t>
            </a:r>
            <a:endParaRPr lang="en-US" sz="1100" dirty="0"/>
          </a:p>
        </p:txBody>
      </p:sp>
      <p:sp>
        <p:nvSpPr>
          <p:cNvPr id="10" name="Shape 7"/>
          <p:cNvSpPr/>
          <p:nvPr/>
        </p:nvSpPr>
        <p:spPr>
          <a:xfrm>
            <a:off x="548640" y="2697480"/>
            <a:ext cx="3593592" cy="274320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31520" y="2834640"/>
            <a:ext cx="322783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31520" y="3108960"/>
            <a:ext cx="3227832" cy="224028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Instruction: </a:t>
            </a:r>
            <a:r>
              <a:rPr lang="en-US" sz="1300" dirty="0">
                <a:solidFill>
                  <a:schemeClr val="tx1"/>
                </a:solidFill>
              </a:rPr>
              <a:t>use only the evidence; nothing remembered about the economy, the Fed or markets.</a:t>
            </a:r>
            <a:endParaRPr lang="en-US" sz="1300" dirty="0"/>
          </a:p>
          <a:p>
            <a:pPr marL="342900" indent="-342900">
              <a:buSzPct val="100000"/>
              <a:buChar char="•"/>
            </a:pPr>
            <a:r>
              <a:rPr lang="en-US" sz="1300" b="1" dirty="0">
                <a:solidFill>
                  <a:srgbClr val="1B1F2A"/>
                </a:solidFill>
              </a:rPr>
              <a:t>Answer shape: </a:t>
            </a:r>
            <a:r>
              <a:rPr lang="en-US" sz="1300" dirty="0">
                <a:solidFill>
                  <a:schemeClr val="tx1"/>
                </a:solidFill>
              </a:rPr>
              <a:t>every claim carries a verbatim quote from a named item, so a remembered fact has nowhere to stand.</a:t>
            </a:r>
            <a:endParaRPr lang="en-US" sz="1300" dirty="0"/>
          </a:p>
          <a:p>
            <a:pPr marL="342900" indent="-342900">
              <a:buSzPct val="100000"/>
              <a:buChar char="•"/>
            </a:pPr>
            <a:r>
              <a:rPr lang="en-US" sz="1300" b="1" dirty="0">
                <a:solidFill>
                  <a:srgbClr val="1B1F2A"/>
                </a:solidFill>
              </a:rPr>
              <a:t>Check: </a:t>
            </a:r>
            <a:r>
              <a:rPr lang="en-US" sz="1300" dirty="0">
                <a:solidFill>
                  <a:schemeClr val="tx1"/>
                </a:solidFill>
              </a:rPr>
              <a:t>every number is matched to the snapshot by code; one not found is flagged as from memory and sent back once.</a:t>
            </a:r>
            <a:endParaRPr lang="en-US" sz="1300" dirty="0"/>
          </a:p>
        </p:txBody>
      </p:sp>
      <p:sp>
        <p:nvSpPr>
          <p:cNvPr id="13" name="Shape 10"/>
          <p:cNvSpPr/>
          <p:nvPr/>
        </p:nvSpPr>
        <p:spPr>
          <a:xfrm>
            <a:off x="4297680" y="1645920"/>
            <a:ext cx="3593592" cy="1051560"/>
          </a:xfrm>
          <a:prstGeom prst="roundRect">
            <a:avLst>
              <a:gd name="adj" fmla="val 8696"/>
            </a:avLst>
          </a:prstGeom>
          <a:solidFill>
            <a:srgbClr val="C8553D"/>
          </a:solidFill>
          <a:ln w="12700">
            <a:solidFill>
              <a:srgbClr val="C8553D"/>
            </a:solidFill>
            <a:prstDash val="solid"/>
          </a:ln>
        </p:spPr>
        <p:txBody>
          <a:bodyPr/>
          <a:lstStyle/>
          <a:p>
            <a:endParaRPr lang="en-US"/>
          </a:p>
        </p:txBody>
      </p:sp>
      <p:sp>
        <p:nvSpPr>
          <p:cNvPr id="14" name="Shape 11"/>
          <p:cNvSpPr/>
          <p:nvPr/>
        </p:nvSpPr>
        <p:spPr>
          <a:xfrm>
            <a:off x="4297680" y="2514600"/>
            <a:ext cx="3593592" cy="182880"/>
          </a:xfrm>
          <a:prstGeom prst="rect">
            <a:avLst/>
          </a:prstGeom>
          <a:solidFill>
            <a:srgbClr val="C8553D"/>
          </a:solidFill>
          <a:ln w="12700">
            <a:solidFill>
              <a:srgbClr val="C8553D"/>
            </a:solidFill>
            <a:prstDash val="solid"/>
          </a:ln>
        </p:spPr>
        <p:txBody>
          <a:bodyPr/>
          <a:lstStyle/>
          <a:p>
            <a:endParaRPr lang="en-US"/>
          </a:p>
        </p:txBody>
      </p:sp>
      <p:sp>
        <p:nvSpPr>
          <p:cNvPr id="15" name="Text 12"/>
          <p:cNvSpPr txBox="1"/>
          <p:nvPr/>
        </p:nvSpPr>
        <p:spPr>
          <a:xfrm>
            <a:off x="4480560" y="1755648"/>
            <a:ext cx="322783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4480560" y="1956816"/>
            <a:ext cx="3227832" cy="329184"/>
          </a:xfrm>
          <a:prstGeom prst="rect">
            <a:avLst/>
          </a:prstGeom>
          <a:noFill/>
          <a:ln/>
        </p:spPr>
        <p:txBody>
          <a:bodyPr wrap="square" lIns="0" tIns="0" rIns="0" bIns="0" rtlCol="0" anchor="t"/>
          <a:lstStyle/>
          <a:p>
            <a:pPr marL="0" indent="0">
              <a:buNone/>
            </a:pPr>
            <a:r>
              <a:rPr lang="en-US" sz="1500" b="1" dirty="0">
                <a:solidFill>
                  <a:schemeClr val="bg1"/>
                </a:solidFill>
              </a:rPr>
              <a:t>Answers vary between runs</a:t>
            </a:r>
            <a:endParaRPr lang="en-US" sz="1500" dirty="0"/>
          </a:p>
        </p:txBody>
      </p:sp>
      <p:sp>
        <p:nvSpPr>
          <p:cNvPr id="17" name="Text 14"/>
          <p:cNvSpPr txBox="1"/>
          <p:nvPr/>
        </p:nvSpPr>
        <p:spPr>
          <a:xfrm>
            <a:off x="4480560" y="2286000"/>
            <a:ext cx="3227832" cy="384048"/>
          </a:xfrm>
          <a:prstGeom prst="rect">
            <a:avLst/>
          </a:prstGeom>
          <a:noFill/>
          <a:ln/>
        </p:spPr>
        <p:txBody>
          <a:bodyPr wrap="square" lIns="0" tIns="0" rIns="0" bIns="0" rtlCol="0" anchor="t"/>
          <a:lstStyle/>
          <a:p>
            <a:pPr marL="0" indent="0">
              <a:buNone/>
            </a:pPr>
            <a:r>
              <a:rPr lang="en-US" sz="1100" dirty="0">
                <a:solidFill>
                  <a:srgbClr val="F8D7CE"/>
                </a:solidFill>
              </a:rPr>
              <a:t>Ask twice and the number moves.</a:t>
            </a:r>
            <a:endParaRPr lang="en-US" sz="1100" dirty="0"/>
          </a:p>
        </p:txBody>
      </p:sp>
      <p:sp>
        <p:nvSpPr>
          <p:cNvPr id="18" name="Shape 15"/>
          <p:cNvSpPr/>
          <p:nvPr/>
        </p:nvSpPr>
        <p:spPr>
          <a:xfrm>
            <a:off x="4297680" y="2697480"/>
            <a:ext cx="3593592" cy="2743200"/>
          </a:xfrm>
          <a:prstGeom prst="rect">
            <a:avLst/>
          </a:prstGeom>
          <a:solidFill>
            <a:srgbClr val="EEF2F7"/>
          </a:solidFill>
          <a:ln w="12700">
            <a:solidFill>
              <a:srgbClr val="EEF2F7"/>
            </a:solidFill>
            <a:prstDash val="solid"/>
          </a:ln>
        </p:spPr>
        <p:txBody>
          <a:bodyPr/>
          <a:lstStyle/>
          <a:p>
            <a:endParaRPr lang="en-US"/>
          </a:p>
        </p:txBody>
      </p:sp>
      <p:sp>
        <p:nvSpPr>
          <p:cNvPr id="19" name="Text 16"/>
          <p:cNvSpPr txBox="1"/>
          <p:nvPr/>
        </p:nvSpPr>
        <p:spPr>
          <a:xfrm>
            <a:off x="4480560" y="2834640"/>
            <a:ext cx="322783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4480560" y="3108960"/>
            <a:ext cx="3227832" cy="224028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Answer shape: </a:t>
            </a:r>
            <a:r>
              <a:rPr lang="en-US" sz="1300" dirty="0">
                <a:solidFill>
                  <a:schemeClr val="tx1"/>
                </a:solidFill>
              </a:rPr>
              <a:t>a fixed JSON schema; anything else is rejected unread.</a:t>
            </a:r>
            <a:endParaRPr lang="en-US" sz="1300" dirty="0"/>
          </a:p>
          <a:p>
            <a:pPr marL="342900" indent="-342900">
              <a:buSzPct val="100000"/>
              <a:buChar char="•"/>
            </a:pPr>
            <a:r>
              <a:rPr lang="en-US" sz="1300" b="1" dirty="0">
                <a:solidFill>
                  <a:srgbClr val="1B1F2A"/>
                </a:solidFill>
              </a:rPr>
              <a:t>Five identical runs </a:t>
            </a:r>
            <a:r>
              <a:rPr lang="en-US" sz="1300" dirty="0">
                <a:solidFill>
                  <a:schemeClr val="tx1"/>
                </a:solidFill>
              </a:rPr>
              <a:t>per analyst per snapshot, each stored under its prompt hash.</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the spread of the five answers. Pass mark: 2 points.</a:t>
            </a:r>
            <a:endParaRPr lang="en-US" sz="1300" dirty="0"/>
          </a:p>
        </p:txBody>
      </p:sp>
      <p:sp>
        <p:nvSpPr>
          <p:cNvPr id="21" name="Shape 18"/>
          <p:cNvSpPr/>
          <p:nvPr/>
        </p:nvSpPr>
        <p:spPr>
          <a:xfrm>
            <a:off x="8046720" y="1645920"/>
            <a:ext cx="3593592" cy="1051560"/>
          </a:xfrm>
          <a:prstGeom prst="roundRect">
            <a:avLst>
              <a:gd name="adj" fmla="val 8696"/>
            </a:avLst>
          </a:prstGeom>
          <a:solidFill>
            <a:srgbClr val="C8553D"/>
          </a:solidFill>
          <a:ln w="12700">
            <a:solidFill>
              <a:srgbClr val="C8553D"/>
            </a:solidFill>
            <a:prstDash val="solid"/>
          </a:ln>
        </p:spPr>
        <p:txBody>
          <a:bodyPr/>
          <a:lstStyle/>
          <a:p>
            <a:endParaRPr lang="en-US"/>
          </a:p>
        </p:txBody>
      </p:sp>
      <p:sp>
        <p:nvSpPr>
          <p:cNvPr id="22" name="Shape 19"/>
          <p:cNvSpPr/>
          <p:nvPr/>
        </p:nvSpPr>
        <p:spPr>
          <a:xfrm>
            <a:off x="8046720" y="2514600"/>
            <a:ext cx="3593592" cy="182880"/>
          </a:xfrm>
          <a:prstGeom prst="rect">
            <a:avLst/>
          </a:prstGeom>
          <a:solidFill>
            <a:srgbClr val="C8553D"/>
          </a:solidFill>
          <a:ln w="12700">
            <a:solidFill>
              <a:srgbClr val="C8553D"/>
            </a:solidFill>
            <a:prstDash val="solid"/>
          </a:ln>
        </p:spPr>
        <p:txBody>
          <a:bodyPr/>
          <a:lstStyle/>
          <a:p>
            <a:endParaRPr lang="en-US"/>
          </a:p>
        </p:txBody>
      </p:sp>
      <p:sp>
        <p:nvSpPr>
          <p:cNvPr id="23" name="Text 20"/>
          <p:cNvSpPr txBox="1"/>
          <p:nvPr/>
        </p:nvSpPr>
        <p:spPr>
          <a:xfrm>
            <a:off x="8229600" y="1755648"/>
            <a:ext cx="322783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24" name="Text 21"/>
          <p:cNvSpPr txBox="1"/>
          <p:nvPr/>
        </p:nvSpPr>
        <p:spPr>
          <a:xfrm>
            <a:off x="8229600" y="1956816"/>
            <a:ext cx="3227832" cy="329184"/>
          </a:xfrm>
          <a:prstGeom prst="rect">
            <a:avLst/>
          </a:prstGeom>
          <a:noFill/>
          <a:ln/>
        </p:spPr>
        <p:txBody>
          <a:bodyPr wrap="square" lIns="0" tIns="0" rIns="0" bIns="0" rtlCol="0" anchor="t"/>
          <a:lstStyle/>
          <a:p>
            <a:pPr marL="0" indent="0">
              <a:buNone/>
            </a:pPr>
            <a:r>
              <a:rPr lang="en-US" sz="1500" b="1" dirty="0">
                <a:solidFill>
                  <a:schemeClr val="bg1"/>
                </a:solidFill>
              </a:rPr>
              <a:t>It can invent its own support</a:t>
            </a:r>
            <a:endParaRPr lang="en-US" sz="1500" dirty="0"/>
          </a:p>
        </p:txBody>
      </p:sp>
      <p:sp>
        <p:nvSpPr>
          <p:cNvPr id="25" name="Text 22"/>
          <p:cNvSpPr txBox="1"/>
          <p:nvPr/>
        </p:nvSpPr>
        <p:spPr>
          <a:xfrm>
            <a:off x="8229600" y="2286000"/>
            <a:ext cx="3227832" cy="384048"/>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26" name="Shape 23"/>
          <p:cNvSpPr/>
          <p:nvPr/>
        </p:nvSpPr>
        <p:spPr>
          <a:xfrm>
            <a:off x="8046720" y="2697480"/>
            <a:ext cx="3593592" cy="2743200"/>
          </a:xfrm>
          <a:prstGeom prst="rect">
            <a:avLst/>
          </a:prstGeom>
          <a:solidFill>
            <a:srgbClr val="EEF2F7"/>
          </a:solidFill>
          <a:ln w="12700">
            <a:solidFill>
              <a:srgbClr val="EEF2F7"/>
            </a:solidFill>
            <a:prstDash val="solid"/>
          </a:ln>
        </p:spPr>
        <p:txBody>
          <a:bodyPr/>
          <a:lstStyle/>
          <a:p>
            <a:endParaRPr lang="en-US"/>
          </a:p>
        </p:txBody>
      </p:sp>
      <p:sp>
        <p:nvSpPr>
          <p:cNvPr id="27" name="Text 24"/>
          <p:cNvSpPr txBox="1"/>
          <p:nvPr/>
        </p:nvSpPr>
        <p:spPr>
          <a:xfrm>
            <a:off x="8229600" y="2834640"/>
            <a:ext cx="322783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8" name="Text 25"/>
          <p:cNvSpPr txBox="1"/>
          <p:nvPr/>
        </p:nvSpPr>
        <p:spPr>
          <a:xfrm>
            <a:off x="8229600" y="3108960"/>
            <a:ext cx="3227832" cy="224028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a:t>
            </a:r>
            <a:r>
              <a:rPr lang="en-US" sz="1300" dirty="0">
                <a:solidFill>
                  <a:schemeClr val="tx1"/>
                </a:solidFill>
              </a:rPr>
              <a:t>every quote matched to its item character for character, by code;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a:t>
            </a:r>
            <a:endParaRPr lang="en-US" sz="13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603732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a:solidFill>
                  <a:srgbClr val="CADCFC"/>
                </a:solidFill>
              </a:rPr>
              <a:t>Each specialist is asked one question about its own slice (above), never for a probability. It returns claims, each with a verbatim quote and item id, and a score from . Code averages the five scores and moves that many points of probability from the hold side to the hike side (or the reverse),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a:solidFill>
                  <a:schemeClr val="bg1"/>
                </a:solidFill>
              </a:rPr>
              <a:t>5 scores, ±10</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r>
              <a:rPr lang="en-US" sz="1050" dirty="0">
                <a:solidFill>
                  <a:srgbClr val="CADCFC"/>
                </a:solidFill>
              </a:rPr>
              <a:t>+6.0 · +6.2 · +5.8 · −1.4 </a:t>
            </a:r>
            <a:r>
              <a:rPr lang="en-US" sz="1050">
                <a:solidFill>
                  <a:srgbClr val="CADCFC"/>
                </a:solidFill>
              </a:rPr>
              <a:t>· +3.4</a:t>
            </a:r>
            <a:endParaRPr lang="en-US" sz="1050" dirty="0"/>
          </a:p>
        </p:txBody>
      </p:sp>
      <p:sp>
        <p:nvSpPr>
          <p:cNvPr id="21" name="Shape 18"/>
          <p:cNvSpPr/>
          <p:nvPr/>
        </p:nvSpPr>
        <p:spPr>
          <a:xfrm>
            <a:off x="548640" y="3931920"/>
            <a:ext cx="4434840" cy="237744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1965960" cy="1188720"/>
          </a:xfrm>
          <a:prstGeom prst="rect">
            <a:avLst/>
          </a:prstGeom>
          <a:noFill/>
          <a:ln/>
        </p:spPr>
        <p:txBody>
          <a:bodyPr wrap="square" lIns="0" tIns="0" rIns="0" bIns="0" rtlCol="0" anchor="t"/>
          <a:lstStyle/>
          <a:p>
            <a:pPr marL="0" indent="0">
              <a:buNone/>
            </a:pPr>
            <a:r>
              <a:rPr lang="en-US" sz="1050" b="1" dirty="0">
                <a:solidFill>
                  <a:schemeClr val="tx1"/>
                </a:solidFill>
              </a:rPr>
              <a:t>Four say hike, one says hold back. </a:t>
            </a:r>
            <a:r>
              <a:rPr lang="en-US" sz="1050" dirty="0">
                <a:solidFill>
                  <a:schemeClr val="tx1"/>
                </a:solidFill>
              </a:rPr>
              <a:t>Plain average, one vote each: +4.0.</a:t>
            </a:r>
            <a:endParaRPr lang="en-US" sz="1050" dirty="0"/>
          </a:p>
          <a:p>
            <a:pPr marL="0" indent="0">
              <a:buNone/>
            </a:pPr>
            <a:r>
              <a:rPr lang="en-US" sz="1050" b="1">
                <a:solidFill>
                  <a:schemeClr val="tx1"/>
                </a:solidFill>
              </a:rPr>
              <a:t>Each point of opinion </a:t>
            </a:r>
            <a:r>
              <a:rPr lang="en-US" sz="1050" b="1" dirty="0">
                <a:solidFill>
                  <a:schemeClr val="tx1"/>
                </a:solidFill>
              </a:rPr>
              <a:t>moves one point of probability </a:t>
            </a:r>
            <a:r>
              <a:rPr lang="en-US" sz="1050" dirty="0">
                <a:solidFill>
                  <a:schemeClr val="tx1"/>
                </a:solidFill>
              </a:rPr>
              <a:t>from the hold side to the hike side, by rule, capped at 10. So +4.0 moves 4.0 points, after the pool:</a:t>
            </a:r>
            <a:endParaRPr lang="en-US" sz="1050" dirty="0"/>
          </a:p>
        </p:txBody>
      </p:sp>
      <p:sp>
        <p:nvSpPr>
          <p:cNvPr id="25" name="Text 21"/>
          <p:cNvSpPr txBox="1"/>
          <p:nvPr/>
        </p:nvSpPr>
        <p:spPr>
          <a:xfrm>
            <a:off x="2880360" y="5559552"/>
            <a:ext cx="2011680" cy="329184"/>
          </a:xfrm>
          <a:prstGeom prst="rect">
            <a:avLst/>
          </a:prstGeom>
          <a:noFill/>
          <a:ln/>
        </p:spPr>
        <p:txBody>
          <a:bodyPr wrap="square" lIns="0" tIns="0" rIns="0" bIns="0" rtlCol="0" anchor="t"/>
          <a:lstStyle/>
          <a:p>
            <a:pPr marL="0" indent="0">
              <a:buNone/>
            </a:pPr>
            <a:r>
              <a:rPr lang="en-US" sz="1400" b="1">
                <a:solidFill>
                  <a:schemeClr val="tx2"/>
                </a:solidFill>
                <a:latin typeface="Cambria" pitchFamily="34" charset="0"/>
                <a:ea typeface="Cambria" pitchFamily="34" charset="-122"/>
                <a:cs typeface="Cambria" pitchFamily="34" charset="-120"/>
              </a:rPr>
              <a:t>+25 bps: 20.2% </a:t>
            </a:r>
            <a:r>
              <a:rPr lang="en-US" sz="1400" b="1" dirty="0">
                <a:solidFill>
                  <a:schemeClr val="tx2"/>
                </a:solidFill>
                <a:latin typeface="Cambria" pitchFamily="34" charset="0"/>
                <a:ea typeface="Cambria" pitchFamily="34" charset="-122"/>
                <a:cs typeface="Cambria" pitchFamily="34" charset="-120"/>
              </a:rPr>
              <a:t>→ 22.4%</a:t>
            </a:r>
            <a:endParaRPr lang="en-US" sz="1400" dirty="0"/>
          </a:p>
        </p:txBody>
      </p:sp>
      <p:sp>
        <p:nvSpPr>
          <p:cNvPr id="26" name="Text 22"/>
          <p:cNvSpPr txBox="1"/>
          <p:nvPr/>
        </p:nvSpPr>
        <p:spPr>
          <a:xfrm>
            <a:off x="2880360" y="5897880"/>
            <a:ext cx="2011680" cy="365760"/>
          </a:xfrm>
          <a:prstGeom prst="rect">
            <a:avLst/>
          </a:prstGeom>
          <a:noFill/>
          <a:ln/>
        </p:spPr>
        <p:txBody>
          <a:bodyPr wrap="square" lIns="0" tIns="0" rIns="0" bIns="0" rtlCol="0" anchor="t"/>
          <a:lstStyle/>
          <a:p>
            <a:pPr marL="0" indent="0">
              <a:buNone/>
            </a:pPr>
            <a:r>
              <a:rPr lang="en-US" sz="950">
                <a:solidFill>
                  <a:schemeClr val="accent4"/>
                </a:solidFill>
              </a:rPr>
              <a:t>+50 bps 6.0 </a:t>
            </a:r>
            <a:r>
              <a:rPr lang="en-US" sz="950" dirty="0">
                <a:solidFill>
                  <a:schemeClr val="accent4"/>
                </a:solidFill>
              </a:rPr>
              <a:t>→ 7.7; no change 70.9 → 67.6; cuts 3.0 → 2.3</a:t>
            </a:r>
            <a:endParaRPr lang="en-US" sz="95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15</a:t>
            </a:fld>
            <a:endParaRPr lang="en-US"/>
          </a:p>
        </p:txBody>
      </p:sp>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a:t>
            </a:r>
            <a:r>
              <a:rPr lang="en-US" sz="1300">
                <a:solidFill>
                  <a:srgbClr val="FFFFFF"/>
                </a:solidFill>
              </a:rPr>
              <a:t>: the opinion, grounded, </a:t>
            </a:r>
            <a:r>
              <a:rPr lang="en-US" sz="1300" dirty="0">
                <a:solidFill>
                  <a:srgbClr val="FFFFFF"/>
                </a:solidFill>
              </a:rPr>
              <a:t>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Write down three or four candidate weight sets now (for example market 0.6 / 0.5 / 0.7 with the rest redistributed). Score every set on every live decision with the same log score and Brier. The live set changes only by amendment, on that record. Weights stop being judgement without ever being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differing from what the models read. </a:t>
            </a:r>
          </a:p>
          <a:p>
            <a:pPr marL="0" indent="0">
              <a:buNone/>
            </a:pPr>
            <a:endParaRPr lang="en-US" sz="1000" dirty="0"/>
          </a:p>
          <a:p>
            <a:pPr marL="0" indent="0">
              <a:buNone/>
            </a:pPr>
            <a:r>
              <a:rPr lang="en-US" sz="1000" b="1" dirty="0">
                <a:solidFill>
                  <a:schemeClr val="tx1"/>
                </a:solidFill>
              </a:rPr>
              <a:t>A watch-out agent that scans for bank failures, funding stress and market dislocations and raises a typed watch-out every analyst must answer.</a:t>
            </a:r>
            <a:endParaRPr lang="en-US" sz="1000" b="1"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Further validation from second model family. (cheaper?)</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a:t>
            </a:r>
          </a:p>
          <a:p>
            <a:pPr marL="0" indent="0">
              <a:buNone/>
            </a:pPr>
            <a:r>
              <a:rPr lang="en-US" sz="1000" dirty="0">
                <a:solidFill>
                  <a:schemeClr val="tx1"/>
                </a:solidFill>
              </a:rPr>
              <a:t>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Scale: 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Improvement: 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a:solidFill>
                  <a:schemeClr val="tx1"/>
                </a:solidFill>
              </a:rPr>
              <a:t>Our probit scored poorly. The cause is the data: 68% of decisions are holds and the cuts bunch into a few episodes, so the model learns hold and misses the rest. Replace it with a model built for that imbalance (class weights, or an ordinal model that shrinks toward the base rate), tested only on decisions it has not seen. About 130 usable decisions, so small models.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752257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score because they output a score,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the analysts' score moves 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1. The score</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Five scores, one vote each, 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the mean score's 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 mean score +4.0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3072384"/>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385988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192024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dirty="0">
                <a:solidFill>
                  <a:schemeClr val="tx1"/>
                </a:solidFill>
              </a:rPr>
              <a:t>About 130 scheduled decisions with full features, roughly 250 in all; 68% are holds and the cuts cluster in three short episodes. On a sample that small and that unbalanced a boosted tree or a random forest memorises the episodes and a calibration curve on a few dozen non-hold cases is noise. The route is a better-specified small model: features written down before fitting, heavy regularisation, a reliability check beside the log score, the expanding window as the only judge. A regularised boosted model can be one pre-registered candidate, judged the same way.</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742894264"/>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TotalTime>
  <Words>7044</Words>
  <Application>Microsoft Office PowerPoint</Application>
  <PresentationFormat>Widescreen</PresentationFormat>
  <Paragraphs>620</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 Ensemble model</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score moves the number</vt:lpstr>
      <vt:lpstr>Appendix: the ordered probit, and why it sits at weight 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2026-10-29T18:23:39Z</dcterms:modified>
</cp:coreProperties>
</file>