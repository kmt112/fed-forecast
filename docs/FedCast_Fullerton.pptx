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5935FA0-F4E4-B090-9120-575EF2D70A08}">
          <p14:sldIdLst>
            <p14:sldId id="256"/>
            <p14:sldId id="257"/>
          </p14:sldIdLst>
        </p14:section>
        <p14:section name="Objective" id="{F04D9CC6-9F5C-F2A2-38D3-B45D22CB63A4}">
          <p14:sldIdLst>
            <p14:sldId id="258"/>
            <p14:sldId id="259"/>
            <p14:sldId id="260"/>
            <p14:sldId id="261"/>
            <p14:sldId id="262"/>
          </p14:sldIdLst>
        </p14:section>
        <p14:section name="How it works" id="{601A1573-D908-714A-31EF-98A3BD7215E3}">
          <p14:sldIdLst>
            <p14:sldId id="263"/>
            <p14:sldId id="264"/>
            <p14:sldId id="265"/>
          </p14:sldIdLst>
        </p14:section>
        <p14:section name="The harness" id="{5CA7BFD4-36B8-99D8-07C1-089EAAC56D42}">
          <p14:sldIdLst>
            <p14:sldId id="266"/>
            <p14:sldId id="267"/>
            <p14:sldId id="268"/>
          </p14:sldIdLst>
        </p14:section>
        <p14:section name="Evidence" id="{5B1EA1CB-D504-09EB-96D2-53A5F97C58A0}">
          <p14:sldIdLst>
            <p14:sldId id="269"/>
            <p14:sldId id="270"/>
            <p14:sldId id="271"/>
            <p14:sldId id="272"/>
            <p14:sldId id="273"/>
            <p14:sldId id="274"/>
            <p14:sldId id="275"/>
            <p14:sldId id="276"/>
          </p14:sldIdLst>
        </p14:section>
        <p14:section name="Limits and next" id="{88E3FD57-D065-9A81-1801-CE5E1C20F99F}">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S1: wobble between identical runs (pp)</c:v>
                </c:pt>
              </c:strCache>
            </c:strRef>
          </c:tx>
          <c:spPr>
            <a:solidFill>
              <a:srgbClr val="1E2761"/>
            </a:solidFill>
            <a:effectLst/>
          </c:spPr>
          <c:invertIfNegative val="0"/>
          <c:dLbls>
            <c:numFmt formatCode="0.0" sourceLinked="0"/>
            <c:spPr>
              <a:noFill/>
              <a:ln>
                <a:noFill/>
              </a:ln>
              <a:effectLst/>
            </c:spPr>
            <c:txPr>
              <a:bodyPr/>
              <a:lstStyle/>
              <a:p>
                <a:pPr>
                  <a:defRPr sz="1100" b="0" i="0" u="none" strike="noStrike">
                    <a:solidFill>
                      <a:srgbClr val="1B1F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question only</c:v>
                </c:pt>
                <c:pt idx="1">
                  <c:v>2: + evidence</c:v>
                </c:pt>
                <c:pt idx="2">
                  <c:v>3: + shape, verifier</c:v>
                </c:pt>
                <c:pt idx="3">
                  <c:v>4-8: + one slice each</c:v>
                </c:pt>
              </c:strCache>
            </c:strRef>
          </c:cat>
          <c:val>
            <c:numRef>
              <c:f>Sheet1!$B$2:$B$5</c:f>
              <c:numCache>
                <c:formatCode>General</c:formatCode>
                <c:ptCount val="4"/>
                <c:pt idx="0">
                  <c:v>4.2</c:v>
                </c:pt>
                <c:pt idx="1">
                  <c:v>3.5</c:v>
                </c:pt>
                <c:pt idx="2">
                  <c:v>0.6</c:v>
                </c:pt>
                <c:pt idx="3">
                  <c:v>0.8</c:v>
                </c:pt>
              </c:numCache>
            </c:numRef>
          </c:val>
          <c:extLst>
            <c:ext xmlns:c16="http://schemas.microsoft.com/office/drawing/2014/chart" uri="{C3380CC4-5D6E-409C-BE32-E72D297353CC}">
              <c16:uniqueId val="{00000000-D624-4001-857F-063BBF8F9D0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1B1F2A"/>
                </a:solidFill>
                <a:latin typeface="Arial"/>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S3: numbers from memory (count)</c:v>
                </c:pt>
              </c:strCache>
            </c:strRef>
          </c:tx>
          <c:spPr>
            <a:solidFill>
              <a:srgbClr val="1E2761"/>
            </a:solidFill>
            <a:effectLst/>
          </c:spPr>
          <c:invertIfNegative val="0"/>
          <c:dLbls>
            <c:numFmt formatCode="0" sourceLinked="0"/>
            <c:spPr>
              <a:noFill/>
              <a:ln>
                <a:noFill/>
              </a:ln>
              <a:effectLst/>
            </c:spPr>
            <c:txPr>
              <a:bodyPr/>
              <a:lstStyle/>
              <a:p>
                <a:pPr>
                  <a:defRPr sz="1100" b="0" i="0" u="none" strike="noStrike">
                    <a:solidFill>
                      <a:srgbClr val="1B1F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question only</c:v>
                </c:pt>
                <c:pt idx="1">
                  <c:v>2: + evidence</c:v>
                </c:pt>
                <c:pt idx="2">
                  <c:v>3: + shape, verifier</c:v>
                </c:pt>
                <c:pt idx="3">
                  <c:v>4-8: + one slice each</c:v>
                </c:pt>
              </c:strCache>
            </c:strRef>
          </c:cat>
          <c:val>
            <c:numRef>
              <c:f>Sheet1!$B$2:$B$5</c:f>
              <c:numCache>
                <c:formatCode>General</c:formatCode>
                <c:ptCount val="4"/>
                <c:pt idx="0">
                  <c:v>37</c:v>
                </c:pt>
                <c:pt idx="1">
                  <c:v>0</c:v>
                </c:pt>
                <c:pt idx="2">
                  <c:v>0</c:v>
                </c:pt>
                <c:pt idx="3">
                  <c:v>0</c:v>
                </c:pt>
              </c:numCache>
            </c:numRef>
          </c:val>
          <c:extLst>
            <c:ext xmlns:c16="http://schemas.microsoft.com/office/drawing/2014/chart" uri="{C3380CC4-5D6E-409C-BE32-E72D297353CC}">
              <c16:uniqueId val="{00000000-4F9A-4664-9EC9-5BCF136A3B7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1B1F2A"/>
                </a:solidFill>
                <a:latin typeface="Arial"/>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S2: claims with a verbatim quote (%)</c:v>
                </c:pt>
              </c:strCache>
            </c:strRef>
          </c:tx>
          <c:spPr>
            <a:solidFill>
              <a:srgbClr val="1E2761"/>
            </a:solidFill>
            <a:effectLst/>
          </c:spPr>
          <c:invertIfNegative val="0"/>
          <c:dLbls>
            <c:numFmt formatCode="0.0" sourceLinked="0"/>
            <c:spPr>
              <a:noFill/>
              <a:ln>
                <a:noFill/>
              </a:ln>
              <a:effectLst/>
            </c:spPr>
            <c:txPr>
              <a:bodyPr/>
              <a:lstStyle/>
              <a:p>
                <a:pPr>
                  <a:defRPr sz="1100" b="0" i="0" u="none" strike="noStrike">
                    <a:solidFill>
                      <a:srgbClr val="1B1F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question only</c:v>
                </c:pt>
                <c:pt idx="1">
                  <c:v>3: + shape, verifier</c:v>
                </c:pt>
                <c:pt idx="2">
                  <c:v>4-8: + one slice each</c:v>
                </c:pt>
              </c:strCache>
            </c:strRef>
          </c:cat>
          <c:val>
            <c:numRef>
              <c:f>Sheet1!$B$2:$B$4</c:f>
              <c:numCache>
                <c:formatCode>General</c:formatCode>
                <c:ptCount val="3"/>
                <c:pt idx="0">
                  <c:v>0</c:v>
                </c:pt>
                <c:pt idx="1">
                  <c:v>99.7</c:v>
                </c:pt>
                <c:pt idx="2">
                  <c:v>99.2</c:v>
                </c:pt>
              </c:numCache>
            </c:numRef>
          </c:val>
          <c:extLst>
            <c:ext xmlns:c16="http://schemas.microsoft.com/office/drawing/2014/chart" uri="{C3380CC4-5D6E-409C-BE32-E72D297353CC}">
              <c16:uniqueId val="{00000000-E304-4A27-B405-4833308546B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1B1F2A"/>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9145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session: start the app (fedcast ui), press Pull evidence then Run forecast so the top bar reads 'under an hour ago', open the Forecast view, and have the Evidence graph, Analyst prompts, Analyst results and Scorecard tabs one click away. Open with the one-line thesis: a language model inside an engineered harness gives forecasts that are measurably more repeatable and more faithful to evidence than the same model asked naively, and the way to prove it is to measure the process, not to wait for eight decisions a year to come true.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 thread: every system on the right put a model's output in front of people making live decisions, and the hard part was never the model, it was earning trust in what it said. FedCast is that problem made explicit and measurable.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944271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 narrow on purpose: what will the FOMC decide at its next scheduled meeting, as probabilities over five outcomes. Today's answer is on the left. On the right is the point: the market alone says 90/10; the system says 71/23 and can show every step from evidence to that number.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one minute. The point is only that the number exists, is dated, and is traceable. Do not explain the models yet.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First, accuracy is the wrong yardstick at this horizon: eight decisions a year, and the market already gets most of them right, so a good year proves nothing. Second, what a desk can use is a number whose every input it can see and challenge. Third, the harness is the asset: the same machine can target the December meeting, the year-end rate, or a different central bank, and the controls tell you whether it is still working.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comparison. At thirty days the futures market, read through CME FedWatch, calls about 88% of decisions right over thirty years, and nothing here claims to beat that. The academic LLM papers report higher accuracy but on sixteen meetings, with no replay and no verification of what the model read. The gap we fill is the right-hand column: not a better guess, a checkable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properties, each enforced by code, each measured. Say them slowly; they are the whole design.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boxes are code and deterministic. The orange box is the language model, which may lean the number but never writes it. The green box is the human. Walk it left to right; every box is a view in the app.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arithmetic for entry 16. The pool is a weighted average, then the floor. The specialists' mean lean of +4.4 basis points becomes 4.4 points of probability moved toward a hike, through the same capped mechanism a human view uses.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longest demo. Start at the raw futures price so the audience sees arithmetic, not a black box. Then the pool box, then one click into an evidence item to show the frozen text.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explains what harnessing means. The same model is run eight ways on the same snapshot. Analyst 1 gets nothing but the question: that is what the model does on its own, the control. Each step up adds exactly one thing, so the score difference between neighbouring steps is the value of that thing. Analysts 1 and 2 are meant to fail; the tool is judged on 3 and 4 to 8.</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mechanisms. None of them is clever; together they are what makes a language model's output usable in a forecast.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analyst 1 first so the contrast with analyst 6 lands. Scroll the full prompt slowly past the schema and the pre-read; do not read it out.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as an evolution. Analyst 1 wobbles by three to five points between identical runs, cites nothing, and leaks three dozen numbers from memory; it still thinks the Fed is cutting. Adding the evidence (analyst 2) removes the leaks but not the wobble, and nothing can be checked. Adding the answer shape and the verifier (analyst 3) is the step that makes the output stable and fully verifiable. Specialists (4 to 8) keep that and add attribution. Same model, same day; the difference at each step is the one thing added.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charts, one per dimension, averaged over the four snapshots. Left: how much the answer moves between identical runs. The step that matters is analyst 2 to analyst 3: the answer shape and the verifier take the wobble from three and a half points to under one. Middle: numbers from memory, gone as soon as the evidence is shown. Right: share of claims whose quote code found verbatim; analyst 2 cannot be measured because it quotes nothing. The specialists keep what analyst 3 achieved. For analysts 3 to 8 the wobble is in their lean, which maps one basis point to one percentage point of probability, so the four bars are comparable.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Each specialist's lean, and one real claim with the quote code matched. The labour analyst is the one that does not lean hawkish, and because it is a separate reader that dissent is visible rather than averaged away.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signal.tone claim on analyst 4 if asked where a quote comes from: it is the pre-read, our arithmetic over the two statements.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dimensions fixed before any forecasting code existed. Eight are now measured automatically on each new snapshot. The over-time table is the drift check: the marks never move, so a cell that turns red is a change in the system. It has already caught two things, bottom right.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skip the dropdown and go straight to the over-time table.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amendments in five weeks, each logged with its reason, each changing the spec hash pinned in the tests. The point of the timeline is that every change to the method is visible and dated, and that the number can be recomputed under the spec it was made with.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Press the button, read the result line, move 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before anyone asks. There is no live record: the first scored decision is 28 October. The weights are judgement, logged, not fitted. The probit is kept out. The sample behind every quant model is small and unbalanced. And at five weeks the market is the anchor, not the competitor.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follow-ups worth discussing with the room. Live scoring is built and the first record lands the morning after the decision. Longer windows are where reading evidence should matter more: for the December meeting the market already prices a hike at three in four, and the year-end rate is open. And an events agent for regime shifts: the cuts of 1987, 1998, 2008 and 2020 were driven by financial stress, not by the data the models read; the base-rates pre-read already lists the intermeeting moves, and a watch-out agent could flag when conditions look like those episodes.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The forecast for 28 October is on file; the scoring is automatic from here; what the room can add is scrutiny and the next target.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76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03120"/>
            <a:ext cx="11091672" cy="12801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3520440"/>
            <a:ext cx="11091672" cy="1463040"/>
          </a:xfrm>
          <a:prstGeom prst="rect">
            <a:avLst/>
          </a:prstGeom>
          <a:noFill/>
          <a:ln/>
        </p:spPr>
        <p:txBody>
          <a:bodyPr wrap="square" rtlCol="0"/>
          <a:lstStyle>
            <a:lvl1pPr marL="0" indent="0" algn="l">
              <a:buNone/>
              <a:defRPr lang="en-US" sz="2000" dirty="0">
                <a:solidFill>
                  <a:srgbClr val="CADCFC"/>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4"/>
                </a:solidFill>
              </a:rPr>
              <a:t>FedCast · Fullerton session ·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MO">
    <p:bg>
      <p:bgPr>
        <a:solidFill>
          <a:srgbClr val="1B1F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48640"/>
            <a:ext cx="11091672" cy="82296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3" name="Text 0"/>
          <p:cNvSpPr txBox="1"/>
          <p:nvPr/>
        </p:nvSpPr>
        <p:spPr>
          <a:xfrm>
            <a:off x="548640" y="6355080"/>
            <a:ext cx="3657600" cy="274320"/>
          </a:xfrm>
          <a:prstGeom prst="rect">
            <a:avLst/>
          </a:prstGeom>
          <a:noFill/>
          <a:ln/>
        </p:spPr>
        <p:txBody>
          <a:bodyPr wrap="square" lIns="0" tIns="0" rIns="0" bIns="0" rtlCol="0" anchor="ctr"/>
          <a:lstStyle/>
          <a:p>
            <a:pPr marL="0" indent="0">
              <a:buNone/>
            </a:pPr>
            <a:r>
              <a:rPr lang="en-US" sz="1000" b="1" dirty="0">
                <a:solidFill>
                  <a:srgbClr val="E9B44C"/>
                </a:solidFill>
              </a:rPr>
              <a:t>LIVE DEMO</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chart" Target="../charts/chart3.xml"/><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03120"/>
            <a:ext cx="11091672" cy="1280160"/>
          </a:xfrm>
          <a:prstGeom prst="rect">
            <a:avLst/>
          </a:prstGeom>
          <a:noFill/>
          <a:ln/>
        </p:spPr>
        <p:txBody>
          <a:bodyPr wrap="square" lIns="0" tIns="0" rIns="0" bIns="0" rtlCol="0" anchor="b"/>
          <a:lstStyle/>
          <a:p>
            <a:pPr marL="0" indent="0" algn="l">
              <a:buNone/>
            </a:pPr>
            <a:r>
              <a:rPr lang="en-US" sz="4000" b="1" dirty="0">
                <a:solidFill>
                  <a:schemeClr val="bg1"/>
                </a:solidFill>
              </a:rPr>
              <a:t>FedCast</a:t>
            </a:r>
            <a:endParaRPr lang="en-US" sz="4000" dirty="0"/>
          </a:p>
        </p:txBody>
      </p:sp>
      <p:sp>
        <p:nvSpPr>
          <p:cNvPr id="3" name="Text 0"/>
          <p:cNvSpPr>
            <a:spLocks noGrp="1"/>
          </p:cNvSpPr>
          <p:nvPr>
            <p:ph type="body" idx="101" hasCustomPrompt="1"/>
          </p:nvPr>
        </p:nvSpPr>
        <p:spPr>
          <a:xfrm>
            <a:off x="548640" y="3520440"/>
            <a:ext cx="11091672" cy="1463040"/>
          </a:xfrm>
          <a:prstGeom prst="rect">
            <a:avLst/>
          </a:prstGeom>
          <a:noFill/>
          <a:ln/>
        </p:spPr>
        <p:txBody>
          <a:bodyPr wrap="square" lIns="0" tIns="0" rIns="0" bIns="0" rtlCol="0" anchor="t"/>
          <a:lstStyle/>
          <a:p>
            <a:pPr marL="0" indent="0" algn="l">
              <a:buNone/>
            </a:pPr>
            <a:r>
              <a:rPr lang="en-US" sz="2000" dirty="0">
                <a:solidFill>
                  <a:srgbClr val="CADCFC"/>
                </a:solidFill>
              </a:rPr>
              <a:t>A forecaster for the next Federal Reserve rate decision, built to be judged by its process rather than its luck</a:t>
            </a:r>
            <a:endParaRPr lang="en-US" sz="2000" dirty="0"/>
          </a:p>
        </p:txBody>
      </p:sp>
      <p:sp>
        <p:nvSpPr>
          <p:cNvPr id="4" name="Text 2"/>
          <p:cNvSpPr txBox="1"/>
          <p:nvPr/>
        </p:nvSpPr>
        <p:spPr>
          <a:xfrm>
            <a:off x="548640" y="5852160"/>
            <a:ext cx="7315200" cy="365760"/>
          </a:xfrm>
          <a:prstGeom prst="rect">
            <a:avLst/>
          </a:prstGeom>
          <a:noFill/>
          <a:ln/>
        </p:spPr>
        <p:txBody>
          <a:bodyPr wrap="square" lIns="0" tIns="0" rIns="0" bIns="0" rtlCol="0" anchor="t"/>
          <a:lstStyle/>
          <a:p>
            <a:pPr marL="0" indent="0">
              <a:buNone/>
            </a:pPr>
            <a:r>
              <a:rPr lang="en-US" sz="1400" dirty="0">
                <a:solidFill>
                  <a:srgbClr val="CADCFC"/>
                </a:solidFill>
              </a:rPr>
              <a:t>Tan Kah Ming · Fullerton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About me</a:t>
            </a:r>
            <a:endParaRPr lang="en-US" sz="3200" dirty="0"/>
          </a:p>
        </p:txBody>
      </p:sp>
      <p:sp>
        <p:nvSpPr>
          <p:cNvPr id="4" name="Shape 1"/>
          <p:cNvSpPr/>
          <p:nvPr/>
        </p:nvSpPr>
        <p:spPr>
          <a:xfrm>
            <a:off x="548640" y="1417320"/>
            <a:ext cx="4480560" cy="4663440"/>
          </a:xfrm>
          <a:prstGeom prst="roundRect">
            <a:avLst>
              <a:gd name="adj" fmla="val 2449"/>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5" name="Text 2"/>
          <p:cNvSpPr txBox="1"/>
          <p:nvPr/>
        </p:nvSpPr>
        <p:spPr>
          <a:xfrm>
            <a:off x="868680" y="1645920"/>
            <a:ext cx="3840480" cy="502920"/>
          </a:xfrm>
          <a:prstGeom prst="rect">
            <a:avLst/>
          </a:prstGeom>
          <a:noFill/>
          <a:ln/>
        </p:spPr>
        <p:txBody>
          <a:bodyPr wrap="square" lIns="0" tIns="0" rIns="0" bIns="0" rtlCol="0" anchor="t"/>
          <a:lstStyle/>
          <a:p>
            <a:pPr marL="0" indent="0">
              <a:buNone/>
            </a:pPr>
            <a:r>
              <a:rPr lang="en-US" sz="2400" b="1" dirty="0">
                <a:solidFill>
                  <a:schemeClr val="tx2"/>
                </a:solidFill>
                <a:latin typeface="Cambria" pitchFamily="34" charset="0"/>
                <a:ea typeface="Cambria" pitchFamily="34" charset="-122"/>
                <a:cs typeface="Cambria" pitchFamily="34" charset="-120"/>
              </a:rPr>
              <a:t>Tan Kah Ming</a:t>
            </a:r>
            <a:endParaRPr lang="en-US" sz="2400" dirty="0"/>
          </a:p>
        </p:txBody>
      </p:sp>
      <p:sp>
        <p:nvSpPr>
          <p:cNvPr id="6" name="Text 3"/>
          <p:cNvSpPr txBox="1"/>
          <p:nvPr/>
        </p:nvSpPr>
        <p:spPr>
          <a:xfrm>
            <a:off x="868680" y="2194560"/>
            <a:ext cx="3840480" cy="731520"/>
          </a:xfrm>
          <a:prstGeom prst="rect">
            <a:avLst/>
          </a:prstGeom>
          <a:noFill/>
          <a:ln/>
        </p:spPr>
        <p:txBody>
          <a:bodyPr wrap="square" lIns="0" tIns="0" rIns="0" bIns="0" rtlCol="0" anchor="t"/>
          <a:lstStyle/>
          <a:p>
            <a:pPr marL="0" indent="0">
              <a:buNone/>
            </a:pPr>
            <a:r>
              <a:rPr lang="en-US" sz="1250" dirty="0">
                <a:solidFill>
                  <a:schemeClr val="tx1"/>
                </a:solidFill>
              </a:rPr>
              <a:t>Senior AI, Data and Technology Consultant, seconded to </a:t>
            </a:r>
            <a:r>
              <a:rPr lang="en-US" sz="1250" dirty="0"/>
              <a:t>Sovereign Wealth Fund. </a:t>
            </a:r>
          </a:p>
        </p:txBody>
      </p:sp>
      <p:sp>
        <p:nvSpPr>
          <p:cNvPr id="7" name="Text 4"/>
          <p:cNvSpPr txBox="1"/>
          <p:nvPr/>
        </p:nvSpPr>
        <p:spPr>
          <a:xfrm>
            <a:off x="868680" y="3017520"/>
            <a:ext cx="3840480" cy="320040"/>
          </a:xfrm>
          <a:prstGeom prst="rect">
            <a:avLst/>
          </a:prstGeom>
          <a:noFill/>
          <a:ln/>
        </p:spPr>
        <p:txBody>
          <a:bodyPr wrap="square" lIns="0" tIns="0" rIns="0" bIns="0" rtlCol="0" anchor="t"/>
          <a:lstStyle/>
          <a:p>
            <a:pPr marL="0" indent="0">
              <a:buNone/>
            </a:pPr>
            <a:r>
              <a:rPr lang="en-US" sz="1200" b="1" dirty="0">
                <a:solidFill>
                  <a:schemeClr val="tx2"/>
                </a:solidFill>
              </a:rPr>
              <a:t>Before that</a:t>
            </a:r>
            <a:endParaRPr lang="en-US" sz="1200" dirty="0"/>
          </a:p>
        </p:txBody>
      </p:sp>
      <p:sp>
        <p:nvSpPr>
          <p:cNvPr id="8" name="Text 5"/>
          <p:cNvSpPr txBox="1"/>
          <p:nvPr/>
        </p:nvSpPr>
        <p:spPr>
          <a:xfrm>
            <a:off x="868680" y="3337560"/>
            <a:ext cx="3840480" cy="12801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1"/>
                </a:solidFill>
              </a:rPr>
              <a:t>Data scientist, RSAF Data Office: </a:t>
            </a:r>
            <a:r>
              <a:rPr lang="en-US" sz="1150" dirty="0"/>
              <a:t>contributed to RSAF AI Strategy</a:t>
            </a:r>
            <a:r>
              <a:rPr lang="en-US" sz="1150" dirty="0">
                <a:solidFill>
                  <a:schemeClr val="tx1"/>
                </a:solidFill>
              </a:rPr>
              <a:t>, set up its first digital unit</a:t>
            </a:r>
            <a:endParaRPr lang="en-US" sz="1150" dirty="0"/>
          </a:p>
          <a:p>
            <a:pPr marL="342900" indent="-342900">
              <a:spcAft>
                <a:spcPts val="600"/>
              </a:spcAft>
              <a:buSzPct val="100000"/>
              <a:buChar char="•"/>
            </a:pPr>
            <a:r>
              <a:rPr lang="en-US" sz="1150" dirty="0">
                <a:solidFill>
                  <a:schemeClr val="tx1"/>
                </a:solidFill>
              </a:rPr>
              <a:t>Air engineering and weapons logistics officer, where the data-driven habit started (Weibull analysis, predictive maintenance)</a:t>
            </a:r>
            <a:endParaRPr lang="en-US" sz="1150" dirty="0"/>
          </a:p>
        </p:txBody>
      </p:sp>
      <p:sp>
        <p:nvSpPr>
          <p:cNvPr id="9" name="Text 6"/>
          <p:cNvSpPr txBox="1"/>
          <p:nvPr/>
        </p:nvSpPr>
        <p:spPr>
          <a:xfrm>
            <a:off x="868680" y="4663440"/>
            <a:ext cx="3840480" cy="320040"/>
          </a:xfrm>
          <a:prstGeom prst="rect">
            <a:avLst/>
          </a:prstGeom>
          <a:noFill/>
          <a:ln/>
        </p:spPr>
        <p:txBody>
          <a:bodyPr wrap="square" lIns="0" tIns="0" rIns="0" bIns="0" rtlCol="0" anchor="t"/>
          <a:lstStyle/>
          <a:p>
            <a:pPr marL="0" indent="0">
              <a:buNone/>
            </a:pPr>
            <a:r>
              <a:rPr lang="en-US" sz="1200" b="1" dirty="0">
                <a:solidFill>
                  <a:schemeClr val="tx2"/>
                </a:solidFill>
              </a:rPr>
              <a:t>Training</a:t>
            </a:r>
            <a:endParaRPr lang="en-US" sz="1200" dirty="0"/>
          </a:p>
        </p:txBody>
      </p:sp>
      <p:sp>
        <p:nvSpPr>
          <p:cNvPr id="10" name="Text 7"/>
          <p:cNvSpPr txBox="1"/>
          <p:nvPr/>
        </p:nvSpPr>
        <p:spPr>
          <a:xfrm>
            <a:off x="868680" y="4983480"/>
            <a:ext cx="3840480" cy="1005840"/>
          </a:xfrm>
          <a:prstGeom prst="rect">
            <a:avLst/>
          </a:prstGeom>
          <a:noFill/>
          <a:ln/>
        </p:spPr>
        <p:txBody>
          <a:bodyPr wrap="square" lIns="0" tIns="0" rIns="0" bIns="0" rtlCol="0" anchor="t"/>
          <a:lstStyle/>
          <a:p>
            <a:pPr marL="0" indent="0">
              <a:buNone/>
            </a:pPr>
            <a:r>
              <a:rPr lang="en-US" sz="1150" dirty="0">
                <a:solidFill>
                  <a:schemeClr val="tx1"/>
                </a:solidFill>
              </a:rPr>
              <a:t>M.Eng Aeronautical Engineering, Imperial College London · Graduate Certificate in Predictive Analytics, NUS · CFA Level 3 candidate (February 2027)</a:t>
            </a:r>
            <a:endParaRPr lang="en-US" sz="1150" dirty="0"/>
          </a:p>
        </p:txBody>
      </p:sp>
      <p:sp>
        <p:nvSpPr>
          <p:cNvPr id="11" name="Text 8"/>
          <p:cNvSpPr txBox="1"/>
          <p:nvPr/>
        </p:nvSpPr>
        <p:spPr>
          <a:xfrm>
            <a:off x="5394960" y="1463040"/>
            <a:ext cx="6263640" cy="411480"/>
          </a:xfrm>
          <a:prstGeom prst="rect">
            <a:avLst/>
          </a:prstGeom>
          <a:noFill/>
          <a:ln/>
        </p:spPr>
        <p:txBody>
          <a:bodyPr wrap="square" lIns="0" tIns="0" rIns="0" bIns="0" rtlCol="0" anchor="t"/>
          <a:lstStyle/>
          <a:p>
            <a:pPr marL="0" indent="0">
              <a:buNone/>
            </a:pPr>
            <a:r>
              <a:rPr lang="en-US" sz="1600" b="1" dirty="0">
                <a:solidFill>
                  <a:schemeClr val="tx2"/>
                </a:solidFill>
              </a:rPr>
              <a:t>Things I have built that models/Applications in</a:t>
            </a:r>
            <a:endParaRPr lang="en-US" sz="1600" dirty="0"/>
          </a:p>
        </p:txBody>
      </p:sp>
      <p:sp>
        <p:nvSpPr>
          <p:cNvPr id="12" name="Shape 9"/>
          <p:cNvSpPr/>
          <p:nvPr/>
        </p:nvSpPr>
        <p:spPr>
          <a:xfrm>
            <a:off x="5394960" y="2011680"/>
            <a:ext cx="384048" cy="384048"/>
          </a:xfrm>
          <a:prstGeom prst="ellipse">
            <a:avLst/>
          </a:prstGeom>
          <a:solidFill>
            <a:srgbClr val="1E2761"/>
          </a:solidFill>
          <a:ln w="12700">
            <a:solidFill>
              <a:srgbClr val="1E2761"/>
            </a:solidFill>
            <a:prstDash val="solid"/>
          </a:ln>
        </p:spPr>
      </p:sp>
      <p:sp>
        <p:nvSpPr>
          <p:cNvPr id="13" name="Text 10"/>
          <p:cNvSpPr txBox="1"/>
          <p:nvPr/>
        </p:nvSpPr>
        <p:spPr>
          <a:xfrm>
            <a:off x="5394960" y="201168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4" name="Text 11"/>
          <p:cNvSpPr txBox="1"/>
          <p:nvPr/>
        </p:nvSpPr>
        <p:spPr>
          <a:xfrm>
            <a:off x="5897880" y="1965960"/>
            <a:ext cx="5760720" cy="320040"/>
          </a:xfrm>
          <a:prstGeom prst="rect">
            <a:avLst/>
          </a:prstGeom>
          <a:noFill/>
          <a:ln/>
        </p:spPr>
        <p:txBody>
          <a:bodyPr wrap="square" lIns="0" tIns="0" rIns="0" bIns="0" rtlCol="0" anchor="t"/>
          <a:lstStyle/>
          <a:p>
            <a:pPr marL="0" indent="0">
              <a:buNone/>
            </a:pPr>
            <a:r>
              <a:rPr lang="en-US" sz="1300" b="1" dirty="0">
                <a:solidFill>
                  <a:schemeClr val="tx2"/>
                </a:solidFill>
              </a:rPr>
              <a:t>Investment analytics, valuation and execution</a:t>
            </a:r>
            <a:endParaRPr lang="en-US" sz="1300" dirty="0"/>
          </a:p>
        </p:txBody>
      </p:sp>
      <p:sp>
        <p:nvSpPr>
          <p:cNvPr id="15" name="Text 12"/>
          <p:cNvSpPr txBox="1"/>
          <p:nvPr/>
        </p:nvSpPr>
        <p:spPr>
          <a:xfrm>
            <a:off x="5879592" y="2234363"/>
            <a:ext cx="5760720" cy="713232"/>
          </a:xfrm>
          <a:prstGeom prst="rect">
            <a:avLst/>
          </a:prstGeom>
          <a:noFill/>
          <a:ln/>
        </p:spPr>
        <p:txBody>
          <a:bodyPr wrap="square" lIns="0" tIns="0" rIns="0" bIns="0" rtlCol="0" anchor="t"/>
          <a:lstStyle/>
          <a:p>
            <a:pPr lvl="0"/>
            <a:r>
              <a:rPr lang="en-US" sz="1050" b="1" dirty="0"/>
              <a:t>Investment analytics:</a:t>
            </a:r>
            <a:r>
              <a:rPr lang="en-US" sz="1050" dirty="0"/>
              <a:t> AI-assisted performance attribution and idea tracking for an investment team.</a:t>
            </a:r>
          </a:p>
          <a:p>
            <a:pPr lvl="0"/>
            <a:r>
              <a:rPr lang="en-US" sz="1050" b="1" dirty="0"/>
              <a:t>Valuation:</a:t>
            </a:r>
            <a:r>
              <a:rPr lang="en-US" sz="1050" dirty="0"/>
              <a:t> Machine-learning valuation for illiquid assets.</a:t>
            </a:r>
          </a:p>
          <a:p>
            <a:pPr lvl="0"/>
            <a:r>
              <a:rPr lang="en-US" sz="1050" b="1" dirty="0"/>
              <a:t>Execution:</a:t>
            </a:r>
            <a:r>
              <a:rPr lang="en-US" sz="1050" dirty="0"/>
              <a:t> Trade workflow automation for investment teams.</a:t>
            </a:r>
          </a:p>
        </p:txBody>
      </p:sp>
      <p:sp>
        <p:nvSpPr>
          <p:cNvPr id="20" name="Shape 17"/>
          <p:cNvSpPr/>
          <p:nvPr/>
        </p:nvSpPr>
        <p:spPr>
          <a:xfrm>
            <a:off x="5394960" y="3377722"/>
            <a:ext cx="384048" cy="384048"/>
          </a:xfrm>
          <a:prstGeom prst="ellipse">
            <a:avLst/>
          </a:prstGeom>
          <a:solidFill>
            <a:srgbClr val="1E2761"/>
          </a:solidFill>
          <a:ln w="12700">
            <a:solidFill>
              <a:srgbClr val="1E2761"/>
            </a:solidFill>
            <a:prstDash val="solid"/>
          </a:ln>
        </p:spPr>
      </p:sp>
      <p:sp>
        <p:nvSpPr>
          <p:cNvPr id="21" name="Text 18"/>
          <p:cNvSpPr txBox="1"/>
          <p:nvPr/>
        </p:nvSpPr>
        <p:spPr>
          <a:xfrm>
            <a:off x="5394960" y="337772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2" name="Text 19"/>
          <p:cNvSpPr txBox="1"/>
          <p:nvPr/>
        </p:nvSpPr>
        <p:spPr>
          <a:xfrm>
            <a:off x="5897880" y="3332002"/>
            <a:ext cx="5760720" cy="320040"/>
          </a:xfrm>
          <a:prstGeom prst="rect">
            <a:avLst/>
          </a:prstGeom>
          <a:noFill/>
          <a:ln/>
        </p:spPr>
        <p:txBody>
          <a:bodyPr wrap="square" lIns="0" tIns="0" rIns="0" bIns="0" rtlCol="0" anchor="t"/>
          <a:lstStyle/>
          <a:p>
            <a:pPr marL="0" indent="0">
              <a:buNone/>
            </a:pPr>
            <a:r>
              <a:rPr lang="en-US" sz="1300" b="1" dirty="0">
                <a:solidFill>
                  <a:schemeClr val="tx2"/>
                </a:solidFill>
              </a:rPr>
              <a:t>Data Science </a:t>
            </a:r>
            <a:endParaRPr lang="en-US" sz="1300" dirty="0"/>
          </a:p>
        </p:txBody>
      </p:sp>
      <p:sp>
        <p:nvSpPr>
          <p:cNvPr id="23" name="Text 20"/>
          <p:cNvSpPr txBox="1"/>
          <p:nvPr/>
        </p:nvSpPr>
        <p:spPr>
          <a:xfrm>
            <a:off x="5897880" y="3652042"/>
            <a:ext cx="5760720" cy="713232"/>
          </a:xfrm>
          <a:prstGeom prst="rect">
            <a:avLst/>
          </a:prstGeom>
          <a:noFill/>
          <a:ln/>
        </p:spPr>
        <p:txBody>
          <a:bodyPr wrap="square" lIns="0" tIns="0" rIns="0" bIns="0" rtlCol="0" anchor="t"/>
          <a:lstStyle/>
          <a:p>
            <a:pPr marL="0" indent="0">
              <a:buNone/>
            </a:pPr>
            <a:r>
              <a:rPr lang="en-US" sz="1050" dirty="0">
                <a:solidFill>
                  <a:schemeClr val="tx1"/>
                </a:solidFill>
              </a:rPr>
              <a:t>- 4th of 160+ teams (MIT, DoD, USAF) in the 2023 USAF AI Accelerator, predicting pilot flying difficulty from physiology; </a:t>
            </a:r>
          </a:p>
          <a:p>
            <a:pPr marL="0" indent="0">
              <a:buNone/>
            </a:pPr>
            <a:r>
              <a:rPr lang="en-US" sz="1050" dirty="0"/>
              <a:t>- A</a:t>
            </a:r>
            <a:r>
              <a:rPr lang="en-US" sz="1050" dirty="0">
                <a:solidFill>
                  <a:schemeClr val="tx1"/>
                </a:solidFill>
              </a:rPr>
              <a:t>n ammunition recommender (quantile LightGBM) that cut wastage with no shortfall</a:t>
            </a:r>
            <a:r>
              <a:rPr lang="en-US" sz="1050" dirty="0"/>
              <a:t> -&gt; </a:t>
            </a:r>
            <a:r>
              <a:rPr lang="en-US" sz="1050" dirty="0" err="1">
                <a:solidFill>
                  <a:schemeClr val="tx1"/>
                </a:solidFill>
              </a:rPr>
              <a:t>Defence</a:t>
            </a:r>
            <a:r>
              <a:rPr lang="en-US" sz="1050" dirty="0">
                <a:solidFill>
                  <a:schemeClr val="tx1"/>
                </a:solidFill>
              </a:rPr>
              <a:t> Manpower Committee Innovation Award 2022.</a:t>
            </a:r>
            <a:endParaRPr lang="en-US" sz="1050" dirty="0"/>
          </a:p>
        </p:txBody>
      </p:sp>
      <p:sp>
        <p:nvSpPr>
          <p:cNvPr id="24" name="Shape 21"/>
          <p:cNvSpPr/>
          <p:nvPr/>
        </p:nvSpPr>
        <p:spPr>
          <a:xfrm>
            <a:off x="5394960" y="4809744"/>
            <a:ext cx="384048" cy="384048"/>
          </a:xfrm>
          <a:prstGeom prst="ellipse">
            <a:avLst/>
          </a:prstGeom>
          <a:solidFill>
            <a:srgbClr val="1E2761"/>
          </a:solidFill>
          <a:ln w="12700">
            <a:solidFill>
              <a:srgbClr val="1E2761"/>
            </a:solidFill>
            <a:prstDash val="solid"/>
          </a:ln>
        </p:spPr>
      </p:sp>
      <p:sp>
        <p:nvSpPr>
          <p:cNvPr id="25" name="Text 22"/>
          <p:cNvSpPr txBox="1"/>
          <p:nvPr/>
        </p:nvSpPr>
        <p:spPr>
          <a:xfrm>
            <a:off x="5394960" y="4809744"/>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6" name="Text 23"/>
          <p:cNvSpPr txBox="1"/>
          <p:nvPr/>
        </p:nvSpPr>
        <p:spPr>
          <a:xfrm>
            <a:off x="5897880" y="4764024"/>
            <a:ext cx="5760720" cy="320040"/>
          </a:xfrm>
          <a:prstGeom prst="rect">
            <a:avLst/>
          </a:prstGeom>
          <a:noFill/>
          <a:ln/>
        </p:spPr>
        <p:txBody>
          <a:bodyPr wrap="square" lIns="0" tIns="0" rIns="0" bIns="0" rtlCol="0" anchor="t"/>
          <a:lstStyle/>
          <a:p>
            <a:pPr marL="0" indent="0">
              <a:buNone/>
            </a:pPr>
            <a:r>
              <a:rPr lang="en-US" sz="1300" b="1" dirty="0">
                <a:solidFill>
                  <a:schemeClr val="tx2"/>
                </a:solidFill>
              </a:rPr>
              <a:t>COVID-19, 2021</a:t>
            </a:r>
            <a:endParaRPr lang="en-US" sz="1300" dirty="0"/>
          </a:p>
        </p:txBody>
      </p:sp>
      <p:sp>
        <p:nvSpPr>
          <p:cNvPr id="27" name="Text 24"/>
          <p:cNvSpPr txBox="1"/>
          <p:nvPr/>
        </p:nvSpPr>
        <p:spPr>
          <a:xfrm>
            <a:off x="5897880" y="5084064"/>
            <a:ext cx="5760720" cy="713232"/>
          </a:xfrm>
          <a:prstGeom prst="rect">
            <a:avLst/>
          </a:prstGeom>
          <a:noFill/>
          <a:ln/>
        </p:spPr>
        <p:txBody>
          <a:bodyPr wrap="square" lIns="0" tIns="0" rIns="0" bIns="0" rtlCol="0" anchor="t"/>
          <a:lstStyle/>
          <a:p>
            <a:pPr marL="0" indent="0">
              <a:buNone/>
            </a:pPr>
            <a:r>
              <a:rPr lang="en-US" sz="1050" dirty="0">
                <a:solidFill>
                  <a:schemeClr val="tx1"/>
                </a:solidFill>
              </a:rPr>
              <a:t>Built, in weeks, the system that engaged every home-recovery patient in Singapore, 10,000 people a day, on form.sg, Azure and Zendesk. The lesson that carries over: a system people rely on must say what it knows and what it does not.</a:t>
            </a:r>
            <a:endParaRPr lang="en-US" sz="1050" dirty="0"/>
          </a:p>
        </p:txBody>
      </p:sp>
      <p:sp>
        <p:nvSpPr>
          <p:cNvPr id="3"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2</a:t>
            </a:fld>
            <a:endParaRPr lang="en-US"/>
          </a:p>
        </p:txBody>
      </p:sp>
      <p:pic>
        <p:nvPicPr>
          <p:cNvPr id="28" name="Picture 27">
            <a:extLst>
              <a:ext uri="{FF2B5EF4-FFF2-40B4-BE49-F238E27FC236}">
                <a16:creationId xmlns:a16="http://schemas.microsoft.com/office/drawing/2014/main" id="{4CEC26B7-4B44-7817-CE81-1D48CC958ABA}"/>
              </a:ext>
            </a:extLst>
          </p:cNvPr>
          <p:cNvPicPr>
            <a:picLocks noChangeAspect="1"/>
          </p:cNvPicPr>
          <p:nvPr/>
        </p:nvPicPr>
        <p:blipFill>
          <a:blip r:embed="rId3"/>
          <a:stretch>
            <a:fillRect/>
          </a:stretch>
        </p:blipFill>
        <p:spPr>
          <a:xfrm>
            <a:off x="10339174" y="536044"/>
            <a:ext cx="1232199" cy="1232199"/>
          </a:xfrm>
          <a:prstGeom prst="ellipse">
            <a:avLst/>
          </a:prstGeom>
          <a:ln w="63500" cap="rnd">
            <a:noFill/>
          </a:ln>
          <a:effectLst/>
        </p:spPr>
      </p:pic>
    </p:spTree>
    <p:extLst>
      <p:ext uri="{BB962C8B-B14F-4D97-AF65-F5344CB8AC3E}">
        <p14:creationId xmlns:p14="http://schemas.microsoft.com/office/powerpoint/2010/main" val="1191207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The question, and today's answer</a:t>
            </a:r>
            <a:endParaRPr lang="en-US" sz="3200" dirty="0"/>
          </a:p>
        </p:txBody>
      </p:sp>
      <p:sp>
        <p:nvSpPr>
          <p:cNvPr id="4" name="Text 1"/>
          <p:cNvSpPr txBox="1"/>
          <p:nvPr/>
        </p:nvSpPr>
        <p:spPr>
          <a:xfrm>
            <a:off x="548640" y="1554480"/>
            <a:ext cx="3291840" cy="82296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28 Oct 2026</a:t>
            </a:r>
            <a:endParaRPr lang="en-US" sz="4000" dirty="0"/>
          </a:p>
        </p:txBody>
      </p:sp>
      <p:sp>
        <p:nvSpPr>
          <p:cNvPr id="5" name="Text 2"/>
          <p:cNvSpPr txBox="1"/>
          <p:nvPr/>
        </p:nvSpPr>
        <p:spPr>
          <a:xfrm>
            <a:off x="548640" y="2395728"/>
            <a:ext cx="3291840" cy="548640"/>
          </a:xfrm>
          <a:prstGeom prst="rect">
            <a:avLst/>
          </a:prstGeom>
          <a:noFill/>
          <a:ln/>
        </p:spPr>
        <p:txBody>
          <a:bodyPr wrap="square" lIns="0" tIns="0" rIns="0" bIns="0" rtlCol="0" anchor="t"/>
          <a:lstStyle/>
          <a:p>
            <a:pPr marL="0" indent="0">
              <a:buNone/>
            </a:pPr>
            <a:r>
              <a:rPr lang="en-US" sz="1200" dirty="0">
                <a:solidFill>
                  <a:schemeClr val="accent4"/>
                </a:solidFill>
              </a:rPr>
              <a:t>the decision being forecast</a:t>
            </a:r>
            <a:endParaRPr lang="en-US" sz="1200" dirty="0"/>
          </a:p>
        </p:txBody>
      </p:sp>
      <p:sp>
        <p:nvSpPr>
          <p:cNvPr id="6" name="Text 3"/>
          <p:cNvSpPr txBox="1"/>
          <p:nvPr/>
        </p:nvSpPr>
        <p:spPr>
          <a:xfrm>
            <a:off x="4114800" y="1554480"/>
            <a:ext cx="2926080" cy="82296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71%</a:t>
            </a:r>
            <a:endParaRPr lang="en-US" sz="4000" dirty="0"/>
          </a:p>
        </p:txBody>
      </p:sp>
      <p:sp>
        <p:nvSpPr>
          <p:cNvPr id="7" name="Text 4"/>
          <p:cNvSpPr txBox="1"/>
          <p:nvPr/>
        </p:nvSpPr>
        <p:spPr>
          <a:xfrm>
            <a:off x="4114800" y="2395728"/>
            <a:ext cx="2926080" cy="548640"/>
          </a:xfrm>
          <a:prstGeom prst="rect">
            <a:avLst/>
          </a:prstGeom>
          <a:noFill/>
          <a:ln/>
        </p:spPr>
        <p:txBody>
          <a:bodyPr wrap="square" lIns="0" tIns="0" rIns="0" bIns="0" rtlCol="0" anchor="t"/>
          <a:lstStyle/>
          <a:p>
            <a:pPr marL="0" indent="0">
              <a:buNone/>
            </a:pPr>
            <a:r>
              <a:rPr lang="en-US" sz="1200" dirty="0">
                <a:solidFill>
                  <a:schemeClr val="accent4"/>
                </a:solidFill>
              </a:rPr>
              <a:t>no change</a:t>
            </a:r>
            <a:endParaRPr lang="en-US" sz="1200" dirty="0"/>
          </a:p>
        </p:txBody>
      </p:sp>
      <p:sp>
        <p:nvSpPr>
          <p:cNvPr id="8" name="Text 5"/>
          <p:cNvSpPr txBox="1"/>
          <p:nvPr/>
        </p:nvSpPr>
        <p:spPr>
          <a:xfrm>
            <a:off x="6949440" y="1554480"/>
            <a:ext cx="2926080" cy="822960"/>
          </a:xfrm>
          <a:prstGeom prst="rect">
            <a:avLst/>
          </a:prstGeom>
          <a:noFill/>
          <a:ln/>
        </p:spPr>
        <p:txBody>
          <a:bodyPr wrap="square" lIns="0" tIns="0" rIns="0" bIns="0" rtlCol="0" anchor="t"/>
          <a:lstStyle/>
          <a:p>
            <a:pPr marL="0" indent="0">
              <a:buNone/>
            </a:pPr>
            <a:r>
              <a:rPr lang="en-US" sz="4000" b="1" dirty="0">
                <a:solidFill>
                  <a:srgbClr val="C8553D"/>
                </a:solidFill>
                <a:latin typeface="Cambria" pitchFamily="34" charset="0"/>
                <a:ea typeface="Cambria" pitchFamily="34" charset="-122"/>
                <a:cs typeface="Cambria" pitchFamily="34" charset="-120"/>
              </a:rPr>
              <a:t>23%</a:t>
            </a:r>
            <a:endParaRPr lang="en-US" sz="4000" dirty="0"/>
          </a:p>
        </p:txBody>
      </p:sp>
      <p:sp>
        <p:nvSpPr>
          <p:cNvPr id="9" name="Text 6"/>
          <p:cNvSpPr txBox="1"/>
          <p:nvPr/>
        </p:nvSpPr>
        <p:spPr>
          <a:xfrm>
            <a:off x="6949440" y="2395728"/>
            <a:ext cx="2926080" cy="548640"/>
          </a:xfrm>
          <a:prstGeom prst="rect">
            <a:avLst/>
          </a:prstGeom>
          <a:noFill/>
          <a:ln/>
        </p:spPr>
        <p:txBody>
          <a:bodyPr wrap="square" lIns="0" tIns="0" rIns="0" bIns="0" rtlCol="0" anchor="t"/>
          <a:lstStyle/>
          <a:p>
            <a:pPr marL="0" indent="0">
              <a:buNone/>
            </a:pPr>
            <a:r>
              <a:rPr lang="en-US" sz="1200" dirty="0">
                <a:solidFill>
                  <a:schemeClr val="accent4"/>
                </a:solidFill>
              </a:rPr>
              <a:t>+25 bps hike</a:t>
            </a:r>
            <a:endParaRPr lang="en-US" sz="1200" dirty="0"/>
          </a:p>
        </p:txBody>
      </p:sp>
      <p:sp>
        <p:nvSpPr>
          <p:cNvPr id="10" name="Text 7"/>
          <p:cNvSpPr txBox="1"/>
          <p:nvPr/>
        </p:nvSpPr>
        <p:spPr>
          <a:xfrm>
            <a:off x="9692640" y="1554480"/>
            <a:ext cx="2103120" cy="82296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6%</a:t>
            </a:r>
            <a:endParaRPr lang="en-US" sz="4000" dirty="0"/>
          </a:p>
        </p:txBody>
      </p:sp>
      <p:sp>
        <p:nvSpPr>
          <p:cNvPr id="11" name="Text 8"/>
          <p:cNvSpPr txBox="1"/>
          <p:nvPr/>
        </p:nvSpPr>
        <p:spPr>
          <a:xfrm>
            <a:off x="9692640" y="2395728"/>
            <a:ext cx="2103120" cy="548640"/>
          </a:xfrm>
          <a:prstGeom prst="rect">
            <a:avLst/>
          </a:prstGeom>
          <a:noFill/>
          <a:ln/>
        </p:spPr>
        <p:txBody>
          <a:bodyPr wrap="square" lIns="0" tIns="0" rIns="0" bIns="0" rtlCol="0" anchor="t"/>
          <a:lstStyle/>
          <a:p>
            <a:pPr marL="0" indent="0">
              <a:buNone/>
            </a:pPr>
            <a:r>
              <a:rPr lang="en-US" sz="1200" dirty="0">
                <a:solidFill>
                  <a:schemeClr val="accent4"/>
                </a:solidFill>
              </a:rPr>
              <a:t>the other three outcomes together</a:t>
            </a:r>
            <a:endParaRPr lang="en-US" sz="1200" dirty="0"/>
          </a:p>
        </p:txBody>
      </p:sp>
      <p:sp>
        <p:nvSpPr>
          <p:cNvPr id="12" name="Shape 9"/>
          <p:cNvSpPr/>
          <p:nvPr/>
        </p:nvSpPr>
        <p:spPr>
          <a:xfrm>
            <a:off x="548640" y="3383280"/>
            <a:ext cx="11091672" cy="2651760"/>
          </a:xfrm>
          <a:prstGeom prst="roundRect">
            <a:avLst>
              <a:gd name="adj" fmla="val 4138"/>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13" name="Text 10"/>
          <p:cNvSpPr txBox="1"/>
          <p:nvPr/>
        </p:nvSpPr>
        <p:spPr>
          <a:xfrm>
            <a:off x="914400" y="3566160"/>
            <a:ext cx="5486400" cy="365760"/>
          </a:xfrm>
          <a:prstGeom prst="rect">
            <a:avLst/>
          </a:prstGeom>
          <a:noFill/>
          <a:ln/>
        </p:spPr>
        <p:txBody>
          <a:bodyPr wrap="square" lIns="0" tIns="0" rIns="0" bIns="0" rtlCol="0" anchor="t"/>
          <a:lstStyle/>
          <a:p>
            <a:pPr marL="0" indent="0">
              <a:buNone/>
            </a:pPr>
            <a:r>
              <a:rPr lang="en-US" sz="1600" b="1" dirty="0">
                <a:solidFill>
                  <a:schemeClr val="tx2"/>
                </a:solidFill>
              </a:rPr>
              <a:t>Where the number comes from</a:t>
            </a:r>
            <a:endParaRPr lang="en-US" sz="1600" dirty="0"/>
          </a:p>
        </p:txBody>
      </p:sp>
      <p:sp>
        <p:nvSpPr>
          <p:cNvPr id="14" name="Text 11"/>
          <p:cNvSpPr txBox="1"/>
          <p:nvPr/>
        </p:nvSpPr>
        <p:spPr>
          <a:xfrm>
            <a:off x="914400" y="3977640"/>
            <a:ext cx="10360152" cy="2011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1"/>
                </a:solidFill>
              </a:rPr>
              <a:t>One frozen snapshot of 22 evidence items, pulled 26 October: futures, eight FRED series, both statements, minutes, transcript, projections, speeches, 32 years of decisions, prediction-market odds</a:t>
            </a:r>
            <a:endParaRPr lang="en-US" sz="1350" dirty="0"/>
          </a:p>
          <a:p>
            <a:pPr marL="342900" indent="-342900">
              <a:spcAft>
                <a:spcPts val="600"/>
              </a:spcAft>
              <a:buSzPct val="100000"/>
              <a:buChar char="•"/>
            </a:pPr>
            <a:r>
              <a:rPr lang="en-US" sz="1350" dirty="0">
                <a:solidFill>
                  <a:schemeClr val="tx1"/>
                </a:solidFill>
              </a:rPr>
              <a:t>Four models pooled by code with fixed weights: market-implied 0.6, the Fed's own Taylor rules 0.2, prediction-market odds 0.1, historical base rates 0.1; then a 1.5% floor on every outcome</a:t>
            </a:r>
            <a:endParaRPr lang="en-US" sz="1350" dirty="0"/>
          </a:p>
          <a:p>
            <a:pPr marL="342900" indent="-342900">
              <a:spcAft>
                <a:spcPts val="600"/>
              </a:spcAft>
              <a:buSzPct val="100000"/>
              <a:buChar char="•"/>
            </a:pPr>
            <a:r>
              <a:rPr lang="en-US" sz="1350" dirty="0">
                <a:solidFill>
                  <a:schemeClr val="tx1"/>
                </a:solidFill>
              </a:rPr>
              <a:t>Five specialist analysts (a language model, tools off, every claim quoted and verified) lean the pooled number by a bounded 4.4 points toward a hike</a:t>
            </a:r>
            <a:endParaRPr lang="en-US" sz="1350" dirty="0"/>
          </a:p>
          <a:p>
            <a:pPr marL="342900" indent="-342900">
              <a:spcAft>
                <a:spcPts val="600"/>
              </a:spcAft>
              <a:buSzPct val="100000"/>
              <a:buChar char="•"/>
            </a:pPr>
            <a:r>
              <a:rPr lang="en-US" sz="1350" dirty="0">
                <a:solidFill>
                  <a:schemeClr val="tx1"/>
                </a:solidFill>
              </a:rPr>
              <a:t>Ledger entry #16, hash-chained, replays exactly from its snapshot</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48640"/>
            <a:ext cx="11091672" cy="822960"/>
          </a:xfrm>
          <a:prstGeom prst="rect">
            <a:avLst/>
          </a:prstGeom>
          <a:noFill/>
          <a:ln/>
        </p:spPr>
        <p:txBody>
          <a:bodyPr wrap="square" lIns="0" tIns="0" rIns="0" bIns="0" rtlCol="0" anchor="ctr"/>
          <a:lstStyle/>
          <a:p>
            <a:pPr marL="0" indent="0" algn="l">
              <a:buNone/>
            </a:pPr>
            <a:r>
              <a:rPr lang="en-US" sz="3000" b="1" dirty="0">
                <a:solidFill>
                  <a:schemeClr val="bg1"/>
                </a:solidFill>
              </a:rPr>
              <a:t>Live demo 1: the forecast</a:t>
            </a:r>
            <a:endParaRPr lang="en-US" sz="3000" dirty="0"/>
          </a:p>
        </p:txBody>
      </p:sp>
      <p:sp>
        <p:nvSpPr>
          <p:cNvPr id="3" name="Shape 1"/>
          <p:cNvSpPr/>
          <p:nvPr/>
        </p:nvSpPr>
        <p:spPr>
          <a:xfrm>
            <a:off x="10177272" y="685800"/>
            <a:ext cx="1463040" cy="548640"/>
          </a:xfrm>
          <a:prstGeom prst="roundRect">
            <a:avLst>
              <a:gd name="adj" fmla="val 16667"/>
            </a:avLst>
          </a:prstGeom>
          <a:solidFill>
            <a:srgbClr val="E9B44C"/>
          </a:solidFill>
          <a:ln w="12700">
            <a:solidFill>
              <a:srgbClr val="E9B44C"/>
            </a:solidFill>
            <a:prstDash val="solid"/>
          </a:ln>
        </p:spPr>
      </p:sp>
      <p:sp>
        <p:nvSpPr>
          <p:cNvPr id="4" name="Text 2"/>
          <p:cNvSpPr txBox="1"/>
          <p:nvPr/>
        </p:nvSpPr>
        <p:spPr>
          <a:xfrm>
            <a:off x="10177272" y="685800"/>
            <a:ext cx="1463040" cy="548640"/>
          </a:xfrm>
          <a:prstGeom prst="rect">
            <a:avLst/>
          </a:prstGeom>
          <a:noFill/>
          <a:ln/>
        </p:spPr>
        <p:txBody>
          <a:bodyPr wrap="square" lIns="0" tIns="0" rIns="0" bIns="0" rtlCol="0" anchor="ctr"/>
          <a:lstStyle/>
          <a:p>
            <a:pPr marL="0" indent="0" algn="ctr">
              <a:buNone/>
            </a:pPr>
            <a:r>
              <a:rPr lang="en-US" sz="1600" b="1" dirty="0">
                <a:solidFill>
                  <a:srgbClr val="1B1F2A"/>
                </a:solidFill>
              </a:rPr>
              <a:t>1 min</a:t>
            </a:r>
            <a:endParaRPr lang="en-US" sz="1600" dirty="0"/>
          </a:p>
        </p:txBody>
      </p:sp>
      <p:sp>
        <p:nvSpPr>
          <p:cNvPr id="5" name="Shape 3"/>
          <p:cNvSpPr/>
          <p:nvPr/>
        </p:nvSpPr>
        <p:spPr>
          <a:xfrm>
            <a:off x="548640" y="1737360"/>
            <a:ext cx="3520440" cy="3200400"/>
          </a:xfrm>
          <a:prstGeom prst="roundRect">
            <a:avLst>
              <a:gd name="adj" fmla="val 3429"/>
            </a:avLst>
          </a:prstGeom>
          <a:solidFill>
            <a:srgbClr val="1E2761"/>
          </a:solidFill>
          <a:ln w="12700">
            <a:solidFill>
              <a:srgbClr val="1E2761"/>
            </a:solidFill>
            <a:prstDash val="solid"/>
          </a:ln>
        </p:spPr>
      </p:sp>
      <p:sp>
        <p:nvSpPr>
          <p:cNvPr id="6" name="Text 4"/>
          <p:cNvSpPr txBox="1"/>
          <p:nvPr/>
        </p:nvSpPr>
        <p:spPr>
          <a:xfrm>
            <a:off x="82296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Open</a:t>
            </a:r>
            <a:endParaRPr lang="en-US" sz="1800" dirty="0"/>
          </a:p>
        </p:txBody>
      </p:sp>
      <p:sp>
        <p:nvSpPr>
          <p:cNvPr id="7" name="Text 5"/>
          <p:cNvSpPr txBox="1"/>
          <p:nvPr/>
        </p:nvSpPr>
        <p:spPr>
          <a:xfrm>
            <a:off x="82296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The app at localhost:8765, Forecast view</a:t>
            </a:r>
            <a:endParaRPr lang="en-US" sz="1300" dirty="0"/>
          </a:p>
          <a:p>
            <a:pPr marL="342900" indent="-342900">
              <a:spcAft>
                <a:spcPts val="800"/>
              </a:spcAft>
              <a:buSzPct val="100000"/>
              <a:buChar char="•"/>
            </a:pPr>
            <a:r>
              <a:rPr lang="en-US" sz="1300" dirty="0">
                <a:solidFill>
                  <a:srgbClr val="FFFFFF"/>
                </a:solidFill>
              </a:rPr>
              <a:t>Top bar: when the evidence was pulled, what is new at the sources</a:t>
            </a:r>
            <a:endParaRPr lang="en-US" sz="1300" dirty="0"/>
          </a:p>
        </p:txBody>
      </p:sp>
      <p:sp>
        <p:nvSpPr>
          <p:cNvPr id="8" name="Shape 6"/>
          <p:cNvSpPr/>
          <p:nvPr/>
        </p:nvSpPr>
        <p:spPr>
          <a:xfrm>
            <a:off x="4297680" y="1737360"/>
            <a:ext cx="3520440" cy="3200400"/>
          </a:xfrm>
          <a:prstGeom prst="roundRect">
            <a:avLst>
              <a:gd name="adj" fmla="val 3429"/>
            </a:avLst>
          </a:prstGeom>
          <a:solidFill>
            <a:srgbClr val="1E2761"/>
          </a:solidFill>
          <a:ln w="12700">
            <a:solidFill>
              <a:srgbClr val="1E2761"/>
            </a:solidFill>
            <a:prstDash val="solid"/>
          </a:ln>
        </p:spPr>
      </p:sp>
      <p:sp>
        <p:nvSpPr>
          <p:cNvPr id="9" name="Text 7"/>
          <p:cNvSpPr txBox="1"/>
          <p:nvPr/>
        </p:nvSpPr>
        <p:spPr>
          <a:xfrm>
            <a:off x="457200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Point at</a:t>
            </a:r>
            <a:endParaRPr lang="en-US" sz="1800" dirty="0"/>
          </a:p>
        </p:txBody>
      </p:sp>
      <p:sp>
        <p:nvSpPr>
          <p:cNvPr id="10" name="Text 8"/>
          <p:cNvSpPr txBox="1"/>
          <p:nvPr/>
        </p:nvSpPr>
        <p:spPr>
          <a:xfrm>
            <a:off x="457200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The two tracks side by side: machine only, and with views</a:t>
            </a:r>
            <a:endParaRPr lang="en-US" sz="1300" dirty="0"/>
          </a:p>
          <a:p>
            <a:pPr marL="342900" indent="-342900">
              <a:spcAft>
                <a:spcPts val="800"/>
              </a:spcAft>
              <a:buSzPct val="100000"/>
              <a:buChar char="•"/>
            </a:pPr>
            <a:r>
              <a:rPr lang="en-US" sz="1300" dirty="0">
                <a:solidFill>
                  <a:srgbClr val="FFFFFF"/>
                </a:solidFill>
              </a:rPr>
              <a:t>The meta line: ledger entry, snapshot hash, the specialists' tilt</a:t>
            </a:r>
            <a:endParaRPr lang="en-US" sz="1300" dirty="0"/>
          </a:p>
          <a:p>
            <a:pPr marL="342900" indent="-342900">
              <a:spcAft>
                <a:spcPts val="800"/>
              </a:spcAft>
              <a:buSzPct val="100000"/>
              <a:buChar char="•"/>
            </a:pPr>
            <a:r>
              <a:rPr lang="en-US" sz="1300" dirty="0">
                <a:solidFill>
                  <a:srgbClr val="FFFFFF"/>
                </a:solidFill>
              </a:rPr>
              <a:t>The five bars</a:t>
            </a:r>
            <a:endParaRPr lang="en-US" sz="1300" dirty="0"/>
          </a:p>
        </p:txBody>
      </p:sp>
      <p:sp>
        <p:nvSpPr>
          <p:cNvPr id="11" name="Shape 9"/>
          <p:cNvSpPr/>
          <p:nvPr/>
        </p:nvSpPr>
        <p:spPr>
          <a:xfrm>
            <a:off x="8046720" y="1737360"/>
            <a:ext cx="3520440" cy="3200400"/>
          </a:xfrm>
          <a:prstGeom prst="roundRect">
            <a:avLst>
              <a:gd name="adj" fmla="val 3429"/>
            </a:avLst>
          </a:prstGeom>
          <a:solidFill>
            <a:srgbClr val="1E2761"/>
          </a:solidFill>
          <a:ln w="12700">
            <a:solidFill>
              <a:srgbClr val="1E2761"/>
            </a:solidFill>
            <a:prstDash val="solid"/>
          </a:ln>
        </p:spPr>
      </p:sp>
      <p:sp>
        <p:nvSpPr>
          <p:cNvPr id="12" name="Text 10"/>
          <p:cNvSpPr txBox="1"/>
          <p:nvPr/>
        </p:nvSpPr>
        <p:spPr>
          <a:xfrm>
            <a:off x="832104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Say</a:t>
            </a:r>
            <a:endParaRPr lang="en-US" sz="1800" dirty="0"/>
          </a:p>
        </p:txBody>
      </p:sp>
      <p:sp>
        <p:nvSpPr>
          <p:cNvPr id="13" name="Text 11"/>
          <p:cNvSpPr txBox="1"/>
          <p:nvPr/>
        </p:nvSpPr>
        <p:spPr>
          <a:xfrm>
            <a:off x="832104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This number was made at &lt;time&gt; from evidence frozen at &lt;time&gt;. Everything I show next is how it got there.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Why build this</a:t>
            </a:r>
            <a:endParaRPr lang="en-US" sz="3200" dirty="0"/>
          </a:p>
        </p:txBody>
      </p:sp>
      <p:sp>
        <p:nvSpPr>
          <p:cNvPr id="4" name="Shape 1"/>
          <p:cNvSpPr/>
          <p:nvPr/>
        </p:nvSpPr>
        <p:spPr>
          <a:xfrm>
            <a:off x="548640" y="1554480"/>
            <a:ext cx="3520440" cy="3657600"/>
          </a:xfrm>
          <a:prstGeom prst="roundRect">
            <a:avLst>
              <a:gd name="adj" fmla="val 3117"/>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5" name="Shape 2"/>
          <p:cNvSpPr/>
          <p:nvPr/>
        </p:nvSpPr>
        <p:spPr>
          <a:xfrm>
            <a:off x="822960" y="1783080"/>
            <a:ext cx="384048" cy="384048"/>
          </a:xfrm>
          <a:prstGeom prst="ellipse">
            <a:avLst/>
          </a:prstGeom>
          <a:solidFill>
            <a:srgbClr val="1E2761"/>
          </a:solidFill>
          <a:ln w="12700">
            <a:solidFill>
              <a:srgbClr val="1E2761"/>
            </a:solidFill>
            <a:prstDash val="solid"/>
          </a:ln>
        </p:spPr>
      </p:sp>
      <p:sp>
        <p:nvSpPr>
          <p:cNvPr id="6" name="Text 3"/>
          <p:cNvSpPr txBox="1"/>
          <p:nvPr/>
        </p:nvSpPr>
        <p:spPr>
          <a:xfrm>
            <a:off x="822960" y="178308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4"/>
          <p:cNvSpPr txBox="1"/>
          <p:nvPr/>
        </p:nvSpPr>
        <p:spPr>
          <a:xfrm>
            <a:off x="822960" y="2286000"/>
            <a:ext cx="3017520" cy="640080"/>
          </a:xfrm>
          <a:prstGeom prst="rect">
            <a:avLst/>
          </a:prstGeom>
          <a:noFill/>
          <a:ln/>
        </p:spPr>
        <p:txBody>
          <a:bodyPr wrap="square" lIns="0" tIns="0" rIns="0" bIns="0" rtlCol="0" anchor="t"/>
          <a:lstStyle/>
          <a:p>
            <a:pPr marL="0" indent="0">
              <a:buNone/>
            </a:pPr>
            <a:r>
              <a:rPr lang="en-US" sz="1700" b="1" dirty="0">
                <a:solidFill>
                  <a:schemeClr val="tx2"/>
                </a:solidFill>
              </a:rPr>
              <a:t>Judge the process, not the luck</a:t>
            </a:r>
            <a:endParaRPr lang="en-US" sz="1700" dirty="0"/>
          </a:p>
        </p:txBody>
      </p:sp>
      <p:sp>
        <p:nvSpPr>
          <p:cNvPr id="8" name="Text 5"/>
          <p:cNvSpPr txBox="1"/>
          <p:nvPr/>
        </p:nvSpPr>
        <p:spPr>
          <a:xfrm>
            <a:off x="822960" y="2971800"/>
            <a:ext cx="3017520" cy="2148840"/>
          </a:xfrm>
          <a:prstGeom prst="rect">
            <a:avLst/>
          </a:prstGeom>
          <a:noFill/>
          <a:ln/>
        </p:spPr>
        <p:txBody>
          <a:bodyPr wrap="square" lIns="0" tIns="0" rIns="0" bIns="0" rtlCol="0" anchor="t"/>
          <a:lstStyle/>
          <a:p>
            <a:pPr marL="0" indent="0">
              <a:buNone/>
            </a:pPr>
            <a:r>
              <a:rPr lang="en-US" sz="1400" dirty="0">
                <a:solidFill>
                  <a:schemeClr val="tx1"/>
                </a:solidFill>
              </a:rPr>
              <a:t>Eight decisions a year is far too few to tell skill from chance. So the yardstick is a ten-dimension scorecard fixed before any code existed: repeatability, groundedness, leakage, directional sanity, noise invariance, coherence, auditability and more. Outcomes are logged and never used to tune.</a:t>
            </a:r>
            <a:endParaRPr lang="en-US" sz="1400" dirty="0"/>
          </a:p>
        </p:txBody>
      </p:sp>
      <p:sp>
        <p:nvSpPr>
          <p:cNvPr id="9" name="Shape 6"/>
          <p:cNvSpPr/>
          <p:nvPr/>
        </p:nvSpPr>
        <p:spPr>
          <a:xfrm>
            <a:off x="4297680" y="1554480"/>
            <a:ext cx="3520440" cy="3657600"/>
          </a:xfrm>
          <a:prstGeom prst="roundRect">
            <a:avLst>
              <a:gd name="adj" fmla="val 3117"/>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10" name="Shape 7"/>
          <p:cNvSpPr/>
          <p:nvPr/>
        </p:nvSpPr>
        <p:spPr>
          <a:xfrm>
            <a:off x="4572000" y="1783080"/>
            <a:ext cx="384048" cy="384048"/>
          </a:xfrm>
          <a:prstGeom prst="ellipse">
            <a:avLst/>
          </a:prstGeom>
          <a:solidFill>
            <a:srgbClr val="1E2761"/>
          </a:solidFill>
          <a:ln w="12700">
            <a:solidFill>
              <a:srgbClr val="1E2761"/>
            </a:solidFill>
            <a:prstDash val="solid"/>
          </a:ln>
        </p:spPr>
      </p:sp>
      <p:sp>
        <p:nvSpPr>
          <p:cNvPr id="11" name="Text 8"/>
          <p:cNvSpPr txBox="1"/>
          <p:nvPr/>
        </p:nvSpPr>
        <p:spPr>
          <a:xfrm>
            <a:off x="4572000" y="178308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9"/>
          <p:cNvSpPr txBox="1"/>
          <p:nvPr/>
        </p:nvSpPr>
        <p:spPr>
          <a:xfrm>
            <a:off x="4572000" y="2286000"/>
            <a:ext cx="3017520" cy="640080"/>
          </a:xfrm>
          <a:prstGeom prst="rect">
            <a:avLst/>
          </a:prstGeom>
          <a:noFill/>
          <a:ln/>
        </p:spPr>
        <p:txBody>
          <a:bodyPr wrap="square" lIns="0" tIns="0" rIns="0" bIns="0" rtlCol="0" anchor="t"/>
          <a:lstStyle/>
          <a:p>
            <a:pPr marL="0" indent="0">
              <a:buNone/>
            </a:pPr>
            <a:r>
              <a:rPr lang="en-US" sz="1700" b="1" dirty="0">
                <a:solidFill>
                  <a:schemeClr val="tx2"/>
                </a:solidFill>
              </a:rPr>
              <a:t>A number you can audit</a:t>
            </a:r>
            <a:endParaRPr lang="en-US" sz="1700" dirty="0"/>
          </a:p>
        </p:txBody>
      </p:sp>
      <p:sp>
        <p:nvSpPr>
          <p:cNvPr id="13" name="Text 10"/>
          <p:cNvSpPr txBox="1"/>
          <p:nvPr/>
        </p:nvSpPr>
        <p:spPr>
          <a:xfrm>
            <a:off x="4572000" y="2971800"/>
            <a:ext cx="3017520" cy="2148840"/>
          </a:xfrm>
          <a:prstGeom prst="rect">
            <a:avLst/>
          </a:prstGeom>
          <a:noFill/>
          <a:ln/>
        </p:spPr>
        <p:txBody>
          <a:bodyPr wrap="square" lIns="0" tIns="0" rIns="0" bIns="0" rtlCol="0" anchor="t"/>
          <a:lstStyle/>
          <a:p>
            <a:pPr marL="0" indent="0">
              <a:buNone/>
            </a:pPr>
            <a:r>
              <a:rPr lang="en-US" sz="1400" dirty="0">
                <a:solidFill>
                  <a:schemeClr val="tx1"/>
                </a:solidFill>
              </a:rPr>
              <a:t>Every forecast runs on one fingerprinted snapshot. Every model lists the items it read. Every analyst claim carries a verbatim quote that code has matched. Every entry in the ledger recomputes exactly from its snapshot. Nothing moves the number silently.</a:t>
            </a:r>
            <a:endParaRPr lang="en-US" sz="1400" dirty="0"/>
          </a:p>
        </p:txBody>
      </p:sp>
      <p:sp>
        <p:nvSpPr>
          <p:cNvPr id="14" name="Shape 11"/>
          <p:cNvSpPr/>
          <p:nvPr/>
        </p:nvSpPr>
        <p:spPr>
          <a:xfrm>
            <a:off x="8046720" y="1554480"/>
            <a:ext cx="3520440" cy="3657600"/>
          </a:xfrm>
          <a:prstGeom prst="roundRect">
            <a:avLst>
              <a:gd name="adj" fmla="val 3117"/>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15" name="Shape 12"/>
          <p:cNvSpPr/>
          <p:nvPr/>
        </p:nvSpPr>
        <p:spPr>
          <a:xfrm>
            <a:off x="8321040" y="1783080"/>
            <a:ext cx="384048" cy="384048"/>
          </a:xfrm>
          <a:prstGeom prst="ellipse">
            <a:avLst/>
          </a:prstGeom>
          <a:solidFill>
            <a:srgbClr val="1E2761"/>
          </a:solidFill>
          <a:ln w="12700">
            <a:solidFill>
              <a:srgbClr val="1E2761"/>
            </a:solidFill>
            <a:prstDash val="solid"/>
          </a:ln>
        </p:spPr>
      </p:sp>
      <p:sp>
        <p:nvSpPr>
          <p:cNvPr id="16" name="Text 13"/>
          <p:cNvSpPr txBox="1"/>
          <p:nvPr/>
        </p:nvSpPr>
        <p:spPr>
          <a:xfrm>
            <a:off x="8321040" y="178308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7" name="Text 14"/>
          <p:cNvSpPr txBox="1"/>
          <p:nvPr/>
        </p:nvSpPr>
        <p:spPr>
          <a:xfrm>
            <a:off x="8321040" y="2286000"/>
            <a:ext cx="3017520" cy="640080"/>
          </a:xfrm>
          <a:prstGeom prst="rect">
            <a:avLst/>
          </a:prstGeom>
          <a:noFill/>
          <a:ln/>
        </p:spPr>
        <p:txBody>
          <a:bodyPr wrap="square" lIns="0" tIns="0" rIns="0" bIns="0" rtlCol="0" anchor="t"/>
          <a:lstStyle/>
          <a:p>
            <a:pPr marL="0" indent="0">
              <a:buNone/>
            </a:pPr>
            <a:r>
              <a:rPr lang="en-US" sz="1700" b="1" dirty="0">
                <a:solidFill>
                  <a:schemeClr val="tx2"/>
                </a:solidFill>
              </a:rPr>
              <a:t>A harness that transfers</a:t>
            </a:r>
            <a:endParaRPr lang="en-US" sz="1700" dirty="0"/>
          </a:p>
        </p:txBody>
      </p:sp>
      <p:sp>
        <p:nvSpPr>
          <p:cNvPr id="18" name="Text 15"/>
          <p:cNvSpPr txBox="1"/>
          <p:nvPr/>
        </p:nvSpPr>
        <p:spPr>
          <a:xfrm>
            <a:off x="8321040" y="2971800"/>
            <a:ext cx="3017520" cy="2148840"/>
          </a:xfrm>
          <a:prstGeom prst="rect">
            <a:avLst/>
          </a:prstGeom>
          <a:noFill/>
          <a:ln/>
        </p:spPr>
        <p:txBody>
          <a:bodyPr wrap="square" lIns="0" tIns="0" rIns="0" bIns="0" rtlCol="0" anchor="t"/>
          <a:lstStyle/>
          <a:p>
            <a:pPr marL="0" indent="0">
              <a:buNone/>
            </a:pPr>
            <a:r>
              <a:rPr lang="en-US" sz="1400" dirty="0">
                <a:solidFill>
                  <a:schemeClr val="tx1"/>
                </a:solidFill>
              </a:rPr>
              <a:t>The decision is the first target, not the only one. The same chain can forecast the December meeting, the year-end rate, or another central bank, and the control analysts measure whether the language model is still earning its place.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What others do, and what each lacks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3774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tblGrid>
              <a:tr h="566928">
                <a:tc>
                  <a:txBody>
                    <a:bodyPr/>
                    <a:lstStyle/>
                    <a:p>
                      <a:pPr marL="0" indent="0">
                        <a:buNone/>
                      </a:pPr>
                      <a:r>
                        <a:rPr lang="en-US" sz="1150" b="1" dirty="0">
                          <a:solidFill>
                            <a:srgbClr val="FFFFFF"/>
                          </a:solidFill>
                        </a:rPr>
                        <a:t>Predictor</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rPr>
                        <a:t>What it is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rPr>
                        <a:t>Strength</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rPr>
                        <a:t>What it lacks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66928">
                <a:tc>
                  <a:txBody>
                    <a:bodyPr/>
                    <a:lstStyle/>
                    <a:p>
                      <a:pPr marL="0" indent="0">
                        <a:buNone/>
                      </a:pPr>
                      <a:r>
                        <a:rPr lang="en-US" sz="1150" dirty="0">
                          <a:solidFill>
                            <a:srgbClr val="1B1F2A"/>
                          </a:solidFill>
                        </a:rPr>
                        <a:t>Fed funds futures (CME FedWatch)</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Price of the contract that settles on the month's average rate</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About 88% right at 30 days over 1994 to 2024 (Bonini, Huang, Simaan). The anchor of our pool</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No reasons. One number with no evidence trail; fails silently when the Fed surprises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150" dirty="0">
                          <a:solidFill>
                            <a:srgbClr val="1B1F2A"/>
                          </a:solidFill>
                        </a:rPr>
                        <a:t>Prediction markets (Polymarket, Kalshi)</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Crowd odds on each outcome</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Independent crowd; fast to move</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Thin and fee-distorted; a $22 entry can sit next to a $67m one</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150" dirty="0">
                          <a:solidFill>
                            <a:srgbClr val="1B1F2A"/>
                          </a:solidFill>
                        </a:rPr>
                        <a:t>Economist surveys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Median of polled forecasters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Human judgement, broad</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Slow, unauditable, consensus-seeking</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150" dirty="0">
                          <a:solidFill>
                            <a:srgbClr val="1B1F2A"/>
                          </a:solidFill>
                        </a:rPr>
                        <a:t>Policy rules (Taylor family)</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Rate a formula says is appropriate</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Transparent, the Fed's own benchmarks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Depends on unobservable r* and u*; says where rates should be, not what the committee will do</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150" dirty="0">
                          <a:solidFill>
                            <a:srgbClr val="1B1F2A"/>
                          </a:solidFill>
                        </a:rPr>
                        <a:t>LLM 'FOMC agent' papers (2025)</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Models that read Fed text and vote</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Reported 90%+ accuracy on 2023 to 2024</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16 meetings; no frozen evidence, no quote verification, no replay, no control</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150" b="1" dirty="0">
                          <a:solidFill>
                            <a:schemeClr val="tx2"/>
                          </a:solidFill>
                        </a:rPr>
                        <a:t>FedCast</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All of the above pooled by code, plus verified analysts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Every number traceable; repeatable; a scorecard that catches drift</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No live record yet; no accuracy claim at five weeks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1"/>
          <p:cNvSpPr txBox="1"/>
          <p:nvPr/>
        </p:nvSpPr>
        <p:spPr>
          <a:xfrm>
            <a:off x="548640" y="5897880"/>
            <a:ext cx="11091672" cy="365760"/>
          </a:xfrm>
          <a:prstGeom prst="rect">
            <a:avLst/>
          </a:prstGeom>
          <a:noFill/>
          <a:ln/>
        </p:spPr>
        <p:txBody>
          <a:bodyPr wrap="square" lIns="0" tIns="0" rIns="0" bIns="0" rtlCol="0" anchor="t"/>
          <a:lstStyle/>
          <a:p>
            <a:pPr marL="0" indent="0">
              <a:buNone/>
            </a:pPr>
            <a:r>
              <a:rPr lang="en-US" sz="950" dirty="0">
                <a:solidFill>
                  <a:schemeClr val="accent4"/>
                </a:solidFill>
              </a:rPr>
              <a:t>Sources: Bonini, Huang and Simaan, 'Watching the FedWatch' (232 meetings, May 1994 to March 2024); FedSight AI preprint, December 2025; Takano, Hirano and Nakagawa, arXiv 2511.02469.</a:t>
            </a:r>
            <a:endParaRPr lang="en-US" sz="9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Our edge: not a better guess, a checkable one</a:t>
            </a:r>
            <a:endParaRPr lang="en-US" sz="3200" dirty="0"/>
          </a:p>
        </p:txBody>
      </p:sp>
      <p:sp>
        <p:nvSpPr>
          <p:cNvPr id="4" name="Shape 1"/>
          <p:cNvSpPr/>
          <p:nvPr/>
        </p:nvSpPr>
        <p:spPr>
          <a:xfrm>
            <a:off x="548640" y="1508760"/>
            <a:ext cx="5440680" cy="2103120"/>
          </a:xfrm>
          <a:prstGeom prst="roundRect">
            <a:avLst>
              <a:gd name="adj" fmla="val 5217"/>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5" name="Shape 2"/>
          <p:cNvSpPr/>
          <p:nvPr/>
        </p:nvSpPr>
        <p:spPr>
          <a:xfrm>
            <a:off x="822960" y="1783080"/>
            <a:ext cx="457200" cy="457200"/>
          </a:xfrm>
          <a:prstGeom prst="ellipse">
            <a:avLst/>
          </a:prstGeom>
          <a:solidFill>
            <a:srgbClr val="E9B44C"/>
          </a:solidFill>
          <a:ln w="12700">
            <a:solidFill>
              <a:srgbClr val="E9B44C"/>
            </a:solidFill>
            <a:prstDash val="solid"/>
          </a:ln>
        </p:spPr>
      </p:sp>
      <p:sp>
        <p:nvSpPr>
          <p:cNvPr id="6" name="Text 3"/>
          <p:cNvSpPr txBox="1"/>
          <p:nvPr/>
        </p:nvSpPr>
        <p:spPr>
          <a:xfrm>
            <a:off x="1463040" y="1764792"/>
            <a:ext cx="4297680" cy="502920"/>
          </a:xfrm>
          <a:prstGeom prst="rect">
            <a:avLst/>
          </a:prstGeom>
          <a:noFill/>
          <a:ln/>
        </p:spPr>
        <p:txBody>
          <a:bodyPr wrap="square" lIns="0" tIns="0" rIns="0" bIns="0" rtlCol="0" anchor="ctr"/>
          <a:lstStyle/>
          <a:p>
            <a:pPr marL="0" indent="0">
              <a:buNone/>
            </a:pPr>
            <a:r>
              <a:rPr lang="en-US" sz="1600" b="1" dirty="0">
                <a:solidFill>
                  <a:schemeClr val="tx2"/>
                </a:solidFill>
              </a:rPr>
              <a:t>Frozen evidence</a:t>
            </a:r>
            <a:endParaRPr lang="en-US" sz="1600" dirty="0"/>
          </a:p>
        </p:txBody>
      </p:sp>
      <p:sp>
        <p:nvSpPr>
          <p:cNvPr id="7" name="Text 4"/>
          <p:cNvSpPr txBox="1"/>
          <p:nvPr/>
        </p:nvSpPr>
        <p:spPr>
          <a:xfrm>
            <a:off x="822960" y="2377440"/>
            <a:ext cx="4937760" cy="1188720"/>
          </a:xfrm>
          <a:prstGeom prst="rect">
            <a:avLst/>
          </a:prstGeom>
          <a:noFill/>
          <a:ln/>
        </p:spPr>
        <p:txBody>
          <a:bodyPr wrap="square" lIns="0" tIns="0" rIns="0" bIns="0" rtlCol="0" anchor="t"/>
          <a:lstStyle/>
          <a:p>
            <a:pPr marL="0" indent="0">
              <a:buNone/>
            </a:pPr>
            <a:r>
              <a:rPr lang="en-US" sz="1250" dirty="0">
                <a:solidFill>
                  <a:schemeClr val="tx1"/>
                </a:solidFill>
              </a:rPr>
              <a:t>One fingerprinted snapshot per forecast, dated in US time, data as first published. No internet, no memory. If it is not in the snapshot, nothing may read it.</a:t>
            </a:r>
            <a:endParaRPr lang="en-US" sz="1250" dirty="0"/>
          </a:p>
        </p:txBody>
      </p:sp>
      <p:sp>
        <p:nvSpPr>
          <p:cNvPr id="8" name="Shape 5"/>
          <p:cNvSpPr/>
          <p:nvPr/>
        </p:nvSpPr>
        <p:spPr>
          <a:xfrm>
            <a:off x="6217920" y="1508760"/>
            <a:ext cx="5440680" cy="2103120"/>
          </a:xfrm>
          <a:prstGeom prst="roundRect">
            <a:avLst>
              <a:gd name="adj" fmla="val 5217"/>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9" name="Shape 6"/>
          <p:cNvSpPr/>
          <p:nvPr/>
        </p:nvSpPr>
        <p:spPr>
          <a:xfrm>
            <a:off x="6492240" y="1783080"/>
            <a:ext cx="457200" cy="457200"/>
          </a:xfrm>
          <a:prstGeom prst="ellipse">
            <a:avLst/>
          </a:prstGeom>
          <a:solidFill>
            <a:srgbClr val="E9B44C"/>
          </a:solidFill>
          <a:ln w="12700">
            <a:solidFill>
              <a:srgbClr val="E9B44C"/>
            </a:solidFill>
            <a:prstDash val="solid"/>
          </a:ln>
        </p:spPr>
      </p:sp>
      <p:sp>
        <p:nvSpPr>
          <p:cNvPr id="10" name="Text 7"/>
          <p:cNvSpPr txBox="1"/>
          <p:nvPr/>
        </p:nvSpPr>
        <p:spPr>
          <a:xfrm>
            <a:off x="7132320" y="1764792"/>
            <a:ext cx="4297680" cy="502920"/>
          </a:xfrm>
          <a:prstGeom prst="rect">
            <a:avLst/>
          </a:prstGeom>
          <a:noFill/>
          <a:ln/>
        </p:spPr>
        <p:txBody>
          <a:bodyPr wrap="square" lIns="0" tIns="0" rIns="0" bIns="0" rtlCol="0" anchor="ctr"/>
          <a:lstStyle/>
          <a:p>
            <a:pPr marL="0" indent="0">
              <a:buNone/>
            </a:pPr>
            <a:r>
              <a:rPr lang="en-US" sz="1600" b="1" dirty="0">
                <a:solidFill>
                  <a:schemeClr val="tx2"/>
                </a:solidFill>
              </a:rPr>
              <a:t>Code computes, models read, code checks</a:t>
            </a:r>
            <a:endParaRPr lang="en-US" sz="1600" dirty="0"/>
          </a:p>
        </p:txBody>
      </p:sp>
      <p:sp>
        <p:nvSpPr>
          <p:cNvPr id="11" name="Text 8"/>
          <p:cNvSpPr txBox="1"/>
          <p:nvPr/>
        </p:nvSpPr>
        <p:spPr>
          <a:xfrm>
            <a:off x="6492240" y="2377440"/>
            <a:ext cx="4937760" cy="1188720"/>
          </a:xfrm>
          <a:prstGeom prst="rect">
            <a:avLst/>
          </a:prstGeom>
          <a:noFill/>
          <a:ln/>
        </p:spPr>
        <p:txBody>
          <a:bodyPr wrap="square" lIns="0" tIns="0" rIns="0" bIns="0" rtlCol="0" anchor="t"/>
          <a:lstStyle/>
          <a:p>
            <a:pPr marL="0" indent="0">
              <a:buNone/>
            </a:pPr>
            <a:r>
              <a:rPr lang="en-US" sz="1250" dirty="0">
                <a:solidFill>
                  <a:schemeClr val="tx1"/>
                </a:solidFill>
              </a:rPr>
              <a:t>Arithmetic is done by code. The language model is used only for reading text, and every claim it makes must quote a snapshot item; code string-matches the quote and flags any number not in the evidence.</a:t>
            </a:r>
            <a:endParaRPr lang="en-US" sz="1250" dirty="0"/>
          </a:p>
        </p:txBody>
      </p:sp>
      <p:sp>
        <p:nvSpPr>
          <p:cNvPr id="12" name="Shape 9"/>
          <p:cNvSpPr/>
          <p:nvPr/>
        </p:nvSpPr>
        <p:spPr>
          <a:xfrm>
            <a:off x="548640" y="3840480"/>
            <a:ext cx="5440680" cy="2103120"/>
          </a:xfrm>
          <a:prstGeom prst="roundRect">
            <a:avLst>
              <a:gd name="adj" fmla="val 5217"/>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13" name="Shape 10"/>
          <p:cNvSpPr/>
          <p:nvPr/>
        </p:nvSpPr>
        <p:spPr>
          <a:xfrm>
            <a:off x="822960" y="4114800"/>
            <a:ext cx="457200" cy="457200"/>
          </a:xfrm>
          <a:prstGeom prst="ellipse">
            <a:avLst/>
          </a:prstGeom>
          <a:solidFill>
            <a:srgbClr val="E9B44C"/>
          </a:solidFill>
          <a:ln w="12700">
            <a:solidFill>
              <a:srgbClr val="E9B44C"/>
            </a:solidFill>
            <a:prstDash val="solid"/>
          </a:ln>
        </p:spPr>
      </p:sp>
      <p:sp>
        <p:nvSpPr>
          <p:cNvPr id="14" name="Text 11"/>
          <p:cNvSpPr txBox="1"/>
          <p:nvPr/>
        </p:nvSpPr>
        <p:spPr>
          <a:xfrm>
            <a:off x="1463040" y="4096512"/>
            <a:ext cx="4297680" cy="502920"/>
          </a:xfrm>
          <a:prstGeom prst="rect">
            <a:avLst/>
          </a:prstGeom>
          <a:noFill/>
          <a:ln/>
        </p:spPr>
        <p:txBody>
          <a:bodyPr wrap="square" lIns="0" tIns="0" rIns="0" bIns="0" rtlCol="0" anchor="ctr"/>
          <a:lstStyle/>
          <a:p>
            <a:pPr marL="0" indent="0">
              <a:buNone/>
            </a:pPr>
            <a:r>
              <a:rPr lang="en-US" sz="1600" b="1" dirty="0">
                <a:solidFill>
                  <a:schemeClr val="tx2"/>
                </a:solidFill>
              </a:rPr>
              <a:t>Human judgement through typed channels</a:t>
            </a:r>
            <a:endParaRPr lang="en-US" sz="1600" dirty="0"/>
          </a:p>
        </p:txBody>
      </p:sp>
      <p:sp>
        <p:nvSpPr>
          <p:cNvPr id="15" name="Text 12"/>
          <p:cNvSpPr txBox="1"/>
          <p:nvPr/>
        </p:nvSpPr>
        <p:spPr>
          <a:xfrm>
            <a:off x="822960" y="4709160"/>
            <a:ext cx="4937760" cy="1188720"/>
          </a:xfrm>
          <a:prstGeom prst="rect">
            <a:avLst/>
          </a:prstGeom>
          <a:noFill/>
          <a:ln/>
        </p:spPr>
        <p:txBody>
          <a:bodyPr wrap="square" lIns="0" tIns="0" rIns="0" bIns="0" rtlCol="0" anchor="t"/>
          <a:lstStyle/>
          <a:p>
            <a:pPr marL="0" indent="0">
              <a:buNone/>
            </a:pPr>
            <a:r>
              <a:rPr lang="en-US" sz="1250" dirty="0">
                <a:solidFill>
                  <a:schemeClr val="tx1"/>
                </a:solidFill>
              </a:rPr>
              <a:t>Views tilt the number by a capped amount and expire. Watch-outs must be answered by id. Documents and odds enter as evidence. Nothing nudges the number quietly.</a:t>
            </a:r>
            <a:endParaRPr lang="en-US" sz="1250" dirty="0"/>
          </a:p>
        </p:txBody>
      </p:sp>
      <p:sp>
        <p:nvSpPr>
          <p:cNvPr id="16" name="Shape 13"/>
          <p:cNvSpPr/>
          <p:nvPr/>
        </p:nvSpPr>
        <p:spPr>
          <a:xfrm>
            <a:off x="6217920" y="3840480"/>
            <a:ext cx="5440680" cy="2103120"/>
          </a:xfrm>
          <a:prstGeom prst="roundRect">
            <a:avLst>
              <a:gd name="adj" fmla="val 5217"/>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17" name="Shape 14"/>
          <p:cNvSpPr/>
          <p:nvPr/>
        </p:nvSpPr>
        <p:spPr>
          <a:xfrm>
            <a:off x="6492240" y="4114800"/>
            <a:ext cx="457200" cy="457200"/>
          </a:xfrm>
          <a:prstGeom prst="ellipse">
            <a:avLst/>
          </a:prstGeom>
          <a:solidFill>
            <a:srgbClr val="E9B44C"/>
          </a:solidFill>
          <a:ln w="12700">
            <a:solidFill>
              <a:srgbClr val="E9B44C"/>
            </a:solidFill>
            <a:prstDash val="solid"/>
          </a:ln>
        </p:spPr>
      </p:sp>
      <p:sp>
        <p:nvSpPr>
          <p:cNvPr id="18" name="Text 15"/>
          <p:cNvSpPr txBox="1"/>
          <p:nvPr/>
        </p:nvSpPr>
        <p:spPr>
          <a:xfrm>
            <a:off x="7132320" y="4096512"/>
            <a:ext cx="4297680" cy="502920"/>
          </a:xfrm>
          <a:prstGeom prst="rect">
            <a:avLst/>
          </a:prstGeom>
          <a:noFill/>
          <a:ln/>
        </p:spPr>
        <p:txBody>
          <a:bodyPr wrap="square" lIns="0" tIns="0" rIns="0" bIns="0" rtlCol="0" anchor="ctr"/>
          <a:lstStyle/>
          <a:p>
            <a:pPr marL="0" indent="0">
              <a:buNone/>
            </a:pPr>
            <a:r>
              <a:rPr lang="en-US" sz="1600" b="1" dirty="0">
                <a:solidFill>
                  <a:schemeClr val="tx2"/>
                </a:solidFill>
              </a:rPr>
              <a:t>Pre-registered, amended in the open, replayable</a:t>
            </a:r>
            <a:endParaRPr lang="en-US" sz="1600" dirty="0"/>
          </a:p>
        </p:txBody>
      </p:sp>
      <p:sp>
        <p:nvSpPr>
          <p:cNvPr id="19" name="Text 16"/>
          <p:cNvSpPr txBox="1"/>
          <p:nvPr/>
        </p:nvSpPr>
        <p:spPr>
          <a:xfrm>
            <a:off x="6492240" y="4709160"/>
            <a:ext cx="4937760" cy="1188720"/>
          </a:xfrm>
          <a:prstGeom prst="rect">
            <a:avLst/>
          </a:prstGeom>
          <a:noFill/>
          <a:ln/>
        </p:spPr>
        <p:txBody>
          <a:bodyPr wrap="square" lIns="0" tIns="0" rIns="0" bIns="0" rtlCol="0" anchor="t"/>
          <a:lstStyle/>
          <a:p>
            <a:pPr marL="0" indent="0">
              <a:buNone/>
            </a:pPr>
            <a:r>
              <a:rPr lang="en-US" sz="1250" dirty="0">
                <a:solidFill>
                  <a:schemeClr val="tx1"/>
                </a:solidFill>
              </a:rPr>
              <a:t>The scorecard, weights, floor and every model rule are hashed and pinned in the tests. Seven logged amendments. Every ledger entry recomputes from its snapshot.</a:t>
            </a:r>
            <a:endParaRPr lang="en-US" sz="12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One chain, left to right</a:t>
            </a:r>
            <a:endParaRPr lang="en-US" sz="3200" dirty="0"/>
          </a:p>
        </p:txBody>
      </p:sp>
      <p:sp>
        <p:nvSpPr>
          <p:cNvPr id="4" name="Shape 1"/>
          <p:cNvSpPr/>
          <p:nvPr/>
        </p:nvSpPr>
        <p:spPr>
          <a:xfrm>
            <a:off x="548640" y="2194560"/>
            <a:ext cx="1481328" cy="1828800"/>
          </a:xfrm>
          <a:prstGeom prst="roundRect">
            <a:avLst>
              <a:gd name="adj" fmla="val 6173"/>
            </a:avLst>
          </a:prstGeom>
          <a:solidFill>
            <a:srgbClr val="1E2761"/>
          </a:solidFill>
          <a:ln w="12700">
            <a:solidFill>
              <a:srgbClr val="1E2761"/>
            </a:solidFill>
            <a:prstDash val="solid"/>
          </a:ln>
        </p:spPr>
      </p:sp>
      <p:sp>
        <p:nvSpPr>
          <p:cNvPr id="5" name="Text 2"/>
          <p:cNvSpPr txBox="1"/>
          <p:nvPr/>
        </p:nvSpPr>
        <p:spPr>
          <a:xfrm>
            <a:off x="658368" y="2331720"/>
            <a:ext cx="1261872" cy="457200"/>
          </a:xfrm>
          <a:prstGeom prst="rect">
            <a:avLst/>
          </a:prstGeom>
          <a:noFill/>
          <a:ln/>
        </p:spPr>
        <p:txBody>
          <a:bodyPr wrap="square" lIns="0" tIns="0" rIns="0" bIns="0" rtlCol="0" anchor="t"/>
          <a:lstStyle/>
          <a:p>
            <a:pPr marL="0" indent="0" algn="ctr">
              <a:buNone/>
            </a:pPr>
            <a:r>
              <a:rPr lang="en-US" sz="1500" b="1" dirty="0">
                <a:solidFill>
                  <a:schemeClr val="bg1"/>
                </a:solidFill>
              </a:rPr>
              <a:t>Evidence</a:t>
            </a:r>
            <a:endParaRPr lang="en-US" sz="1500" dirty="0"/>
          </a:p>
        </p:txBody>
      </p:sp>
      <p:sp>
        <p:nvSpPr>
          <p:cNvPr id="6" name="Text 3"/>
          <p:cNvSpPr txBox="1"/>
          <p:nvPr/>
        </p:nvSpPr>
        <p:spPr>
          <a:xfrm>
            <a:off x="658368" y="2834640"/>
            <a:ext cx="1261872" cy="1097280"/>
          </a:xfrm>
          <a:prstGeom prst="rect">
            <a:avLst/>
          </a:prstGeom>
          <a:noFill/>
          <a:ln/>
        </p:spPr>
        <p:txBody>
          <a:bodyPr wrap="square" lIns="0" tIns="0" rIns="0" bIns="0" rtlCol="0" anchor="t"/>
          <a:lstStyle/>
          <a:p>
            <a:pPr marL="0" indent="0" algn="ctr">
              <a:buNone/>
            </a:pPr>
            <a:r>
              <a:rPr lang="en-US" sz="1100" dirty="0">
                <a:solidFill>
                  <a:schemeClr val="bg1"/>
                </a:solidFill>
              </a:rPr>
              <a:t>22 frozen items</a:t>
            </a:r>
            <a:endParaRPr lang="en-US" sz="1100" dirty="0"/>
          </a:p>
        </p:txBody>
      </p:sp>
      <p:sp>
        <p:nvSpPr>
          <p:cNvPr id="7" name="Shape 4"/>
          <p:cNvSpPr/>
          <p:nvPr/>
        </p:nvSpPr>
        <p:spPr>
          <a:xfrm>
            <a:off x="2057400" y="3044952"/>
            <a:ext cx="100584" cy="128016"/>
          </a:xfrm>
          <a:prstGeom prst="rtTriangle">
            <a:avLst/>
          </a:prstGeom>
          <a:solidFill>
            <a:srgbClr val="6B7280"/>
          </a:solidFill>
          <a:ln w="12700">
            <a:solidFill>
              <a:srgbClr val="6B7280"/>
            </a:solidFill>
            <a:prstDash val="solid"/>
          </a:ln>
        </p:spPr>
      </p:sp>
      <p:sp>
        <p:nvSpPr>
          <p:cNvPr id="8" name="Shape 5"/>
          <p:cNvSpPr/>
          <p:nvPr/>
        </p:nvSpPr>
        <p:spPr>
          <a:xfrm>
            <a:off x="2185416" y="2194560"/>
            <a:ext cx="1481328" cy="1828800"/>
          </a:xfrm>
          <a:prstGeom prst="roundRect">
            <a:avLst>
              <a:gd name="adj" fmla="val 6173"/>
            </a:avLst>
          </a:prstGeom>
          <a:solidFill>
            <a:srgbClr val="1E2761"/>
          </a:solidFill>
          <a:ln w="12700">
            <a:solidFill>
              <a:srgbClr val="1E2761"/>
            </a:solidFill>
            <a:prstDash val="solid"/>
          </a:ln>
        </p:spPr>
      </p:sp>
      <p:sp>
        <p:nvSpPr>
          <p:cNvPr id="9" name="Text 6"/>
          <p:cNvSpPr txBox="1"/>
          <p:nvPr/>
        </p:nvSpPr>
        <p:spPr>
          <a:xfrm>
            <a:off x="2295144" y="2331720"/>
            <a:ext cx="1261872" cy="457200"/>
          </a:xfrm>
          <a:prstGeom prst="rect">
            <a:avLst/>
          </a:prstGeom>
          <a:noFill/>
          <a:ln/>
        </p:spPr>
        <p:txBody>
          <a:bodyPr wrap="square" lIns="0" tIns="0" rIns="0" bIns="0" rtlCol="0" anchor="t"/>
          <a:lstStyle/>
          <a:p>
            <a:pPr marL="0" indent="0" algn="ctr">
              <a:buNone/>
            </a:pPr>
            <a:r>
              <a:rPr lang="en-US" sz="1500" b="1" dirty="0">
                <a:solidFill>
                  <a:schemeClr val="bg1"/>
                </a:solidFill>
              </a:rPr>
              <a:t>Signals</a:t>
            </a:r>
            <a:endParaRPr lang="en-US" sz="1500" dirty="0"/>
          </a:p>
        </p:txBody>
      </p:sp>
      <p:sp>
        <p:nvSpPr>
          <p:cNvPr id="10" name="Text 7"/>
          <p:cNvSpPr txBox="1"/>
          <p:nvPr/>
        </p:nvSpPr>
        <p:spPr>
          <a:xfrm>
            <a:off x="2295144" y="2834640"/>
            <a:ext cx="1261872" cy="1097280"/>
          </a:xfrm>
          <a:prstGeom prst="rect">
            <a:avLst/>
          </a:prstGeom>
          <a:noFill/>
          <a:ln/>
        </p:spPr>
        <p:txBody>
          <a:bodyPr wrap="square" lIns="0" tIns="0" rIns="0" bIns="0" rtlCol="0" anchor="t"/>
          <a:lstStyle/>
          <a:p>
            <a:pPr marL="0" indent="0" algn="ctr">
              <a:buNone/>
            </a:pPr>
            <a:r>
              <a:rPr lang="en-US" sz="1100" dirty="0">
                <a:solidFill>
                  <a:schemeClr val="bg1"/>
                </a:solidFill>
              </a:rPr>
              <a:t>inflation, labour, financial, tone, base rates, projections</a:t>
            </a:r>
            <a:endParaRPr lang="en-US" sz="1100" dirty="0"/>
          </a:p>
        </p:txBody>
      </p:sp>
      <p:sp>
        <p:nvSpPr>
          <p:cNvPr id="11" name="Shape 8"/>
          <p:cNvSpPr/>
          <p:nvPr/>
        </p:nvSpPr>
        <p:spPr>
          <a:xfrm>
            <a:off x="3694176" y="3044952"/>
            <a:ext cx="100584" cy="128016"/>
          </a:xfrm>
          <a:prstGeom prst="rtTriangle">
            <a:avLst/>
          </a:prstGeom>
          <a:solidFill>
            <a:srgbClr val="6B7280"/>
          </a:solidFill>
          <a:ln w="12700">
            <a:solidFill>
              <a:srgbClr val="6B7280"/>
            </a:solidFill>
            <a:prstDash val="solid"/>
          </a:ln>
        </p:spPr>
      </p:sp>
      <p:sp>
        <p:nvSpPr>
          <p:cNvPr id="12" name="Shape 9"/>
          <p:cNvSpPr/>
          <p:nvPr/>
        </p:nvSpPr>
        <p:spPr>
          <a:xfrm>
            <a:off x="3822192" y="2194560"/>
            <a:ext cx="1481328" cy="1828800"/>
          </a:xfrm>
          <a:prstGeom prst="roundRect">
            <a:avLst>
              <a:gd name="adj" fmla="val 6173"/>
            </a:avLst>
          </a:prstGeom>
          <a:solidFill>
            <a:srgbClr val="1E2761"/>
          </a:solidFill>
          <a:ln w="12700">
            <a:solidFill>
              <a:srgbClr val="1E2761"/>
            </a:solidFill>
            <a:prstDash val="solid"/>
          </a:ln>
        </p:spPr>
      </p:sp>
      <p:sp>
        <p:nvSpPr>
          <p:cNvPr id="13" name="Text 10"/>
          <p:cNvSpPr txBox="1"/>
          <p:nvPr/>
        </p:nvSpPr>
        <p:spPr>
          <a:xfrm>
            <a:off x="3931920" y="2331720"/>
            <a:ext cx="1261872" cy="457200"/>
          </a:xfrm>
          <a:prstGeom prst="rect">
            <a:avLst/>
          </a:prstGeom>
          <a:noFill/>
          <a:ln/>
        </p:spPr>
        <p:txBody>
          <a:bodyPr wrap="square" lIns="0" tIns="0" rIns="0" bIns="0" rtlCol="0" anchor="t"/>
          <a:lstStyle/>
          <a:p>
            <a:pPr marL="0" indent="0" algn="ctr">
              <a:buNone/>
            </a:pPr>
            <a:r>
              <a:rPr lang="en-US" sz="1500" b="1" dirty="0">
                <a:solidFill>
                  <a:schemeClr val="bg1"/>
                </a:solidFill>
              </a:rPr>
              <a:t>Models</a:t>
            </a:r>
            <a:endParaRPr lang="en-US" sz="1500" dirty="0"/>
          </a:p>
        </p:txBody>
      </p:sp>
      <p:sp>
        <p:nvSpPr>
          <p:cNvPr id="14" name="Text 11"/>
          <p:cNvSpPr txBox="1"/>
          <p:nvPr/>
        </p:nvSpPr>
        <p:spPr>
          <a:xfrm>
            <a:off x="3931920" y="2834640"/>
            <a:ext cx="1261872" cy="1097280"/>
          </a:xfrm>
          <a:prstGeom prst="rect">
            <a:avLst/>
          </a:prstGeom>
          <a:noFill/>
          <a:ln/>
        </p:spPr>
        <p:txBody>
          <a:bodyPr wrap="square" lIns="0" tIns="0" rIns="0" bIns="0" rtlCol="0" anchor="t"/>
          <a:lstStyle/>
          <a:p>
            <a:pPr marL="0" indent="0" algn="ctr">
              <a:buNone/>
            </a:pPr>
            <a:r>
              <a:rPr lang="en-US" sz="1100" dirty="0">
                <a:solidFill>
                  <a:schemeClr val="bg1"/>
                </a:solidFill>
              </a:rPr>
              <a:t>market, Taylor rules, odds, base rates, probit</a:t>
            </a:r>
            <a:endParaRPr lang="en-US" sz="1100" dirty="0"/>
          </a:p>
        </p:txBody>
      </p:sp>
      <p:sp>
        <p:nvSpPr>
          <p:cNvPr id="15" name="Shape 12"/>
          <p:cNvSpPr/>
          <p:nvPr/>
        </p:nvSpPr>
        <p:spPr>
          <a:xfrm>
            <a:off x="5330952" y="3044952"/>
            <a:ext cx="100584" cy="128016"/>
          </a:xfrm>
          <a:prstGeom prst="rtTriangle">
            <a:avLst/>
          </a:prstGeom>
          <a:solidFill>
            <a:srgbClr val="6B7280"/>
          </a:solidFill>
          <a:ln w="12700">
            <a:solidFill>
              <a:srgbClr val="6B7280"/>
            </a:solidFill>
            <a:prstDash val="solid"/>
          </a:ln>
        </p:spPr>
      </p:sp>
      <p:sp>
        <p:nvSpPr>
          <p:cNvPr id="16" name="Shape 13"/>
          <p:cNvSpPr/>
          <p:nvPr/>
        </p:nvSpPr>
        <p:spPr>
          <a:xfrm>
            <a:off x="5458968" y="2194560"/>
            <a:ext cx="1481328" cy="1828800"/>
          </a:xfrm>
          <a:prstGeom prst="roundRect">
            <a:avLst>
              <a:gd name="adj" fmla="val 6173"/>
            </a:avLst>
          </a:prstGeom>
          <a:solidFill>
            <a:srgbClr val="1E2761"/>
          </a:solidFill>
          <a:ln w="12700">
            <a:solidFill>
              <a:srgbClr val="1E2761"/>
            </a:solidFill>
            <a:prstDash val="solid"/>
          </a:ln>
        </p:spPr>
      </p:sp>
      <p:sp>
        <p:nvSpPr>
          <p:cNvPr id="17" name="Text 14"/>
          <p:cNvSpPr txBox="1"/>
          <p:nvPr/>
        </p:nvSpPr>
        <p:spPr>
          <a:xfrm>
            <a:off x="5568696" y="2331720"/>
            <a:ext cx="1261872" cy="457200"/>
          </a:xfrm>
          <a:prstGeom prst="rect">
            <a:avLst/>
          </a:prstGeom>
          <a:noFill/>
          <a:ln/>
        </p:spPr>
        <p:txBody>
          <a:bodyPr wrap="square" lIns="0" tIns="0" rIns="0" bIns="0" rtlCol="0" anchor="t"/>
          <a:lstStyle/>
          <a:p>
            <a:pPr marL="0" indent="0" algn="ctr">
              <a:buNone/>
            </a:pPr>
            <a:r>
              <a:rPr lang="en-US" sz="1500" b="1" dirty="0">
                <a:solidFill>
                  <a:schemeClr val="bg1"/>
                </a:solidFill>
              </a:rPr>
              <a:t>Pool</a:t>
            </a:r>
            <a:endParaRPr lang="en-US" sz="1500" dirty="0"/>
          </a:p>
        </p:txBody>
      </p:sp>
      <p:sp>
        <p:nvSpPr>
          <p:cNvPr id="18" name="Text 15"/>
          <p:cNvSpPr txBox="1"/>
          <p:nvPr/>
        </p:nvSpPr>
        <p:spPr>
          <a:xfrm>
            <a:off x="5568696" y="2834640"/>
            <a:ext cx="1261872" cy="1097280"/>
          </a:xfrm>
          <a:prstGeom prst="rect">
            <a:avLst/>
          </a:prstGeom>
          <a:noFill/>
          <a:ln/>
        </p:spPr>
        <p:txBody>
          <a:bodyPr wrap="square" lIns="0" tIns="0" rIns="0" bIns="0" rtlCol="0" anchor="t"/>
          <a:lstStyle/>
          <a:p>
            <a:pPr marL="0" indent="0" algn="ctr">
              <a:buNone/>
            </a:pPr>
            <a:r>
              <a:rPr lang="en-US" sz="1100" dirty="0">
                <a:solidFill>
                  <a:schemeClr val="bg1"/>
                </a:solidFill>
              </a:rPr>
              <a:t>fixed weights, 1.5% floor</a:t>
            </a:r>
            <a:endParaRPr lang="en-US" sz="1100" dirty="0"/>
          </a:p>
        </p:txBody>
      </p:sp>
      <p:sp>
        <p:nvSpPr>
          <p:cNvPr id="19" name="Shape 16"/>
          <p:cNvSpPr/>
          <p:nvPr/>
        </p:nvSpPr>
        <p:spPr>
          <a:xfrm>
            <a:off x="6967728" y="3044952"/>
            <a:ext cx="100584" cy="128016"/>
          </a:xfrm>
          <a:prstGeom prst="rtTriangle">
            <a:avLst/>
          </a:prstGeom>
          <a:solidFill>
            <a:srgbClr val="6B7280"/>
          </a:solidFill>
          <a:ln w="12700">
            <a:solidFill>
              <a:srgbClr val="6B7280"/>
            </a:solidFill>
            <a:prstDash val="solid"/>
          </a:ln>
        </p:spPr>
      </p:sp>
      <p:sp>
        <p:nvSpPr>
          <p:cNvPr id="20" name="Shape 17"/>
          <p:cNvSpPr/>
          <p:nvPr/>
        </p:nvSpPr>
        <p:spPr>
          <a:xfrm>
            <a:off x="7095744" y="2194560"/>
            <a:ext cx="1481328" cy="1828800"/>
          </a:xfrm>
          <a:prstGeom prst="roundRect">
            <a:avLst>
              <a:gd name="adj" fmla="val 6173"/>
            </a:avLst>
          </a:prstGeom>
          <a:solidFill>
            <a:srgbClr val="C8553D"/>
          </a:solidFill>
          <a:ln w="12700">
            <a:solidFill>
              <a:srgbClr val="C8553D"/>
            </a:solidFill>
            <a:prstDash val="solid"/>
          </a:ln>
        </p:spPr>
      </p:sp>
      <p:sp>
        <p:nvSpPr>
          <p:cNvPr id="21" name="Text 18"/>
          <p:cNvSpPr txBox="1"/>
          <p:nvPr/>
        </p:nvSpPr>
        <p:spPr>
          <a:xfrm>
            <a:off x="7205472" y="2331720"/>
            <a:ext cx="1261872" cy="457200"/>
          </a:xfrm>
          <a:prstGeom prst="rect">
            <a:avLst/>
          </a:prstGeom>
          <a:noFill/>
          <a:ln/>
        </p:spPr>
        <p:txBody>
          <a:bodyPr wrap="square" lIns="0" tIns="0" rIns="0" bIns="0" rtlCol="0" anchor="t"/>
          <a:lstStyle/>
          <a:p>
            <a:pPr marL="0" indent="0" algn="ctr">
              <a:buNone/>
            </a:pPr>
            <a:r>
              <a:rPr lang="en-US" sz="1500" b="1" dirty="0">
                <a:solidFill>
                  <a:schemeClr val="bg1"/>
                </a:solidFill>
              </a:rPr>
              <a:t>Analysts</a:t>
            </a:r>
            <a:endParaRPr lang="en-US" sz="1500" dirty="0"/>
          </a:p>
        </p:txBody>
      </p:sp>
      <p:sp>
        <p:nvSpPr>
          <p:cNvPr id="22" name="Text 19"/>
          <p:cNvSpPr txBox="1"/>
          <p:nvPr/>
        </p:nvSpPr>
        <p:spPr>
          <a:xfrm>
            <a:off x="7205472" y="2834640"/>
            <a:ext cx="1261872" cy="1097280"/>
          </a:xfrm>
          <a:prstGeom prst="rect">
            <a:avLst/>
          </a:prstGeom>
          <a:noFill/>
          <a:ln/>
        </p:spPr>
        <p:txBody>
          <a:bodyPr wrap="square" lIns="0" tIns="0" rIns="0" bIns="0" rtlCol="0" anchor="t"/>
          <a:lstStyle/>
          <a:p>
            <a:pPr marL="0" indent="0" algn="ctr">
              <a:buNone/>
            </a:pPr>
            <a:r>
              <a:rPr lang="en-US" sz="1100" dirty="0">
                <a:solidFill>
                  <a:schemeClr val="bg1"/>
                </a:solidFill>
              </a:rPr>
              <a:t>5 specialists, bounded tilt</a:t>
            </a:r>
            <a:endParaRPr lang="en-US" sz="1100" dirty="0"/>
          </a:p>
        </p:txBody>
      </p:sp>
      <p:sp>
        <p:nvSpPr>
          <p:cNvPr id="23" name="Shape 20"/>
          <p:cNvSpPr/>
          <p:nvPr/>
        </p:nvSpPr>
        <p:spPr>
          <a:xfrm>
            <a:off x="8604504" y="3044952"/>
            <a:ext cx="100584" cy="128016"/>
          </a:xfrm>
          <a:prstGeom prst="rtTriangle">
            <a:avLst/>
          </a:prstGeom>
          <a:solidFill>
            <a:srgbClr val="6B7280"/>
          </a:solidFill>
          <a:ln w="12700">
            <a:solidFill>
              <a:srgbClr val="6B7280"/>
            </a:solidFill>
            <a:prstDash val="solid"/>
          </a:ln>
        </p:spPr>
      </p:sp>
      <p:sp>
        <p:nvSpPr>
          <p:cNvPr id="24" name="Shape 21"/>
          <p:cNvSpPr/>
          <p:nvPr/>
        </p:nvSpPr>
        <p:spPr>
          <a:xfrm>
            <a:off x="8732520" y="2194560"/>
            <a:ext cx="1481328" cy="1828800"/>
          </a:xfrm>
          <a:prstGeom prst="roundRect">
            <a:avLst>
              <a:gd name="adj" fmla="val 6173"/>
            </a:avLst>
          </a:prstGeom>
          <a:solidFill>
            <a:srgbClr val="2C6E49"/>
          </a:solidFill>
          <a:ln w="12700">
            <a:solidFill>
              <a:srgbClr val="2C6E49"/>
            </a:solidFill>
            <a:prstDash val="solid"/>
          </a:ln>
        </p:spPr>
      </p:sp>
      <p:sp>
        <p:nvSpPr>
          <p:cNvPr id="25" name="Text 22"/>
          <p:cNvSpPr txBox="1"/>
          <p:nvPr/>
        </p:nvSpPr>
        <p:spPr>
          <a:xfrm>
            <a:off x="8842248" y="2331720"/>
            <a:ext cx="1261872" cy="457200"/>
          </a:xfrm>
          <a:prstGeom prst="rect">
            <a:avLst/>
          </a:prstGeom>
          <a:noFill/>
          <a:ln/>
        </p:spPr>
        <p:txBody>
          <a:bodyPr wrap="square" lIns="0" tIns="0" rIns="0" bIns="0" rtlCol="0" anchor="t"/>
          <a:lstStyle/>
          <a:p>
            <a:pPr marL="0" indent="0" algn="ctr">
              <a:buNone/>
            </a:pPr>
            <a:r>
              <a:rPr lang="en-US" sz="1500" b="1" dirty="0">
                <a:solidFill>
                  <a:schemeClr val="bg1"/>
                </a:solidFill>
              </a:rPr>
              <a:t>You</a:t>
            </a:r>
            <a:endParaRPr lang="en-US" sz="1500" dirty="0"/>
          </a:p>
        </p:txBody>
      </p:sp>
      <p:sp>
        <p:nvSpPr>
          <p:cNvPr id="26" name="Text 23"/>
          <p:cNvSpPr txBox="1"/>
          <p:nvPr/>
        </p:nvSpPr>
        <p:spPr>
          <a:xfrm>
            <a:off x="8842248" y="2834640"/>
            <a:ext cx="1261872" cy="1097280"/>
          </a:xfrm>
          <a:prstGeom prst="rect">
            <a:avLst/>
          </a:prstGeom>
          <a:noFill/>
          <a:ln/>
        </p:spPr>
        <p:txBody>
          <a:bodyPr wrap="square" lIns="0" tIns="0" rIns="0" bIns="0" rtlCol="0" anchor="t"/>
          <a:lstStyle/>
          <a:p>
            <a:pPr marL="0" indent="0" algn="ctr">
              <a:buNone/>
            </a:pPr>
            <a:r>
              <a:rPr lang="en-US" sz="1100" dirty="0">
                <a:solidFill>
                  <a:schemeClr val="bg1"/>
                </a:solidFill>
              </a:rPr>
              <a:t>views, watch-outs, documents, odds</a:t>
            </a:r>
            <a:endParaRPr lang="en-US" sz="1100" dirty="0"/>
          </a:p>
        </p:txBody>
      </p:sp>
      <p:sp>
        <p:nvSpPr>
          <p:cNvPr id="27" name="Shape 24"/>
          <p:cNvSpPr/>
          <p:nvPr/>
        </p:nvSpPr>
        <p:spPr>
          <a:xfrm>
            <a:off x="10241280" y="3044952"/>
            <a:ext cx="100584" cy="128016"/>
          </a:xfrm>
          <a:prstGeom prst="rtTriangle">
            <a:avLst/>
          </a:prstGeom>
          <a:solidFill>
            <a:srgbClr val="6B7280"/>
          </a:solidFill>
          <a:ln w="12700">
            <a:solidFill>
              <a:srgbClr val="6B7280"/>
            </a:solidFill>
            <a:prstDash val="solid"/>
          </a:ln>
        </p:spPr>
      </p:sp>
      <p:sp>
        <p:nvSpPr>
          <p:cNvPr id="28" name="Shape 25"/>
          <p:cNvSpPr/>
          <p:nvPr/>
        </p:nvSpPr>
        <p:spPr>
          <a:xfrm>
            <a:off x="10369296" y="2194560"/>
            <a:ext cx="1481328" cy="1828800"/>
          </a:xfrm>
          <a:prstGeom prst="roundRect">
            <a:avLst>
              <a:gd name="adj" fmla="val 6173"/>
            </a:avLst>
          </a:prstGeom>
          <a:solidFill>
            <a:srgbClr val="1E2761"/>
          </a:solidFill>
          <a:ln w="12700">
            <a:solidFill>
              <a:srgbClr val="1E2761"/>
            </a:solidFill>
            <a:prstDash val="solid"/>
          </a:ln>
        </p:spPr>
      </p:sp>
      <p:sp>
        <p:nvSpPr>
          <p:cNvPr id="29" name="Text 26"/>
          <p:cNvSpPr txBox="1"/>
          <p:nvPr/>
        </p:nvSpPr>
        <p:spPr>
          <a:xfrm>
            <a:off x="10479024" y="2331720"/>
            <a:ext cx="1261872" cy="457200"/>
          </a:xfrm>
          <a:prstGeom prst="rect">
            <a:avLst/>
          </a:prstGeom>
          <a:noFill/>
          <a:ln/>
        </p:spPr>
        <p:txBody>
          <a:bodyPr wrap="square" lIns="0" tIns="0" rIns="0" bIns="0" rtlCol="0" anchor="t"/>
          <a:lstStyle/>
          <a:p>
            <a:pPr marL="0" indent="0" algn="ctr">
              <a:buNone/>
            </a:pPr>
            <a:r>
              <a:rPr lang="en-US" sz="1500" b="1" dirty="0">
                <a:solidFill>
                  <a:schemeClr val="bg1"/>
                </a:solidFill>
              </a:rPr>
              <a:t>Ledger</a:t>
            </a:r>
            <a:endParaRPr lang="en-US" sz="1500" dirty="0"/>
          </a:p>
        </p:txBody>
      </p:sp>
      <p:sp>
        <p:nvSpPr>
          <p:cNvPr id="30" name="Text 27"/>
          <p:cNvSpPr txBox="1"/>
          <p:nvPr/>
        </p:nvSpPr>
        <p:spPr>
          <a:xfrm>
            <a:off x="10479024" y="2834640"/>
            <a:ext cx="1261872" cy="1097280"/>
          </a:xfrm>
          <a:prstGeom prst="rect">
            <a:avLst/>
          </a:prstGeom>
          <a:noFill/>
          <a:ln/>
        </p:spPr>
        <p:txBody>
          <a:bodyPr wrap="square" lIns="0" tIns="0" rIns="0" bIns="0" rtlCol="0" anchor="t"/>
          <a:lstStyle/>
          <a:p>
            <a:pPr marL="0" indent="0" algn="ctr">
              <a:buNone/>
            </a:pPr>
            <a:r>
              <a:rPr lang="en-US" sz="1100" dirty="0">
                <a:solidFill>
                  <a:schemeClr val="bg1"/>
                </a:solidFill>
              </a:rPr>
              <a:t>hash-chained, replays exactly</a:t>
            </a:r>
            <a:endParaRPr lang="en-US" sz="1100" dirty="0"/>
          </a:p>
        </p:txBody>
      </p:sp>
      <p:sp>
        <p:nvSpPr>
          <p:cNvPr id="31" name="Shape 28"/>
          <p:cNvSpPr/>
          <p:nvPr/>
        </p:nvSpPr>
        <p:spPr>
          <a:xfrm>
            <a:off x="548640" y="4480560"/>
            <a:ext cx="274320" cy="274320"/>
          </a:xfrm>
          <a:prstGeom prst="rect">
            <a:avLst/>
          </a:prstGeom>
          <a:solidFill>
            <a:srgbClr val="1E2761"/>
          </a:solidFill>
          <a:ln w="12700">
            <a:solidFill>
              <a:srgbClr val="1E2761"/>
            </a:solidFill>
            <a:prstDash val="solid"/>
          </a:ln>
        </p:spPr>
      </p:sp>
      <p:sp>
        <p:nvSpPr>
          <p:cNvPr id="32" name="Text 29"/>
          <p:cNvSpPr txBox="1"/>
          <p:nvPr/>
        </p:nvSpPr>
        <p:spPr>
          <a:xfrm>
            <a:off x="914400" y="4480560"/>
            <a:ext cx="2743200" cy="274320"/>
          </a:xfrm>
          <a:prstGeom prst="rect">
            <a:avLst/>
          </a:prstGeom>
          <a:noFill/>
          <a:ln/>
        </p:spPr>
        <p:txBody>
          <a:bodyPr wrap="square" lIns="0" tIns="0" rIns="0" bIns="0" rtlCol="0" anchor="ctr"/>
          <a:lstStyle/>
          <a:p>
            <a:pPr marL="0" indent="0">
              <a:buNone/>
            </a:pPr>
            <a:r>
              <a:rPr lang="en-US" sz="1200" dirty="0">
                <a:solidFill>
                  <a:schemeClr val="tx1"/>
                </a:solidFill>
              </a:rPr>
              <a:t>Code, deterministic</a:t>
            </a:r>
            <a:endParaRPr lang="en-US" sz="1200" dirty="0"/>
          </a:p>
        </p:txBody>
      </p:sp>
      <p:sp>
        <p:nvSpPr>
          <p:cNvPr id="33" name="Shape 30"/>
          <p:cNvSpPr/>
          <p:nvPr/>
        </p:nvSpPr>
        <p:spPr>
          <a:xfrm>
            <a:off x="3840480" y="4480560"/>
            <a:ext cx="274320" cy="274320"/>
          </a:xfrm>
          <a:prstGeom prst="rect">
            <a:avLst/>
          </a:prstGeom>
          <a:solidFill>
            <a:srgbClr val="C8553D"/>
          </a:solidFill>
          <a:ln w="12700">
            <a:solidFill>
              <a:srgbClr val="C8553D"/>
            </a:solidFill>
            <a:prstDash val="solid"/>
          </a:ln>
        </p:spPr>
      </p:sp>
      <p:sp>
        <p:nvSpPr>
          <p:cNvPr id="34" name="Text 31"/>
          <p:cNvSpPr txBox="1"/>
          <p:nvPr/>
        </p:nvSpPr>
        <p:spPr>
          <a:xfrm>
            <a:off x="4206240" y="4480560"/>
            <a:ext cx="2743200" cy="274320"/>
          </a:xfrm>
          <a:prstGeom prst="rect">
            <a:avLst/>
          </a:prstGeom>
          <a:noFill/>
          <a:ln/>
        </p:spPr>
        <p:txBody>
          <a:bodyPr wrap="square" lIns="0" tIns="0" rIns="0" bIns="0" rtlCol="0" anchor="ctr"/>
          <a:lstStyle/>
          <a:p>
            <a:pPr marL="0" indent="0">
              <a:buNone/>
            </a:pPr>
            <a:r>
              <a:rPr lang="en-US" sz="1200" dirty="0">
                <a:solidFill>
                  <a:schemeClr val="tx1"/>
                </a:solidFill>
              </a:rPr>
              <a:t>Language model, bounded</a:t>
            </a:r>
            <a:endParaRPr lang="en-US" sz="1200" dirty="0"/>
          </a:p>
        </p:txBody>
      </p:sp>
      <p:sp>
        <p:nvSpPr>
          <p:cNvPr id="35" name="Shape 32"/>
          <p:cNvSpPr/>
          <p:nvPr/>
        </p:nvSpPr>
        <p:spPr>
          <a:xfrm>
            <a:off x="7132320" y="4480560"/>
            <a:ext cx="274320" cy="274320"/>
          </a:xfrm>
          <a:prstGeom prst="rect">
            <a:avLst/>
          </a:prstGeom>
          <a:solidFill>
            <a:srgbClr val="2C6E49"/>
          </a:solidFill>
          <a:ln w="12700">
            <a:solidFill>
              <a:srgbClr val="2C6E49"/>
            </a:solidFill>
            <a:prstDash val="solid"/>
          </a:ln>
        </p:spPr>
      </p:sp>
      <p:sp>
        <p:nvSpPr>
          <p:cNvPr id="36" name="Text 33"/>
          <p:cNvSpPr txBox="1"/>
          <p:nvPr/>
        </p:nvSpPr>
        <p:spPr>
          <a:xfrm>
            <a:off x="7498080" y="4480560"/>
            <a:ext cx="2743200" cy="274320"/>
          </a:xfrm>
          <a:prstGeom prst="rect">
            <a:avLst/>
          </a:prstGeom>
          <a:noFill/>
          <a:ln/>
        </p:spPr>
        <p:txBody>
          <a:bodyPr wrap="square" lIns="0" tIns="0" rIns="0" bIns="0" rtlCol="0" anchor="ctr"/>
          <a:lstStyle/>
          <a:p>
            <a:pPr marL="0" indent="0">
              <a:buNone/>
            </a:pPr>
            <a:r>
              <a:rPr lang="en-US" sz="1200" dirty="0">
                <a:solidFill>
                  <a:schemeClr val="tx1"/>
                </a:solidFill>
              </a:rPr>
              <a:t>Human, typed channels</a:t>
            </a:r>
            <a:endParaRPr lang="en-US" sz="1200" dirty="0"/>
          </a:p>
        </p:txBody>
      </p:sp>
      <p:sp>
        <p:nvSpPr>
          <p:cNvPr id="37" name="Text 34"/>
          <p:cNvSpPr txBox="1"/>
          <p:nvPr/>
        </p:nvSpPr>
        <p:spPr>
          <a:xfrm>
            <a:off x="548640" y="5120640"/>
            <a:ext cx="11091672" cy="822960"/>
          </a:xfrm>
          <a:prstGeom prst="rect">
            <a:avLst/>
          </a:prstGeom>
          <a:noFill/>
          <a:ln/>
        </p:spPr>
        <p:txBody>
          <a:bodyPr wrap="square" lIns="0" tIns="0" rIns="0" bIns="0" rtlCol="0" anchor="t"/>
          <a:lstStyle/>
          <a:p>
            <a:pPr marL="0" indent="0">
              <a:buNone/>
            </a:pPr>
            <a:r>
              <a:rPr lang="en-US" sz="1300" i="1" dirty="0">
                <a:solidFill>
                  <a:schemeClr val="accent4"/>
                </a:solidFill>
              </a:rPr>
              <a:t>Signals are computed, not asked: the analysts are handed the numbers code has already worked out. Everything a model could compute, code computes. The language model reads the words.</a:t>
            </a:r>
            <a:endParaRPr lang="en-US" sz="1300" dirty="0"/>
          </a:p>
        </p:txBody>
      </p:sp>
      <p:sp>
        <p:nvSpPr>
          <p:cNvPr id="3"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Today's readings: from five models to one number</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920240">
                  <a:extLst>
                    <a:ext uri="{9D8B030D-6E8A-4147-A177-3AD203B41FA5}">
                      <a16:colId xmlns:a16="http://schemas.microsoft.com/office/drawing/2014/main" val="20000"/>
                    </a:ext>
                  </a:extLst>
                </a:gridCol>
                <a:gridCol w="4233672">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475488">
                <a:tc>
                  <a:txBody>
                    <a:bodyPr/>
                    <a:lstStyle/>
                    <a:p>
                      <a:pPr marL="0" indent="0">
                        <a:buNone/>
                      </a:pPr>
                      <a:r>
                        <a:rPr lang="en-US" sz="1200" b="1" dirty="0">
                          <a:solidFill>
                            <a:srgbClr val="FFFFFF"/>
                          </a:solidFill>
                        </a:rPr>
                        <a:t>Model</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rPr>
                        <a:t>What it reads</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rPr>
                        <a:t>−25</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rPr>
                        <a:t>no change</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rPr>
                        <a:t>+25</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rPr>
                        <a:t>+50</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rPr>
                        <a:t>weight</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75488">
                <a:tc>
                  <a:txBody>
                    <a:bodyPr/>
                    <a:lstStyle/>
                    <a:p>
                      <a:pPr marL="0" indent="0">
                        <a:buNone/>
                      </a:pPr>
                      <a:r>
                        <a:rPr lang="en-US" sz="1200" dirty="0">
                          <a:solidFill>
                            <a:srgbClr val="1B1F2A"/>
                          </a:solidFill>
                        </a:rPr>
                        <a:t>Market-implied</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050" dirty="0">
                          <a:solidFill>
                            <a:srgbClr val="1B1F2A"/>
                          </a:solidFill>
                        </a:rPr>
                        <a:t>November fed-funds future against the overnight rate: +2.5 bp expected</a:t>
                      </a:r>
                      <a:endParaRPr lang="en-US" sz="10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0</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90</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10</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0</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0.6</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200" dirty="0">
                          <a:solidFill>
                            <a:srgbClr val="1B1F2A"/>
                          </a:solidFill>
                        </a:rPr>
                        <a:t>Taylor family</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050" dirty="0">
                          <a:solidFill>
                            <a:srgbClr val="1B1F2A"/>
                          </a:solidFill>
                        </a:rPr>
                        <a:t>12-month core PCE 3.0%, unemployment 4.2%, four rules × nine r*/u* pairs</a:t>
                      </a:r>
                      <a:endParaRPr lang="en-US" sz="10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9</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44</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40</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7</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0.2</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200" dirty="0">
                          <a:solidFill>
                            <a:srgbClr val="1B1F2A"/>
                          </a:solidFill>
                        </a:rPr>
                        <a:t>Prediction market</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050" dirty="0">
                          <a:solidFill>
                            <a:srgbClr val="1B1F2A"/>
                          </a:solidFill>
                        </a:rPr>
                        <a:t>Polymarket, 26 Oct, $67m traded</a:t>
                      </a:r>
                      <a:endParaRPr lang="en-US" sz="10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0</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95</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4.5</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0</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0.1</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200" dirty="0">
                          <a:solidFill>
                            <a:srgbClr val="1B1F2A"/>
                          </a:solidFill>
                        </a:rPr>
                        <a:t>Historical base rates</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050" dirty="0">
                          <a:solidFill>
                            <a:srgbClr val="1B1F2A"/>
                          </a:solidFill>
                        </a:rPr>
                        <a:t>What followed a hike at the 49 meetings since 1994 that came after one</a:t>
                      </a:r>
                      <a:endParaRPr lang="en-US" sz="10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0</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35</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52</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13</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dirty="0">
                          <a:solidFill>
                            <a:srgbClr val="1B1F2A"/>
                          </a:solidFill>
                        </a:rPr>
                        <a:t>0.1</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B1F2A"/>
                          </a:solidFill>
                        </a:rPr>
                        <a:t>Pooled</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050" dirty="0">
                          <a:solidFill>
                            <a:srgbClr val="1B1F2A"/>
                          </a:solidFill>
                        </a:rPr>
                        <a:t>Weighted average, then the 1.5% floor</a:t>
                      </a:r>
                      <a:endParaRPr lang="en-US" sz="10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b="1" dirty="0">
                          <a:solidFill>
                            <a:srgbClr val="1B1F2A"/>
                          </a:solidFill>
                        </a:rPr>
                        <a:t>1.8</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b="1" dirty="0">
                          <a:solidFill>
                            <a:srgbClr val="1B1F2A"/>
                          </a:solidFill>
                        </a:rPr>
                        <a:t>74.7</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b="1" dirty="0">
                          <a:solidFill>
                            <a:srgbClr val="1B1F2A"/>
                          </a:solidFill>
                        </a:rPr>
                        <a:t>19.4</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b="1" dirty="0">
                          <a:solidFill>
                            <a:srgbClr val="1B1F2A"/>
                          </a:solidFill>
                        </a:rPr>
                        <a:t>2.6</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200" dirty="0">
                          <a:solidFill>
                            <a:srgbClr val="1B1F2A"/>
                          </a:solidFill>
                        </a:rPr>
                        <a:t>Specialists' tilt</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050" dirty="0">
                          <a:solidFill>
                            <a:srgbClr val="1B1F2A"/>
                          </a:solidFill>
                        </a:rPr>
                        <a:t>+4.4 bp hawkish, mean of five: 4.4 points moved toward the hike outcomes</a:t>
                      </a:r>
                      <a:endParaRPr lang="en-US" sz="10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B1F2A"/>
                          </a:solidFill>
                        </a:rPr>
                        <a:t>Machine forecast</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050" dirty="0">
                          <a:solidFill>
                            <a:srgbClr val="1B1F2A"/>
                          </a:solidFill>
                        </a:rPr>
                        <a:t>Ledger entry #16</a:t>
                      </a:r>
                      <a:endParaRPr lang="en-US" sz="10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b="1" dirty="0">
                          <a:solidFill>
                            <a:srgbClr val="1B1F2A"/>
                          </a:solidFill>
                        </a:rPr>
                        <a:t>1.4</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b="1" dirty="0">
                          <a:solidFill>
                            <a:srgbClr val="1B1F2A"/>
                          </a:solidFill>
                        </a:rPr>
                        <a:t>71.3</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b="1" dirty="0">
                          <a:solidFill>
                            <a:srgbClr val="1B1F2A"/>
                          </a:solidFill>
                        </a:rPr>
                        <a:t>22.6</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200" b="1" dirty="0">
                          <a:solidFill>
                            <a:srgbClr val="1B1F2A"/>
                          </a:solidFill>
                        </a:rPr>
                        <a:t>3.8</a:t>
                      </a: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endParaRPr lang="en-US" sz="120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1"/>
          <p:cNvSpPr txBox="1"/>
          <p:nvPr/>
        </p:nvSpPr>
        <p:spPr>
          <a:xfrm>
            <a:off x="548640" y="5577840"/>
            <a:ext cx="11091672" cy="365760"/>
          </a:xfrm>
          <a:prstGeom prst="rect">
            <a:avLst/>
          </a:prstGeom>
          <a:noFill/>
          <a:ln/>
        </p:spPr>
        <p:txBody>
          <a:bodyPr wrap="square" lIns="0" tIns="0" rIns="0" bIns="0" rtlCol="0" anchor="t"/>
          <a:lstStyle/>
          <a:p>
            <a:pPr marL="0" indent="0">
              <a:buNone/>
            </a:pPr>
            <a:r>
              <a:rPr lang="en-US" sz="1100" dirty="0">
                <a:solidFill>
                  <a:schemeClr val="accent4"/>
                </a:solidFill>
              </a:rPr>
              <a:t>Percentages, rounded. The ordered probit is computed and shown but carries weight 0 until it has a live record.</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48640"/>
            <a:ext cx="11091672" cy="822960"/>
          </a:xfrm>
          <a:prstGeom prst="rect">
            <a:avLst/>
          </a:prstGeom>
          <a:noFill/>
          <a:ln/>
        </p:spPr>
        <p:txBody>
          <a:bodyPr wrap="square" lIns="0" tIns="0" rIns="0" bIns="0" rtlCol="0" anchor="ctr"/>
          <a:lstStyle/>
          <a:p>
            <a:pPr marL="0" indent="0" algn="l">
              <a:buNone/>
            </a:pPr>
            <a:r>
              <a:rPr lang="en-US" sz="3000" b="1" dirty="0">
                <a:solidFill>
                  <a:schemeClr val="bg1"/>
                </a:solidFill>
              </a:rPr>
              <a:t>Live demo 2: the evidence graph and the pool</a:t>
            </a:r>
            <a:endParaRPr lang="en-US" sz="3000" dirty="0"/>
          </a:p>
        </p:txBody>
      </p:sp>
      <p:sp>
        <p:nvSpPr>
          <p:cNvPr id="3" name="Shape 1"/>
          <p:cNvSpPr/>
          <p:nvPr/>
        </p:nvSpPr>
        <p:spPr>
          <a:xfrm>
            <a:off x="10177272" y="685800"/>
            <a:ext cx="1463040" cy="548640"/>
          </a:xfrm>
          <a:prstGeom prst="roundRect">
            <a:avLst>
              <a:gd name="adj" fmla="val 16667"/>
            </a:avLst>
          </a:prstGeom>
          <a:solidFill>
            <a:srgbClr val="E9B44C"/>
          </a:solidFill>
          <a:ln w="12700">
            <a:solidFill>
              <a:srgbClr val="E9B44C"/>
            </a:solidFill>
            <a:prstDash val="solid"/>
          </a:ln>
        </p:spPr>
      </p:sp>
      <p:sp>
        <p:nvSpPr>
          <p:cNvPr id="4" name="Text 2"/>
          <p:cNvSpPr txBox="1"/>
          <p:nvPr/>
        </p:nvSpPr>
        <p:spPr>
          <a:xfrm>
            <a:off x="10177272" y="685800"/>
            <a:ext cx="1463040" cy="548640"/>
          </a:xfrm>
          <a:prstGeom prst="rect">
            <a:avLst/>
          </a:prstGeom>
          <a:noFill/>
          <a:ln/>
        </p:spPr>
        <p:txBody>
          <a:bodyPr wrap="square" lIns="0" tIns="0" rIns="0" bIns="0" rtlCol="0" anchor="ctr"/>
          <a:lstStyle/>
          <a:p>
            <a:pPr marL="0" indent="0" algn="ctr">
              <a:buNone/>
            </a:pPr>
            <a:r>
              <a:rPr lang="en-US" sz="1600" b="1" dirty="0">
                <a:solidFill>
                  <a:srgbClr val="1B1F2A"/>
                </a:solidFill>
              </a:rPr>
              <a:t>3 min</a:t>
            </a:r>
            <a:endParaRPr lang="en-US" sz="1600" dirty="0"/>
          </a:p>
        </p:txBody>
      </p:sp>
      <p:sp>
        <p:nvSpPr>
          <p:cNvPr id="5" name="Shape 3"/>
          <p:cNvSpPr/>
          <p:nvPr/>
        </p:nvSpPr>
        <p:spPr>
          <a:xfrm>
            <a:off x="548640" y="1737360"/>
            <a:ext cx="3520440" cy="3200400"/>
          </a:xfrm>
          <a:prstGeom prst="roundRect">
            <a:avLst>
              <a:gd name="adj" fmla="val 3429"/>
            </a:avLst>
          </a:prstGeom>
          <a:solidFill>
            <a:srgbClr val="1E2761"/>
          </a:solidFill>
          <a:ln w="12700">
            <a:solidFill>
              <a:srgbClr val="1E2761"/>
            </a:solidFill>
            <a:prstDash val="solid"/>
          </a:ln>
        </p:spPr>
      </p:sp>
      <p:sp>
        <p:nvSpPr>
          <p:cNvPr id="6" name="Text 4"/>
          <p:cNvSpPr txBox="1"/>
          <p:nvPr/>
        </p:nvSpPr>
        <p:spPr>
          <a:xfrm>
            <a:off x="82296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Open</a:t>
            </a:r>
            <a:endParaRPr lang="en-US" sz="1800" dirty="0"/>
          </a:p>
        </p:txBody>
      </p:sp>
      <p:sp>
        <p:nvSpPr>
          <p:cNvPr id="7" name="Text 5"/>
          <p:cNvSpPr txBox="1"/>
          <p:nvPr/>
        </p:nvSpPr>
        <p:spPr>
          <a:xfrm>
            <a:off x="82296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Evidence graph</a:t>
            </a:r>
            <a:endParaRPr lang="en-US" sz="1300" dirty="0"/>
          </a:p>
          <a:p>
            <a:pPr marL="342900" indent="-342900">
              <a:spcAft>
                <a:spcPts val="800"/>
              </a:spcAft>
              <a:buSzPct val="100000"/>
              <a:buChar char="•"/>
            </a:pPr>
            <a:r>
              <a:rPr lang="en-US" sz="1300" dirty="0">
                <a:solidFill>
                  <a:srgbClr val="FFFFFF"/>
                </a:solidFill>
              </a:rPr>
              <a:t>Click the Market-implied box</a:t>
            </a:r>
            <a:endParaRPr lang="en-US" sz="1300" dirty="0"/>
          </a:p>
          <a:p>
            <a:pPr marL="342900" indent="-342900">
              <a:spcAft>
                <a:spcPts val="800"/>
              </a:spcAft>
              <a:buSzPct val="100000"/>
              <a:buChar char="•"/>
            </a:pPr>
            <a:r>
              <a:rPr lang="en-US" sz="1300" dirty="0">
                <a:solidFill>
                  <a:srgbClr val="FFFFFF"/>
                </a:solidFill>
              </a:rPr>
              <a:t>Click the Pool box</a:t>
            </a:r>
            <a:endParaRPr lang="en-US" sz="1300" dirty="0"/>
          </a:p>
          <a:p>
            <a:pPr marL="342900" indent="-342900">
              <a:spcAft>
                <a:spcPts val="800"/>
              </a:spcAft>
              <a:buSzPct val="100000"/>
              <a:buChar char="•"/>
            </a:pPr>
            <a:r>
              <a:rPr lang="en-US" sz="1300" dirty="0">
                <a:solidFill>
                  <a:srgbClr val="FFFFFF"/>
                </a:solidFill>
              </a:rPr>
              <a:t>Methodology, scroll to the worked example</a:t>
            </a:r>
            <a:endParaRPr lang="en-US" sz="1300" dirty="0"/>
          </a:p>
        </p:txBody>
      </p:sp>
      <p:sp>
        <p:nvSpPr>
          <p:cNvPr id="8" name="Shape 6"/>
          <p:cNvSpPr/>
          <p:nvPr/>
        </p:nvSpPr>
        <p:spPr>
          <a:xfrm>
            <a:off x="4297680" y="1737360"/>
            <a:ext cx="3520440" cy="3200400"/>
          </a:xfrm>
          <a:prstGeom prst="roundRect">
            <a:avLst>
              <a:gd name="adj" fmla="val 3429"/>
            </a:avLst>
          </a:prstGeom>
          <a:solidFill>
            <a:srgbClr val="1E2761"/>
          </a:solidFill>
          <a:ln w="12700">
            <a:solidFill>
              <a:srgbClr val="1E2761"/>
            </a:solidFill>
            <a:prstDash val="solid"/>
          </a:ln>
        </p:spPr>
      </p:sp>
      <p:sp>
        <p:nvSpPr>
          <p:cNvPr id="9" name="Text 7"/>
          <p:cNvSpPr txBox="1"/>
          <p:nvPr/>
        </p:nvSpPr>
        <p:spPr>
          <a:xfrm>
            <a:off x="457200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Point at</a:t>
            </a:r>
            <a:endParaRPr lang="en-US" sz="1800" dirty="0"/>
          </a:p>
        </p:txBody>
      </p:sp>
      <p:sp>
        <p:nvSpPr>
          <p:cNvPr id="10" name="Text 8"/>
          <p:cNvSpPr txBox="1"/>
          <p:nvPr/>
        </p:nvSpPr>
        <p:spPr>
          <a:xfrm>
            <a:off x="457200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Market-implied: the futures price, 100 minus price, the expected change, the 90/10 split</a:t>
            </a:r>
            <a:endParaRPr lang="en-US" sz="1300" dirty="0"/>
          </a:p>
          <a:p>
            <a:pPr marL="342900" indent="-342900">
              <a:spcAft>
                <a:spcPts val="800"/>
              </a:spcAft>
              <a:buSzPct val="100000"/>
              <a:buChar char="•"/>
            </a:pPr>
            <a:r>
              <a:rPr lang="en-US" sz="1300" dirty="0">
                <a:solidFill>
                  <a:srgbClr val="FFFFFF"/>
                </a:solidFill>
              </a:rPr>
              <a:t>Pool: the four weights, the pooled line, the specialists' tilt line, machine_only</a:t>
            </a:r>
            <a:endParaRPr lang="en-US" sz="1300" dirty="0"/>
          </a:p>
          <a:p>
            <a:pPr marL="342900" indent="-342900">
              <a:spcAft>
                <a:spcPts val="800"/>
              </a:spcAft>
              <a:buSzPct val="100000"/>
              <a:buChar char="•"/>
            </a:pPr>
            <a:r>
              <a:rPr lang="en-US" sz="1300" dirty="0">
                <a:solidFill>
                  <a:srgbClr val="FFFFFF"/>
                </a:solidFill>
              </a:rPr>
              <a:t>Any evidence item: the frozen text and the link to the original</a:t>
            </a:r>
            <a:endParaRPr lang="en-US" sz="1300" dirty="0"/>
          </a:p>
        </p:txBody>
      </p:sp>
      <p:sp>
        <p:nvSpPr>
          <p:cNvPr id="11" name="Shape 9"/>
          <p:cNvSpPr/>
          <p:nvPr/>
        </p:nvSpPr>
        <p:spPr>
          <a:xfrm>
            <a:off x="8046720" y="1737360"/>
            <a:ext cx="3520440" cy="3200400"/>
          </a:xfrm>
          <a:prstGeom prst="roundRect">
            <a:avLst>
              <a:gd name="adj" fmla="val 3429"/>
            </a:avLst>
          </a:prstGeom>
          <a:solidFill>
            <a:srgbClr val="1E2761"/>
          </a:solidFill>
          <a:ln w="12700">
            <a:solidFill>
              <a:srgbClr val="1E2761"/>
            </a:solidFill>
            <a:prstDash val="solid"/>
          </a:ln>
        </p:spPr>
      </p:sp>
      <p:sp>
        <p:nvSpPr>
          <p:cNvPr id="12" name="Text 10"/>
          <p:cNvSpPr txBox="1"/>
          <p:nvPr/>
        </p:nvSpPr>
        <p:spPr>
          <a:xfrm>
            <a:off x="832104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Say</a:t>
            </a:r>
            <a:endParaRPr lang="en-US" sz="1800" dirty="0"/>
          </a:p>
        </p:txBody>
      </p:sp>
      <p:sp>
        <p:nvSpPr>
          <p:cNvPr id="13" name="Text 11"/>
          <p:cNvSpPr txBox="1"/>
          <p:nvPr/>
        </p:nvSpPr>
        <p:spPr>
          <a:xfrm>
            <a:off x="832104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Blue is in the number, grey is computed but not in it. Click a model and you see only what it read.</a:t>
            </a:r>
            <a:endParaRPr lang="en-US" sz="1300" dirty="0"/>
          </a:p>
          <a:p>
            <a:pPr marL="342900" indent="-342900">
              <a:spcAft>
                <a:spcPts val="800"/>
              </a:spcAft>
              <a:buSzPct val="100000"/>
              <a:buChar char="•"/>
            </a:pPr>
            <a:r>
              <a:rPr lang="en-US" sz="1300" dirty="0">
                <a:solidFill>
                  <a:srgbClr val="FFFFFF"/>
                </a:solidFill>
              </a:rPr>
              <a:t>The language model's lean is the one line between pooled and machine_only. It can tilt, it cannot write.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Eight analysts, one model, one ladder</a:t>
            </a:r>
            <a:endParaRPr lang="en-US" sz="3200" dirty="0"/>
          </a:p>
        </p:txBody>
      </p:sp>
      <p:sp>
        <p:nvSpPr>
          <p:cNvPr id="4" name="Shape 1"/>
          <p:cNvSpPr/>
          <p:nvPr/>
        </p:nvSpPr>
        <p:spPr>
          <a:xfrm>
            <a:off x="548640" y="1417320"/>
            <a:ext cx="822960" cy="1005840"/>
          </a:xfrm>
          <a:prstGeom prst="roundRect">
            <a:avLst>
              <a:gd name="adj" fmla="val 11111"/>
            </a:avLst>
          </a:prstGeom>
          <a:solidFill>
            <a:srgbClr val="6B7280"/>
          </a:solidFill>
          <a:ln w="12700">
            <a:solidFill>
              <a:srgbClr val="6B7280"/>
            </a:solidFill>
            <a:prstDash val="solid"/>
          </a:ln>
        </p:spPr>
      </p:sp>
      <p:sp>
        <p:nvSpPr>
          <p:cNvPr id="5" name="Text 2"/>
          <p:cNvSpPr txBox="1"/>
          <p:nvPr/>
        </p:nvSpPr>
        <p:spPr>
          <a:xfrm>
            <a:off x="548640" y="1417320"/>
            <a:ext cx="822960" cy="100584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1</a:t>
            </a:r>
            <a:endParaRPr lang="en-US" sz="3000" dirty="0"/>
          </a:p>
        </p:txBody>
      </p:sp>
      <p:sp>
        <p:nvSpPr>
          <p:cNvPr id="6" name="Text 3"/>
          <p:cNvSpPr txBox="1"/>
          <p:nvPr/>
        </p:nvSpPr>
        <p:spPr>
          <a:xfrm>
            <a:off x="1554480" y="1435608"/>
            <a:ext cx="3657600" cy="457200"/>
          </a:xfrm>
          <a:prstGeom prst="rect">
            <a:avLst/>
          </a:prstGeom>
          <a:noFill/>
          <a:ln/>
        </p:spPr>
        <p:txBody>
          <a:bodyPr wrap="square" lIns="0" tIns="0" rIns="0" bIns="0" rtlCol="0" anchor="ctr"/>
          <a:lstStyle/>
          <a:p>
            <a:pPr marL="0" indent="0">
              <a:buNone/>
            </a:pPr>
            <a:r>
              <a:rPr lang="en-US" sz="1400" b="1" dirty="0">
                <a:solidFill>
                  <a:schemeClr val="tx2"/>
                </a:solidFill>
              </a:rPr>
              <a:t>Analyst 1: naive</a:t>
            </a:r>
            <a:endParaRPr lang="en-US" sz="1400" dirty="0"/>
          </a:p>
        </p:txBody>
      </p:sp>
      <p:sp>
        <p:nvSpPr>
          <p:cNvPr id="7" name="Text 4"/>
          <p:cNvSpPr txBox="1"/>
          <p:nvPr/>
        </p:nvSpPr>
        <p:spPr>
          <a:xfrm>
            <a:off x="1554480" y="1874520"/>
            <a:ext cx="3657600" cy="594360"/>
          </a:xfrm>
          <a:prstGeom prst="rect">
            <a:avLst/>
          </a:prstGeom>
          <a:noFill/>
          <a:ln/>
        </p:spPr>
        <p:txBody>
          <a:bodyPr wrap="square" lIns="0" tIns="0" rIns="0" bIns="0" rtlCol="0" anchor="t"/>
          <a:lstStyle/>
          <a:p>
            <a:pPr marL="0" indent="0">
              <a:buNone/>
            </a:pPr>
            <a:r>
              <a:rPr lang="en-US" sz="1050" dirty="0">
                <a:solidFill>
                  <a:schemeClr val="tx1"/>
                </a:solidFill>
              </a:rPr>
              <a:t>The question and the date. Nothing else.</a:t>
            </a:r>
            <a:endParaRPr lang="en-US" sz="1050" dirty="0"/>
          </a:p>
        </p:txBody>
      </p:sp>
      <p:sp>
        <p:nvSpPr>
          <p:cNvPr id="8" name="Text 5"/>
          <p:cNvSpPr txBox="1"/>
          <p:nvPr/>
        </p:nvSpPr>
        <p:spPr>
          <a:xfrm>
            <a:off x="5486400" y="1508760"/>
            <a:ext cx="6126480" cy="868680"/>
          </a:xfrm>
          <a:prstGeom prst="rect">
            <a:avLst/>
          </a:prstGeom>
          <a:noFill/>
          <a:ln/>
        </p:spPr>
        <p:txBody>
          <a:bodyPr wrap="square" lIns="0" tIns="0" rIns="0" bIns="0" rtlCol="0" anchor="ctr"/>
          <a:lstStyle/>
          <a:p>
            <a:pPr marL="0" indent="0">
              <a:buNone/>
            </a:pPr>
            <a:r>
              <a:rPr lang="en-US" sz="1250" dirty="0">
                <a:solidFill>
                  <a:schemeClr val="tx1"/>
                </a:solidFill>
              </a:rPr>
              <a:t>What the model does on its own. The control every later step is measured against.</a:t>
            </a:r>
            <a:endParaRPr lang="en-US" sz="1250" dirty="0"/>
          </a:p>
        </p:txBody>
      </p:sp>
      <p:sp>
        <p:nvSpPr>
          <p:cNvPr id="9" name="Shape 6"/>
          <p:cNvSpPr/>
          <p:nvPr/>
        </p:nvSpPr>
        <p:spPr>
          <a:xfrm>
            <a:off x="548640" y="2578608"/>
            <a:ext cx="822960" cy="1005840"/>
          </a:xfrm>
          <a:prstGeom prst="roundRect">
            <a:avLst>
              <a:gd name="adj" fmla="val 11111"/>
            </a:avLst>
          </a:prstGeom>
          <a:solidFill>
            <a:srgbClr val="6B7280"/>
          </a:solidFill>
          <a:ln w="12700">
            <a:solidFill>
              <a:srgbClr val="6B7280"/>
            </a:solidFill>
            <a:prstDash val="solid"/>
          </a:ln>
        </p:spPr>
      </p:sp>
      <p:sp>
        <p:nvSpPr>
          <p:cNvPr id="10" name="Text 7"/>
          <p:cNvSpPr txBox="1"/>
          <p:nvPr/>
        </p:nvSpPr>
        <p:spPr>
          <a:xfrm>
            <a:off x="548640" y="2578608"/>
            <a:ext cx="822960" cy="100584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2</a:t>
            </a:r>
            <a:endParaRPr lang="en-US" sz="3000" dirty="0"/>
          </a:p>
        </p:txBody>
      </p:sp>
      <p:sp>
        <p:nvSpPr>
          <p:cNvPr id="11" name="Text 8"/>
          <p:cNvSpPr txBox="1"/>
          <p:nvPr/>
        </p:nvSpPr>
        <p:spPr>
          <a:xfrm>
            <a:off x="1554480" y="2596896"/>
            <a:ext cx="3657600" cy="457200"/>
          </a:xfrm>
          <a:prstGeom prst="rect">
            <a:avLst/>
          </a:prstGeom>
          <a:noFill/>
          <a:ln/>
        </p:spPr>
        <p:txBody>
          <a:bodyPr wrap="square" lIns="0" tIns="0" rIns="0" bIns="0" rtlCol="0" anchor="ctr"/>
          <a:lstStyle/>
          <a:p>
            <a:pPr marL="0" indent="0">
              <a:buNone/>
            </a:pPr>
            <a:r>
              <a:rPr lang="en-US" sz="1400" b="1" dirty="0">
                <a:solidFill>
                  <a:schemeClr val="tx2"/>
                </a:solidFill>
              </a:rPr>
              <a:t>Analyst 2: evidence shown, nothing verified</a:t>
            </a:r>
            <a:endParaRPr lang="en-US" sz="1400" dirty="0"/>
          </a:p>
        </p:txBody>
      </p:sp>
      <p:sp>
        <p:nvSpPr>
          <p:cNvPr id="12" name="Text 9"/>
          <p:cNvSpPr txBox="1"/>
          <p:nvPr/>
        </p:nvSpPr>
        <p:spPr>
          <a:xfrm>
            <a:off x="1554480" y="3035808"/>
            <a:ext cx="3657600" cy="594360"/>
          </a:xfrm>
          <a:prstGeom prst="rect">
            <a:avLst/>
          </a:prstGeom>
          <a:noFill/>
          <a:ln/>
        </p:spPr>
        <p:txBody>
          <a:bodyPr wrap="square" lIns="0" tIns="0" rIns="0" bIns="0" rtlCol="0" anchor="t"/>
          <a:lstStyle/>
          <a:p>
            <a:pPr marL="0" indent="0">
              <a:buNone/>
            </a:pPr>
            <a:r>
              <a:rPr lang="en-US" sz="1050" dirty="0">
                <a:solidFill>
                  <a:schemeClr val="tx1"/>
                </a:solidFill>
              </a:rPr>
              <a:t>Every document and every pre-computed number, 128,000 characters. Free-form answer.</a:t>
            </a:r>
            <a:endParaRPr lang="en-US" sz="1050" dirty="0"/>
          </a:p>
        </p:txBody>
      </p:sp>
      <p:sp>
        <p:nvSpPr>
          <p:cNvPr id="13" name="Text 10"/>
          <p:cNvSpPr txBox="1"/>
          <p:nvPr/>
        </p:nvSpPr>
        <p:spPr>
          <a:xfrm>
            <a:off x="5486400" y="2670048"/>
            <a:ext cx="6126480" cy="868680"/>
          </a:xfrm>
          <a:prstGeom prst="rect">
            <a:avLst/>
          </a:prstGeom>
          <a:noFill/>
          <a:ln/>
        </p:spPr>
        <p:txBody>
          <a:bodyPr wrap="square" lIns="0" tIns="0" rIns="0" bIns="0" rtlCol="0" anchor="ctr"/>
          <a:lstStyle/>
          <a:p>
            <a:pPr marL="0" indent="0">
              <a:buNone/>
            </a:pPr>
            <a:r>
              <a:rPr lang="en-US" sz="1250" dirty="0">
                <a:solidFill>
                  <a:schemeClr val="tx1"/>
                </a:solidFill>
              </a:rPr>
              <a:t>Adds the evidence. Shows what evidence alone fixes, and what it does not.</a:t>
            </a:r>
            <a:endParaRPr lang="en-US" sz="1250" dirty="0"/>
          </a:p>
        </p:txBody>
      </p:sp>
      <p:sp>
        <p:nvSpPr>
          <p:cNvPr id="14" name="Shape 11"/>
          <p:cNvSpPr/>
          <p:nvPr/>
        </p:nvSpPr>
        <p:spPr>
          <a:xfrm>
            <a:off x="548640" y="3739896"/>
            <a:ext cx="822960" cy="1005840"/>
          </a:xfrm>
          <a:prstGeom prst="roundRect">
            <a:avLst>
              <a:gd name="adj" fmla="val 11111"/>
            </a:avLst>
          </a:prstGeom>
          <a:solidFill>
            <a:srgbClr val="1E2761"/>
          </a:solidFill>
          <a:ln w="12700">
            <a:solidFill>
              <a:srgbClr val="1E2761"/>
            </a:solidFill>
            <a:prstDash val="solid"/>
          </a:ln>
        </p:spPr>
      </p:sp>
      <p:sp>
        <p:nvSpPr>
          <p:cNvPr id="15" name="Text 12"/>
          <p:cNvSpPr txBox="1"/>
          <p:nvPr/>
        </p:nvSpPr>
        <p:spPr>
          <a:xfrm>
            <a:off x="548640" y="3739896"/>
            <a:ext cx="822960" cy="100584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3</a:t>
            </a:r>
            <a:endParaRPr lang="en-US" sz="3000" dirty="0"/>
          </a:p>
        </p:txBody>
      </p:sp>
      <p:sp>
        <p:nvSpPr>
          <p:cNvPr id="16" name="Text 13"/>
          <p:cNvSpPr txBox="1"/>
          <p:nvPr/>
        </p:nvSpPr>
        <p:spPr>
          <a:xfrm>
            <a:off x="1554480" y="3758184"/>
            <a:ext cx="3657600" cy="457200"/>
          </a:xfrm>
          <a:prstGeom prst="rect">
            <a:avLst/>
          </a:prstGeom>
          <a:noFill/>
          <a:ln/>
        </p:spPr>
        <p:txBody>
          <a:bodyPr wrap="square" lIns="0" tIns="0" rIns="0" bIns="0" rtlCol="0" anchor="ctr"/>
          <a:lstStyle/>
          <a:p>
            <a:pPr marL="0" indent="0">
              <a:buNone/>
            </a:pPr>
            <a:r>
              <a:rPr lang="en-US" sz="1400" b="1" dirty="0">
                <a:solidFill>
                  <a:schemeClr val="tx2"/>
                </a:solidFill>
              </a:rPr>
              <a:t>Analyst 3: generalist with verifier</a:t>
            </a:r>
            <a:endParaRPr lang="en-US" sz="1400" dirty="0"/>
          </a:p>
        </p:txBody>
      </p:sp>
      <p:sp>
        <p:nvSpPr>
          <p:cNvPr id="17" name="Text 14"/>
          <p:cNvSpPr txBox="1"/>
          <p:nvPr/>
        </p:nvSpPr>
        <p:spPr>
          <a:xfrm>
            <a:off x="1554480" y="4197096"/>
            <a:ext cx="3657600" cy="594360"/>
          </a:xfrm>
          <a:prstGeom prst="rect">
            <a:avLst/>
          </a:prstGeom>
          <a:noFill/>
          <a:ln/>
        </p:spPr>
        <p:txBody>
          <a:bodyPr wrap="square" lIns="0" tIns="0" rIns="0" bIns="0" rtlCol="0" anchor="t"/>
          <a:lstStyle/>
          <a:p>
            <a:pPr marL="0" indent="0">
              <a:buNone/>
            </a:pPr>
            <a:r>
              <a:rPr lang="en-US" sz="1050" dirty="0">
                <a:solidFill>
                  <a:schemeClr val="tx1"/>
                </a:solidFill>
              </a:rPr>
              <a:t>Same evidence, but a fixed answer shape: a verbatim quote per claim, a watch-out report, a tilt capped at ±10 bp. Code checks every quote and number.</a:t>
            </a:r>
            <a:endParaRPr lang="en-US" sz="1050" dirty="0"/>
          </a:p>
        </p:txBody>
      </p:sp>
      <p:sp>
        <p:nvSpPr>
          <p:cNvPr id="18" name="Text 15"/>
          <p:cNvSpPr txBox="1"/>
          <p:nvPr/>
        </p:nvSpPr>
        <p:spPr>
          <a:xfrm>
            <a:off x="5486400" y="3831336"/>
            <a:ext cx="6126480" cy="868680"/>
          </a:xfrm>
          <a:prstGeom prst="rect">
            <a:avLst/>
          </a:prstGeom>
          <a:noFill/>
          <a:ln/>
        </p:spPr>
        <p:txBody>
          <a:bodyPr wrap="square" lIns="0" tIns="0" rIns="0" bIns="0" rtlCol="0" anchor="ctr"/>
          <a:lstStyle/>
          <a:p>
            <a:pPr marL="0" indent="0">
              <a:buNone/>
            </a:pPr>
            <a:r>
              <a:rPr lang="en-US" sz="1250" dirty="0">
                <a:solidFill>
                  <a:schemeClr val="tx1"/>
                </a:solidFill>
              </a:rPr>
              <a:t>Adds structure and verification. This is where the output becomes stable and checkable.</a:t>
            </a:r>
            <a:endParaRPr lang="en-US" sz="1250" dirty="0"/>
          </a:p>
        </p:txBody>
      </p:sp>
      <p:sp>
        <p:nvSpPr>
          <p:cNvPr id="19" name="Shape 16"/>
          <p:cNvSpPr/>
          <p:nvPr/>
        </p:nvSpPr>
        <p:spPr>
          <a:xfrm>
            <a:off x="548640" y="4901184"/>
            <a:ext cx="822960" cy="1005840"/>
          </a:xfrm>
          <a:prstGeom prst="roundRect">
            <a:avLst>
              <a:gd name="adj" fmla="val 11111"/>
            </a:avLst>
          </a:prstGeom>
          <a:solidFill>
            <a:srgbClr val="C8553D"/>
          </a:solidFill>
          <a:ln w="12700">
            <a:solidFill>
              <a:srgbClr val="C8553D"/>
            </a:solidFill>
            <a:prstDash val="solid"/>
          </a:ln>
        </p:spPr>
      </p:sp>
      <p:sp>
        <p:nvSpPr>
          <p:cNvPr id="20" name="Text 17"/>
          <p:cNvSpPr txBox="1"/>
          <p:nvPr/>
        </p:nvSpPr>
        <p:spPr>
          <a:xfrm>
            <a:off x="548640" y="4901184"/>
            <a:ext cx="822960" cy="100584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4-8</a:t>
            </a:r>
            <a:endParaRPr lang="en-US" sz="2200" dirty="0"/>
          </a:p>
        </p:txBody>
      </p:sp>
      <p:sp>
        <p:nvSpPr>
          <p:cNvPr id="21" name="Text 18"/>
          <p:cNvSpPr txBox="1"/>
          <p:nvPr/>
        </p:nvSpPr>
        <p:spPr>
          <a:xfrm>
            <a:off x="1554480" y="4919472"/>
            <a:ext cx="3657600" cy="457200"/>
          </a:xfrm>
          <a:prstGeom prst="rect">
            <a:avLst/>
          </a:prstGeom>
          <a:noFill/>
          <a:ln/>
        </p:spPr>
        <p:txBody>
          <a:bodyPr wrap="square" lIns="0" tIns="0" rIns="0" bIns="0" rtlCol="0" anchor="ctr"/>
          <a:lstStyle/>
          <a:p>
            <a:pPr marL="0" indent="0">
              <a:buNone/>
            </a:pPr>
            <a:r>
              <a:rPr lang="en-US" sz="1400" b="1" dirty="0">
                <a:solidFill>
                  <a:schemeClr val="tx2"/>
                </a:solidFill>
              </a:rPr>
              <a:t>Analysts 4 to 8: specialists</a:t>
            </a:r>
            <a:endParaRPr lang="en-US" sz="1400" dirty="0"/>
          </a:p>
        </p:txBody>
      </p:sp>
      <p:sp>
        <p:nvSpPr>
          <p:cNvPr id="22" name="Text 19"/>
          <p:cNvSpPr txBox="1"/>
          <p:nvPr/>
        </p:nvSpPr>
        <p:spPr>
          <a:xfrm>
            <a:off x="1554480" y="5358384"/>
            <a:ext cx="3657600" cy="594360"/>
          </a:xfrm>
          <a:prstGeom prst="rect">
            <a:avLst/>
          </a:prstGeom>
          <a:noFill/>
          <a:ln/>
        </p:spPr>
        <p:txBody>
          <a:bodyPr wrap="square" lIns="0" tIns="0" rIns="0" bIns="0" rtlCol="0" anchor="t"/>
          <a:lstStyle/>
          <a:p>
            <a:pPr marL="0" indent="0">
              <a:buNone/>
            </a:pPr>
            <a:r>
              <a:rPr lang="en-US" sz="1050" dirty="0">
                <a:solidFill>
                  <a:schemeClr val="tx1"/>
                </a:solidFill>
              </a:rPr>
              <a:t>One slice each: communications, minutes, inflation, labour, financial conditions. Same schema, same verifier.</a:t>
            </a:r>
            <a:endParaRPr lang="en-US" sz="1050" dirty="0"/>
          </a:p>
        </p:txBody>
      </p:sp>
      <p:sp>
        <p:nvSpPr>
          <p:cNvPr id="23" name="Text 20"/>
          <p:cNvSpPr txBox="1"/>
          <p:nvPr/>
        </p:nvSpPr>
        <p:spPr>
          <a:xfrm>
            <a:off x="5486400" y="4992624"/>
            <a:ext cx="6126480" cy="868680"/>
          </a:xfrm>
          <a:prstGeom prst="rect">
            <a:avLst/>
          </a:prstGeom>
          <a:noFill/>
          <a:ln/>
        </p:spPr>
        <p:txBody>
          <a:bodyPr wrap="square" lIns="0" tIns="0" rIns="0" bIns="0" rtlCol="0" anchor="ctr"/>
          <a:lstStyle/>
          <a:p>
            <a:pPr marL="0" indent="0">
              <a:buNone/>
            </a:pPr>
            <a:r>
              <a:rPr lang="en-US" sz="1250" dirty="0">
                <a:solidFill>
                  <a:schemeClr val="tx1"/>
                </a:solidFill>
              </a:rPr>
              <a:t>Adds specialisation. Each judgement is attributable to its evidence; a dissent survives instead of being averaged away.</a:t>
            </a:r>
            <a:endParaRPr lang="en-US" sz="1250" dirty="0"/>
          </a:p>
        </p:txBody>
      </p:sp>
      <p:sp>
        <p:nvSpPr>
          <p:cNvPr id="24" name="Text 21"/>
          <p:cNvSpPr txBox="1"/>
          <p:nvPr/>
        </p:nvSpPr>
        <p:spPr>
          <a:xfrm>
            <a:off x="548640" y="6080760"/>
            <a:ext cx="11091672" cy="320040"/>
          </a:xfrm>
          <a:prstGeom prst="rect">
            <a:avLst/>
          </a:prstGeom>
          <a:noFill/>
          <a:ln/>
        </p:spPr>
        <p:txBody>
          <a:bodyPr wrap="square" lIns="0" tIns="0" rIns="0" bIns="0" rtlCol="0" anchor="t"/>
          <a:lstStyle/>
          <a:p>
            <a:pPr marL="0" indent="0">
              <a:buNone/>
            </a:pPr>
            <a:r>
              <a:rPr lang="en-US" sz="1200" i="1" dirty="0">
                <a:solidFill>
                  <a:schemeClr val="accent4"/>
                </a:solidFill>
              </a:rPr>
              <a:t>Each step adds one thing. The value of that thing is the difference in score between neighbouring steps.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What the harness enforces around every analyst</a:t>
            </a:r>
            <a:endParaRPr lang="en-US" sz="3200" dirty="0"/>
          </a:p>
        </p:txBody>
      </p:sp>
      <p:sp>
        <p:nvSpPr>
          <p:cNvPr id="4" name="Shape 1"/>
          <p:cNvSpPr/>
          <p:nvPr/>
        </p:nvSpPr>
        <p:spPr>
          <a:xfrm>
            <a:off x="548640" y="1508760"/>
            <a:ext cx="384048" cy="384048"/>
          </a:xfrm>
          <a:prstGeom prst="ellipse">
            <a:avLst/>
          </a:prstGeom>
          <a:solidFill>
            <a:srgbClr val="1E2761"/>
          </a:solidFill>
          <a:ln w="12700">
            <a:solidFill>
              <a:srgbClr val="1E2761"/>
            </a:solidFill>
            <a:prstDash val="solid"/>
          </a:ln>
        </p:spPr>
      </p:sp>
      <p:sp>
        <p:nvSpPr>
          <p:cNvPr id="5" name="Text 2"/>
          <p:cNvSpPr txBox="1"/>
          <p:nvPr/>
        </p:nvSpPr>
        <p:spPr>
          <a:xfrm>
            <a:off x="548640" y="150876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 3"/>
          <p:cNvSpPr txBox="1"/>
          <p:nvPr/>
        </p:nvSpPr>
        <p:spPr>
          <a:xfrm>
            <a:off x="1143000" y="1417320"/>
            <a:ext cx="3108960" cy="548640"/>
          </a:xfrm>
          <a:prstGeom prst="rect">
            <a:avLst/>
          </a:prstGeom>
          <a:noFill/>
          <a:ln/>
        </p:spPr>
        <p:txBody>
          <a:bodyPr wrap="square" lIns="0" tIns="0" rIns="0" bIns="0" rtlCol="0" anchor="ctr"/>
          <a:lstStyle/>
          <a:p>
            <a:pPr marL="0" indent="0">
              <a:buNone/>
            </a:pPr>
            <a:r>
              <a:rPr lang="en-US" sz="1500" b="1" dirty="0">
                <a:solidFill>
                  <a:schemeClr val="tx2"/>
                </a:solidFill>
              </a:rPr>
              <a:t>Tools off, slice only</a:t>
            </a:r>
            <a:endParaRPr lang="en-US" sz="1500" dirty="0"/>
          </a:p>
        </p:txBody>
      </p:sp>
      <p:sp>
        <p:nvSpPr>
          <p:cNvPr id="7" name="Text 4"/>
          <p:cNvSpPr txBox="1"/>
          <p:nvPr/>
        </p:nvSpPr>
        <p:spPr>
          <a:xfrm>
            <a:off x="4023360" y="1435608"/>
            <a:ext cx="7589520" cy="822960"/>
          </a:xfrm>
          <a:prstGeom prst="rect">
            <a:avLst/>
          </a:prstGeom>
          <a:noFill/>
          <a:ln/>
        </p:spPr>
        <p:txBody>
          <a:bodyPr wrap="square" lIns="0" tIns="0" rIns="0" bIns="0" rtlCol="0" anchor="ctr"/>
          <a:lstStyle/>
          <a:p>
            <a:pPr marL="0" indent="0">
              <a:buNone/>
            </a:pPr>
            <a:r>
              <a:rPr lang="en-US" sz="1250" dirty="0">
                <a:solidFill>
                  <a:schemeClr val="tx1"/>
                </a:solidFill>
              </a:rPr>
              <a:t>The model sees its slice of the frozen snapshot and nothing else: no browsing, no memory of the Fed, no other analyst's output.</a:t>
            </a:r>
            <a:endParaRPr lang="en-US" sz="1250" dirty="0"/>
          </a:p>
        </p:txBody>
      </p:sp>
      <p:sp>
        <p:nvSpPr>
          <p:cNvPr id="8" name="Shape 5"/>
          <p:cNvSpPr/>
          <p:nvPr/>
        </p:nvSpPr>
        <p:spPr>
          <a:xfrm>
            <a:off x="548640" y="2441448"/>
            <a:ext cx="384048" cy="384048"/>
          </a:xfrm>
          <a:prstGeom prst="ellipse">
            <a:avLst/>
          </a:prstGeom>
          <a:solidFill>
            <a:srgbClr val="1E2761"/>
          </a:solidFill>
          <a:ln w="12700">
            <a:solidFill>
              <a:srgbClr val="1E2761"/>
            </a:solidFill>
            <a:prstDash val="solid"/>
          </a:ln>
        </p:spPr>
      </p:sp>
      <p:sp>
        <p:nvSpPr>
          <p:cNvPr id="9" name="Text 6"/>
          <p:cNvSpPr txBox="1"/>
          <p:nvPr/>
        </p:nvSpPr>
        <p:spPr>
          <a:xfrm>
            <a:off x="548640" y="2441448"/>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Text 7"/>
          <p:cNvSpPr txBox="1"/>
          <p:nvPr/>
        </p:nvSpPr>
        <p:spPr>
          <a:xfrm>
            <a:off x="1143000" y="2350008"/>
            <a:ext cx="3108960" cy="548640"/>
          </a:xfrm>
          <a:prstGeom prst="rect">
            <a:avLst/>
          </a:prstGeom>
          <a:noFill/>
          <a:ln/>
        </p:spPr>
        <p:txBody>
          <a:bodyPr wrap="square" lIns="0" tIns="0" rIns="0" bIns="0" rtlCol="0" anchor="ctr"/>
          <a:lstStyle/>
          <a:p>
            <a:pPr marL="0" indent="0">
              <a:buNone/>
            </a:pPr>
            <a:r>
              <a:rPr lang="en-US" sz="1500" b="1" dirty="0">
                <a:solidFill>
                  <a:schemeClr val="tx2"/>
                </a:solidFill>
              </a:rPr>
              <a:t>Pre-reads</a:t>
            </a:r>
            <a:endParaRPr lang="en-US" sz="1500" dirty="0"/>
          </a:p>
        </p:txBody>
      </p:sp>
      <p:sp>
        <p:nvSpPr>
          <p:cNvPr id="11" name="Text 8"/>
          <p:cNvSpPr txBox="1"/>
          <p:nvPr/>
        </p:nvSpPr>
        <p:spPr>
          <a:xfrm>
            <a:off x="4023360" y="2368296"/>
            <a:ext cx="7589520" cy="822960"/>
          </a:xfrm>
          <a:prstGeom prst="rect">
            <a:avLst/>
          </a:prstGeom>
          <a:noFill/>
          <a:ln/>
        </p:spPr>
        <p:txBody>
          <a:bodyPr wrap="square" lIns="0" tIns="0" rIns="0" bIns="0" rtlCol="0" anchor="ctr"/>
          <a:lstStyle/>
          <a:p>
            <a:pPr marL="0" indent="0">
              <a:buNone/>
            </a:pPr>
            <a:r>
              <a:rPr lang="en-US" sz="1250" dirty="0">
                <a:solidFill>
                  <a:schemeClr val="tx1"/>
                </a:solidFill>
              </a:rPr>
              <a:t>Numbers are computed by code and handed over: inflation gap, labour slack, financial conditions, tone, base rates. The model never does arithmetic.</a:t>
            </a:r>
            <a:endParaRPr lang="en-US" sz="1250" dirty="0"/>
          </a:p>
        </p:txBody>
      </p:sp>
      <p:sp>
        <p:nvSpPr>
          <p:cNvPr id="12" name="Shape 9"/>
          <p:cNvSpPr/>
          <p:nvPr/>
        </p:nvSpPr>
        <p:spPr>
          <a:xfrm>
            <a:off x="548640" y="3374136"/>
            <a:ext cx="384048" cy="384048"/>
          </a:xfrm>
          <a:prstGeom prst="ellipse">
            <a:avLst/>
          </a:prstGeom>
          <a:solidFill>
            <a:srgbClr val="1E2761"/>
          </a:solidFill>
          <a:ln w="12700">
            <a:solidFill>
              <a:srgbClr val="1E2761"/>
            </a:solidFill>
            <a:prstDash val="solid"/>
          </a:ln>
        </p:spPr>
      </p:sp>
      <p:sp>
        <p:nvSpPr>
          <p:cNvPr id="13" name="Text 10"/>
          <p:cNvSpPr txBox="1"/>
          <p:nvPr/>
        </p:nvSpPr>
        <p:spPr>
          <a:xfrm>
            <a:off x="548640" y="3374136"/>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ext 11"/>
          <p:cNvSpPr txBox="1"/>
          <p:nvPr/>
        </p:nvSpPr>
        <p:spPr>
          <a:xfrm>
            <a:off x="1143000" y="3282696"/>
            <a:ext cx="3108960" cy="548640"/>
          </a:xfrm>
          <a:prstGeom prst="rect">
            <a:avLst/>
          </a:prstGeom>
          <a:noFill/>
          <a:ln/>
        </p:spPr>
        <p:txBody>
          <a:bodyPr wrap="square" lIns="0" tIns="0" rIns="0" bIns="0" rtlCol="0" anchor="ctr"/>
          <a:lstStyle/>
          <a:p>
            <a:pPr marL="0" indent="0">
              <a:buNone/>
            </a:pPr>
            <a:r>
              <a:rPr lang="en-US" sz="1500" b="1" dirty="0">
                <a:solidFill>
                  <a:schemeClr val="tx2"/>
                </a:solidFill>
              </a:rPr>
              <a:t>Fixed answer shape</a:t>
            </a:r>
            <a:endParaRPr lang="en-US" sz="1500" dirty="0"/>
          </a:p>
        </p:txBody>
      </p:sp>
      <p:sp>
        <p:nvSpPr>
          <p:cNvPr id="15" name="Text 12"/>
          <p:cNvSpPr txBox="1"/>
          <p:nvPr/>
        </p:nvSpPr>
        <p:spPr>
          <a:xfrm>
            <a:off x="4023360" y="3300984"/>
            <a:ext cx="7589520" cy="822960"/>
          </a:xfrm>
          <a:prstGeom prst="rect">
            <a:avLst/>
          </a:prstGeom>
          <a:noFill/>
          <a:ln/>
        </p:spPr>
        <p:txBody>
          <a:bodyPr wrap="square" lIns="0" tIns="0" rIns="0" bIns="0" rtlCol="0" anchor="ctr"/>
          <a:lstStyle/>
          <a:p>
            <a:pPr marL="0" indent="0">
              <a:buNone/>
            </a:pPr>
            <a:r>
              <a:rPr lang="en-US" sz="1250" dirty="0">
                <a:solidFill>
                  <a:schemeClr val="tx1"/>
                </a:solidFill>
              </a:rPr>
              <a:t>Claims, each with a verbatim quote and the item it came from; a report on every watch-out by id; a tilt bounded to ±10 basis points. Enforced by the runtime.</a:t>
            </a:r>
            <a:endParaRPr lang="en-US" sz="1250" dirty="0"/>
          </a:p>
        </p:txBody>
      </p:sp>
      <p:sp>
        <p:nvSpPr>
          <p:cNvPr id="16" name="Shape 13"/>
          <p:cNvSpPr/>
          <p:nvPr/>
        </p:nvSpPr>
        <p:spPr>
          <a:xfrm>
            <a:off x="548640" y="4306824"/>
            <a:ext cx="384048" cy="384048"/>
          </a:xfrm>
          <a:prstGeom prst="ellipse">
            <a:avLst/>
          </a:prstGeom>
          <a:solidFill>
            <a:srgbClr val="1E2761"/>
          </a:solidFill>
          <a:ln w="12700">
            <a:solidFill>
              <a:srgbClr val="1E2761"/>
            </a:solidFill>
            <a:prstDash val="solid"/>
          </a:ln>
        </p:spPr>
      </p:sp>
      <p:sp>
        <p:nvSpPr>
          <p:cNvPr id="17" name="Text 14"/>
          <p:cNvSpPr txBox="1"/>
          <p:nvPr/>
        </p:nvSpPr>
        <p:spPr>
          <a:xfrm>
            <a:off x="548640" y="4306824"/>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8" name="Text 15"/>
          <p:cNvSpPr txBox="1"/>
          <p:nvPr/>
        </p:nvSpPr>
        <p:spPr>
          <a:xfrm>
            <a:off x="1143000" y="4215384"/>
            <a:ext cx="3108960" cy="548640"/>
          </a:xfrm>
          <a:prstGeom prst="rect">
            <a:avLst/>
          </a:prstGeom>
          <a:noFill/>
          <a:ln/>
        </p:spPr>
        <p:txBody>
          <a:bodyPr wrap="square" lIns="0" tIns="0" rIns="0" bIns="0" rtlCol="0" anchor="ctr"/>
          <a:lstStyle/>
          <a:p>
            <a:pPr marL="0" indent="0">
              <a:buNone/>
            </a:pPr>
            <a:r>
              <a:rPr lang="en-US" sz="1500" b="1" dirty="0">
                <a:solidFill>
                  <a:schemeClr val="tx2"/>
                </a:solidFill>
              </a:rPr>
              <a:t>Code verifies</a:t>
            </a:r>
            <a:endParaRPr lang="en-US" sz="1500" dirty="0"/>
          </a:p>
        </p:txBody>
      </p:sp>
      <p:sp>
        <p:nvSpPr>
          <p:cNvPr id="19" name="Text 16"/>
          <p:cNvSpPr txBox="1"/>
          <p:nvPr/>
        </p:nvSpPr>
        <p:spPr>
          <a:xfrm>
            <a:off x="4023360" y="4233672"/>
            <a:ext cx="7589520" cy="822960"/>
          </a:xfrm>
          <a:prstGeom prst="rect">
            <a:avLst/>
          </a:prstGeom>
          <a:noFill/>
          <a:ln/>
        </p:spPr>
        <p:txBody>
          <a:bodyPr wrap="square" lIns="0" tIns="0" rIns="0" bIns="0" rtlCol="0" anchor="ctr"/>
          <a:lstStyle/>
          <a:p>
            <a:pPr marL="0" indent="0">
              <a:buNone/>
            </a:pPr>
            <a:r>
              <a:rPr lang="en-US" sz="1250" dirty="0">
                <a:solidFill>
                  <a:schemeClr val="tx1"/>
                </a:solidFill>
              </a:rPr>
              <a:t>Every quote is string-matched to its item. Every number is matched to the snapshot. Every watch-out must be answered. Failures are counted, never hidden.</a:t>
            </a:r>
            <a:endParaRPr lang="en-US" sz="1250" dirty="0"/>
          </a:p>
        </p:txBody>
      </p:sp>
      <p:sp>
        <p:nvSpPr>
          <p:cNvPr id="20" name="Shape 17"/>
          <p:cNvSpPr/>
          <p:nvPr/>
        </p:nvSpPr>
        <p:spPr>
          <a:xfrm>
            <a:off x="548640" y="5239512"/>
            <a:ext cx="384048" cy="384048"/>
          </a:xfrm>
          <a:prstGeom prst="ellipse">
            <a:avLst/>
          </a:prstGeom>
          <a:solidFill>
            <a:srgbClr val="1E2761"/>
          </a:solidFill>
          <a:ln w="12700">
            <a:solidFill>
              <a:srgbClr val="1E2761"/>
            </a:solidFill>
            <a:prstDash val="solid"/>
          </a:ln>
        </p:spPr>
      </p:sp>
      <p:sp>
        <p:nvSpPr>
          <p:cNvPr id="21" name="Text 18"/>
          <p:cNvSpPr txBox="1"/>
          <p:nvPr/>
        </p:nvSpPr>
        <p:spPr>
          <a:xfrm>
            <a:off x="548640" y="523951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2" name="Text 19"/>
          <p:cNvSpPr txBox="1"/>
          <p:nvPr/>
        </p:nvSpPr>
        <p:spPr>
          <a:xfrm>
            <a:off x="1143000" y="5148072"/>
            <a:ext cx="3108960" cy="548640"/>
          </a:xfrm>
          <a:prstGeom prst="rect">
            <a:avLst/>
          </a:prstGeom>
          <a:noFill/>
          <a:ln/>
        </p:spPr>
        <p:txBody>
          <a:bodyPr wrap="square" lIns="0" tIns="0" rIns="0" bIns="0" rtlCol="0" anchor="ctr"/>
          <a:lstStyle/>
          <a:p>
            <a:pPr marL="0" indent="0">
              <a:buNone/>
            </a:pPr>
            <a:r>
              <a:rPr lang="en-US" sz="1500" b="1" dirty="0">
                <a:solidFill>
                  <a:schemeClr val="tx2"/>
                </a:solidFill>
              </a:rPr>
              <a:t>Recorded and repeated</a:t>
            </a:r>
            <a:endParaRPr lang="en-US" sz="1500" dirty="0"/>
          </a:p>
        </p:txBody>
      </p:sp>
      <p:sp>
        <p:nvSpPr>
          <p:cNvPr id="23" name="Text 20"/>
          <p:cNvSpPr txBox="1"/>
          <p:nvPr/>
        </p:nvSpPr>
        <p:spPr>
          <a:xfrm>
            <a:off x="4023360" y="5166360"/>
            <a:ext cx="7589520" cy="822960"/>
          </a:xfrm>
          <a:prstGeom prst="rect">
            <a:avLst/>
          </a:prstGeom>
          <a:noFill/>
          <a:ln/>
        </p:spPr>
        <p:txBody>
          <a:bodyPr wrap="square" lIns="0" tIns="0" rIns="0" bIns="0" rtlCol="0" anchor="ctr"/>
          <a:lstStyle/>
          <a:p>
            <a:pPr marL="0" indent="0">
              <a:buNone/>
            </a:pPr>
            <a:r>
              <a:rPr lang="en-US" sz="1250" dirty="0">
                <a:solidFill>
                  <a:schemeClr val="tx1"/>
                </a:solidFill>
              </a:rPr>
              <a:t>Five identical runs per analyst per snapshot, each stored with its prompt hash. Repeatability is measured, and a recorded run replays for free.</a:t>
            </a:r>
            <a:endParaRPr lang="en-US" sz="12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48640"/>
            <a:ext cx="11091672" cy="822960"/>
          </a:xfrm>
          <a:prstGeom prst="rect">
            <a:avLst/>
          </a:prstGeom>
          <a:noFill/>
          <a:ln/>
        </p:spPr>
        <p:txBody>
          <a:bodyPr wrap="square" lIns="0" tIns="0" rIns="0" bIns="0" rtlCol="0" anchor="ctr"/>
          <a:lstStyle/>
          <a:p>
            <a:pPr marL="0" indent="0" algn="l">
              <a:buNone/>
            </a:pPr>
            <a:r>
              <a:rPr lang="en-US" sz="3000" b="1" dirty="0">
                <a:solidFill>
                  <a:schemeClr val="bg1"/>
                </a:solidFill>
              </a:rPr>
              <a:t>Live demo 3: what each analyst is asked and given</a:t>
            </a:r>
            <a:endParaRPr lang="en-US" sz="3000" dirty="0"/>
          </a:p>
        </p:txBody>
      </p:sp>
      <p:sp>
        <p:nvSpPr>
          <p:cNvPr id="3" name="Shape 1"/>
          <p:cNvSpPr/>
          <p:nvPr/>
        </p:nvSpPr>
        <p:spPr>
          <a:xfrm>
            <a:off x="10177272" y="685800"/>
            <a:ext cx="1463040" cy="548640"/>
          </a:xfrm>
          <a:prstGeom prst="roundRect">
            <a:avLst>
              <a:gd name="adj" fmla="val 16667"/>
            </a:avLst>
          </a:prstGeom>
          <a:solidFill>
            <a:srgbClr val="E9B44C"/>
          </a:solidFill>
          <a:ln w="12700">
            <a:solidFill>
              <a:srgbClr val="E9B44C"/>
            </a:solidFill>
            <a:prstDash val="solid"/>
          </a:ln>
        </p:spPr>
      </p:sp>
      <p:sp>
        <p:nvSpPr>
          <p:cNvPr id="4" name="Text 2"/>
          <p:cNvSpPr txBox="1"/>
          <p:nvPr/>
        </p:nvSpPr>
        <p:spPr>
          <a:xfrm>
            <a:off x="10177272" y="685800"/>
            <a:ext cx="1463040" cy="548640"/>
          </a:xfrm>
          <a:prstGeom prst="rect">
            <a:avLst/>
          </a:prstGeom>
          <a:noFill/>
          <a:ln/>
        </p:spPr>
        <p:txBody>
          <a:bodyPr wrap="square" lIns="0" tIns="0" rIns="0" bIns="0" rtlCol="0" anchor="ctr"/>
          <a:lstStyle/>
          <a:p>
            <a:pPr marL="0" indent="0" algn="ctr">
              <a:buNone/>
            </a:pPr>
            <a:r>
              <a:rPr lang="en-US" sz="1600" b="1" dirty="0">
                <a:solidFill>
                  <a:srgbClr val="1B1F2A"/>
                </a:solidFill>
              </a:rPr>
              <a:t>2 min</a:t>
            </a:r>
            <a:endParaRPr lang="en-US" sz="1600" dirty="0"/>
          </a:p>
        </p:txBody>
      </p:sp>
      <p:sp>
        <p:nvSpPr>
          <p:cNvPr id="5" name="Shape 3"/>
          <p:cNvSpPr/>
          <p:nvPr/>
        </p:nvSpPr>
        <p:spPr>
          <a:xfrm>
            <a:off x="548640" y="1737360"/>
            <a:ext cx="3520440" cy="3200400"/>
          </a:xfrm>
          <a:prstGeom prst="roundRect">
            <a:avLst>
              <a:gd name="adj" fmla="val 3429"/>
            </a:avLst>
          </a:prstGeom>
          <a:solidFill>
            <a:srgbClr val="1E2761"/>
          </a:solidFill>
          <a:ln w="12700">
            <a:solidFill>
              <a:srgbClr val="1E2761"/>
            </a:solidFill>
            <a:prstDash val="solid"/>
          </a:ln>
        </p:spPr>
      </p:sp>
      <p:sp>
        <p:nvSpPr>
          <p:cNvPr id="6" name="Text 4"/>
          <p:cNvSpPr txBox="1"/>
          <p:nvPr/>
        </p:nvSpPr>
        <p:spPr>
          <a:xfrm>
            <a:off x="82296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Open</a:t>
            </a:r>
            <a:endParaRPr lang="en-US" sz="1800" dirty="0"/>
          </a:p>
        </p:txBody>
      </p:sp>
      <p:sp>
        <p:nvSpPr>
          <p:cNvPr id="7" name="Text 5"/>
          <p:cNvSpPr txBox="1"/>
          <p:nvPr/>
        </p:nvSpPr>
        <p:spPr>
          <a:xfrm>
            <a:off x="82296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Analyst prompts view</a:t>
            </a:r>
            <a:endParaRPr lang="en-US" sz="1300" dirty="0"/>
          </a:p>
          <a:p>
            <a:pPr marL="342900" indent="-342900">
              <a:spcAft>
                <a:spcPts val="800"/>
              </a:spcAft>
              <a:buSzPct val="100000"/>
              <a:buChar char="•"/>
            </a:pPr>
            <a:r>
              <a:rPr lang="en-US" sz="1300" dirty="0">
                <a:solidFill>
                  <a:srgbClr val="FFFFFF"/>
                </a:solidFill>
              </a:rPr>
              <a:t>Analyst 1: open the full prompt</a:t>
            </a:r>
            <a:endParaRPr lang="en-US" sz="1300" dirty="0"/>
          </a:p>
          <a:p>
            <a:pPr marL="342900" indent="-342900">
              <a:spcAft>
                <a:spcPts val="800"/>
              </a:spcAft>
              <a:buSzPct val="100000"/>
              <a:buChar char="•"/>
            </a:pPr>
            <a:r>
              <a:rPr lang="en-US" sz="1300" dirty="0">
                <a:solidFill>
                  <a:srgbClr val="FFFFFF"/>
                </a:solidFill>
              </a:rPr>
              <a:t>Analyst 6: open the full prompt</a:t>
            </a:r>
            <a:endParaRPr lang="en-US" sz="1300" dirty="0"/>
          </a:p>
        </p:txBody>
      </p:sp>
      <p:sp>
        <p:nvSpPr>
          <p:cNvPr id="8" name="Shape 6"/>
          <p:cNvSpPr/>
          <p:nvPr/>
        </p:nvSpPr>
        <p:spPr>
          <a:xfrm>
            <a:off x="4297680" y="1737360"/>
            <a:ext cx="3520440" cy="3200400"/>
          </a:xfrm>
          <a:prstGeom prst="roundRect">
            <a:avLst>
              <a:gd name="adj" fmla="val 3429"/>
            </a:avLst>
          </a:prstGeom>
          <a:solidFill>
            <a:srgbClr val="1E2761"/>
          </a:solidFill>
          <a:ln w="12700">
            <a:solidFill>
              <a:srgbClr val="1E2761"/>
            </a:solidFill>
            <a:prstDash val="solid"/>
          </a:ln>
        </p:spPr>
      </p:sp>
      <p:sp>
        <p:nvSpPr>
          <p:cNvPr id="9" name="Text 7"/>
          <p:cNvSpPr txBox="1"/>
          <p:nvPr/>
        </p:nvSpPr>
        <p:spPr>
          <a:xfrm>
            <a:off x="457200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Point at</a:t>
            </a:r>
            <a:endParaRPr lang="en-US" sz="1800" dirty="0"/>
          </a:p>
        </p:txBody>
      </p:sp>
      <p:sp>
        <p:nvSpPr>
          <p:cNvPr id="10" name="Text 8"/>
          <p:cNvSpPr txBox="1"/>
          <p:nvPr/>
        </p:nvSpPr>
        <p:spPr>
          <a:xfrm>
            <a:off x="457200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Analyst 1: 195 characters, no evidence</a:t>
            </a:r>
            <a:endParaRPr lang="en-US" sz="1300" dirty="0"/>
          </a:p>
          <a:p>
            <a:pPr marL="342900" indent="-342900">
              <a:spcAft>
                <a:spcPts val="800"/>
              </a:spcAft>
              <a:buSzPct val="100000"/>
              <a:buChar char="•"/>
            </a:pPr>
            <a:r>
              <a:rPr lang="en-US" sz="1300" dirty="0">
                <a:solidFill>
                  <a:srgbClr val="FFFFFF"/>
                </a:solidFill>
              </a:rPr>
              <a:t>Analyst 6: the system prompt, the enforced answer schema, the inflation pre-read, the item ids</a:t>
            </a:r>
            <a:endParaRPr lang="en-US" sz="1300" dirty="0"/>
          </a:p>
          <a:p>
            <a:pPr marL="342900" indent="-342900">
              <a:spcAft>
                <a:spcPts val="800"/>
              </a:spcAft>
              <a:buSzPct val="100000"/>
              <a:buChar char="•"/>
            </a:pPr>
            <a:r>
              <a:rPr lang="en-US" sz="1300" dirty="0">
                <a:solidFill>
                  <a:srgbClr val="FFFFFF"/>
                </a:solidFill>
              </a:rPr>
              <a:t>The prompt hash: five repeats share it</a:t>
            </a:r>
            <a:endParaRPr lang="en-US" sz="1300" dirty="0"/>
          </a:p>
        </p:txBody>
      </p:sp>
      <p:sp>
        <p:nvSpPr>
          <p:cNvPr id="11" name="Shape 9"/>
          <p:cNvSpPr/>
          <p:nvPr/>
        </p:nvSpPr>
        <p:spPr>
          <a:xfrm>
            <a:off x="8046720" y="1737360"/>
            <a:ext cx="3520440" cy="3200400"/>
          </a:xfrm>
          <a:prstGeom prst="roundRect">
            <a:avLst>
              <a:gd name="adj" fmla="val 3429"/>
            </a:avLst>
          </a:prstGeom>
          <a:solidFill>
            <a:srgbClr val="1E2761"/>
          </a:solidFill>
          <a:ln w="12700">
            <a:solidFill>
              <a:srgbClr val="1E2761"/>
            </a:solidFill>
            <a:prstDash val="solid"/>
          </a:ln>
        </p:spPr>
      </p:sp>
      <p:sp>
        <p:nvSpPr>
          <p:cNvPr id="12" name="Text 10"/>
          <p:cNvSpPr txBox="1"/>
          <p:nvPr/>
        </p:nvSpPr>
        <p:spPr>
          <a:xfrm>
            <a:off x="832104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Say</a:t>
            </a:r>
            <a:endParaRPr lang="en-US" sz="1800" dirty="0"/>
          </a:p>
        </p:txBody>
      </p:sp>
      <p:sp>
        <p:nvSpPr>
          <p:cNvPr id="13" name="Text 11"/>
          <p:cNvSpPr txBox="1"/>
          <p:nvPr/>
        </p:nvSpPr>
        <p:spPr>
          <a:xfrm>
            <a:off x="832104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If it is not on this page, the analyst does not get it.</a:t>
            </a:r>
            <a:endParaRPr lang="en-US" sz="1300" dirty="0"/>
          </a:p>
          <a:p>
            <a:pPr marL="342900" indent="-342900">
              <a:spcAft>
                <a:spcPts val="800"/>
              </a:spcAft>
              <a:buSzPct val="100000"/>
              <a:buChar char="•"/>
            </a:pPr>
            <a:r>
              <a:rPr lang="en-US" sz="1300" dirty="0">
                <a:solidFill>
                  <a:srgbClr val="FFFFFF"/>
                </a:solidFill>
              </a:rPr>
              <a:t>Same model. The only difference between analyst 1 and analyst 6 is this page.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The ladder, four snapshots, five runs each</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017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39112">
                  <a:extLst>
                    <a:ext uri="{9D8B030D-6E8A-4147-A177-3AD203B41FA5}">
                      <a16:colId xmlns:a16="http://schemas.microsoft.com/office/drawing/2014/main" val="20004"/>
                    </a:ext>
                  </a:extLst>
                </a:gridCol>
              </a:tblGrid>
              <a:tr h="777240">
                <a:tc>
                  <a:txBody>
                    <a:bodyPr/>
                    <a:lstStyle/>
                    <a:p>
                      <a:pPr marL="0" indent="0">
                        <a:buNone/>
                      </a:pPr>
                      <a:r>
                        <a:rPr lang="en-US" sz="1150" b="1" dirty="0">
                          <a:solidFill>
                            <a:srgbClr val="FFFFFF"/>
                          </a:solidFill>
                        </a:rPr>
                        <a:t>Dimension (pass mark)</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rPr>
                        <a:t>Analyst 1: the question only</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rPr>
                        <a:t>Analyst 2: + the evidence</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rPr>
                        <a:t>Analyst 3: + answer shape + verifier</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rPr>
                        <a:t>Analysts 4-8: + one slice each</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77240">
                <a:tc>
                  <a:txBody>
                    <a:bodyPr/>
                    <a:lstStyle/>
                    <a:p>
                      <a:pPr marL="0" indent="0">
                        <a:buNone/>
                      </a:pPr>
                      <a:r>
                        <a:rPr lang="en-US" sz="1150" dirty="0">
                          <a:solidFill>
                            <a:srgbClr val="1B1F2A"/>
                          </a:solidFill>
                        </a:rPr>
                        <a:t>S1 Repeatability (≤ 2 pp)</a:t>
                      </a:r>
                      <a:endParaRPr lang="en-US" sz="1150" dirty="0"/>
                    </a:p>
                    <a:p>
                      <a:pPr marL="0" indent="0">
                        <a:buNone/>
                      </a:pPr>
                      <a:r>
                        <a:rPr lang="en-US" sz="1150" dirty="0">
                          <a:solidFill>
                            <a:srgbClr val="1B1F2A"/>
                          </a:solidFill>
                        </a:rPr>
                        <a:t>max move of any probability across 5 identical runs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C8553D"/>
                          </a:solidFill>
                        </a:rPr>
                        <a:t>3.4 / 4.5 / 4.9 / 4.1 pp, fail</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C8553D"/>
                          </a:solidFill>
                        </a:rPr>
                        <a:t>3.3 / 2.3 / 4.8 / 3.4 pp, fail</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2C6E49"/>
                          </a:solidFill>
                        </a:rPr>
                        <a:t>0.6 / 0.5 / 0.5 / 0.8 bp of tilt, pass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2C6E49"/>
                          </a:solidFill>
                        </a:rPr>
                        <a:t>0.5 / 0.8 / 1.2 / 0.8 bp of tilt, pass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150" dirty="0">
                          <a:solidFill>
                            <a:srgbClr val="1B1F2A"/>
                          </a:solidFill>
                        </a:rPr>
                        <a:t>S2 Groundedness (≥ 95%)</a:t>
                      </a:r>
                      <a:endParaRPr lang="en-US" sz="1150" dirty="0"/>
                    </a:p>
                    <a:p>
                      <a:pPr marL="0" indent="0">
                        <a:buNone/>
                      </a:pPr>
                      <a:r>
                        <a:rPr lang="en-US" sz="1150" dirty="0">
                          <a:solidFill>
                            <a:srgbClr val="1B1F2A"/>
                          </a:solidFill>
                        </a:rPr>
                        <a:t>share of claims whose quote code found in the evidence</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C8553D"/>
                          </a:solidFill>
                        </a:rPr>
                        <a:t>0%, fail</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dirty="0">
                          <a:solidFill>
                            <a:srgbClr val="6B7280"/>
                          </a:solidFill>
                        </a:rPr>
                        <a:t>not measurable: no quotes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2C6E49"/>
                          </a:solidFill>
                        </a:rPr>
                        <a:t>100 / 100 / 100 / 99%, pass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2C6E49"/>
                          </a:solidFill>
                        </a:rPr>
                        <a:t>100 / 97 / 100 / 100%, pass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150" dirty="0">
                          <a:solidFill>
                            <a:srgbClr val="1B1F2A"/>
                          </a:solidFill>
                        </a:rPr>
                        <a:t>S3 Leakage (exactly 0)</a:t>
                      </a:r>
                      <a:endParaRPr lang="en-US" sz="1150" dirty="0"/>
                    </a:p>
                    <a:p>
                      <a:pPr marL="0" indent="0">
                        <a:buNone/>
                      </a:pPr>
                      <a:r>
                        <a:rPr lang="en-US" sz="1150" dirty="0">
                          <a:solidFill>
                            <a:srgbClr val="1B1F2A"/>
                          </a:solidFill>
                        </a:rPr>
                        <a:t>numbers in the answer that are not in the snapshot</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C8553D"/>
                          </a:solidFill>
                        </a:rPr>
                        <a:t>36 / 36 / 39 / 38, fail</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2C6E49"/>
                          </a:solidFill>
                        </a:rPr>
                        <a:t>0, pass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2C6E49"/>
                          </a:solidFill>
                        </a:rPr>
                        <a:t>0, pass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2C6E49"/>
                          </a:solidFill>
                        </a:rPr>
                        <a:t>0, pass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3"/>
                  </a:ext>
                </a:extLst>
              </a:tr>
              <a:tr h="777240">
                <a:tc>
                  <a:txBody>
                    <a:bodyPr/>
                    <a:lstStyle/>
                    <a:p>
                      <a:pPr marL="0" indent="0">
                        <a:buNone/>
                      </a:pPr>
                      <a:r>
                        <a:rPr lang="en-US" sz="1150" dirty="0">
                          <a:solidFill>
                            <a:srgbClr val="1B1F2A"/>
                          </a:solidFill>
                        </a:rPr>
                        <a:t>What it concluded</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dirty="0">
                          <a:solidFill>
                            <a:srgbClr val="6B7280"/>
                          </a:solidFill>
                        </a:rPr>
                        <a:t>Cut 25 bps at 57 to 67%: its memory of the Fed is stale</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dirty="0">
                          <a:solidFill>
                            <a:srgbClr val="6B7280"/>
                          </a:solidFill>
                        </a:rPr>
                        <a:t>+25 bps at 50 to 57%: reads the evidence, overshoots the market</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dirty="0">
                          <a:solidFill>
                            <a:srgbClr val="6B7280"/>
                          </a:solidFill>
                        </a:rPr>
                        <a:t>+7.0 / +6.6 / +6.4 / +5.8 bp hawkish</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dirty="0">
                          <a:solidFill>
                            <a:srgbClr val="6B7280"/>
                          </a:solidFill>
                        </a:rPr>
                        <a:t>+4.4 / +4.1 / +4.4 / +4.0 bp hawkish; labour the lone non-hawk</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1"/>
          <p:cNvSpPr txBox="1"/>
          <p:nvPr/>
        </p:nvSpPr>
        <p:spPr>
          <a:xfrm>
            <a:off x="548640" y="5806440"/>
            <a:ext cx="11091672" cy="457200"/>
          </a:xfrm>
          <a:prstGeom prst="rect">
            <a:avLst/>
          </a:prstGeom>
          <a:noFill/>
          <a:ln/>
        </p:spPr>
        <p:txBody>
          <a:bodyPr wrap="square" lIns="0" tIns="0" rIns="0" bIns="0" rtlCol="0" anchor="t"/>
          <a:lstStyle/>
          <a:p>
            <a:pPr marL="0" indent="0">
              <a:buNone/>
            </a:pPr>
            <a:r>
              <a:rPr lang="en-US" sz="1050" dirty="0">
                <a:solidFill>
                  <a:schemeClr val="accent4"/>
                </a:solidFill>
              </a:rPr>
              <a:t>Snapshots of 15, 24, 26 and 28 October 2026. Analysts 3 to 8 report S1 in basis points of tilt because they output a lean, not a distribution.</a:t>
            </a:r>
            <a:endParaRPr lang="en-US" sz="10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What each step bought</a:t>
            </a:r>
            <a:endParaRPr lang="en-US" sz="3200" dirty="0"/>
          </a:p>
        </p:txBody>
      </p:sp>
      <p:sp>
        <p:nvSpPr>
          <p:cNvPr id="4" name="Text 1"/>
          <p:cNvSpPr txBox="1"/>
          <p:nvPr/>
        </p:nvSpPr>
        <p:spPr>
          <a:xfrm>
            <a:off x="548640" y="1325880"/>
            <a:ext cx="3544824" cy="365760"/>
          </a:xfrm>
          <a:prstGeom prst="rect">
            <a:avLst/>
          </a:prstGeom>
          <a:noFill/>
          <a:ln/>
        </p:spPr>
        <p:txBody>
          <a:bodyPr wrap="square" lIns="0" tIns="0" rIns="0" bIns="0" rtlCol="0" anchor="t"/>
          <a:lstStyle/>
          <a:p>
            <a:pPr marL="0" indent="0">
              <a:buNone/>
            </a:pPr>
            <a:r>
              <a:rPr lang="en-US" sz="1300" b="1" dirty="0">
                <a:solidFill>
                  <a:schemeClr val="tx2"/>
                </a:solidFill>
              </a:rPr>
              <a:t>S1: wobble between identical runs (pp)</a:t>
            </a:r>
            <a:endParaRPr lang="en-US" sz="1300" dirty="0"/>
          </a:p>
        </p:txBody>
      </p:sp>
      <p:graphicFrame>
        <p:nvGraphicFramePr>
          <p:cNvPr id="5" name="Chart 0"/>
          <p:cNvGraphicFramePr/>
          <p:nvPr/>
        </p:nvGraphicFramePr>
        <p:xfrm>
          <a:off x="548640" y="1691640"/>
          <a:ext cx="3544824"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548640" y="5303520"/>
            <a:ext cx="3544824" cy="640080"/>
          </a:xfrm>
          <a:prstGeom prst="rect">
            <a:avLst/>
          </a:prstGeom>
          <a:noFill/>
          <a:ln/>
        </p:spPr>
        <p:txBody>
          <a:bodyPr wrap="square" lIns="0" tIns="0" rIns="0" bIns="0" rtlCol="0" anchor="t"/>
          <a:lstStyle/>
          <a:p>
            <a:pPr marL="0" indent="0">
              <a:buNone/>
            </a:pPr>
            <a:r>
              <a:rPr lang="en-US" sz="950" dirty="0">
                <a:solidFill>
                  <a:schemeClr val="accent4"/>
                </a:solidFill>
              </a:rPr>
              <a:t>Largest standard deviation across five runs, mean of four snapshots. Pass mark 2 pp. Analysts 3 to 8: standard deviation of the lean, 1 bp = 1 pp.</a:t>
            </a:r>
            <a:endParaRPr lang="en-US" sz="950" dirty="0"/>
          </a:p>
        </p:txBody>
      </p:sp>
      <p:sp>
        <p:nvSpPr>
          <p:cNvPr id="7" name="Text 3"/>
          <p:cNvSpPr txBox="1"/>
          <p:nvPr/>
        </p:nvSpPr>
        <p:spPr>
          <a:xfrm>
            <a:off x="4322064" y="1325880"/>
            <a:ext cx="3544824" cy="365760"/>
          </a:xfrm>
          <a:prstGeom prst="rect">
            <a:avLst/>
          </a:prstGeom>
          <a:noFill/>
          <a:ln/>
        </p:spPr>
        <p:txBody>
          <a:bodyPr wrap="square" lIns="0" tIns="0" rIns="0" bIns="0" rtlCol="0" anchor="t"/>
          <a:lstStyle/>
          <a:p>
            <a:pPr marL="0" indent="0">
              <a:buNone/>
            </a:pPr>
            <a:r>
              <a:rPr lang="en-US" sz="1300" b="1" dirty="0">
                <a:solidFill>
                  <a:schemeClr val="tx2"/>
                </a:solidFill>
              </a:rPr>
              <a:t>S3: numbers from memory (count)</a:t>
            </a:r>
            <a:endParaRPr lang="en-US" sz="1300" dirty="0"/>
          </a:p>
        </p:txBody>
      </p:sp>
      <p:graphicFrame>
        <p:nvGraphicFramePr>
          <p:cNvPr id="8" name="Chart 1"/>
          <p:cNvGraphicFramePr/>
          <p:nvPr/>
        </p:nvGraphicFramePr>
        <p:xfrm>
          <a:off x="4322064" y="1691640"/>
          <a:ext cx="3544824"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4"/>
          <p:cNvSpPr txBox="1"/>
          <p:nvPr/>
        </p:nvSpPr>
        <p:spPr>
          <a:xfrm>
            <a:off x="4322064" y="5303520"/>
            <a:ext cx="3544824" cy="640080"/>
          </a:xfrm>
          <a:prstGeom prst="rect">
            <a:avLst/>
          </a:prstGeom>
          <a:noFill/>
          <a:ln/>
        </p:spPr>
        <p:txBody>
          <a:bodyPr wrap="square" lIns="0" tIns="0" rIns="0" bIns="0" rtlCol="0" anchor="t"/>
          <a:lstStyle/>
          <a:p>
            <a:pPr marL="0" indent="0">
              <a:buNone/>
            </a:pPr>
            <a:r>
              <a:rPr lang="en-US" sz="950" dirty="0">
                <a:solidFill>
                  <a:schemeClr val="accent4"/>
                </a:solidFill>
              </a:rPr>
              <a:t>Numbers in the answer that exist nowhere in the frozen evidence, summed over five runs. Pass mark: exactly 0.</a:t>
            </a:r>
            <a:endParaRPr lang="en-US" sz="950" dirty="0"/>
          </a:p>
        </p:txBody>
      </p:sp>
      <p:sp>
        <p:nvSpPr>
          <p:cNvPr id="10" name="Text 5"/>
          <p:cNvSpPr txBox="1"/>
          <p:nvPr/>
        </p:nvSpPr>
        <p:spPr>
          <a:xfrm>
            <a:off x="8095488" y="1325880"/>
            <a:ext cx="3544824" cy="365760"/>
          </a:xfrm>
          <a:prstGeom prst="rect">
            <a:avLst/>
          </a:prstGeom>
          <a:noFill/>
          <a:ln/>
        </p:spPr>
        <p:txBody>
          <a:bodyPr wrap="square" lIns="0" tIns="0" rIns="0" bIns="0" rtlCol="0" anchor="t"/>
          <a:lstStyle/>
          <a:p>
            <a:pPr marL="0" indent="0">
              <a:buNone/>
            </a:pPr>
            <a:r>
              <a:rPr lang="en-US" sz="1300" b="1" dirty="0">
                <a:solidFill>
                  <a:schemeClr val="tx2"/>
                </a:solidFill>
              </a:rPr>
              <a:t>S2: claims with a verbatim quote (%)</a:t>
            </a:r>
            <a:endParaRPr lang="en-US" sz="1300" dirty="0"/>
          </a:p>
        </p:txBody>
      </p:sp>
      <p:graphicFrame>
        <p:nvGraphicFramePr>
          <p:cNvPr id="11" name="Chart 2"/>
          <p:cNvGraphicFramePr/>
          <p:nvPr/>
        </p:nvGraphicFramePr>
        <p:xfrm>
          <a:off x="8095488" y="1691640"/>
          <a:ext cx="3544824" cy="3566160"/>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6"/>
          <p:cNvSpPr txBox="1"/>
          <p:nvPr/>
        </p:nvSpPr>
        <p:spPr>
          <a:xfrm>
            <a:off x="8095488" y="5303520"/>
            <a:ext cx="3544824" cy="640080"/>
          </a:xfrm>
          <a:prstGeom prst="rect">
            <a:avLst/>
          </a:prstGeom>
          <a:noFill/>
          <a:ln/>
        </p:spPr>
        <p:txBody>
          <a:bodyPr wrap="square" lIns="0" tIns="0" rIns="0" bIns="0" rtlCol="0" anchor="t"/>
          <a:lstStyle/>
          <a:p>
            <a:pPr marL="0" indent="0">
              <a:buNone/>
            </a:pPr>
            <a:r>
              <a:rPr lang="en-US" sz="950" dirty="0">
                <a:solidFill>
                  <a:schemeClr val="accent4"/>
                </a:solidFill>
              </a:rPr>
              <a:t>Share of claims whose quote code found character for character in the item named. Pass mark 95%. Analyst 2 is not shown: it quotes nothing, so it cannot be measured.</a:t>
            </a:r>
            <a:endParaRPr lang="en-US" sz="950" dirty="0"/>
          </a:p>
        </p:txBody>
      </p:sp>
      <p:sp>
        <p:nvSpPr>
          <p:cNvPr id="13" name="Text 7"/>
          <p:cNvSpPr txBox="1"/>
          <p:nvPr/>
        </p:nvSpPr>
        <p:spPr>
          <a:xfrm>
            <a:off x="548640" y="5989320"/>
            <a:ext cx="11091672" cy="411480"/>
          </a:xfrm>
          <a:prstGeom prst="rect">
            <a:avLst/>
          </a:prstGeom>
          <a:noFill/>
          <a:ln/>
        </p:spPr>
        <p:txBody>
          <a:bodyPr wrap="square" lIns="0" tIns="0" rIns="0" bIns="0" rtlCol="0" anchor="t"/>
          <a:lstStyle/>
          <a:p>
            <a:pPr marL="0" indent="0">
              <a:buNone/>
            </a:pPr>
            <a:r>
              <a:rPr lang="en-US" sz="1150" i="1" dirty="0">
                <a:solidFill>
                  <a:schemeClr val="accent2"/>
                </a:solidFill>
              </a:rPr>
              <a:t>The step from analyst 2 to analyst 3 is the harness: a fixed answer shape with a quote per claim, checked by code. It is the step that makes the model repeatable and checkable. Specialists keep both and add attribution.</a:t>
            </a:r>
            <a:endParaRPr lang="en-US" sz="11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What the specialists said on 26 October</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502920">
                <a:tc>
                  <a:txBody>
                    <a:bodyPr/>
                    <a:lstStyle/>
                    <a:p>
                      <a:pPr marL="0" indent="0">
                        <a:buNone/>
                      </a:pPr>
                      <a:r>
                        <a:rPr lang="en-US" sz="1150" b="1" dirty="0">
                          <a:solidFill>
                            <a:srgbClr val="FFFFFF"/>
                          </a:solidFill>
                        </a:rPr>
                        <a:t>Analyst</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rPr>
                        <a:t>Reads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rPr>
                        <a:t>Lean (5 runs)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rPr>
                        <a:t>Verified</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02920">
                <a:tc>
                  <a:txBody>
                    <a:bodyPr/>
                    <a:lstStyle/>
                    <a:p>
                      <a:pPr marL="0" indent="0">
                        <a:buNone/>
                      </a:pPr>
                      <a:r>
                        <a:rPr lang="en-US" sz="1150" dirty="0">
                          <a:solidFill>
                            <a:srgbClr val="1B1F2A"/>
                          </a:solidFill>
                        </a:rPr>
                        <a:t>4 Communications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Both statements, minutes, transcript, speeches, tone pre-read</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C8553D"/>
                          </a:solidFill>
                        </a:rPr>
                        <a:t>+6.0 bp hawkish</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dirty="0">
                          <a:solidFill>
                            <a:srgbClr val="1B1F2A"/>
                          </a:solidFill>
                        </a:rPr>
                        <a:t>100%, 0 leaked</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150" dirty="0">
                          <a:solidFill>
                            <a:srgbClr val="1B1F2A"/>
                          </a:solidFill>
                        </a:rPr>
                        <a:t>5 Minutes digest</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The minutes only</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C8553D"/>
                          </a:solidFill>
                        </a:rPr>
                        <a:t>+6.6 bp hawkish</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dirty="0">
                          <a:solidFill>
                            <a:srgbClr val="1B1F2A"/>
                          </a:solidFill>
                        </a:rPr>
                        <a:t>100%, 0 leaked</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150" dirty="0">
                          <a:solidFill>
                            <a:srgbClr val="1B1F2A"/>
                          </a:solidFill>
                        </a:rPr>
                        <a:t>6 Inflation</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Inflation pre-read, projections, both statements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C8553D"/>
                          </a:solidFill>
                        </a:rPr>
                        <a:t>+6.4 bp hawkish</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dirty="0">
                          <a:solidFill>
                            <a:srgbClr val="1B1F2A"/>
                          </a:solidFill>
                        </a:rPr>
                        <a:t>100%, 0 leaked</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150" dirty="0">
                          <a:solidFill>
                            <a:srgbClr val="1B1F2A"/>
                          </a:solidFill>
                        </a:rPr>
                        <a:t>7 Labour market</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Labour pre-read, projections, both statements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2C6E49"/>
                          </a:solidFill>
                        </a:rPr>
                        <a:t>−0.4 bp, neutral</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dirty="0">
                          <a:solidFill>
                            <a:srgbClr val="1B1F2A"/>
                          </a:solidFill>
                        </a:rPr>
                        <a:t>100%, 0 leaked</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150" dirty="0">
                          <a:solidFill>
                            <a:srgbClr val="1B1F2A"/>
                          </a:solidFill>
                        </a:rPr>
                        <a:t>8 Financial conditions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buNone/>
                      </a:pPr>
                      <a:r>
                        <a:rPr lang="en-US" sz="1150" dirty="0">
                          <a:solidFill>
                            <a:srgbClr val="1B1F2A"/>
                          </a:solidFill>
                        </a:rPr>
                        <a:t>Financial pre-read, base rates, both statements</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b="1" dirty="0">
                          <a:solidFill>
                            <a:srgbClr val="C8553D"/>
                          </a:solidFill>
                        </a:rPr>
                        <a:t>+3.4 bp hawkish</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marL="0" indent="0" algn="ctr">
                        <a:buNone/>
                      </a:pPr>
                      <a:r>
                        <a:rPr lang="en-US" sz="1150" dirty="0">
                          <a:solidFill>
                            <a:srgbClr val="1B1F2A"/>
                          </a:solidFill>
                        </a:rPr>
                        <a:t>100%, 0 leaked</a:t>
                      </a:r>
                      <a:endParaRPr lang="en-US" sz="1150" dirty="0"/>
                    </a:p>
                  </a:txBody>
                  <a:tcPr marL="54864" marR="54864" marT="54864" marB="5486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1"/>
          <p:cNvSpPr/>
          <p:nvPr/>
        </p:nvSpPr>
        <p:spPr>
          <a:xfrm>
            <a:off x="7680960" y="1417320"/>
            <a:ext cx="3959352" cy="3429000"/>
          </a:xfrm>
          <a:prstGeom prst="roundRect">
            <a:avLst>
              <a:gd name="adj" fmla="val 3200"/>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6" name="Text 2"/>
          <p:cNvSpPr txBox="1"/>
          <p:nvPr/>
        </p:nvSpPr>
        <p:spPr>
          <a:xfrm>
            <a:off x="7955280" y="1600200"/>
            <a:ext cx="3474720" cy="365760"/>
          </a:xfrm>
          <a:prstGeom prst="rect">
            <a:avLst/>
          </a:prstGeom>
          <a:noFill/>
          <a:ln/>
        </p:spPr>
        <p:txBody>
          <a:bodyPr wrap="square" lIns="0" tIns="0" rIns="0" bIns="0" rtlCol="0" anchor="t"/>
          <a:lstStyle/>
          <a:p>
            <a:pPr marL="0" indent="0">
              <a:buNone/>
            </a:pPr>
            <a:r>
              <a:rPr lang="en-US" sz="1400" b="1" dirty="0">
                <a:solidFill>
                  <a:schemeClr val="tx2"/>
                </a:solidFill>
              </a:rPr>
              <a:t>One claim, as recorded</a:t>
            </a:r>
            <a:endParaRPr lang="en-US" sz="1400" dirty="0"/>
          </a:p>
        </p:txBody>
      </p:sp>
      <p:sp>
        <p:nvSpPr>
          <p:cNvPr id="7" name="Text 3"/>
          <p:cNvSpPr txBox="1"/>
          <p:nvPr/>
        </p:nvSpPr>
        <p:spPr>
          <a:xfrm>
            <a:off x="7955280" y="2011680"/>
            <a:ext cx="3474720" cy="1005840"/>
          </a:xfrm>
          <a:prstGeom prst="rect">
            <a:avLst/>
          </a:prstGeom>
          <a:noFill/>
          <a:ln/>
        </p:spPr>
        <p:txBody>
          <a:bodyPr wrap="square" lIns="0" tIns="0" rIns="0" bIns="0" rtlCol="0" anchor="t"/>
          <a:lstStyle/>
          <a:p>
            <a:pPr marL="0" indent="0">
              <a:buNone/>
            </a:pPr>
            <a:r>
              <a:rPr lang="en-US" sz="1200" dirty="0">
                <a:solidFill>
                  <a:schemeClr val="tx1"/>
                </a:solidFill>
              </a:rPr>
              <a:t>Communications analyst: the deterministic tone read scores the most recent policy communication as fully hawkish, with a unanimous hike vote and no dovish lexicon hits.</a:t>
            </a:r>
            <a:endParaRPr lang="en-US" sz="1200" dirty="0"/>
          </a:p>
        </p:txBody>
      </p:sp>
      <p:sp>
        <p:nvSpPr>
          <p:cNvPr id="8" name="Text 4"/>
          <p:cNvSpPr txBox="1"/>
          <p:nvPr/>
        </p:nvSpPr>
        <p:spPr>
          <a:xfrm>
            <a:off x="7955280" y="3017520"/>
            <a:ext cx="3474720" cy="502920"/>
          </a:xfrm>
          <a:prstGeom prst="rect">
            <a:avLst/>
          </a:prstGeom>
          <a:noFill/>
          <a:ln/>
        </p:spPr>
        <p:txBody>
          <a:bodyPr wrap="square" lIns="0" tIns="0" rIns="0" bIns="0" rtlCol="0" anchor="t"/>
          <a:lstStyle/>
          <a:p>
            <a:pPr marL="0" indent="0">
              <a:buNone/>
            </a:pPr>
            <a:r>
              <a:rPr lang="en-US" sz="1100" dirty="0">
                <a:solidFill>
                  <a:schemeClr val="accent4"/>
                </a:solidFill>
                <a:latin typeface="Courier New" pitchFamily="34" charset="0"/>
                <a:ea typeface="Courier New" pitchFamily="34" charset="-122"/>
                <a:cs typeface="Courier New" pitchFamily="34" charset="-120"/>
              </a:rPr>
              <a:t>Quote: "score": 1.0   Item: signal.tone   Verified by code</a:t>
            </a:r>
            <a:endParaRPr lang="en-US" sz="1100" dirty="0"/>
          </a:p>
        </p:txBody>
      </p:sp>
      <p:sp>
        <p:nvSpPr>
          <p:cNvPr id="9" name="Text 5"/>
          <p:cNvSpPr txBox="1"/>
          <p:nvPr/>
        </p:nvSpPr>
        <p:spPr>
          <a:xfrm>
            <a:off x="7955280" y="3566160"/>
            <a:ext cx="3474720" cy="1188720"/>
          </a:xfrm>
          <a:prstGeom prst="rect">
            <a:avLst/>
          </a:prstGeom>
          <a:noFill/>
          <a:ln/>
        </p:spPr>
        <p:txBody>
          <a:bodyPr wrap="square" lIns="0" tIns="0" rIns="0" bIns="0" rtlCol="0" anchor="t"/>
          <a:lstStyle/>
          <a:p>
            <a:pPr marL="0" indent="0">
              <a:buNone/>
            </a:pPr>
            <a:r>
              <a:rPr lang="en-US" sz="1100" dirty="0">
                <a:solidFill>
                  <a:schemeClr val="tx1"/>
                </a:solidFill>
              </a:rPr>
              <a:t>The pre-read is our arithmetic over the two statements: 12 votes for, none against, eight hawkish words, no dovish ones. The analyst quoted it and code found the quote.</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48640"/>
            <a:ext cx="11091672" cy="822960"/>
          </a:xfrm>
          <a:prstGeom prst="rect">
            <a:avLst/>
          </a:prstGeom>
          <a:noFill/>
          <a:ln/>
        </p:spPr>
        <p:txBody>
          <a:bodyPr wrap="square" lIns="0" tIns="0" rIns="0" bIns="0" rtlCol="0" anchor="ctr"/>
          <a:lstStyle/>
          <a:p>
            <a:pPr marL="0" indent="0" algn="l">
              <a:buNone/>
            </a:pPr>
            <a:r>
              <a:rPr lang="en-US" sz="3000" b="1" dirty="0">
                <a:solidFill>
                  <a:schemeClr val="bg1"/>
                </a:solidFill>
              </a:rPr>
              <a:t>Live demo 4: what the analysts concluded</a:t>
            </a:r>
            <a:endParaRPr lang="en-US" sz="3000" dirty="0"/>
          </a:p>
        </p:txBody>
      </p:sp>
      <p:sp>
        <p:nvSpPr>
          <p:cNvPr id="3" name="Shape 1"/>
          <p:cNvSpPr/>
          <p:nvPr/>
        </p:nvSpPr>
        <p:spPr>
          <a:xfrm>
            <a:off x="10177272" y="685800"/>
            <a:ext cx="1463040" cy="548640"/>
          </a:xfrm>
          <a:prstGeom prst="roundRect">
            <a:avLst>
              <a:gd name="adj" fmla="val 16667"/>
            </a:avLst>
          </a:prstGeom>
          <a:solidFill>
            <a:srgbClr val="E9B44C"/>
          </a:solidFill>
          <a:ln w="12700">
            <a:solidFill>
              <a:srgbClr val="E9B44C"/>
            </a:solidFill>
            <a:prstDash val="solid"/>
          </a:ln>
        </p:spPr>
      </p:sp>
      <p:sp>
        <p:nvSpPr>
          <p:cNvPr id="4" name="Text 2"/>
          <p:cNvSpPr txBox="1"/>
          <p:nvPr/>
        </p:nvSpPr>
        <p:spPr>
          <a:xfrm>
            <a:off x="10177272" y="685800"/>
            <a:ext cx="1463040" cy="548640"/>
          </a:xfrm>
          <a:prstGeom prst="rect">
            <a:avLst/>
          </a:prstGeom>
          <a:noFill/>
          <a:ln/>
        </p:spPr>
        <p:txBody>
          <a:bodyPr wrap="square" lIns="0" tIns="0" rIns="0" bIns="0" rtlCol="0" anchor="ctr"/>
          <a:lstStyle/>
          <a:p>
            <a:pPr marL="0" indent="0" algn="ctr">
              <a:buNone/>
            </a:pPr>
            <a:r>
              <a:rPr lang="en-US" sz="1600" b="1" dirty="0">
                <a:solidFill>
                  <a:srgbClr val="1B1F2A"/>
                </a:solidFill>
              </a:rPr>
              <a:t>2 min</a:t>
            </a:r>
            <a:endParaRPr lang="en-US" sz="1600" dirty="0"/>
          </a:p>
        </p:txBody>
      </p:sp>
      <p:sp>
        <p:nvSpPr>
          <p:cNvPr id="5" name="Shape 3"/>
          <p:cNvSpPr/>
          <p:nvPr/>
        </p:nvSpPr>
        <p:spPr>
          <a:xfrm>
            <a:off x="548640" y="1737360"/>
            <a:ext cx="3520440" cy="3200400"/>
          </a:xfrm>
          <a:prstGeom prst="roundRect">
            <a:avLst>
              <a:gd name="adj" fmla="val 3429"/>
            </a:avLst>
          </a:prstGeom>
          <a:solidFill>
            <a:srgbClr val="1E2761"/>
          </a:solidFill>
          <a:ln w="12700">
            <a:solidFill>
              <a:srgbClr val="1E2761"/>
            </a:solidFill>
            <a:prstDash val="solid"/>
          </a:ln>
        </p:spPr>
      </p:sp>
      <p:sp>
        <p:nvSpPr>
          <p:cNvPr id="6" name="Text 4"/>
          <p:cNvSpPr txBox="1"/>
          <p:nvPr/>
        </p:nvSpPr>
        <p:spPr>
          <a:xfrm>
            <a:off x="82296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Open</a:t>
            </a:r>
            <a:endParaRPr lang="en-US" sz="1800" dirty="0"/>
          </a:p>
        </p:txBody>
      </p:sp>
      <p:sp>
        <p:nvSpPr>
          <p:cNvPr id="7" name="Text 5"/>
          <p:cNvSpPr txBox="1"/>
          <p:nvPr/>
        </p:nvSpPr>
        <p:spPr>
          <a:xfrm>
            <a:off x="82296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Analyst results view</a:t>
            </a:r>
            <a:endParaRPr lang="en-US" sz="1300" dirty="0"/>
          </a:p>
          <a:p>
            <a:pPr marL="342900" indent="-342900">
              <a:spcAft>
                <a:spcPts val="800"/>
              </a:spcAft>
              <a:buSzPct val="100000"/>
              <a:buChar char="•"/>
            </a:pPr>
            <a:r>
              <a:rPr lang="en-US" sz="1300" dirty="0">
                <a:solidFill>
                  <a:srgbClr val="FFFFFF"/>
                </a:solidFill>
              </a:rPr>
              <a:t>Analyst 1 (naive) card</a:t>
            </a:r>
            <a:endParaRPr lang="en-US" sz="1300" dirty="0"/>
          </a:p>
          <a:p>
            <a:pPr marL="342900" indent="-342900">
              <a:spcAft>
                <a:spcPts val="800"/>
              </a:spcAft>
              <a:buSzPct val="100000"/>
              <a:buChar char="•"/>
            </a:pPr>
            <a:r>
              <a:rPr lang="en-US" sz="1300" dirty="0">
                <a:solidFill>
                  <a:srgbClr val="FFFFFF"/>
                </a:solidFill>
              </a:rPr>
              <a:t>Analyst 4 (communications) card</a:t>
            </a:r>
            <a:endParaRPr lang="en-US" sz="1300" dirty="0"/>
          </a:p>
        </p:txBody>
      </p:sp>
      <p:sp>
        <p:nvSpPr>
          <p:cNvPr id="8" name="Shape 6"/>
          <p:cNvSpPr/>
          <p:nvPr/>
        </p:nvSpPr>
        <p:spPr>
          <a:xfrm>
            <a:off x="4297680" y="1737360"/>
            <a:ext cx="3520440" cy="3200400"/>
          </a:xfrm>
          <a:prstGeom prst="roundRect">
            <a:avLst>
              <a:gd name="adj" fmla="val 3429"/>
            </a:avLst>
          </a:prstGeom>
          <a:solidFill>
            <a:srgbClr val="1E2761"/>
          </a:solidFill>
          <a:ln w="12700">
            <a:solidFill>
              <a:srgbClr val="1E2761"/>
            </a:solidFill>
            <a:prstDash val="solid"/>
          </a:ln>
        </p:spPr>
      </p:sp>
      <p:sp>
        <p:nvSpPr>
          <p:cNvPr id="9" name="Text 7"/>
          <p:cNvSpPr txBox="1"/>
          <p:nvPr/>
        </p:nvSpPr>
        <p:spPr>
          <a:xfrm>
            <a:off x="457200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Point at</a:t>
            </a:r>
            <a:endParaRPr lang="en-US" sz="1800" dirty="0"/>
          </a:p>
        </p:txBody>
      </p:sp>
      <p:sp>
        <p:nvSpPr>
          <p:cNvPr id="10" name="Text 8"/>
          <p:cNvSpPr txBox="1"/>
          <p:nvPr/>
        </p:nvSpPr>
        <p:spPr>
          <a:xfrm>
            <a:off x="457200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Analyst 1: cut 25 at 57%, numbers from memory flagged</a:t>
            </a:r>
            <a:endParaRPr lang="en-US" sz="1300" dirty="0"/>
          </a:p>
          <a:p>
            <a:pPr marL="342900" indent="-342900">
              <a:spcAft>
                <a:spcPts val="800"/>
              </a:spcAft>
              <a:buSzPct val="100000"/>
              <a:buChar char="•"/>
            </a:pPr>
            <a:r>
              <a:rPr lang="en-US" sz="1300" dirty="0">
                <a:solidFill>
                  <a:srgbClr val="FFFFFF"/>
                </a:solidFill>
              </a:rPr>
              <a:t>Analyst 4: the lean, grounded, leaked, watch-outs badges; one claim with its quote and the 'quote verified' mark</a:t>
            </a:r>
            <a:endParaRPr lang="en-US" sz="1300" dirty="0"/>
          </a:p>
          <a:p>
            <a:pPr marL="342900" indent="-342900">
              <a:spcAft>
                <a:spcPts val="800"/>
              </a:spcAft>
              <a:buSzPct val="100000"/>
              <a:buChar char="•"/>
            </a:pPr>
            <a:r>
              <a:rPr lang="en-US" sz="1300" dirty="0">
                <a:solidFill>
                  <a:srgbClr val="FFFFFF"/>
                </a:solidFill>
              </a:rPr>
              <a:t>Hover a badge for its definition</a:t>
            </a:r>
            <a:endParaRPr lang="en-US" sz="1300" dirty="0"/>
          </a:p>
        </p:txBody>
      </p:sp>
      <p:sp>
        <p:nvSpPr>
          <p:cNvPr id="11" name="Shape 9"/>
          <p:cNvSpPr/>
          <p:nvPr/>
        </p:nvSpPr>
        <p:spPr>
          <a:xfrm>
            <a:off x="8046720" y="1737360"/>
            <a:ext cx="3520440" cy="3200400"/>
          </a:xfrm>
          <a:prstGeom prst="roundRect">
            <a:avLst>
              <a:gd name="adj" fmla="val 3429"/>
            </a:avLst>
          </a:prstGeom>
          <a:solidFill>
            <a:srgbClr val="1E2761"/>
          </a:solidFill>
          <a:ln w="12700">
            <a:solidFill>
              <a:srgbClr val="1E2761"/>
            </a:solidFill>
            <a:prstDash val="solid"/>
          </a:ln>
        </p:spPr>
      </p:sp>
      <p:sp>
        <p:nvSpPr>
          <p:cNvPr id="12" name="Text 10"/>
          <p:cNvSpPr txBox="1"/>
          <p:nvPr/>
        </p:nvSpPr>
        <p:spPr>
          <a:xfrm>
            <a:off x="832104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Say</a:t>
            </a:r>
            <a:endParaRPr lang="en-US" sz="1800" dirty="0"/>
          </a:p>
        </p:txBody>
      </p:sp>
      <p:sp>
        <p:nvSpPr>
          <p:cNvPr id="13" name="Text 11"/>
          <p:cNvSpPr txBox="1"/>
          <p:nvPr/>
        </p:nvSpPr>
        <p:spPr>
          <a:xfrm>
            <a:off x="832104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Every claim you see has a quote that code found character for character in the item named.</a:t>
            </a:r>
            <a:endParaRPr lang="en-US" sz="1300" dirty="0"/>
          </a:p>
          <a:p>
            <a:pPr marL="342900" indent="-342900">
              <a:spcAft>
                <a:spcPts val="800"/>
              </a:spcAft>
              <a:buSzPct val="100000"/>
              <a:buChar char="•"/>
            </a:pPr>
            <a:r>
              <a:rPr lang="en-US" sz="1300" dirty="0">
                <a:solidFill>
                  <a:srgbClr val="FFFFFF"/>
                </a:solidFill>
              </a:rPr>
              <a:t>The naive analyst still thinks the Fed is cutting. Same model, no evidence.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The scorecard: eight of ten dimensions measured by code</a:t>
            </a:r>
            <a:endParaRPr lang="en-US" sz="3200" dirty="0"/>
          </a:p>
        </p:txBody>
      </p:sp>
      <p:sp>
        <p:nvSpPr>
          <p:cNvPr id="4" name="Shape 1"/>
          <p:cNvSpPr/>
          <p:nvPr/>
        </p:nvSpPr>
        <p:spPr>
          <a:xfrm>
            <a:off x="548640" y="1463040"/>
            <a:ext cx="2103120" cy="960120"/>
          </a:xfrm>
          <a:prstGeom prst="roundRect">
            <a:avLst>
              <a:gd name="adj" fmla="val 11429"/>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5" name="Shape 2"/>
          <p:cNvSpPr/>
          <p:nvPr/>
        </p:nvSpPr>
        <p:spPr>
          <a:xfrm>
            <a:off x="685800" y="1737360"/>
            <a:ext cx="384048" cy="384048"/>
          </a:xfrm>
          <a:prstGeom prst="ellipse">
            <a:avLst/>
          </a:prstGeom>
          <a:solidFill>
            <a:srgbClr val="2C6E49"/>
          </a:solidFill>
          <a:ln w="12700">
            <a:solidFill>
              <a:srgbClr val="2C6E49"/>
            </a:solidFill>
            <a:prstDash val="solid"/>
          </a:ln>
        </p:spPr>
      </p:sp>
      <p:sp>
        <p:nvSpPr>
          <p:cNvPr id="6" name="Text 3"/>
          <p:cNvSpPr txBox="1"/>
          <p:nvPr/>
        </p:nvSpPr>
        <p:spPr>
          <a:xfrm>
            <a:off x="685800" y="1737360"/>
            <a:ext cx="384048" cy="384048"/>
          </a:xfrm>
          <a:prstGeom prst="rect">
            <a:avLst/>
          </a:prstGeom>
          <a:noFill/>
          <a:ln/>
        </p:spPr>
        <p:txBody>
          <a:bodyPr wrap="square" lIns="0" tIns="0" rIns="0" bIns="0" rtlCol="0" anchor="ctr"/>
          <a:lstStyle/>
          <a:p>
            <a:pPr marL="0" indent="0" algn="ctr">
              <a:buNone/>
            </a:pPr>
            <a:r>
              <a:rPr lang="en-US" sz="1000" b="1" dirty="0">
                <a:solidFill>
                  <a:schemeClr val="bg1"/>
                </a:solidFill>
              </a:rPr>
              <a:t>S1</a:t>
            </a:r>
            <a:endParaRPr lang="en-US" sz="1000" dirty="0"/>
          </a:p>
        </p:txBody>
      </p:sp>
      <p:sp>
        <p:nvSpPr>
          <p:cNvPr id="7" name="Text 4"/>
          <p:cNvSpPr txBox="1"/>
          <p:nvPr/>
        </p:nvSpPr>
        <p:spPr>
          <a:xfrm>
            <a:off x="1170432" y="1572768"/>
            <a:ext cx="1417320" cy="411480"/>
          </a:xfrm>
          <a:prstGeom prst="rect">
            <a:avLst/>
          </a:prstGeom>
          <a:noFill/>
          <a:ln/>
        </p:spPr>
        <p:txBody>
          <a:bodyPr wrap="square" lIns="0" tIns="0" rIns="0" bIns="0" rtlCol="0" anchor="ctr"/>
          <a:lstStyle/>
          <a:p>
            <a:pPr marL="0" indent="0">
              <a:buNone/>
            </a:pPr>
            <a:r>
              <a:rPr lang="en-US" sz="1200" b="1" dirty="0">
                <a:solidFill>
                  <a:schemeClr val="tx2"/>
                </a:solidFill>
              </a:rPr>
              <a:t>Repeatability</a:t>
            </a:r>
            <a:endParaRPr lang="en-US" sz="1200" dirty="0"/>
          </a:p>
        </p:txBody>
      </p:sp>
      <p:sp>
        <p:nvSpPr>
          <p:cNvPr id="8" name="Text 5"/>
          <p:cNvSpPr txBox="1"/>
          <p:nvPr/>
        </p:nvSpPr>
        <p:spPr>
          <a:xfrm>
            <a:off x="1170432" y="1965960"/>
            <a:ext cx="1417320" cy="411480"/>
          </a:xfrm>
          <a:prstGeom prst="rect">
            <a:avLst/>
          </a:prstGeom>
          <a:noFill/>
          <a:ln/>
        </p:spPr>
        <p:txBody>
          <a:bodyPr wrap="square" lIns="0" tIns="0" rIns="0" bIns="0" rtlCol="0" anchor="t"/>
          <a:lstStyle/>
          <a:p>
            <a:pPr marL="0" indent="0">
              <a:buNone/>
            </a:pPr>
            <a:r>
              <a:rPr lang="en-US" sz="1000" dirty="0">
                <a:solidFill>
                  <a:schemeClr val="accent4"/>
                </a:solidFill>
              </a:rPr>
              <a:t>measured by code</a:t>
            </a:r>
            <a:endParaRPr lang="en-US" sz="1000" dirty="0"/>
          </a:p>
        </p:txBody>
      </p:sp>
      <p:sp>
        <p:nvSpPr>
          <p:cNvPr id="9" name="Shape 6"/>
          <p:cNvSpPr/>
          <p:nvPr/>
        </p:nvSpPr>
        <p:spPr>
          <a:xfrm>
            <a:off x="2788920" y="1463040"/>
            <a:ext cx="2103120" cy="960120"/>
          </a:xfrm>
          <a:prstGeom prst="roundRect">
            <a:avLst>
              <a:gd name="adj" fmla="val 11429"/>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10" name="Shape 7"/>
          <p:cNvSpPr/>
          <p:nvPr/>
        </p:nvSpPr>
        <p:spPr>
          <a:xfrm>
            <a:off x="2926080" y="1737360"/>
            <a:ext cx="384048" cy="384048"/>
          </a:xfrm>
          <a:prstGeom prst="ellipse">
            <a:avLst/>
          </a:prstGeom>
          <a:solidFill>
            <a:srgbClr val="2C6E49"/>
          </a:solidFill>
          <a:ln w="12700">
            <a:solidFill>
              <a:srgbClr val="2C6E49"/>
            </a:solidFill>
            <a:prstDash val="solid"/>
          </a:ln>
        </p:spPr>
      </p:sp>
      <p:sp>
        <p:nvSpPr>
          <p:cNvPr id="11" name="Text 8"/>
          <p:cNvSpPr txBox="1"/>
          <p:nvPr/>
        </p:nvSpPr>
        <p:spPr>
          <a:xfrm>
            <a:off x="2926080" y="1737360"/>
            <a:ext cx="384048" cy="384048"/>
          </a:xfrm>
          <a:prstGeom prst="rect">
            <a:avLst/>
          </a:prstGeom>
          <a:noFill/>
          <a:ln/>
        </p:spPr>
        <p:txBody>
          <a:bodyPr wrap="square" lIns="0" tIns="0" rIns="0" bIns="0" rtlCol="0" anchor="ctr"/>
          <a:lstStyle/>
          <a:p>
            <a:pPr marL="0" indent="0" algn="ctr">
              <a:buNone/>
            </a:pPr>
            <a:r>
              <a:rPr lang="en-US" sz="1000" b="1" dirty="0">
                <a:solidFill>
                  <a:schemeClr val="bg1"/>
                </a:solidFill>
              </a:rPr>
              <a:t>S2</a:t>
            </a:r>
            <a:endParaRPr lang="en-US" sz="1000" dirty="0"/>
          </a:p>
        </p:txBody>
      </p:sp>
      <p:sp>
        <p:nvSpPr>
          <p:cNvPr id="12" name="Text 9"/>
          <p:cNvSpPr txBox="1"/>
          <p:nvPr/>
        </p:nvSpPr>
        <p:spPr>
          <a:xfrm>
            <a:off x="3410712" y="1572768"/>
            <a:ext cx="1417320" cy="411480"/>
          </a:xfrm>
          <a:prstGeom prst="rect">
            <a:avLst/>
          </a:prstGeom>
          <a:noFill/>
          <a:ln/>
        </p:spPr>
        <p:txBody>
          <a:bodyPr wrap="square" lIns="0" tIns="0" rIns="0" bIns="0" rtlCol="0" anchor="ctr"/>
          <a:lstStyle/>
          <a:p>
            <a:pPr marL="0" indent="0">
              <a:buNone/>
            </a:pPr>
            <a:r>
              <a:rPr lang="en-US" sz="1200" b="1" dirty="0">
                <a:solidFill>
                  <a:schemeClr val="tx2"/>
                </a:solidFill>
              </a:rPr>
              <a:t>Groundedness</a:t>
            </a:r>
            <a:endParaRPr lang="en-US" sz="1200" dirty="0"/>
          </a:p>
        </p:txBody>
      </p:sp>
      <p:sp>
        <p:nvSpPr>
          <p:cNvPr id="13" name="Text 10"/>
          <p:cNvSpPr txBox="1"/>
          <p:nvPr/>
        </p:nvSpPr>
        <p:spPr>
          <a:xfrm>
            <a:off x="3410712" y="1965960"/>
            <a:ext cx="1417320" cy="411480"/>
          </a:xfrm>
          <a:prstGeom prst="rect">
            <a:avLst/>
          </a:prstGeom>
          <a:noFill/>
          <a:ln/>
        </p:spPr>
        <p:txBody>
          <a:bodyPr wrap="square" lIns="0" tIns="0" rIns="0" bIns="0" rtlCol="0" anchor="t"/>
          <a:lstStyle/>
          <a:p>
            <a:pPr marL="0" indent="0">
              <a:buNone/>
            </a:pPr>
            <a:r>
              <a:rPr lang="en-US" sz="1000" dirty="0">
                <a:solidFill>
                  <a:schemeClr val="accent4"/>
                </a:solidFill>
              </a:rPr>
              <a:t>measured by code</a:t>
            </a:r>
            <a:endParaRPr lang="en-US" sz="1000" dirty="0"/>
          </a:p>
        </p:txBody>
      </p:sp>
      <p:sp>
        <p:nvSpPr>
          <p:cNvPr id="14" name="Shape 11"/>
          <p:cNvSpPr/>
          <p:nvPr/>
        </p:nvSpPr>
        <p:spPr>
          <a:xfrm>
            <a:off x="5029200" y="1463040"/>
            <a:ext cx="2103120" cy="960120"/>
          </a:xfrm>
          <a:prstGeom prst="roundRect">
            <a:avLst>
              <a:gd name="adj" fmla="val 11429"/>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15" name="Shape 12"/>
          <p:cNvSpPr/>
          <p:nvPr/>
        </p:nvSpPr>
        <p:spPr>
          <a:xfrm>
            <a:off x="5166360" y="1737360"/>
            <a:ext cx="384048" cy="384048"/>
          </a:xfrm>
          <a:prstGeom prst="ellipse">
            <a:avLst/>
          </a:prstGeom>
          <a:solidFill>
            <a:srgbClr val="2C6E49"/>
          </a:solidFill>
          <a:ln w="12700">
            <a:solidFill>
              <a:srgbClr val="2C6E49"/>
            </a:solidFill>
            <a:prstDash val="solid"/>
          </a:ln>
        </p:spPr>
      </p:sp>
      <p:sp>
        <p:nvSpPr>
          <p:cNvPr id="16" name="Text 13"/>
          <p:cNvSpPr txBox="1"/>
          <p:nvPr/>
        </p:nvSpPr>
        <p:spPr>
          <a:xfrm>
            <a:off x="5166360" y="1737360"/>
            <a:ext cx="384048" cy="384048"/>
          </a:xfrm>
          <a:prstGeom prst="rect">
            <a:avLst/>
          </a:prstGeom>
          <a:noFill/>
          <a:ln/>
        </p:spPr>
        <p:txBody>
          <a:bodyPr wrap="square" lIns="0" tIns="0" rIns="0" bIns="0" rtlCol="0" anchor="ctr"/>
          <a:lstStyle/>
          <a:p>
            <a:pPr marL="0" indent="0" algn="ctr">
              <a:buNone/>
            </a:pPr>
            <a:r>
              <a:rPr lang="en-US" sz="1000" b="1" dirty="0">
                <a:solidFill>
                  <a:schemeClr val="bg1"/>
                </a:solidFill>
              </a:rPr>
              <a:t>S3</a:t>
            </a:r>
            <a:endParaRPr lang="en-US" sz="1000" dirty="0"/>
          </a:p>
        </p:txBody>
      </p:sp>
      <p:sp>
        <p:nvSpPr>
          <p:cNvPr id="17" name="Text 14"/>
          <p:cNvSpPr txBox="1"/>
          <p:nvPr/>
        </p:nvSpPr>
        <p:spPr>
          <a:xfrm>
            <a:off x="5650992" y="1572768"/>
            <a:ext cx="1417320" cy="411480"/>
          </a:xfrm>
          <a:prstGeom prst="rect">
            <a:avLst/>
          </a:prstGeom>
          <a:noFill/>
          <a:ln/>
        </p:spPr>
        <p:txBody>
          <a:bodyPr wrap="square" lIns="0" tIns="0" rIns="0" bIns="0" rtlCol="0" anchor="ctr"/>
          <a:lstStyle/>
          <a:p>
            <a:pPr marL="0" indent="0">
              <a:buNone/>
            </a:pPr>
            <a:r>
              <a:rPr lang="en-US" sz="1200" b="1" dirty="0">
                <a:solidFill>
                  <a:schemeClr val="tx2"/>
                </a:solidFill>
              </a:rPr>
              <a:t>Leakage</a:t>
            </a:r>
            <a:endParaRPr lang="en-US" sz="1200" dirty="0"/>
          </a:p>
        </p:txBody>
      </p:sp>
      <p:sp>
        <p:nvSpPr>
          <p:cNvPr id="18" name="Text 15"/>
          <p:cNvSpPr txBox="1"/>
          <p:nvPr/>
        </p:nvSpPr>
        <p:spPr>
          <a:xfrm>
            <a:off x="5650992" y="1965960"/>
            <a:ext cx="1417320" cy="411480"/>
          </a:xfrm>
          <a:prstGeom prst="rect">
            <a:avLst/>
          </a:prstGeom>
          <a:noFill/>
          <a:ln/>
        </p:spPr>
        <p:txBody>
          <a:bodyPr wrap="square" lIns="0" tIns="0" rIns="0" bIns="0" rtlCol="0" anchor="t"/>
          <a:lstStyle/>
          <a:p>
            <a:pPr marL="0" indent="0">
              <a:buNone/>
            </a:pPr>
            <a:r>
              <a:rPr lang="en-US" sz="1000" dirty="0">
                <a:solidFill>
                  <a:schemeClr val="accent4"/>
                </a:solidFill>
              </a:rPr>
              <a:t>measured by code</a:t>
            </a:r>
            <a:endParaRPr lang="en-US" sz="1000" dirty="0"/>
          </a:p>
        </p:txBody>
      </p:sp>
      <p:sp>
        <p:nvSpPr>
          <p:cNvPr id="19" name="Shape 16"/>
          <p:cNvSpPr/>
          <p:nvPr/>
        </p:nvSpPr>
        <p:spPr>
          <a:xfrm>
            <a:off x="7269480" y="1463040"/>
            <a:ext cx="2103120" cy="960120"/>
          </a:xfrm>
          <a:prstGeom prst="roundRect">
            <a:avLst>
              <a:gd name="adj" fmla="val 11429"/>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20" name="Shape 17"/>
          <p:cNvSpPr/>
          <p:nvPr/>
        </p:nvSpPr>
        <p:spPr>
          <a:xfrm>
            <a:off x="7406640" y="1737360"/>
            <a:ext cx="384048" cy="384048"/>
          </a:xfrm>
          <a:prstGeom prst="ellipse">
            <a:avLst/>
          </a:prstGeom>
          <a:solidFill>
            <a:srgbClr val="2C6E49"/>
          </a:solidFill>
          <a:ln w="12700">
            <a:solidFill>
              <a:srgbClr val="2C6E49"/>
            </a:solidFill>
            <a:prstDash val="solid"/>
          </a:ln>
        </p:spPr>
      </p:sp>
      <p:sp>
        <p:nvSpPr>
          <p:cNvPr id="21" name="Text 18"/>
          <p:cNvSpPr txBox="1"/>
          <p:nvPr/>
        </p:nvSpPr>
        <p:spPr>
          <a:xfrm>
            <a:off x="7406640" y="1737360"/>
            <a:ext cx="384048" cy="384048"/>
          </a:xfrm>
          <a:prstGeom prst="rect">
            <a:avLst/>
          </a:prstGeom>
          <a:noFill/>
          <a:ln/>
        </p:spPr>
        <p:txBody>
          <a:bodyPr wrap="square" lIns="0" tIns="0" rIns="0" bIns="0" rtlCol="0" anchor="ctr"/>
          <a:lstStyle/>
          <a:p>
            <a:pPr marL="0" indent="0" algn="ctr">
              <a:buNone/>
            </a:pPr>
            <a:r>
              <a:rPr lang="en-US" sz="1000" b="1" dirty="0">
                <a:solidFill>
                  <a:schemeClr val="bg1"/>
                </a:solidFill>
              </a:rPr>
              <a:t>S4</a:t>
            </a:r>
            <a:endParaRPr lang="en-US" sz="1000" dirty="0"/>
          </a:p>
        </p:txBody>
      </p:sp>
      <p:sp>
        <p:nvSpPr>
          <p:cNvPr id="22" name="Text 19"/>
          <p:cNvSpPr txBox="1"/>
          <p:nvPr/>
        </p:nvSpPr>
        <p:spPr>
          <a:xfrm>
            <a:off x="7891272" y="1572768"/>
            <a:ext cx="1417320" cy="411480"/>
          </a:xfrm>
          <a:prstGeom prst="rect">
            <a:avLst/>
          </a:prstGeom>
          <a:noFill/>
          <a:ln/>
        </p:spPr>
        <p:txBody>
          <a:bodyPr wrap="square" lIns="0" tIns="0" rIns="0" bIns="0" rtlCol="0" anchor="ctr"/>
          <a:lstStyle/>
          <a:p>
            <a:pPr marL="0" indent="0">
              <a:buNone/>
            </a:pPr>
            <a:r>
              <a:rPr lang="en-US" sz="1200" b="1" dirty="0">
                <a:solidFill>
                  <a:schemeClr val="tx2"/>
                </a:solidFill>
              </a:rPr>
              <a:t>Directional sanity</a:t>
            </a:r>
            <a:endParaRPr lang="en-US" sz="1200" dirty="0"/>
          </a:p>
        </p:txBody>
      </p:sp>
      <p:sp>
        <p:nvSpPr>
          <p:cNvPr id="23" name="Text 20"/>
          <p:cNvSpPr txBox="1"/>
          <p:nvPr/>
        </p:nvSpPr>
        <p:spPr>
          <a:xfrm>
            <a:off x="7891272" y="1965960"/>
            <a:ext cx="1417320" cy="411480"/>
          </a:xfrm>
          <a:prstGeom prst="rect">
            <a:avLst/>
          </a:prstGeom>
          <a:noFill/>
          <a:ln/>
        </p:spPr>
        <p:txBody>
          <a:bodyPr wrap="square" lIns="0" tIns="0" rIns="0" bIns="0" rtlCol="0" anchor="t"/>
          <a:lstStyle/>
          <a:p>
            <a:pPr marL="0" indent="0">
              <a:buNone/>
            </a:pPr>
            <a:r>
              <a:rPr lang="en-US" sz="1000" dirty="0">
                <a:solidFill>
                  <a:schemeClr val="accent4"/>
                </a:solidFill>
              </a:rPr>
              <a:t>measured by code</a:t>
            </a:r>
            <a:endParaRPr lang="en-US" sz="1000" dirty="0"/>
          </a:p>
        </p:txBody>
      </p:sp>
      <p:sp>
        <p:nvSpPr>
          <p:cNvPr id="24" name="Shape 21"/>
          <p:cNvSpPr/>
          <p:nvPr/>
        </p:nvSpPr>
        <p:spPr>
          <a:xfrm>
            <a:off x="9509760" y="1463040"/>
            <a:ext cx="2103120" cy="960120"/>
          </a:xfrm>
          <a:prstGeom prst="roundRect">
            <a:avLst>
              <a:gd name="adj" fmla="val 11429"/>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25" name="Shape 22"/>
          <p:cNvSpPr/>
          <p:nvPr/>
        </p:nvSpPr>
        <p:spPr>
          <a:xfrm>
            <a:off x="9646920" y="1737360"/>
            <a:ext cx="384048" cy="384048"/>
          </a:xfrm>
          <a:prstGeom prst="ellipse">
            <a:avLst/>
          </a:prstGeom>
          <a:solidFill>
            <a:srgbClr val="2C6E49"/>
          </a:solidFill>
          <a:ln w="12700">
            <a:solidFill>
              <a:srgbClr val="2C6E49"/>
            </a:solidFill>
            <a:prstDash val="solid"/>
          </a:ln>
        </p:spPr>
      </p:sp>
      <p:sp>
        <p:nvSpPr>
          <p:cNvPr id="26" name="Text 23"/>
          <p:cNvSpPr txBox="1"/>
          <p:nvPr/>
        </p:nvSpPr>
        <p:spPr>
          <a:xfrm>
            <a:off x="9646920" y="1737360"/>
            <a:ext cx="384048" cy="384048"/>
          </a:xfrm>
          <a:prstGeom prst="rect">
            <a:avLst/>
          </a:prstGeom>
          <a:noFill/>
          <a:ln/>
        </p:spPr>
        <p:txBody>
          <a:bodyPr wrap="square" lIns="0" tIns="0" rIns="0" bIns="0" rtlCol="0" anchor="ctr"/>
          <a:lstStyle/>
          <a:p>
            <a:pPr marL="0" indent="0" algn="ctr">
              <a:buNone/>
            </a:pPr>
            <a:r>
              <a:rPr lang="en-US" sz="1000" b="1" dirty="0">
                <a:solidFill>
                  <a:schemeClr val="bg1"/>
                </a:solidFill>
              </a:rPr>
              <a:t>S5</a:t>
            </a:r>
            <a:endParaRPr lang="en-US" sz="1000" dirty="0"/>
          </a:p>
        </p:txBody>
      </p:sp>
      <p:sp>
        <p:nvSpPr>
          <p:cNvPr id="27" name="Text 24"/>
          <p:cNvSpPr txBox="1"/>
          <p:nvPr/>
        </p:nvSpPr>
        <p:spPr>
          <a:xfrm>
            <a:off x="10131552" y="1572768"/>
            <a:ext cx="1417320" cy="411480"/>
          </a:xfrm>
          <a:prstGeom prst="rect">
            <a:avLst/>
          </a:prstGeom>
          <a:noFill/>
          <a:ln/>
        </p:spPr>
        <p:txBody>
          <a:bodyPr wrap="square" lIns="0" tIns="0" rIns="0" bIns="0" rtlCol="0" anchor="ctr"/>
          <a:lstStyle/>
          <a:p>
            <a:pPr marL="0" indent="0">
              <a:buNone/>
            </a:pPr>
            <a:r>
              <a:rPr lang="en-US" sz="1200" b="1" dirty="0">
                <a:solidFill>
                  <a:schemeClr val="tx2"/>
                </a:solidFill>
              </a:rPr>
              <a:t>Noise invariance</a:t>
            </a:r>
            <a:endParaRPr lang="en-US" sz="1200" dirty="0"/>
          </a:p>
        </p:txBody>
      </p:sp>
      <p:sp>
        <p:nvSpPr>
          <p:cNvPr id="28" name="Text 25"/>
          <p:cNvSpPr txBox="1"/>
          <p:nvPr/>
        </p:nvSpPr>
        <p:spPr>
          <a:xfrm>
            <a:off x="10131552" y="1965960"/>
            <a:ext cx="1417320" cy="411480"/>
          </a:xfrm>
          <a:prstGeom prst="rect">
            <a:avLst/>
          </a:prstGeom>
          <a:noFill/>
          <a:ln/>
        </p:spPr>
        <p:txBody>
          <a:bodyPr wrap="square" lIns="0" tIns="0" rIns="0" bIns="0" rtlCol="0" anchor="t"/>
          <a:lstStyle/>
          <a:p>
            <a:pPr marL="0" indent="0">
              <a:buNone/>
            </a:pPr>
            <a:r>
              <a:rPr lang="en-US" sz="1000" dirty="0">
                <a:solidFill>
                  <a:schemeClr val="accent4"/>
                </a:solidFill>
              </a:rPr>
              <a:t>measured by code</a:t>
            </a:r>
            <a:endParaRPr lang="en-US" sz="1000" dirty="0"/>
          </a:p>
        </p:txBody>
      </p:sp>
      <p:sp>
        <p:nvSpPr>
          <p:cNvPr id="29" name="Shape 26"/>
          <p:cNvSpPr/>
          <p:nvPr/>
        </p:nvSpPr>
        <p:spPr>
          <a:xfrm>
            <a:off x="548640" y="2606040"/>
            <a:ext cx="2103120" cy="960120"/>
          </a:xfrm>
          <a:prstGeom prst="roundRect">
            <a:avLst>
              <a:gd name="adj" fmla="val 11429"/>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30" name="Shape 27"/>
          <p:cNvSpPr/>
          <p:nvPr/>
        </p:nvSpPr>
        <p:spPr>
          <a:xfrm>
            <a:off x="685800" y="2880360"/>
            <a:ext cx="384048" cy="384048"/>
          </a:xfrm>
          <a:prstGeom prst="ellipse">
            <a:avLst/>
          </a:prstGeom>
          <a:solidFill>
            <a:srgbClr val="E9B44C"/>
          </a:solidFill>
          <a:ln w="12700">
            <a:solidFill>
              <a:srgbClr val="E9B44C"/>
            </a:solidFill>
            <a:prstDash val="solid"/>
          </a:ln>
        </p:spPr>
      </p:sp>
      <p:sp>
        <p:nvSpPr>
          <p:cNvPr id="31" name="Text 28"/>
          <p:cNvSpPr txBox="1"/>
          <p:nvPr/>
        </p:nvSpPr>
        <p:spPr>
          <a:xfrm>
            <a:off x="685800" y="2880360"/>
            <a:ext cx="384048" cy="384048"/>
          </a:xfrm>
          <a:prstGeom prst="rect">
            <a:avLst/>
          </a:prstGeom>
          <a:noFill/>
          <a:ln/>
        </p:spPr>
        <p:txBody>
          <a:bodyPr wrap="square" lIns="0" tIns="0" rIns="0" bIns="0" rtlCol="0" anchor="ctr"/>
          <a:lstStyle/>
          <a:p>
            <a:pPr marL="0" indent="0" algn="ctr">
              <a:buNone/>
            </a:pPr>
            <a:r>
              <a:rPr lang="en-US" sz="1000" b="1" dirty="0">
                <a:solidFill>
                  <a:schemeClr val="bg1"/>
                </a:solidFill>
              </a:rPr>
              <a:t>S6</a:t>
            </a:r>
            <a:endParaRPr lang="en-US" sz="1000" dirty="0"/>
          </a:p>
        </p:txBody>
      </p:sp>
      <p:sp>
        <p:nvSpPr>
          <p:cNvPr id="32" name="Text 29"/>
          <p:cNvSpPr txBox="1"/>
          <p:nvPr/>
        </p:nvSpPr>
        <p:spPr>
          <a:xfrm>
            <a:off x="1170432" y="2715768"/>
            <a:ext cx="1417320" cy="411480"/>
          </a:xfrm>
          <a:prstGeom prst="rect">
            <a:avLst/>
          </a:prstGeom>
          <a:noFill/>
          <a:ln/>
        </p:spPr>
        <p:txBody>
          <a:bodyPr wrap="square" lIns="0" tIns="0" rIns="0" bIns="0" rtlCol="0" anchor="ctr"/>
          <a:lstStyle/>
          <a:p>
            <a:pPr marL="0" indent="0">
              <a:buNone/>
            </a:pPr>
            <a:r>
              <a:rPr lang="en-US" sz="1200" b="1" dirty="0">
                <a:solidFill>
                  <a:schemeClr val="tx2"/>
                </a:solidFill>
              </a:rPr>
              <a:t>Paraphrase stability</a:t>
            </a:r>
            <a:endParaRPr lang="en-US" sz="1200" dirty="0"/>
          </a:p>
        </p:txBody>
      </p:sp>
      <p:sp>
        <p:nvSpPr>
          <p:cNvPr id="33" name="Text 30"/>
          <p:cNvSpPr txBox="1"/>
          <p:nvPr/>
        </p:nvSpPr>
        <p:spPr>
          <a:xfrm>
            <a:off x="1170432" y="3108960"/>
            <a:ext cx="1417320" cy="411480"/>
          </a:xfrm>
          <a:prstGeom prst="rect">
            <a:avLst/>
          </a:prstGeom>
          <a:noFill/>
          <a:ln/>
        </p:spPr>
        <p:txBody>
          <a:bodyPr wrap="square" lIns="0" tIns="0" rIns="0" bIns="0" rtlCol="0" anchor="t"/>
          <a:lstStyle/>
          <a:p>
            <a:pPr marL="0" indent="0">
              <a:buNone/>
            </a:pPr>
            <a:r>
              <a:rPr lang="en-US" sz="1000" dirty="0">
                <a:solidFill>
                  <a:schemeClr val="accent4"/>
                </a:solidFill>
              </a:rPr>
              <a:t>typed inputs only</a:t>
            </a:r>
            <a:endParaRPr lang="en-US" sz="1000" dirty="0"/>
          </a:p>
        </p:txBody>
      </p:sp>
      <p:sp>
        <p:nvSpPr>
          <p:cNvPr id="34" name="Shape 31"/>
          <p:cNvSpPr/>
          <p:nvPr/>
        </p:nvSpPr>
        <p:spPr>
          <a:xfrm>
            <a:off x="2788920" y="2606040"/>
            <a:ext cx="2103120" cy="960120"/>
          </a:xfrm>
          <a:prstGeom prst="roundRect">
            <a:avLst>
              <a:gd name="adj" fmla="val 11429"/>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35" name="Shape 32"/>
          <p:cNvSpPr/>
          <p:nvPr/>
        </p:nvSpPr>
        <p:spPr>
          <a:xfrm>
            <a:off x="2926080" y="2880360"/>
            <a:ext cx="384048" cy="384048"/>
          </a:xfrm>
          <a:prstGeom prst="ellipse">
            <a:avLst/>
          </a:prstGeom>
          <a:solidFill>
            <a:srgbClr val="2C6E49"/>
          </a:solidFill>
          <a:ln w="12700">
            <a:solidFill>
              <a:srgbClr val="2C6E49"/>
            </a:solidFill>
            <a:prstDash val="solid"/>
          </a:ln>
        </p:spPr>
      </p:sp>
      <p:sp>
        <p:nvSpPr>
          <p:cNvPr id="36" name="Text 33"/>
          <p:cNvSpPr txBox="1"/>
          <p:nvPr/>
        </p:nvSpPr>
        <p:spPr>
          <a:xfrm>
            <a:off x="2926080" y="2880360"/>
            <a:ext cx="384048" cy="384048"/>
          </a:xfrm>
          <a:prstGeom prst="rect">
            <a:avLst/>
          </a:prstGeom>
          <a:noFill/>
          <a:ln/>
        </p:spPr>
        <p:txBody>
          <a:bodyPr wrap="square" lIns="0" tIns="0" rIns="0" bIns="0" rtlCol="0" anchor="ctr"/>
          <a:lstStyle/>
          <a:p>
            <a:pPr marL="0" indent="0" algn="ctr">
              <a:buNone/>
            </a:pPr>
            <a:r>
              <a:rPr lang="en-US" sz="1000" b="1" dirty="0">
                <a:solidFill>
                  <a:schemeClr val="bg1"/>
                </a:solidFill>
              </a:rPr>
              <a:t>S7</a:t>
            </a:r>
            <a:endParaRPr lang="en-US" sz="1000" dirty="0"/>
          </a:p>
        </p:txBody>
      </p:sp>
      <p:sp>
        <p:nvSpPr>
          <p:cNvPr id="37" name="Text 34"/>
          <p:cNvSpPr txBox="1"/>
          <p:nvPr/>
        </p:nvSpPr>
        <p:spPr>
          <a:xfrm>
            <a:off x="3410712" y="2715768"/>
            <a:ext cx="1417320" cy="411480"/>
          </a:xfrm>
          <a:prstGeom prst="rect">
            <a:avLst/>
          </a:prstGeom>
          <a:noFill/>
          <a:ln/>
        </p:spPr>
        <p:txBody>
          <a:bodyPr wrap="square" lIns="0" tIns="0" rIns="0" bIns="0" rtlCol="0" anchor="ctr"/>
          <a:lstStyle/>
          <a:p>
            <a:pPr marL="0" indent="0">
              <a:buNone/>
            </a:pPr>
            <a:r>
              <a:rPr lang="en-US" sz="1200" b="1" dirty="0">
                <a:solidFill>
                  <a:schemeClr val="tx2"/>
                </a:solidFill>
              </a:rPr>
              <a:t>Coherence</a:t>
            </a:r>
            <a:endParaRPr lang="en-US" sz="1200" dirty="0"/>
          </a:p>
        </p:txBody>
      </p:sp>
      <p:sp>
        <p:nvSpPr>
          <p:cNvPr id="38" name="Text 35"/>
          <p:cNvSpPr txBox="1"/>
          <p:nvPr/>
        </p:nvSpPr>
        <p:spPr>
          <a:xfrm>
            <a:off x="3410712" y="3108960"/>
            <a:ext cx="1417320" cy="411480"/>
          </a:xfrm>
          <a:prstGeom prst="rect">
            <a:avLst/>
          </a:prstGeom>
          <a:noFill/>
          <a:ln/>
        </p:spPr>
        <p:txBody>
          <a:bodyPr wrap="square" lIns="0" tIns="0" rIns="0" bIns="0" rtlCol="0" anchor="t"/>
          <a:lstStyle/>
          <a:p>
            <a:pPr marL="0" indent="0">
              <a:buNone/>
            </a:pPr>
            <a:r>
              <a:rPr lang="en-US" sz="1000" dirty="0">
                <a:solidFill>
                  <a:schemeClr val="accent4"/>
                </a:solidFill>
              </a:rPr>
              <a:t>measured by code</a:t>
            </a:r>
            <a:endParaRPr lang="en-US" sz="1000" dirty="0"/>
          </a:p>
        </p:txBody>
      </p:sp>
      <p:sp>
        <p:nvSpPr>
          <p:cNvPr id="39" name="Shape 36"/>
          <p:cNvSpPr/>
          <p:nvPr/>
        </p:nvSpPr>
        <p:spPr>
          <a:xfrm>
            <a:off x="5029200" y="2606040"/>
            <a:ext cx="2103120" cy="960120"/>
          </a:xfrm>
          <a:prstGeom prst="roundRect">
            <a:avLst>
              <a:gd name="adj" fmla="val 11429"/>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40" name="Shape 37"/>
          <p:cNvSpPr/>
          <p:nvPr/>
        </p:nvSpPr>
        <p:spPr>
          <a:xfrm>
            <a:off x="5166360" y="2880360"/>
            <a:ext cx="384048" cy="384048"/>
          </a:xfrm>
          <a:prstGeom prst="ellipse">
            <a:avLst/>
          </a:prstGeom>
          <a:solidFill>
            <a:srgbClr val="6B7280"/>
          </a:solidFill>
          <a:ln w="12700">
            <a:solidFill>
              <a:srgbClr val="6B7280"/>
            </a:solidFill>
            <a:prstDash val="solid"/>
          </a:ln>
        </p:spPr>
      </p:sp>
      <p:sp>
        <p:nvSpPr>
          <p:cNvPr id="41" name="Text 38"/>
          <p:cNvSpPr txBox="1"/>
          <p:nvPr/>
        </p:nvSpPr>
        <p:spPr>
          <a:xfrm>
            <a:off x="5166360" y="2880360"/>
            <a:ext cx="384048" cy="384048"/>
          </a:xfrm>
          <a:prstGeom prst="rect">
            <a:avLst/>
          </a:prstGeom>
          <a:noFill/>
          <a:ln/>
        </p:spPr>
        <p:txBody>
          <a:bodyPr wrap="square" lIns="0" tIns="0" rIns="0" bIns="0" rtlCol="0" anchor="ctr"/>
          <a:lstStyle/>
          <a:p>
            <a:pPr marL="0" indent="0" algn="ctr">
              <a:buNone/>
            </a:pPr>
            <a:r>
              <a:rPr lang="en-US" sz="1000" b="1" dirty="0">
                <a:solidFill>
                  <a:schemeClr val="bg1"/>
                </a:solidFill>
              </a:rPr>
              <a:t>S8</a:t>
            </a:r>
            <a:endParaRPr lang="en-US" sz="1000" dirty="0"/>
          </a:p>
        </p:txBody>
      </p:sp>
      <p:sp>
        <p:nvSpPr>
          <p:cNvPr id="42" name="Text 39"/>
          <p:cNvSpPr txBox="1"/>
          <p:nvPr/>
        </p:nvSpPr>
        <p:spPr>
          <a:xfrm>
            <a:off x="5650992" y="2715768"/>
            <a:ext cx="1417320" cy="411480"/>
          </a:xfrm>
          <a:prstGeom prst="rect">
            <a:avLst/>
          </a:prstGeom>
          <a:noFill/>
          <a:ln/>
        </p:spPr>
        <p:txBody>
          <a:bodyPr wrap="square" lIns="0" tIns="0" rIns="0" bIns="0" rtlCol="0" anchor="ctr"/>
          <a:lstStyle/>
          <a:p>
            <a:pPr marL="0" indent="0">
              <a:buNone/>
            </a:pPr>
            <a:r>
              <a:rPr lang="en-US" sz="1200" b="1" dirty="0">
                <a:solidFill>
                  <a:schemeClr val="tx2"/>
                </a:solidFill>
              </a:rPr>
              <a:t>Reasoning quality</a:t>
            </a:r>
            <a:endParaRPr lang="en-US" sz="1200" dirty="0"/>
          </a:p>
        </p:txBody>
      </p:sp>
      <p:sp>
        <p:nvSpPr>
          <p:cNvPr id="43" name="Text 40"/>
          <p:cNvSpPr txBox="1"/>
          <p:nvPr/>
        </p:nvSpPr>
        <p:spPr>
          <a:xfrm>
            <a:off x="5650992" y="3108960"/>
            <a:ext cx="1417320" cy="411480"/>
          </a:xfrm>
          <a:prstGeom prst="rect">
            <a:avLst/>
          </a:prstGeom>
          <a:noFill/>
          <a:ln/>
        </p:spPr>
        <p:txBody>
          <a:bodyPr wrap="square" lIns="0" tIns="0" rIns="0" bIns="0" rtlCol="0" anchor="t"/>
          <a:lstStyle/>
          <a:p>
            <a:pPr marL="0" indent="0">
              <a:buNone/>
            </a:pPr>
            <a:r>
              <a:rPr lang="en-US" sz="1000" dirty="0">
                <a:solidFill>
                  <a:schemeClr val="accent4"/>
                </a:solidFill>
              </a:rPr>
              <a:t>not built: rubric grader</a:t>
            </a:r>
            <a:endParaRPr lang="en-US" sz="1000" dirty="0"/>
          </a:p>
        </p:txBody>
      </p:sp>
      <p:sp>
        <p:nvSpPr>
          <p:cNvPr id="44" name="Shape 41"/>
          <p:cNvSpPr/>
          <p:nvPr/>
        </p:nvSpPr>
        <p:spPr>
          <a:xfrm>
            <a:off x="7269480" y="2606040"/>
            <a:ext cx="2103120" cy="960120"/>
          </a:xfrm>
          <a:prstGeom prst="roundRect">
            <a:avLst>
              <a:gd name="adj" fmla="val 11429"/>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45" name="Shape 42"/>
          <p:cNvSpPr/>
          <p:nvPr/>
        </p:nvSpPr>
        <p:spPr>
          <a:xfrm>
            <a:off x="7406640" y="2880360"/>
            <a:ext cx="384048" cy="384048"/>
          </a:xfrm>
          <a:prstGeom prst="ellipse">
            <a:avLst/>
          </a:prstGeom>
          <a:solidFill>
            <a:srgbClr val="2C6E49"/>
          </a:solidFill>
          <a:ln w="12700">
            <a:solidFill>
              <a:srgbClr val="2C6E49"/>
            </a:solidFill>
            <a:prstDash val="solid"/>
          </a:ln>
        </p:spPr>
      </p:sp>
      <p:sp>
        <p:nvSpPr>
          <p:cNvPr id="46" name="Text 43"/>
          <p:cNvSpPr txBox="1"/>
          <p:nvPr/>
        </p:nvSpPr>
        <p:spPr>
          <a:xfrm>
            <a:off x="7406640" y="2880360"/>
            <a:ext cx="384048" cy="384048"/>
          </a:xfrm>
          <a:prstGeom prst="rect">
            <a:avLst/>
          </a:prstGeom>
          <a:noFill/>
          <a:ln/>
        </p:spPr>
        <p:txBody>
          <a:bodyPr wrap="square" lIns="0" tIns="0" rIns="0" bIns="0" rtlCol="0" anchor="ctr"/>
          <a:lstStyle/>
          <a:p>
            <a:pPr marL="0" indent="0" algn="ctr">
              <a:buNone/>
            </a:pPr>
            <a:r>
              <a:rPr lang="en-US" sz="1000" b="1" dirty="0">
                <a:solidFill>
                  <a:schemeClr val="bg1"/>
                </a:solidFill>
              </a:rPr>
              <a:t>S9</a:t>
            </a:r>
            <a:endParaRPr lang="en-US" sz="1000" dirty="0"/>
          </a:p>
        </p:txBody>
      </p:sp>
      <p:sp>
        <p:nvSpPr>
          <p:cNvPr id="47" name="Text 44"/>
          <p:cNvSpPr txBox="1"/>
          <p:nvPr/>
        </p:nvSpPr>
        <p:spPr>
          <a:xfrm>
            <a:off x="7891272" y="2715768"/>
            <a:ext cx="1417320" cy="411480"/>
          </a:xfrm>
          <a:prstGeom prst="rect">
            <a:avLst/>
          </a:prstGeom>
          <a:noFill/>
          <a:ln/>
        </p:spPr>
        <p:txBody>
          <a:bodyPr wrap="square" lIns="0" tIns="0" rIns="0" bIns="0" rtlCol="0" anchor="ctr"/>
          <a:lstStyle/>
          <a:p>
            <a:pPr marL="0" indent="0">
              <a:buNone/>
            </a:pPr>
            <a:r>
              <a:rPr lang="en-US" sz="1200" b="1" dirty="0">
                <a:solidFill>
                  <a:schemeClr val="tx2"/>
                </a:solidFill>
              </a:rPr>
              <a:t>Auditability</a:t>
            </a:r>
            <a:endParaRPr lang="en-US" sz="1200" dirty="0"/>
          </a:p>
        </p:txBody>
      </p:sp>
      <p:sp>
        <p:nvSpPr>
          <p:cNvPr id="48" name="Text 45"/>
          <p:cNvSpPr txBox="1"/>
          <p:nvPr/>
        </p:nvSpPr>
        <p:spPr>
          <a:xfrm>
            <a:off x="7891272" y="3108960"/>
            <a:ext cx="1417320" cy="411480"/>
          </a:xfrm>
          <a:prstGeom prst="rect">
            <a:avLst/>
          </a:prstGeom>
          <a:noFill/>
          <a:ln/>
        </p:spPr>
        <p:txBody>
          <a:bodyPr wrap="square" lIns="0" tIns="0" rIns="0" bIns="0" rtlCol="0" anchor="t"/>
          <a:lstStyle/>
          <a:p>
            <a:pPr marL="0" indent="0">
              <a:buNone/>
            </a:pPr>
            <a:r>
              <a:rPr lang="en-US" sz="1000" dirty="0">
                <a:solidFill>
                  <a:schemeClr val="accent4"/>
                </a:solidFill>
              </a:rPr>
              <a:t>measured by code</a:t>
            </a:r>
            <a:endParaRPr lang="en-US" sz="1000" dirty="0"/>
          </a:p>
        </p:txBody>
      </p:sp>
      <p:sp>
        <p:nvSpPr>
          <p:cNvPr id="49" name="Shape 46"/>
          <p:cNvSpPr/>
          <p:nvPr/>
        </p:nvSpPr>
        <p:spPr>
          <a:xfrm>
            <a:off x="9509760" y="2606040"/>
            <a:ext cx="2103120" cy="960120"/>
          </a:xfrm>
          <a:prstGeom prst="roundRect">
            <a:avLst>
              <a:gd name="adj" fmla="val 11429"/>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50" name="Shape 47"/>
          <p:cNvSpPr/>
          <p:nvPr/>
        </p:nvSpPr>
        <p:spPr>
          <a:xfrm>
            <a:off x="9646920" y="2880360"/>
            <a:ext cx="384048" cy="384048"/>
          </a:xfrm>
          <a:prstGeom prst="ellipse">
            <a:avLst/>
          </a:prstGeom>
          <a:solidFill>
            <a:srgbClr val="2C6E49"/>
          </a:solidFill>
          <a:ln w="12700">
            <a:solidFill>
              <a:srgbClr val="2C6E49"/>
            </a:solidFill>
            <a:prstDash val="solid"/>
          </a:ln>
        </p:spPr>
      </p:sp>
      <p:sp>
        <p:nvSpPr>
          <p:cNvPr id="51" name="Text 48"/>
          <p:cNvSpPr txBox="1"/>
          <p:nvPr/>
        </p:nvSpPr>
        <p:spPr>
          <a:xfrm>
            <a:off x="9646920" y="2880360"/>
            <a:ext cx="384048" cy="384048"/>
          </a:xfrm>
          <a:prstGeom prst="rect">
            <a:avLst/>
          </a:prstGeom>
          <a:noFill/>
          <a:ln/>
        </p:spPr>
        <p:txBody>
          <a:bodyPr wrap="square" lIns="0" tIns="0" rIns="0" bIns="0" rtlCol="0" anchor="ctr"/>
          <a:lstStyle/>
          <a:p>
            <a:pPr marL="0" indent="0" algn="ctr">
              <a:buNone/>
            </a:pPr>
            <a:r>
              <a:rPr lang="en-US" sz="1000" b="1" dirty="0">
                <a:solidFill>
                  <a:schemeClr val="bg1"/>
                </a:solidFill>
              </a:rPr>
              <a:t>S10</a:t>
            </a:r>
            <a:endParaRPr lang="en-US" sz="1000" dirty="0"/>
          </a:p>
        </p:txBody>
      </p:sp>
      <p:sp>
        <p:nvSpPr>
          <p:cNvPr id="52" name="Text 49"/>
          <p:cNvSpPr txBox="1"/>
          <p:nvPr/>
        </p:nvSpPr>
        <p:spPr>
          <a:xfrm>
            <a:off x="10131552" y="2715768"/>
            <a:ext cx="1417320" cy="411480"/>
          </a:xfrm>
          <a:prstGeom prst="rect">
            <a:avLst/>
          </a:prstGeom>
          <a:noFill/>
          <a:ln/>
        </p:spPr>
        <p:txBody>
          <a:bodyPr wrap="square" lIns="0" tIns="0" rIns="0" bIns="0" rtlCol="0" anchor="ctr"/>
          <a:lstStyle/>
          <a:p>
            <a:pPr marL="0" indent="0">
              <a:buNone/>
            </a:pPr>
            <a:r>
              <a:rPr lang="en-US" sz="1200" b="1" dirty="0">
                <a:solidFill>
                  <a:schemeClr val="tx2"/>
                </a:solidFill>
              </a:rPr>
              <a:t>Human-input discipline</a:t>
            </a:r>
            <a:endParaRPr lang="en-US" sz="1200" dirty="0"/>
          </a:p>
        </p:txBody>
      </p:sp>
      <p:sp>
        <p:nvSpPr>
          <p:cNvPr id="53" name="Text 50"/>
          <p:cNvSpPr txBox="1"/>
          <p:nvPr/>
        </p:nvSpPr>
        <p:spPr>
          <a:xfrm>
            <a:off x="10131552" y="3108960"/>
            <a:ext cx="1417320" cy="411480"/>
          </a:xfrm>
          <a:prstGeom prst="rect">
            <a:avLst/>
          </a:prstGeom>
          <a:noFill/>
          <a:ln/>
        </p:spPr>
        <p:txBody>
          <a:bodyPr wrap="square" lIns="0" tIns="0" rIns="0" bIns="0" rtlCol="0" anchor="t"/>
          <a:lstStyle/>
          <a:p>
            <a:pPr marL="0" indent="0">
              <a:buNone/>
            </a:pPr>
            <a:r>
              <a:rPr lang="en-US" sz="1000" dirty="0">
                <a:solidFill>
                  <a:schemeClr val="accent4"/>
                </a:solidFill>
              </a:rPr>
              <a:t>measured by code</a:t>
            </a:r>
            <a:endParaRPr lang="en-US" sz="1000" dirty="0"/>
          </a:p>
        </p:txBody>
      </p:sp>
      <p:sp>
        <p:nvSpPr>
          <p:cNvPr id="54" name="Shape 51"/>
          <p:cNvSpPr/>
          <p:nvPr/>
        </p:nvSpPr>
        <p:spPr>
          <a:xfrm>
            <a:off x="548640" y="3931920"/>
            <a:ext cx="5486400" cy="2194560"/>
          </a:xfrm>
          <a:prstGeom prst="roundRect">
            <a:avLst>
              <a:gd name="adj" fmla="val 5000"/>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55" name="Text 52"/>
          <p:cNvSpPr txBox="1"/>
          <p:nvPr/>
        </p:nvSpPr>
        <p:spPr>
          <a:xfrm>
            <a:off x="822960" y="4069080"/>
            <a:ext cx="4937760" cy="365760"/>
          </a:xfrm>
          <a:prstGeom prst="rect">
            <a:avLst/>
          </a:prstGeom>
          <a:noFill/>
          <a:ln/>
        </p:spPr>
        <p:txBody>
          <a:bodyPr wrap="square" lIns="0" tIns="0" rIns="0" bIns="0" rtlCol="0" anchor="t"/>
          <a:lstStyle/>
          <a:p>
            <a:pPr marL="0" indent="0">
              <a:buNone/>
            </a:pPr>
            <a:r>
              <a:rPr lang="en-US" sz="1400" b="1" dirty="0">
                <a:solidFill>
                  <a:schemeClr val="tx2"/>
                </a:solidFill>
              </a:rPr>
              <a:t>Measured by code on the 26 October snapshot</a:t>
            </a:r>
            <a:endParaRPr lang="en-US" sz="1400" dirty="0"/>
          </a:p>
        </p:txBody>
      </p:sp>
      <p:sp>
        <p:nvSpPr>
          <p:cNvPr id="56" name="Text 53"/>
          <p:cNvSpPr txBox="1"/>
          <p:nvPr/>
        </p:nvSpPr>
        <p:spPr>
          <a:xfrm>
            <a:off x="822960" y="4480560"/>
            <a:ext cx="493776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S4: 7 shocks, one input each, the pool must move the right way: 7 of 7</a:t>
            </a:r>
            <a:endParaRPr lang="en-US" sz="1200" dirty="0"/>
          </a:p>
          <a:p>
            <a:pPr marL="342900" indent="-342900">
              <a:spcAft>
                <a:spcPts val="600"/>
              </a:spcAft>
              <a:buSzPct val="100000"/>
              <a:buChar char="•"/>
            </a:pPr>
            <a:r>
              <a:rPr lang="en-US" sz="1200" dirty="0">
                <a:solidFill>
                  <a:schemeClr val="tx1"/>
                </a:solidFill>
              </a:rPr>
              <a:t>S5: 5 irrelevant changes to the snapshot: 0.0 points moved</a:t>
            </a:r>
            <a:endParaRPr lang="en-US" sz="1200" dirty="0"/>
          </a:p>
          <a:p>
            <a:pPr marL="342900" indent="-342900">
              <a:spcAft>
                <a:spcPts val="600"/>
              </a:spcAft>
              <a:buSzPct val="100000"/>
              <a:buChar char="•"/>
            </a:pPr>
            <a:r>
              <a:rPr lang="en-US" sz="1200" dirty="0">
                <a:solidFill>
                  <a:schemeClr val="tx1"/>
                </a:solidFill>
              </a:rPr>
              <a:t>S7: all 17 ledger entries coherent and attributable</a:t>
            </a:r>
            <a:endParaRPr lang="en-US" sz="1200" dirty="0"/>
          </a:p>
          <a:p>
            <a:pPr marL="342900" indent="-342900">
              <a:spcAft>
                <a:spcPts val="600"/>
              </a:spcAft>
              <a:buSzPct val="100000"/>
              <a:buChar char="•"/>
            </a:pPr>
            <a:r>
              <a:rPr lang="en-US" sz="1200" dirty="0">
                <a:solidFill>
                  <a:schemeClr val="tx1"/>
                </a:solidFill>
              </a:rPr>
              <a:t>S9: entries under the current spec recompute exactly: 3 of 3</a:t>
            </a:r>
            <a:endParaRPr lang="en-US" sz="1200" dirty="0"/>
          </a:p>
        </p:txBody>
      </p:sp>
      <p:sp>
        <p:nvSpPr>
          <p:cNvPr id="57" name="Shape 54"/>
          <p:cNvSpPr/>
          <p:nvPr/>
        </p:nvSpPr>
        <p:spPr>
          <a:xfrm>
            <a:off x="6309360" y="3931920"/>
            <a:ext cx="5330952" cy="2194560"/>
          </a:xfrm>
          <a:prstGeom prst="roundRect">
            <a:avLst>
              <a:gd name="adj" fmla="val 5000"/>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58" name="Text 55"/>
          <p:cNvSpPr txBox="1"/>
          <p:nvPr/>
        </p:nvSpPr>
        <p:spPr>
          <a:xfrm>
            <a:off x="6583680" y="4069080"/>
            <a:ext cx="4846320" cy="365760"/>
          </a:xfrm>
          <a:prstGeom prst="rect">
            <a:avLst/>
          </a:prstGeom>
          <a:noFill/>
          <a:ln/>
        </p:spPr>
        <p:txBody>
          <a:bodyPr wrap="square" lIns="0" tIns="0" rIns="0" bIns="0" rtlCol="0" anchor="t"/>
          <a:lstStyle/>
          <a:p>
            <a:pPr marL="0" indent="0">
              <a:buNone/>
            </a:pPr>
            <a:r>
              <a:rPr lang="en-US" sz="1400" b="1" dirty="0">
                <a:solidFill>
                  <a:schemeClr val="tx2"/>
                </a:solidFill>
              </a:rPr>
              <a:t>What it has already caught</a:t>
            </a:r>
            <a:endParaRPr lang="en-US" sz="1400" dirty="0"/>
          </a:p>
        </p:txBody>
      </p:sp>
      <p:sp>
        <p:nvSpPr>
          <p:cNvPr id="59" name="Text 56"/>
          <p:cNvSpPr txBox="1"/>
          <p:nvPr/>
        </p:nvSpPr>
        <p:spPr>
          <a:xfrm>
            <a:off x="6583680" y="4480560"/>
            <a:ext cx="484632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Four ledger entries stopped replaying after a model rule changed outside the hashed spec. Amendment #5 put every rule inside the hash; earlier entries are now labelled, not failed.</a:t>
            </a:r>
            <a:endParaRPr lang="en-US" sz="1200" dirty="0"/>
          </a:p>
          <a:p>
            <a:pPr marL="342900" indent="-342900">
              <a:spcAft>
                <a:spcPts val="600"/>
              </a:spcAft>
              <a:buSzPct val="100000"/>
              <a:buChar char="•"/>
            </a:pPr>
            <a:r>
              <a:rPr lang="en-US" sz="1200" dirty="0">
                <a:solidFill>
                  <a:schemeClr val="tx1"/>
                </a:solidFill>
              </a:rPr>
              <a:t>A shock test was perturbing the wrong odds entry once two were on file. A red cell on the drift table pointed straight at it; fixed with a unit test the same hour.</a:t>
            </a:r>
            <a:endParaRPr lang="en-US" sz="1200" dirty="0"/>
          </a:p>
        </p:txBody>
      </p:sp>
      <p:sp>
        <p:nvSpPr>
          <p:cNvPr id="3"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48640"/>
            <a:ext cx="11091672" cy="822960"/>
          </a:xfrm>
          <a:prstGeom prst="rect">
            <a:avLst/>
          </a:prstGeom>
          <a:noFill/>
          <a:ln/>
        </p:spPr>
        <p:txBody>
          <a:bodyPr wrap="square" lIns="0" tIns="0" rIns="0" bIns="0" rtlCol="0" anchor="ctr"/>
          <a:lstStyle/>
          <a:p>
            <a:pPr marL="0" indent="0" algn="l">
              <a:buNone/>
            </a:pPr>
            <a:r>
              <a:rPr lang="en-US" sz="3000" b="1" dirty="0">
                <a:solidFill>
                  <a:schemeClr val="bg1"/>
                </a:solidFill>
              </a:rPr>
              <a:t>Live demo 5: the scorecard and the drift table</a:t>
            </a:r>
            <a:endParaRPr lang="en-US" sz="3000" dirty="0"/>
          </a:p>
        </p:txBody>
      </p:sp>
      <p:sp>
        <p:nvSpPr>
          <p:cNvPr id="3" name="Shape 1"/>
          <p:cNvSpPr/>
          <p:nvPr/>
        </p:nvSpPr>
        <p:spPr>
          <a:xfrm>
            <a:off x="10177272" y="685800"/>
            <a:ext cx="1463040" cy="548640"/>
          </a:xfrm>
          <a:prstGeom prst="roundRect">
            <a:avLst>
              <a:gd name="adj" fmla="val 16667"/>
            </a:avLst>
          </a:prstGeom>
          <a:solidFill>
            <a:srgbClr val="E9B44C"/>
          </a:solidFill>
          <a:ln w="12700">
            <a:solidFill>
              <a:srgbClr val="E9B44C"/>
            </a:solidFill>
            <a:prstDash val="solid"/>
          </a:ln>
        </p:spPr>
      </p:sp>
      <p:sp>
        <p:nvSpPr>
          <p:cNvPr id="4" name="Text 2"/>
          <p:cNvSpPr txBox="1"/>
          <p:nvPr/>
        </p:nvSpPr>
        <p:spPr>
          <a:xfrm>
            <a:off x="10177272" y="685800"/>
            <a:ext cx="1463040" cy="548640"/>
          </a:xfrm>
          <a:prstGeom prst="rect">
            <a:avLst/>
          </a:prstGeom>
          <a:noFill/>
          <a:ln/>
        </p:spPr>
        <p:txBody>
          <a:bodyPr wrap="square" lIns="0" tIns="0" rIns="0" bIns="0" rtlCol="0" anchor="ctr"/>
          <a:lstStyle/>
          <a:p>
            <a:pPr marL="0" indent="0" algn="ctr">
              <a:buNone/>
            </a:pPr>
            <a:r>
              <a:rPr lang="en-US" sz="1600" b="1" dirty="0">
                <a:solidFill>
                  <a:srgbClr val="1B1F2A"/>
                </a:solidFill>
              </a:rPr>
              <a:t>2 min</a:t>
            </a:r>
            <a:endParaRPr lang="en-US" sz="1600" dirty="0"/>
          </a:p>
        </p:txBody>
      </p:sp>
      <p:sp>
        <p:nvSpPr>
          <p:cNvPr id="5" name="Shape 3"/>
          <p:cNvSpPr/>
          <p:nvPr/>
        </p:nvSpPr>
        <p:spPr>
          <a:xfrm>
            <a:off x="548640" y="1737360"/>
            <a:ext cx="3520440" cy="3200400"/>
          </a:xfrm>
          <a:prstGeom prst="roundRect">
            <a:avLst>
              <a:gd name="adj" fmla="val 3429"/>
            </a:avLst>
          </a:prstGeom>
          <a:solidFill>
            <a:srgbClr val="1E2761"/>
          </a:solidFill>
          <a:ln w="12700">
            <a:solidFill>
              <a:srgbClr val="1E2761"/>
            </a:solidFill>
            <a:prstDash val="solid"/>
          </a:ln>
        </p:spPr>
      </p:sp>
      <p:sp>
        <p:nvSpPr>
          <p:cNvPr id="6" name="Text 4"/>
          <p:cNvSpPr txBox="1"/>
          <p:nvPr/>
        </p:nvSpPr>
        <p:spPr>
          <a:xfrm>
            <a:off x="82296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Open</a:t>
            </a:r>
            <a:endParaRPr lang="en-US" sz="1800" dirty="0"/>
          </a:p>
        </p:txBody>
      </p:sp>
      <p:sp>
        <p:nvSpPr>
          <p:cNvPr id="7" name="Text 5"/>
          <p:cNvSpPr txBox="1"/>
          <p:nvPr/>
        </p:nvSpPr>
        <p:spPr>
          <a:xfrm>
            <a:off x="82296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Scorecard view</a:t>
            </a:r>
            <a:endParaRPr lang="en-US" sz="1300" dirty="0"/>
          </a:p>
          <a:p>
            <a:pPr marL="342900" indent="-342900">
              <a:spcAft>
                <a:spcPts val="800"/>
              </a:spcAft>
              <a:buSzPct val="100000"/>
              <a:buChar char="•"/>
            </a:pPr>
            <a:r>
              <a:rPr lang="en-US" sz="1300" dirty="0">
                <a:solidFill>
                  <a:srgbClr val="FFFFFF"/>
                </a:solidFill>
              </a:rPr>
              <a:t>The snapshot dropdown: pick 24 October, then 26 October</a:t>
            </a:r>
            <a:endParaRPr lang="en-US" sz="1300" dirty="0"/>
          </a:p>
          <a:p>
            <a:pPr marL="342900" indent="-342900">
              <a:spcAft>
                <a:spcPts val="800"/>
              </a:spcAft>
              <a:buSzPct val="100000"/>
              <a:buChar char="•"/>
            </a:pPr>
            <a:r>
              <a:rPr lang="en-US" sz="1300" dirty="0">
                <a:solidFill>
                  <a:srgbClr val="FFFFFF"/>
                </a:solidFill>
              </a:rPr>
              <a:t>Expand 'what was checked' under S4</a:t>
            </a:r>
            <a:endParaRPr lang="en-US" sz="1300" dirty="0"/>
          </a:p>
          <a:p>
            <a:pPr marL="342900" indent="-342900">
              <a:spcAft>
                <a:spcPts val="800"/>
              </a:spcAft>
              <a:buSzPct val="100000"/>
              <a:buChar char="•"/>
            </a:pPr>
            <a:r>
              <a:rPr lang="en-US" sz="1300" dirty="0">
                <a:solidFill>
                  <a:srgbClr val="FFFFFF"/>
                </a:solidFill>
              </a:rPr>
              <a:t>Scroll to the over-time table</a:t>
            </a:r>
            <a:endParaRPr lang="en-US" sz="1300" dirty="0"/>
          </a:p>
        </p:txBody>
      </p:sp>
      <p:sp>
        <p:nvSpPr>
          <p:cNvPr id="8" name="Shape 6"/>
          <p:cNvSpPr/>
          <p:nvPr/>
        </p:nvSpPr>
        <p:spPr>
          <a:xfrm>
            <a:off x="4297680" y="1737360"/>
            <a:ext cx="3520440" cy="3200400"/>
          </a:xfrm>
          <a:prstGeom prst="roundRect">
            <a:avLst>
              <a:gd name="adj" fmla="val 3429"/>
            </a:avLst>
          </a:prstGeom>
          <a:solidFill>
            <a:srgbClr val="1E2761"/>
          </a:solidFill>
          <a:ln w="12700">
            <a:solidFill>
              <a:srgbClr val="1E2761"/>
            </a:solidFill>
            <a:prstDash val="solid"/>
          </a:ln>
        </p:spPr>
      </p:sp>
      <p:sp>
        <p:nvSpPr>
          <p:cNvPr id="9" name="Text 7"/>
          <p:cNvSpPr txBox="1"/>
          <p:nvPr/>
        </p:nvSpPr>
        <p:spPr>
          <a:xfrm>
            <a:off x="457200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Point at</a:t>
            </a:r>
            <a:endParaRPr lang="en-US" sz="1800" dirty="0"/>
          </a:p>
        </p:txBody>
      </p:sp>
      <p:sp>
        <p:nvSpPr>
          <p:cNvPr id="10" name="Text 8"/>
          <p:cNvSpPr txBox="1"/>
          <p:nvPr/>
        </p:nvSpPr>
        <p:spPr>
          <a:xfrm>
            <a:off x="457200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The grid: red in the control columns, green in the judged columns</a:t>
            </a:r>
            <a:endParaRPr lang="en-US" sz="1300" dirty="0"/>
          </a:p>
          <a:p>
            <a:pPr marL="342900" indent="-342900">
              <a:spcAft>
                <a:spcPts val="800"/>
              </a:spcAft>
              <a:buSzPct val="100000"/>
              <a:buChar char="•"/>
            </a:pPr>
            <a:r>
              <a:rPr lang="en-US" sz="1300" dirty="0">
                <a:solidFill>
                  <a:srgbClr val="FFFFFF"/>
                </a:solidFill>
              </a:rPr>
              <a:t>S4's seven shocks with their deltas</a:t>
            </a:r>
            <a:endParaRPr lang="en-US" sz="1300" dirty="0"/>
          </a:p>
          <a:p>
            <a:pPr marL="342900" indent="-342900">
              <a:spcAft>
                <a:spcPts val="800"/>
              </a:spcAft>
              <a:buSzPct val="100000"/>
              <a:buChar char="•"/>
            </a:pPr>
            <a:r>
              <a:rPr lang="en-US" sz="1300" dirty="0">
                <a:solidFill>
                  <a:srgbClr val="FFFFFF"/>
                </a:solidFill>
              </a:rPr>
              <a:t>The over-time table: one row per snapshot, the marks never move</a:t>
            </a:r>
            <a:endParaRPr lang="en-US" sz="1300" dirty="0"/>
          </a:p>
        </p:txBody>
      </p:sp>
      <p:sp>
        <p:nvSpPr>
          <p:cNvPr id="11" name="Shape 9"/>
          <p:cNvSpPr/>
          <p:nvPr/>
        </p:nvSpPr>
        <p:spPr>
          <a:xfrm>
            <a:off x="8046720" y="1737360"/>
            <a:ext cx="3520440" cy="3200400"/>
          </a:xfrm>
          <a:prstGeom prst="roundRect">
            <a:avLst>
              <a:gd name="adj" fmla="val 3429"/>
            </a:avLst>
          </a:prstGeom>
          <a:solidFill>
            <a:srgbClr val="1E2761"/>
          </a:solidFill>
          <a:ln w="12700">
            <a:solidFill>
              <a:srgbClr val="1E2761"/>
            </a:solidFill>
            <a:prstDash val="solid"/>
          </a:ln>
        </p:spPr>
      </p:sp>
      <p:sp>
        <p:nvSpPr>
          <p:cNvPr id="12" name="Text 10"/>
          <p:cNvSpPr txBox="1"/>
          <p:nvPr/>
        </p:nvSpPr>
        <p:spPr>
          <a:xfrm>
            <a:off x="832104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Say</a:t>
            </a:r>
            <a:endParaRPr lang="en-US" sz="1800" dirty="0"/>
          </a:p>
        </p:txBody>
      </p:sp>
      <p:sp>
        <p:nvSpPr>
          <p:cNvPr id="13" name="Text 11"/>
          <p:cNvSpPr txBox="1"/>
          <p:nvPr/>
        </p:nvSpPr>
        <p:spPr>
          <a:xfrm>
            <a:off x="832104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Analysts 1 and 2 are meant to fail. A red cell on the right would be a defect.</a:t>
            </a:r>
            <a:endParaRPr lang="en-US" sz="1300" dirty="0"/>
          </a:p>
          <a:p>
            <a:pPr marL="342900" indent="-342900">
              <a:spcAft>
                <a:spcPts val="800"/>
              </a:spcAft>
              <a:buSzPct val="100000"/>
              <a:buChar char="•"/>
            </a:pPr>
            <a:r>
              <a:rPr lang="en-US" sz="1300" dirty="0">
                <a:solidFill>
                  <a:srgbClr val="FFFFFF"/>
                </a:solidFill>
              </a:rPr>
              <a:t>This is the drift check. Two red cells have already pointed at defects and both are fixed.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Governance: pre-register, amend in the open, replay</a:t>
            </a:r>
            <a:endParaRPr lang="en-US" sz="3200" dirty="0"/>
          </a:p>
        </p:txBody>
      </p:sp>
      <p:sp>
        <p:nvSpPr>
          <p:cNvPr id="4" name="Shape 1"/>
          <p:cNvSpPr/>
          <p:nvPr/>
        </p:nvSpPr>
        <p:spPr>
          <a:xfrm>
            <a:off x="1005840" y="2514600"/>
            <a:ext cx="10177272" cy="0"/>
          </a:xfrm>
          <a:prstGeom prst="line">
            <a:avLst/>
          </a:prstGeom>
          <a:noFill/>
          <a:ln w="38100">
            <a:solidFill>
              <a:srgbClr val="CADCFC"/>
            </a:solidFill>
            <a:prstDash val="solid"/>
          </a:ln>
        </p:spPr>
      </p:sp>
      <p:sp>
        <p:nvSpPr>
          <p:cNvPr id="5" name="Shape 2"/>
          <p:cNvSpPr/>
          <p:nvPr/>
        </p:nvSpPr>
        <p:spPr>
          <a:xfrm>
            <a:off x="804672" y="2313432"/>
            <a:ext cx="402336" cy="402336"/>
          </a:xfrm>
          <a:prstGeom prst="ellipse">
            <a:avLst/>
          </a:prstGeom>
          <a:solidFill>
            <a:srgbClr val="1E2761"/>
          </a:solidFill>
          <a:ln w="25400">
            <a:solidFill>
              <a:srgbClr val="FFFFFF"/>
            </a:solidFill>
            <a:prstDash val="solid"/>
          </a:ln>
        </p:spPr>
      </p:sp>
      <p:sp>
        <p:nvSpPr>
          <p:cNvPr id="6" name="Text 3"/>
          <p:cNvSpPr txBox="1"/>
          <p:nvPr/>
        </p:nvSpPr>
        <p:spPr>
          <a:xfrm>
            <a:off x="91440" y="1691640"/>
            <a:ext cx="1828800" cy="365760"/>
          </a:xfrm>
          <a:prstGeom prst="rect">
            <a:avLst/>
          </a:prstGeom>
          <a:noFill/>
          <a:ln/>
        </p:spPr>
        <p:txBody>
          <a:bodyPr wrap="square" lIns="0" tIns="0" rIns="0" bIns="0" rtlCol="0" anchor="t"/>
          <a:lstStyle/>
          <a:p>
            <a:pPr marL="0" indent="0" algn="ctr">
              <a:buNone/>
            </a:pPr>
            <a:r>
              <a:rPr lang="en-US" sz="1400" b="1" dirty="0">
                <a:solidFill>
                  <a:schemeClr val="tx2"/>
                </a:solidFill>
              </a:rPr>
              <a:t>#0</a:t>
            </a:r>
            <a:endParaRPr lang="en-US" sz="1400" dirty="0"/>
          </a:p>
        </p:txBody>
      </p:sp>
      <p:sp>
        <p:nvSpPr>
          <p:cNvPr id="7" name="Text 4"/>
          <p:cNvSpPr txBox="1"/>
          <p:nvPr/>
        </p:nvSpPr>
        <p:spPr>
          <a:xfrm>
            <a:off x="91440" y="2834640"/>
            <a:ext cx="1828800" cy="320040"/>
          </a:xfrm>
          <a:prstGeom prst="rect">
            <a:avLst/>
          </a:prstGeom>
          <a:noFill/>
          <a:ln/>
        </p:spPr>
        <p:txBody>
          <a:bodyPr wrap="square" lIns="0" tIns="0" rIns="0" bIns="0" rtlCol="0" anchor="t"/>
          <a:lstStyle/>
          <a:p>
            <a:pPr marL="0" indent="0" algn="ctr">
              <a:buNone/>
            </a:pPr>
            <a:r>
              <a:rPr lang="en-US" sz="1100" dirty="0">
                <a:solidFill>
                  <a:schemeClr val="accent4"/>
                </a:solidFill>
              </a:rPr>
              <a:t>21 Sep</a:t>
            </a:r>
            <a:endParaRPr lang="en-US" sz="1100" dirty="0"/>
          </a:p>
        </p:txBody>
      </p:sp>
      <p:sp>
        <p:nvSpPr>
          <p:cNvPr id="8" name="Text 5"/>
          <p:cNvSpPr txBox="1"/>
          <p:nvPr/>
        </p:nvSpPr>
        <p:spPr>
          <a:xfrm>
            <a:off x="91440" y="3154680"/>
            <a:ext cx="1828800" cy="1005840"/>
          </a:xfrm>
          <a:prstGeom prst="rect">
            <a:avLst/>
          </a:prstGeom>
          <a:noFill/>
          <a:ln/>
        </p:spPr>
        <p:txBody>
          <a:bodyPr wrap="square" lIns="0" tIns="0" rIns="0" bIns="0" rtlCol="0" anchor="t"/>
          <a:lstStyle/>
          <a:p>
            <a:pPr marL="0" indent="0" algn="ctr">
              <a:buNone/>
            </a:pPr>
            <a:r>
              <a:rPr lang="en-US" sz="1100" dirty="0">
                <a:solidFill>
                  <a:schemeClr val="tx1"/>
                </a:solidFill>
              </a:rPr>
              <a:t>Scorecard S1 to S10, tilt cap 10 pp</a:t>
            </a:r>
            <a:endParaRPr lang="en-US" sz="1100" dirty="0"/>
          </a:p>
        </p:txBody>
      </p:sp>
      <p:sp>
        <p:nvSpPr>
          <p:cNvPr id="9" name="Shape 6"/>
          <p:cNvSpPr/>
          <p:nvPr/>
        </p:nvSpPr>
        <p:spPr>
          <a:xfrm>
            <a:off x="2840126" y="2313432"/>
            <a:ext cx="402336" cy="402336"/>
          </a:xfrm>
          <a:prstGeom prst="ellipse">
            <a:avLst/>
          </a:prstGeom>
          <a:solidFill>
            <a:srgbClr val="1E2761"/>
          </a:solidFill>
          <a:ln w="25400">
            <a:solidFill>
              <a:srgbClr val="FFFFFF"/>
            </a:solidFill>
            <a:prstDash val="solid"/>
          </a:ln>
        </p:spPr>
      </p:sp>
      <p:sp>
        <p:nvSpPr>
          <p:cNvPr id="10" name="Text 7"/>
          <p:cNvSpPr txBox="1"/>
          <p:nvPr/>
        </p:nvSpPr>
        <p:spPr>
          <a:xfrm>
            <a:off x="2126894" y="1691640"/>
            <a:ext cx="1828800" cy="365760"/>
          </a:xfrm>
          <a:prstGeom prst="rect">
            <a:avLst/>
          </a:prstGeom>
          <a:noFill/>
          <a:ln/>
        </p:spPr>
        <p:txBody>
          <a:bodyPr wrap="square" lIns="0" tIns="0" rIns="0" bIns="0" rtlCol="0" anchor="t"/>
          <a:lstStyle/>
          <a:p>
            <a:pPr marL="0" indent="0" algn="ctr">
              <a:buNone/>
            </a:pPr>
            <a:r>
              <a:rPr lang="en-US" sz="1400" b="1" dirty="0">
                <a:solidFill>
                  <a:schemeClr val="tx2"/>
                </a:solidFill>
              </a:rPr>
              <a:t>#1</a:t>
            </a:r>
            <a:endParaRPr lang="en-US" sz="1400" dirty="0"/>
          </a:p>
        </p:txBody>
      </p:sp>
      <p:sp>
        <p:nvSpPr>
          <p:cNvPr id="11" name="Text 8"/>
          <p:cNvSpPr txBox="1"/>
          <p:nvPr/>
        </p:nvSpPr>
        <p:spPr>
          <a:xfrm>
            <a:off x="2126894" y="2834640"/>
            <a:ext cx="1828800" cy="320040"/>
          </a:xfrm>
          <a:prstGeom prst="rect">
            <a:avLst/>
          </a:prstGeom>
          <a:noFill/>
          <a:ln/>
        </p:spPr>
        <p:txBody>
          <a:bodyPr wrap="square" lIns="0" tIns="0" rIns="0" bIns="0" rtlCol="0" anchor="t"/>
          <a:lstStyle/>
          <a:p>
            <a:pPr marL="0" indent="0" algn="ctr">
              <a:buNone/>
            </a:pPr>
            <a:r>
              <a:rPr lang="en-US" sz="1100" dirty="0">
                <a:solidFill>
                  <a:schemeClr val="accent4"/>
                </a:solidFill>
              </a:rPr>
              <a:t>2 Oct</a:t>
            </a:r>
            <a:endParaRPr lang="en-US" sz="1100" dirty="0"/>
          </a:p>
        </p:txBody>
      </p:sp>
      <p:sp>
        <p:nvSpPr>
          <p:cNvPr id="12" name="Text 9"/>
          <p:cNvSpPr txBox="1"/>
          <p:nvPr/>
        </p:nvSpPr>
        <p:spPr>
          <a:xfrm>
            <a:off x="2126894" y="3154680"/>
            <a:ext cx="1828800" cy="1005840"/>
          </a:xfrm>
          <a:prstGeom prst="rect">
            <a:avLst/>
          </a:prstGeom>
          <a:noFill/>
          <a:ln/>
        </p:spPr>
        <p:txBody>
          <a:bodyPr wrap="square" lIns="0" tIns="0" rIns="0" bIns="0" rtlCol="0" anchor="t"/>
          <a:lstStyle/>
          <a:p>
            <a:pPr marL="0" indent="0" algn="ctr">
              <a:buNone/>
            </a:pPr>
            <a:r>
              <a:rPr lang="en-US" sz="1100" dirty="0">
                <a:solidFill>
                  <a:schemeClr val="tx1"/>
                </a:solidFill>
              </a:rPr>
              <a:t>Taylor rules join; 1.5% floor</a:t>
            </a:r>
            <a:endParaRPr lang="en-US" sz="1100" dirty="0"/>
          </a:p>
        </p:txBody>
      </p:sp>
      <p:sp>
        <p:nvSpPr>
          <p:cNvPr id="13" name="Shape 10"/>
          <p:cNvSpPr/>
          <p:nvPr/>
        </p:nvSpPr>
        <p:spPr>
          <a:xfrm>
            <a:off x="4875581" y="2313432"/>
            <a:ext cx="402336" cy="402336"/>
          </a:xfrm>
          <a:prstGeom prst="ellipse">
            <a:avLst/>
          </a:prstGeom>
          <a:solidFill>
            <a:srgbClr val="1E2761"/>
          </a:solidFill>
          <a:ln w="25400">
            <a:solidFill>
              <a:srgbClr val="FFFFFF"/>
            </a:solidFill>
            <a:prstDash val="solid"/>
          </a:ln>
        </p:spPr>
      </p:sp>
      <p:sp>
        <p:nvSpPr>
          <p:cNvPr id="14" name="Text 11"/>
          <p:cNvSpPr txBox="1"/>
          <p:nvPr/>
        </p:nvSpPr>
        <p:spPr>
          <a:xfrm>
            <a:off x="4162349" y="1691640"/>
            <a:ext cx="1828800" cy="365760"/>
          </a:xfrm>
          <a:prstGeom prst="rect">
            <a:avLst/>
          </a:prstGeom>
          <a:noFill/>
          <a:ln/>
        </p:spPr>
        <p:txBody>
          <a:bodyPr wrap="square" lIns="0" tIns="0" rIns="0" bIns="0" rtlCol="0" anchor="t"/>
          <a:lstStyle/>
          <a:p>
            <a:pPr marL="0" indent="0" algn="ctr">
              <a:buNone/>
            </a:pPr>
            <a:r>
              <a:rPr lang="en-US" sz="1400" b="1" dirty="0">
                <a:solidFill>
                  <a:schemeClr val="tx2"/>
                </a:solidFill>
              </a:rPr>
              <a:t>#2</a:t>
            </a:r>
            <a:endParaRPr lang="en-US" sz="1400" dirty="0"/>
          </a:p>
        </p:txBody>
      </p:sp>
      <p:sp>
        <p:nvSpPr>
          <p:cNvPr id="15" name="Text 12"/>
          <p:cNvSpPr txBox="1"/>
          <p:nvPr/>
        </p:nvSpPr>
        <p:spPr>
          <a:xfrm>
            <a:off x="4162349" y="2834640"/>
            <a:ext cx="1828800" cy="320040"/>
          </a:xfrm>
          <a:prstGeom prst="rect">
            <a:avLst/>
          </a:prstGeom>
          <a:noFill/>
          <a:ln/>
        </p:spPr>
        <p:txBody>
          <a:bodyPr wrap="square" lIns="0" tIns="0" rIns="0" bIns="0" rtlCol="0" anchor="t"/>
          <a:lstStyle/>
          <a:p>
            <a:pPr marL="0" indent="0" algn="ctr">
              <a:buNone/>
            </a:pPr>
            <a:r>
              <a:rPr lang="en-US" sz="1100" dirty="0">
                <a:solidFill>
                  <a:schemeClr val="accent4"/>
                </a:solidFill>
              </a:rPr>
              <a:t>2 Oct</a:t>
            </a:r>
            <a:endParaRPr lang="en-US" sz="1100" dirty="0"/>
          </a:p>
        </p:txBody>
      </p:sp>
      <p:sp>
        <p:nvSpPr>
          <p:cNvPr id="16" name="Text 13"/>
          <p:cNvSpPr txBox="1"/>
          <p:nvPr/>
        </p:nvSpPr>
        <p:spPr>
          <a:xfrm>
            <a:off x="4162349" y="3154680"/>
            <a:ext cx="1828800" cy="1005840"/>
          </a:xfrm>
          <a:prstGeom prst="rect">
            <a:avLst/>
          </a:prstGeom>
          <a:noFill/>
          <a:ln/>
        </p:spPr>
        <p:txBody>
          <a:bodyPr wrap="square" lIns="0" tIns="0" rIns="0" bIns="0" rtlCol="0" anchor="t"/>
          <a:lstStyle/>
          <a:p>
            <a:pPr marL="0" indent="0" algn="ctr">
              <a:buNone/>
            </a:pPr>
            <a:r>
              <a:rPr lang="en-US" sz="1100" dirty="0">
                <a:solidFill>
                  <a:schemeClr val="tx1"/>
                </a:solidFill>
              </a:rPr>
              <a:t>Prediction-market odds join at 0.1</a:t>
            </a:r>
            <a:endParaRPr lang="en-US" sz="1100" dirty="0"/>
          </a:p>
        </p:txBody>
      </p:sp>
      <p:sp>
        <p:nvSpPr>
          <p:cNvPr id="17" name="Shape 14"/>
          <p:cNvSpPr/>
          <p:nvPr/>
        </p:nvSpPr>
        <p:spPr>
          <a:xfrm>
            <a:off x="6911035" y="2313432"/>
            <a:ext cx="402336" cy="402336"/>
          </a:xfrm>
          <a:prstGeom prst="ellipse">
            <a:avLst/>
          </a:prstGeom>
          <a:solidFill>
            <a:srgbClr val="1E2761"/>
          </a:solidFill>
          <a:ln w="25400">
            <a:solidFill>
              <a:srgbClr val="FFFFFF"/>
            </a:solidFill>
            <a:prstDash val="solid"/>
          </a:ln>
        </p:spPr>
      </p:sp>
      <p:sp>
        <p:nvSpPr>
          <p:cNvPr id="18" name="Text 15"/>
          <p:cNvSpPr txBox="1"/>
          <p:nvPr/>
        </p:nvSpPr>
        <p:spPr>
          <a:xfrm>
            <a:off x="6197803" y="1691640"/>
            <a:ext cx="1828800" cy="365760"/>
          </a:xfrm>
          <a:prstGeom prst="rect">
            <a:avLst/>
          </a:prstGeom>
          <a:noFill/>
          <a:ln/>
        </p:spPr>
        <p:txBody>
          <a:bodyPr wrap="square" lIns="0" tIns="0" rIns="0" bIns="0" rtlCol="0" anchor="t"/>
          <a:lstStyle/>
          <a:p>
            <a:pPr marL="0" indent="0" algn="ctr">
              <a:buNone/>
            </a:pPr>
            <a:r>
              <a:rPr lang="en-US" sz="1400" b="1" dirty="0">
                <a:solidFill>
                  <a:schemeClr val="tx2"/>
                </a:solidFill>
              </a:rPr>
              <a:t>#3, #4</a:t>
            </a:r>
            <a:endParaRPr lang="en-US" sz="1400" dirty="0"/>
          </a:p>
        </p:txBody>
      </p:sp>
      <p:sp>
        <p:nvSpPr>
          <p:cNvPr id="19" name="Text 16"/>
          <p:cNvSpPr txBox="1"/>
          <p:nvPr/>
        </p:nvSpPr>
        <p:spPr>
          <a:xfrm>
            <a:off x="6197803" y="2834640"/>
            <a:ext cx="1828800" cy="320040"/>
          </a:xfrm>
          <a:prstGeom prst="rect">
            <a:avLst/>
          </a:prstGeom>
          <a:noFill/>
          <a:ln/>
        </p:spPr>
        <p:txBody>
          <a:bodyPr wrap="square" lIns="0" tIns="0" rIns="0" bIns="0" rtlCol="0" anchor="t"/>
          <a:lstStyle/>
          <a:p>
            <a:pPr marL="0" indent="0" algn="ctr">
              <a:buNone/>
            </a:pPr>
            <a:r>
              <a:rPr lang="en-US" sz="1100" dirty="0">
                <a:solidFill>
                  <a:schemeClr val="accent4"/>
                </a:solidFill>
              </a:rPr>
              <a:t>16 Oct</a:t>
            </a:r>
            <a:endParaRPr lang="en-US" sz="1100" dirty="0"/>
          </a:p>
        </p:txBody>
      </p:sp>
      <p:sp>
        <p:nvSpPr>
          <p:cNvPr id="20" name="Text 17"/>
          <p:cNvSpPr txBox="1"/>
          <p:nvPr/>
        </p:nvSpPr>
        <p:spPr>
          <a:xfrm>
            <a:off x="6197803" y="3154680"/>
            <a:ext cx="1828800" cy="1005840"/>
          </a:xfrm>
          <a:prstGeom prst="rect">
            <a:avLst/>
          </a:prstGeom>
          <a:noFill/>
          <a:ln/>
        </p:spPr>
        <p:txBody>
          <a:bodyPr wrap="square" lIns="0" tIns="0" rIns="0" bIns="0" rtlCol="0" anchor="t"/>
          <a:lstStyle/>
          <a:p>
            <a:pPr marL="0" indent="0" algn="ctr">
              <a:buNone/>
            </a:pPr>
            <a:r>
              <a:rPr lang="en-US" sz="1100" dirty="0">
                <a:solidFill>
                  <a:schemeClr val="tx1"/>
                </a:solidFill>
              </a:rPr>
              <a:t>Stale odds flagged, used, never skipped</a:t>
            </a:r>
            <a:endParaRPr lang="en-US" sz="1100" dirty="0"/>
          </a:p>
        </p:txBody>
      </p:sp>
      <p:sp>
        <p:nvSpPr>
          <p:cNvPr id="21" name="Shape 18"/>
          <p:cNvSpPr/>
          <p:nvPr/>
        </p:nvSpPr>
        <p:spPr>
          <a:xfrm>
            <a:off x="8946490" y="2313432"/>
            <a:ext cx="402336" cy="402336"/>
          </a:xfrm>
          <a:prstGeom prst="ellipse">
            <a:avLst/>
          </a:prstGeom>
          <a:solidFill>
            <a:srgbClr val="1E2761"/>
          </a:solidFill>
          <a:ln w="25400">
            <a:solidFill>
              <a:srgbClr val="FFFFFF"/>
            </a:solidFill>
            <a:prstDash val="solid"/>
          </a:ln>
        </p:spPr>
      </p:sp>
      <p:sp>
        <p:nvSpPr>
          <p:cNvPr id="22" name="Text 19"/>
          <p:cNvSpPr txBox="1"/>
          <p:nvPr/>
        </p:nvSpPr>
        <p:spPr>
          <a:xfrm>
            <a:off x="8233258" y="1691640"/>
            <a:ext cx="1828800" cy="365760"/>
          </a:xfrm>
          <a:prstGeom prst="rect">
            <a:avLst/>
          </a:prstGeom>
          <a:noFill/>
          <a:ln/>
        </p:spPr>
        <p:txBody>
          <a:bodyPr wrap="square" lIns="0" tIns="0" rIns="0" bIns="0" rtlCol="0" anchor="t"/>
          <a:lstStyle/>
          <a:p>
            <a:pPr marL="0" indent="0" algn="ctr">
              <a:buNone/>
            </a:pPr>
            <a:r>
              <a:rPr lang="en-US" sz="1400" b="1" dirty="0">
                <a:solidFill>
                  <a:schemeClr val="tx2"/>
                </a:solidFill>
              </a:rPr>
              <a:t>#5</a:t>
            </a:r>
            <a:endParaRPr lang="en-US" sz="1400" dirty="0"/>
          </a:p>
        </p:txBody>
      </p:sp>
      <p:sp>
        <p:nvSpPr>
          <p:cNvPr id="23" name="Text 20"/>
          <p:cNvSpPr txBox="1"/>
          <p:nvPr/>
        </p:nvSpPr>
        <p:spPr>
          <a:xfrm>
            <a:off x="8233258" y="2834640"/>
            <a:ext cx="1828800" cy="320040"/>
          </a:xfrm>
          <a:prstGeom prst="rect">
            <a:avLst/>
          </a:prstGeom>
          <a:noFill/>
          <a:ln/>
        </p:spPr>
        <p:txBody>
          <a:bodyPr wrap="square" lIns="0" tIns="0" rIns="0" bIns="0" rtlCol="0" anchor="t"/>
          <a:lstStyle/>
          <a:p>
            <a:pPr marL="0" indent="0" algn="ctr">
              <a:buNone/>
            </a:pPr>
            <a:r>
              <a:rPr lang="en-US" sz="1100" dirty="0">
                <a:solidFill>
                  <a:schemeClr val="accent4"/>
                </a:solidFill>
              </a:rPr>
              <a:t>25 Oct</a:t>
            </a:r>
            <a:endParaRPr lang="en-US" sz="1100" dirty="0"/>
          </a:p>
        </p:txBody>
      </p:sp>
      <p:sp>
        <p:nvSpPr>
          <p:cNvPr id="24" name="Text 21"/>
          <p:cNvSpPr txBox="1"/>
          <p:nvPr/>
        </p:nvSpPr>
        <p:spPr>
          <a:xfrm>
            <a:off x="8233258" y="3154680"/>
            <a:ext cx="1828800" cy="1005840"/>
          </a:xfrm>
          <a:prstGeom prst="rect">
            <a:avLst/>
          </a:prstGeom>
          <a:noFill/>
          <a:ln/>
        </p:spPr>
        <p:txBody>
          <a:bodyPr wrap="square" lIns="0" tIns="0" rIns="0" bIns="0" rtlCol="0" anchor="t"/>
          <a:lstStyle/>
          <a:p>
            <a:pPr marL="0" indent="0" algn="ctr">
              <a:buNone/>
            </a:pPr>
            <a:r>
              <a:rPr lang="en-US" sz="1100" dirty="0">
                <a:solidFill>
                  <a:schemeClr val="tx1"/>
                </a:solidFill>
              </a:rPr>
              <a:t>Every model rule inside the spec hash</a:t>
            </a:r>
            <a:endParaRPr lang="en-US" sz="1100" dirty="0"/>
          </a:p>
        </p:txBody>
      </p:sp>
      <p:sp>
        <p:nvSpPr>
          <p:cNvPr id="25" name="Shape 22"/>
          <p:cNvSpPr/>
          <p:nvPr/>
        </p:nvSpPr>
        <p:spPr>
          <a:xfrm>
            <a:off x="10981944" y="2313432"/>
            <a:ext cx="402336" cy="402336"/>
          </a:xfrm>
          <a:prstGeom prst="ellipse">
            <a:avLst/>
          </a:prstGeom>
          <a:solidFill>
            <a:srgbClr val="1E2761"/>
          </a:solidFill>
          <a:ln w="25400">
            <a:solidFill>
              <a:srgbClr val="FFFFFF"/>
            </a:solidFill>
            <a:prstDash val="solid"/>
          </a:ln>
        </p:spPr>
      </p:sp>
      <p:sp>
        <p:nvSpPr>
          <p:cNvPr id="26" name="Text 23"/>
          <p:cNvSpPr txBox="1"/>
          <p:nvPr/>
        </p:nvSpPr>
        <p:spPr>
          <a:xfrm>
            <a:off x="10268712" y="1691640"/>
            <a:ext cx="1828800" cy="365760"/>
          </a:xfrm>
          <a:prstGeom prst="rect">
            <a:avLst/>
          </a:prstGeom>
          <a:noFill/>
          <a:ln/>
        </p:spPr>
        <p:txBody>
          <a:bodyPr wrap="square" lIns="0" tIns="0" rIns="0" bIns="0" rtlCol="0" anchor="t"/>
          <a:lstStyle/>
          <a:p>
            <a:pPr marL="0" indent="0" algn="ctr">
              <a:buNone/>
            </a:pPr>
            <a:r>
              <a:rPr lang="en-US" sz="1400" b="1" dirty="0">
                <a:solidFill>
                  <a:schemeClr val="tx2"/>
                </a:solidFill>
              </a:rPr>
              <a:t>#6</a:t>
            </a:r>
            <a:endParaRPr lang="en-US" sz="1400" dirty="0"/>
          </a:p>
        </p:txBody>
      </p:sp>
      <p:sp>
        <p:nvSpPr>
          <p:cNvPr id="27" name="Text 24"/>
          <p:cNvSpPr txBox="1"/>
          <p:nvPr/>
        </p:nvSpPr>
        <p:spPr>
          <a:xfrm>
            <a:off x="10268712" y="2834640"/>
            <a:ext cx="1828800" cy="320040"/>
          </a:xfrm>
          <a:prstGeom prst="rect">
            <a:avLst/>
          </a:prstGeom>
          <a:noFill/>
          <a:ln/>
        </p:spPr>
        <p:txBody>
          <a:bodyPr wrap="square" lIns="0" tIns="0" rIns="0" bIns="0" rtlCol="0" anchor="t"/>
          <a:lstStyle/>
          <a:p>
            <a:pPr marL="0" indent="0" algn="ctr">
              <a:buNone/>
            </a:pPr>
            <a:r>
              <a:rPr lang="en-US" sz="1100" dirty="0">
                <a:solidFill>
                  <a:schemeClr val="accent4"/>
                </a:solidFill>
              </a:rPr>
              <a:t>25 Oct</a:t>
            </a:r>
            <a:endParaRPr lang="en-US" sz="1100" dirty="0"/>
          </a:p>
        </p:txBody>
      </p:sp>
      <p:sp>
        <p:nvSpPr>
          <p:cNvPr id="28" name="Text 25"/>
          <p:cNvSpPr txBox="1"/>
          <p:nvPr/>
        </p:nvSpPr>
        <p:spPr>
          <a:xfrm>
            <a:off x="10268712" y="3154680"/>
            <a:ext cx="1828800" cy="1005840"/>
          </a:xfrm>
          <a:prstGeom prst="rect">
            <a:avLst/>
          </a:prstGeom>
          <a:noFill/>
          <a:ln/>
        </p:spPr>
        <p:txBody>
          <a:bodyPr wrap="square" lIns="0" tIns="0" rIns="0" bIns="0" rtlCol="0" anchor="t"/>
          <a:lstStyle/>
          <a:p>
            <a:pPr marL="0" indent="0" algn="ctr">
              <a:buNone/>
            </a:pPr>
            <a:r>
              <a:rPr lang="en-US" sz="1100" dirty="0">
                <a:solidFill>
                  <a:schemeClr val="tx1"/>
                </a:solidFill>
              </a:rPr>
              <a:t>Base rates at 0.1; specialists' tilt applied, capped</a:t>
            </a:r>
            <a:endParaRPr lang="en-US" sz="1100" dirty="0"/>
          </a:p>
        </p:txBody>
      </p:sp>
      <p:sp>
        <p:nvSpPr>
          <p:cNvPr id="29" name="Text 26"/>
          <p:cNvSpPr txBox="1"/>
          <p:nvPr/>
        </p:nvSpPr>
        <p:spPr>
          <a:xfrm>
            <a:off x="548640" y="4572000"/>
            <a:ext cx="2651760" cy="82296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17</a:t>
            </a:r>
            <a:endParaRPr lang="en-US" sz="4000" dirty="0"/>
          </a:p>
        </p:txBody>
      </p:sp>
      <p:sp>
        <p:nvSpPr>
          <p:cNvPr id="30" name="Text 27"/>
          <p:cNvSpPr txBox="1"/>
          <p:nvPr/>
        </p:nvSpPr>
        <p:spPr>
          <a:xfrm>
            <a:off x="548640" y="5413248"/>
            <a:ext cx="2651760" cy="548640"/>
          </a:xfrm>
          <a:prstGeom prst="rect">
            <a:avLst/>
          </a:prstGeom>
          <a:noFill/>
          <a:ln/>
        </p:spPr>
        <p:txBody>
          <a:bodyPr wrap="square" lIns="0" tIns="0" rIns="0" bIns="0" rtlCol="0" anchor="t"/>
          <a:lstStyle/>
          <a:p>
            <a:pPr marL="0" indent="0">
              <a:buNone/>
            </a:pPr>
            <a:r>
              <a:rPr lang="en-US" sz="1200" dirty="0">
                <a:solidFill>
                  <a:schemeClr val="accent4"/>
                </a:solidFill>
              </a:rPr>
              <a:t>ledger entries, hash-chained</a:t>
            </a:r>
            <a:endParaRPr lang="en-US" sz="1200" dirty="0"/>
          </a:p>
        </p:txBody>
      </p:sp>
      <p:sp>
        <p:nvSpPr>
          <p:cNvPr id="31" name="Text 28"/>
          <p:cNvSpPr txBox="1"/>
          <p:nvPr/>
        </p:nvSpPr>
        <p:spPr>
          <a:xfrm>
            <a:off x="3383280" y="4572000"/>
            <a:ext cx="2651760" cy="82296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7</a:t>
            </a:r>
            <a:endParaRPr lang="en-US" sz="4000" dirty="0"/>
          </a:p>
        </p:txBody>
      </p:sp>
      <p:sp>
        <p:nvSpPr>
          <p:cNvPr id="32" name="Text 29"/>
          <p:cNvSpPr txBox="1"/>
          <p:nvPr/>
        </p:nvSpPr>
        <p:spPr>
          <a:xfrm>
            <a:off x="3383280" y="5413248"/>
            <a:ext cx="2651760" cy="548640"/>
          </a:xfrm>
          <a:prstGeom prst="rect">
            <a:avLst/>
          </a:prstGeom>
          <a:noFill/>
          <a:ln/>
        </p:spPr>
        <p:txBody>
          <a:bodyPr wrap="square" lIns="0" tIns="0" rIns="0" bIns="0" rtlCol="0" anchor="t"/>
          <a:lstStyle/>
          <a:p>
            <a:pPr marL="0" indent="0">
              <a:buNone/>
            </a:pPr>
            <a:r>
              <a:rPr lang="en-US" sz="1200" dirty="0">
                <a:solidFill>
                  <a:schemeClr val="accent4"/>
                </a:solidFill>
              </a:rPr>
              <a:t>amendments, each with its reason</a:t>
            </a:r>
            <a:endParaRPr lang="en-US" sz="1200" dirty="0"/>
          </a:p>
        </p:txBody>
      </p:sp>
      <p:sp>
        <p:nvSpPr>
          <p:cNvPr id="33" name="Text 30"/>
          <p:cNvSpPr txBox="1"/>
          <p:nvPr/>
        </p:nvSpPr>
        <p:spPr>
          <a:xfrm>
            <a:off x="6217920" y="4572000"/>
            <a:ext cx="2651760" cy="82296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108</a:t>
            </a:r>
            <a:endParaRPr lang="en-US" sz="4000" dirty="0"/>
          </a:p>
        </p:txBody>
      </p:sp>
      <p:sp>
        <p:nvSpPr>
          <p:cNvPr id="34" name="Text 31"/>
          <p:cNvSpPr txBox="1"/>
          <p:nvPr/>
        </p:nvSpPr>
        <p:spPr>
          <a:xfrm>
            <a:off x="6217920" y="5413248"/>
            <a:ext cx="2651760" cy="548640"/>
          </a:xfrm>
          <a:prstGeom prst="rect">
            <a:avLst/>
          </a:prstGeom>
          <a:noFill/>
          <a:ln/>
        </p:spPr>
        <p:txBody>
          <a:bodyPr wrap="square" lIns="0" tIns="0" rIns="0" bIns="0" rtlCol="0" anchor="t"/>
          <a:lstStyle/>
          <a:p>
            <a:pPr marL="0" indent="0">
              <a:buNone/>
            </a:pPr>
            <a:r>
              <a:rPr lang="en-US" sz="1200" dirty="0">
                <a:solidFill>
                  <a:schemeClr val="accent4"/>
                </a:solidFill>
              </a:rPr>
              <a:t>tests, spec hash pinned</a:t>
            </a:r>
            <a:endParaRPr lang="en-US" sz="1200" dirty="0"/>
          </a:p>
        </p:txBody>
      </p:sp>
      <p:sp>
        <p:nvSpPr>
          <p:cNvPr id="35" name="Text 32"/>
          <p:cNvSpPr txBox="1"/>
          <p:nvPr/>
        </p:nvSpPr>
        <p:spPr>
          <a:xfrm>
            <a:off x="9052560" y="4572000"/>
            <a:ext cx="2651760" cy="82296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0</a:t>
            </a:r>
            <a:endParaRPr lang="en-US" sz="4000" dirty="0"/>
          </a:p>
        </p:txBody>
      </p:sp>
      <p:sp>
        <p:nvSpPr>
          <p:cNvPr id="36" name="Text 33"/>
          <p:cNvSpPr txBox="1"/>
          <p:nvPr/>
        </p:nvSpPr>
        <p:spPr>
          <a:xfrm>
            <a:off x="9052560" y="5413248"/>
            <a:ext cx="2651760" cy="548640"/>
          </a:xfrm>
          <a:prstGeom prst="rect">
            <a:avLst/>
          </a:prstGeom>
          <a:noFill/>
          <a:ln/>
        </p:spPr>
        <p:txBody>
          <a:bodyPr wrap="square" lIns="0" tIns="0" rIns="0" bIns="0" rtlCol="0" anchor="t"/>
          <a:lstStyle/>
          <a:p>
            <a:pPr marL="0" indent="0">
              <a:buNone/>
            </a:pPr>
            <a:r>
              <a:rPr lang="en-US" sz="1200" dirty="0">
                <a:solidFill>
                  <a:schemeClr val="accent4"/>
                </a:solidFill>
              </a:rPr>
              <a:t>numbers tuned on outcomes</a:t>
            </a:r>
            <a:endParaRPr lang="en-US" sz="1200" dirty="0"/>
          </a:p>
        </p:txBody>
      </p:sp>
      <p:sp>
        <p:nvSpPr>
          <p:cNvPr id="3"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48640"/>
            <a:ext cx="11091672" cy="822960"/>
          </a:xfrm>
          <a:prstGeom prst="rect">
            <a:avLst/>
          </a:prstGeom>
          <a:noFill/>
          <a:ln/>
        </p:spPr>
        <p:txBody>
          <a:bodyPr wrap="square" lIns="0" tIns="0" rIns="0" bIns="0" rtlCol="0" anchor="ctr"/>
          <a:lstStyle/>
          <a:p>
            <a:pPr marL="0" indent="0" algn="l">
              <a:buNone/>
            </a:pPr>
            <a:r>
              <a:rPr lang="en-US" sz="3000" b="1" dirty="0">
                <a:solidFill>
                  <a:schemeClr val="bg1"/>
                </a:solidFill>
              </a:rPr>
              <a:t>Live demo 6: the ledger and replay</a:t>
            </a:r>
            <a:endParaRPr lang="en-US" sz="3000" dirty="0"/>
          </a:p>
        </p:txBody>
      </p:sp>
      <p:sp>
        <p:nvSpPr>
          <p:cNvPr id="3" name="Shape 1"/>
          <p:cNvSpPr/>
          <p:nvPr/>
        </p:nvSpPr>
        <p:spPr>
          <a:xfrm>
            <a:off x="10177272" y="685800"/>
            <a:ext cx="1463040" cy="548640"/>
          </a:xfrm>
          <a:prstGeom prst="roundRect">
            <a:avLst>
              <a:gd name="adj" fmla="val 16667"/>
            </a:avLst>
          </a:prstGeom>
          <a:solidFill>
            <a:srgbClr val="E9B44C"/>
          </a:solidFill>
          <a:ln w="12700">
            <a:solidFill>
              <a:srgbClr val="E9B44C"/>
            </a:solidFill>
            <a:prstDash val="solid"/>
          </a:ln>
        </p:spPr>
      </p:sp>
      <p:sp>
        <p:nvSpPr>
          <p:cNvPr id="4" name="Text 2"/>
          <p:cNvSpPr txBox="1"/>
          <p:nvPr/>
        </p:nvSpPr>
        <p:spPr>
          <a:xfrm>
            <a:off x="10177272" y="685800"/>
            <a:ext cx="1463040" cy="548640"/>
          </a:xfrm>
          <a:prstGeom prst="rect">
            <a:avLst/>
          </a:prstGeom>
          <a:noFill/>
          <a:ln/>
        </p:spPr>
        <p:txBody>
          <a:bodyPr wrap="square" lIns="0" tIns="0" rIns="0" bIns="0" rtlCol="0" anchor="ctr"/>
          <a:lstStyle/>
          <a:p>
            <a:pPr marL="0" indent="0" algn="ctr">
              <a:buNone/>
            </a:pPr>
            <a:r>
              <a:rPr lang="en-US" sz="1600" b="1" dirty="0">
                <a:solidFill>
                  <a:srgbClr val="1B1F2A"/>
                </a:solidFill>
              </a:rPr>
              <a:t>1 min</a:t>
            </a:r>
            <a:endParaRPr lang="en-US" sz="1600" dirty="0"/>
          </a:p>
        </p:txBody>
      </p:sp>
      <p:sp>
        <p:nvSpPr>
          <p:cNvPr id="5" name="Shape 3"/>
          <p:cNvSpPr/>
          <p:nvPr/>
        </p:nvSpPr>
        <p:spPr>
          <a:xfrm>
            <a:off x="548640" y="1737360"/>
            <a:ext cx="3520440" cy="3200400"/>
          </a:xfrm>
          <a:prstGeom prst="roundRect">
            <a:avLst>
              <a:gd name="adj" fmla="val 3429"/>
            </a:avLst>
          </a:prstGeom>
          <a:solidFill>
            <a:srgbClr val="1E2761"/>
          </a:solidFill>
          <a:ln w="12700">
            <a:solidFill>
              <a:srgbClr val="1E2761"/>
            </a:solidFill>
            <a:prstDash val="solid"/>
          </a:ln>
        </p:spPr>
      </p:sp>
      <p:sp>
        <p:nvSpPr>
          <p:cNvPr id="6" name="Text 4"/>
          <p:cNvSpPr txBox="1"/>
          <p:nvPr/>
        </p:nvSpPr>
        <p:spPr>
          <a:xfrm>
            <a:off x="82296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Open</a:t>
            </a:r>
            <a:endParaRPr lang="en-US" sz="1800" dirty="0"/>
          </a:p>
        </p:txBody>
      </p:sp>
      <p:sp>
        <p:nvSpPr>
          <p:cNvPr id="7" name="Text 5"/>
          <p:cNvSpPr txBox="1"/>
          <p:nvPr/>
        </p:nvSpPr>
        <p:spPr>
          <a:xfrm>
            <a:off x="82296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Ledger view</a:t>
            </a:r>
            <a:endParaRPr lang="en-US" sz="1300" dirty="0"/>
          </a:p>
          <a:p>
            <a:pPr marL="342900" indent="-342900">
              <a:spcAft>
                <a:spcPts val="800"/>
              </a:spcAft>
              <a:buSzPct val="100000"/>
              <a:buChar char="•"/>
            </a:pPr>
            <a:r>
              <a:rPr lang="en-US" sz="1300" dirty="0">
                <a:solidFill>
                  <a:srgbClr val="FFFFFF"/>
                </a:solidFill>
              </a:rPr>
              <a:t>Press Verify ledger</a:t>
            </a:r>
            <a:endParaRPr lang="en-US" sz="1300" dirty="0"/>
          </a:p>
        </p:txBody>
      </p:sp>
      <p:sp>
        <p:nvSpPr>
          <p:cNvPr id="8" name="Shape 6"/>
          <p:cNvSpPr/>
          <p:nvPr/>
        </p:nvSpPr>
        <p:spPr>
          <a:xfrm>
            <a:off x="4297680" y="1737360"/>
            <a:ext cx="3520440" cy="3200400"/>
          </a:xfrm>
          <a:prstGeom prst="roundRect">
            <a:avLst>
              <a:gd name="adj" fmla="val 3429"/>
            </a:avLst>
          </a:prstGeom>
          <a:solidFill>
            <a:srgbClr val="1E2761"/>
          </a:solidFill>
          <a:ln w="12700">
            <a:solidFill>
              <a:srgbClr val="1E2761"/>
            </a:solidFill>
            <a:prstDash val="solid"/>
          </a:ln>
        </p:spPr>
      </p:sp>
      <p:sp>
        <p:nvSpPr>
          <p:cNvPr id="9" name="Text 7"/>
          <p:cNvSpPr txBox="1"/>
          <p:nvPr/>
        </p:nvSpPr>
        <p:spPr>
          <a:xfrm>
            <a:off x="457200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Point at</a:t>
            </a:r>
            <a:endParaRPr lang="en-US" sz="1800" dirty="0"/>
          </a:p>
        </p:txBody>
      </p:sp>
      <p:sp>
        <p:nvSpPr>
          <p:cNvPr id="10" name="Text 8"/>
          <p:cNvSpPr txBox="1"/>
          <p:nvPr/>
        </p:nvSpPr>
        <p:spPr>
          <a:xfrm>
            <a:off x="457200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17 entries, each with its snapshot hash and code version</a:t>
            </a:r>
            <a:endParaRPr lang="en-US" sz="1300" dirty="0"/>
          </a:p>
          <a:p>
            <a:pPr marL="342900" indent="-342900">
              <a:spcAft>
                <a:spcPts val="800"/>
              </a:spcAft>
              <a:buSzPct val="100000"/>
              <a:buChar char="•"/>
            </a:pPr>
            <a:r>
              <a:rPr lang="en-US" sz="1300" dirty="0">
                <a:solidFill>
                  <a:srgbClr val="FFFFFF"/>
                </a:solidFill>
              </a:rPr>
              <a:t>The replay result: chain intact, entries under the current spec recompute exactly</a:t>
            </a:r>
            <a:endParaRPr lang="en-US" sz="1300" dirty="0"/>
          </a:p>
        </p:txBody>
      </p:sp>
      <p:sp>
        <p:nvSpPr>
          <p:cNvPr id="11" name="Shape 9"/>
          <p:cNvSpPr/>
          <p:nvPr/>
        </p:nvSpPr>
        <p:spPr>
          <a:xfrm>
            <a:off x="8046720" y="1737360"/>
            <a:ext cx="3520440" cy="3200400"/>
          </a:xfrm>
          <a:prstGeom prst="roundRect">
            <a:avLst>
              <a:gd name="adj" fmla="val 3429"/>
            </a:avLst>
          </a:prstGeom>
          <a:solidFill>
            <a:srgbClr val="1E2761"/>
          </a:solidFill>
          <a:ln w="12700">
            <a:solidFill>
              <a:srgbClr val="1E2761"/>
            </a:solidFill>
            <a:prstDash val="solid"/>
          </a:ln>
        </p:spPr>
      </p:sp>
      <p:sp>
        <p:nvSpPr>
          <p:cNvPr id="12" name="Text 10"/>
          <p:cNvSpPr txBox="1"/>
          <p:nvPr/>
        </p:nvSpPr>
        <p:spPr>
          <a:xfrm>
            <a:off x="8321040" y="1920240"/>
            <a:ext cx="2926080" cy="457200"/>
          </a:xfrm>
          <a:prstGeom prst="rect">
            <a:avLst/>
          </a:prstGeom>
          <a:noFill/>
          <a:ln/>
        </p:spPr>
        <p:txBody>
          <a:bodyPr wrap="square" lIns="0" tIns="0" rIns="0" bIns="0" rtlCol="0" anchor="ctr"/>
          <a:lstStyle/>
          <a:p>
            <a:pPr marL="0" indent="0">
              <a:buNone/>
            </a:pPr>
            <a:r>
              <a:rPr lang="en-US" sz="1800" b="1" dirty="0">
                <a:solidFill>
                  <a:srgbClr val="E9B44C"/>
                </a:solidFill>
              </a:rPr>
              <a:t>Say</a:t>
            </a:r>
            <a:endParaRPr lang="en-US" sz="1800" dirty="0"/>
          </a:p>
        </p:txBody>
      </p:sp>
      <p:sp>
        <p:nvSpPr>
          <p:cNvPr id="13" name="Text 11"/>
          <p:cNvSpPr txBox="1"/>
          <p:nvPr/>
        </p:nvSpPr>
        <p:spPr>
          <a:xfrm>
            <a:off x="8321040" y="2468880"/>
            <a:ext cx="29718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Nothing in this ledger can be edited or deleted without the chain breaking.</a:t>
            </a:r>
            <a:endParaRPr lang="en-US" sz="1300" dirty="0"/>
          </a:p>
          <a:p>
            <a:pPr marL="342900" indent="-342900">
              <a:spcAft>
                <a:spcPts val="800"/>
              </a:spcAft>
              <a:buSzPct val="100000"/>
              <a:buChar char="•"/>
            </a:pPr>
            <a:r>
              <a:rPr lang="en-US" sz="1300" dirty="0">
                <a:solidFill>
                  <a:srgbClr val="FFFFFF"/>
                </a:solidFill>
              </a:rPr>
              <a:t>Any entry can be recomputed from its snapshot. That is what auditable means here.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What this does not claim</a:t>
            </a:r>
            <a:endParaRPr lang="en-US" sz="3200" dirty="0"/>
          </a:p>
        </p:txBody>
      </p:sp>
      <p:sp>
        <p:nvSpPr>
          <p:cNvPr id="4" name="Shape 1"/>
          <p:cNvSpPr/>
          <p:nvPr/>
        </p:nvSpPr>
        <p:spPr>
          <a:xfrm>
            <a:off x="548640" y="1463040"/>
            <a:ext cx="3520440" cy="2057400"/>
          </a:xfrm>
          <a:prstGeom prst="roundRect">
            <a:avLst>
              <a:gd name="adj" fmla="val 5333"/>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5" name="Text 2"/>
          <p:cNvSpPr txBox="1"/>
          <p:nvPr/>
        </p:nvSpPr>
        <p:spPr>
          <a:xfrm>
            <a:off x="822960" y="1645920"/>
            <a:ext cx="3017520" cy="457200"/>
          </a:xfrm>
          <a:prstGeom prst="rect">
            <a:avLst/>
          </a:prstGeom>
          <a:noFill/>
          <a:ln/>
        </p:spPr>
        <p:txBody>
          <a:bodyPr wrap="square" lIns="0" tIns="0" rIns="0" bIns="0" rtlCol="0" anchor="t"/>
          <a:lstStyle/>
          <a:p>
            <a:pPr marL="0" indent="0">
              <a:buNone/>
            </a:pPr>
            <a:r>
              <a:rPr lang="en-US" sz="1500" b="1" dirty="0">
                <a:solidFill>
                  <a:schemeClr val="tx2"/>
                </a:solidFill>
              </a:rPr>
              <a:t>No live record yet</a:t>
            </a:r>
            <a:endParaRPr lang="en-US" sz="1500" dirty="0"/>
          </a:p>
        </p:txBody>
      </p:sp>
      <p:sp>
        <p:nvSpPr>
          <p:cNvPr id="6" name="Text 3"/>
          <p:cNvSpPr txBox="1"/>
          <p:nvPr/>
        </p:nvSpPr>
        <p:spPr>
          <a:xfrm>
            <a:off x="822960" y="2148840"/>
            <a:ext cx="3017520" cy="1280160"/>
          </a:xfrm>
          <a:prstGeom prst="rect">
            <a:avLst/>
          </a:prstGeom>
          <a:noFill/>
          <a:ln/>
        </p:spPr>
        <p:txBody>
          <a:bodyPr wrap="square" lIns="0" tIns="0" rIns="0" bIns="0" rtlCol="0" anchor="t"/>
          <a:lstStyle/>
          <a:p>
            <a:pPr marL="0" indent="0">
              <a:buNone/>
            </a:pPr>
            <a:r>
              <a:rPr lang="en-US" sz="1150" dirty="0">
                <a:solidFill>
                  <a:schemeClr val="tx1"/>
                </a:solidFill>
              </a:rPr>
              <a:t>The first decision this system is scored on is 28 October 2026. Everything so far is process evidence, which is the point, but calibration needs a record.</a:t>
            </a:r>
            <a:endParaRPr lang="en-US" sz="1150" dirty="0"/>
          </a:p>
        </p:txBody>
      </p:sp>
      <p:sp>
        <p:nvSpPr>
          <p:cNvPr id="7" name="Shape 4"/>
          <p:cNvSpPr/>
          <p:nvPr/>
        </p:nvSpPr>
        <p:spPr>
          <a:xfrm>
            <a:off x="4297680" y="1463040"/>
            <a:ext cx="3520440" cy="2057400"/>
          </a:xfrm>
          <a:prstGeom prst="roundRect">
            <a:avLst>
              <a:gd name="adj" fmla="val 5333"/>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8" name="Text 5"/>
          <p:cNvSpPr txBox="1"/>
          <p:nvPr/>
        </p:nvSpPr>
        <p:spPr>
          <a:xfrm>
            <a:off x="4572000" y="1645920"/>
            <a:ext cx="3017520" cy="457200"/>
          </a:xfrm>
          <a:prstGeom prst="rect">
            <a:avLst/>
          </a:prstGeom>
          <a:noFill/>
          <a:ln/>
        </p:spPr>
        <p:txBody>
          <a:bodyPr wrap="square" lIns="0" tIns="0" rIns="0" bIns="0" rtlCol="0" anchor="t"/>
          <a:lstStyle/>
          <a:p>
            <a:pPr marL="0" indent="0">
              <a:buNone/>
            </a:pPr>
            <a:r>
              <a:rPr lang="en-US" sz="1500" b="1" dirty="0">
                <a:solidFill>
                  <a:schemeClr val="tx2"/>
                </a:solidFill>
              </a:rPr>
              <a:t>Weights are judgement</a:t>
            </a:r>
            <a:endParaRPr lang="en-US" sz="1500" dirty="0"/>
          </a:p>
        </p:txBody>
      </p:sp>
      <p:sp>
        <p:nvSpPr>
          <p:cNvPr id="9" name="Text 6"/>
          <p:cNvSpPr txBox="1"/>
          <p:nvPr/>
        </p:nvSpPr>
        <p:spPr>
          <a:xfrm>
            <a:off x="4572000" y="2148840"/>
            <a:ext cx="3017520" cy="1280160"/>
          </a:xfrm>
          <a:prstGeom prst="rect">
            <a:avLst/>
          </a:prstGeom>
          <a:noFill/>
          <a:ln/>
        </p:spPr>
        <p:txBody>
          <a:bodyPr wrap="square" lIns="0" tIns="0" rIns="0" bIns="0" rtlCol="0" anchor="t"/>
          <a:lstStyle/>
          <a:p>
            <a:pPr marL="0" indent="0">
              <a:buNone/>
            </a:pPr>
            <a:r>
              <a:rPr lang="en-US" sz="1150" dirty="0">
                <a:solidFill>
                  <a:schemeClr val="tx1"/>
                </a:solidFill>
              </a:rPr>
              <a:t>Market 0.6, Taylor 0.2, odds 0.1, base rates 0.1, the floor and the tilt mapping were set by reasoning and logged, never fitted. Candidate sets will be pre-registered and scored live.</a:t>
            </a:r>
            <a:endParaRPr lang="en-US" sz="1150" dirty="0"/>
          </a:p>
        </p:txBody>
      </p:sp>
      <p:sp>
        <p:nvSpPr>
          <p:cNvPr id="10" name="Shape 7"/>
          <p:cNvSpPr/>
          <p:nvPr/>
        </p:nvSpPr>
        <p:spPr>
          <a:xfrm>
            <a:off x="8046720" y="1463040"/>
            <a:ext cx="3520440" cy="2057400"/>
          </a:xfrm>
          <a:prstGeom prst="roundRect">
            <a:avLst>
              <a:gd name="adj" fmla="val 5333"/>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11" name="Text 8"/>
          <p:cNvSpPr txBox="1"/>
          <p:nvPr/>
        </p:nvSpPr>
        <p:spPr>
          <a:xfrm>
            <a:off x="8321040" y="1645920"/>
            <a:ext cx="3017520" cy="457200"/>
          </a:xfrm>
          <a:prstGeom prst="rect">
            <a:avLst/>
          </a:prstGeom>
          <a:noFill/>
          <a:ln/>
        </p:spPr>
        <p:txBody>
          <a:bodyPr wrap="square" lIns="0" tIns="0" rIns="0" bIns="0" rtlCol="0" anchor="t"/>
          <a:lstStyle/>
          <a:p>
            <a:pPr marL="0" indent="0">
              <a:buNone/>
            </a:pPr>
            <a:r>
              <a:rPr lang="en-US" sz="1500" b="1" dirty="0">
                <a:solidFill>
                  <a:schemeClr val="tx2"/>
                </a:solidFill>
              </a:rPr>
              <a:t>The fitted model is outside</a:t>
            </a:r>
            <a:endParaRPr lang="en-US" sz="1500" dirty="0"/>
          </a:p>
        </p:txBody>
      </p:sp>
      <p:sp>
        <p:nvSpPr>
          <p:cNvPr id="12" name="Text 9"/>
          <p:cNvSpPr txBox="1"/>
          <p:nvPr/>
        </p:nvSpPr>
        <p:spPr>
          <a:xfrm>
            <a:off x="8321040" y="2148840"/>
            <a:ext cx="3017520" cy="1280160"/>
          </a:xfrm>
          <a:prstGeom prst="rect">
            <a:avLst/>
          </a:prstGeom>
          <a:noFill/>
          <a:ln/>
        </p:spPr>
        <p:txBody>
          <a:bodyPr wrap="square" lIns="0" tIns="0" rIns="0" bIns="0" rtlCol="0" anchor="t"/>
          <a:lstStyle/>
          <a:p>
            <a:pPr marL="0" indent="0">
              <a:buNone/>
            </a:pPr>
            <a:r>
              <a:rPr lang="en-US" sz="1150" dirty="0">
                <a:solidFill>
                  <a:schemeClr val="tx1"/>
                </a:solidFill>
              </a:rPr>
              <a:t>A first ordered probit failed its out-of-sample gate and was reported, not tuned. Version 2 beats the base rate but carries a contamination caveat, so it stays at weight 0.</a:t>
            </a:r>
            <a:endParaRPr lang="en-US" sz="1150" dirty="0"/>
          </a:p>
        </p:txBody>
      </p:sp>
      <p:sp>
        <p:nvSpPr>
          <p:cNvPr id="13" name="Shape 10"/>
          <p:cNvSpPr/>
          <p:nvPr/>
        </p:nvSpPr>
        <p:spPr>
          <a:xfrm>
            <a:off x="548640" y="3749040"/>
            <a:ext cx="3520440" cy="2057400"/>
          </a:xfrm>
          <a:prstGeom prst="roundRect">
            <a:avLst>
              <a:gd name="adj" fmla="val 5333"/>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14" name="Text 11"/>
          <p:cNvSpPr txBox="1"/>
          <p:nvPr/>
        </p:nvSpPr>
        <p:spPr>
          <a:xfrm>
            <a:off x="822960" y="3931920"/>
            <a:ext cx="3017520" cy="457200"/>
          </a:xfrm>
          <a:prstGeom prst="rect">
            <a:avLst/>
          </a:prstGeom>
          <a:noFill/>
          <a:ln/>
        </p:spPr>
        <p:txBody>
          <a:bodyPr wrap="square" lIns="0" tIns="0" rIns="0" bIns="0" rtlCol="0" anchor="t"/>
          <a:lstStyle/>
          <a:p>
            <a:pPr marL="0" indent="0">
              <a:buNone/>
            </a:pPr>
            <a:r>
              <a:rPr lang="en-US" sz="1500" b="1" dirty="0">
                <a:solidFill>
                  <a:schemeClr val="tx2"/>
                </a:solidFill>
              </a:rPr>
              <a:t>Small, unbalanced history</a:t>
            </a:r>
            <a:endParaRPr lang="en-US" sz="1500" dirty="0"/>
          </a:p>
        </p:txBody>
      </p:sp>
      <p:sp>
        <p:nvSpPr>
          <p:cNvPr id="15" name="Text 12"/>
          <p:cNvSpPr txBox="1"/>
          <p:nvPr/>
        </p:nvSpPr>
        <p:spPr>
          <a:xfrm>
            <a:off x="822960" y="4434840"/>
            <a:ext cx="3017520" cy="1280160"/>
          </a:xfrm>
          <a:prstGeom prst="rect">
            <a:avLst/>
          </a:prstGeom>
          <a:noFill/>
          <a:ln/>
        </p:spPr>
        <p:txBody>
          <a:bodyPr wrap="square" lIns="0" tIns="0" rIns="0" bIns="0" rtlCol="0" anchor="t"/>
          <a:lstStyle/>
          <a:p>
            <a:pPr marL="0" indent="0">
              <a:buNone/>
            </a:pPr>
            <a:r>
              <a:rPr lang="en-US" sz="1150" dirty="0">
                <a:solidFill>
                  <a:schemeClr val="tx1"/>
                </a:solidFill>
              </a:rPr>
              <a:t>About 130 decisions with full features, roughly 250 in all; 68% are holds and cuts cluster in three episodes. That is why there is no gradient-boosted anything.</a:t>
            </a:r>
            <a:endParaRPr lang="en-US" sz="1150" dirty="0"/>
          </a:p>
        </p:txBody>
      </p:sp>
      <p:sp>
        <p:nvSpPr>
          <p:cNvPr id="16" name="Shape 13"/>
          <p:cNvSpPr/>
          <p:nvPr/>
        </p:nvSpPr>
        <p:spPr>
          <a:xfrm>
            <a:off x="4297680" y="3749040"/>
            <a:ext cx="3520440" cy="2057400"/>
          </a:xfrm>
          <a:prstGeom prst="roundRect">
            <a:avLst>
              <a:gd name="adj" fmla="val 5333"/>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17" name="Text 14"/>
          <p:cNvSpPr txBox="1"/>
          <p:nvPr/>
        </p:nvSpPr>
        <p:spPr>
          <a:xfrm>
            <a:off x="4572000" y="3931920"/>
            <a:ext cx="3017520" cy="457200"/>
          </a:xfrm>
          <a:prstGeom prst="rect">
            <a:avLst/>
          </a:prstGeom>
          <a:noFill/>
          <a:ln/>
        </p:spPr>
        <p:txBody>
          <a:bodyPr wrap="square" lIns="0" tIns="0" rIns="0" bIns="0" rtlCol="0" anchor="t"/>
          <a:lstStyle/>
          <a:p>
            <a:pPr marL="0" indent="0">
              <a:buNone/>
            </a:pPr>
            <a:r>
              <a:rPr lang="en-US" sz="1500" b="1" dirty="0">
                <a:solidFill>
                  <a:schemeClr val="tx2"/>
                </a:solidFill>
              </a:rPr>
              <a:t>Not every dimension yet</a:t>
            </a:r>
            <a:endParaRPr lang="en-US" sz="1500" dirty="0"/>
          </a:p>
        </p:txBody>
      </p:sp>
      <p:sp>
        <p:nvSpPr>
          <p:cNvPr id="18" name="Text 15"/>
          <p:cNvSpPr txBox="1"/>
          <p:nvPr/>
        </p:nvSpPr>
        <p:spPr>
          <a:xfrm>
            <a:off x="4572000" y="4434840"/>
            <a:ext cx="3017520" cy="1280160"/>
          </a:xfrm>
          <a:prstGeom prst="rect">
            <a:avLst/>
          </a:prstGeom>
          <a:noFill/>
          <a:ln/>
        </p:spPr>
        <p:txBody>
          <a:bodyPr wrap="square" lIns="0" tIns="0" rIns="0" bIns="0" rtlCol="0" anchor="t"/>
          <a:lstStyle/>
          <a:p>
            <a:pPr marL="0" indent="0">
              <a:buNone/>
            </a:pPr>
            <a:r>
              <a:rPr lang="en-US" sz="1150" dirty="0">
                <a:solidFill>
                  <a:schemeClr val="tx1"/>
                </a:solidFill>
              </a:rPr>
              <a:t>Reasoning quality (S8) needs a rubric grader checked against hand grades; the reworded-prompt test for the analysts is not built.</a:t>
            </a:r>
            <a:endParaRPr lang="en-US" sz="1150" dirty="0"/>
          </a:p>
        </p:txBody>
      </p:sp>
      <p:sp>
        <p:nvSpPr>
          <p:cNvPr id="19" name="Shape 16"/>
          <p:cNvSpPr/>
          <p:nvPr/>
        </p:nvSpPr>
        <p:spPr>
          <a:xfrm>
            <a:off x="8046720" y="3749040"/>
            <a:ext cx="3520440" cy="2057400"/>
          </a:xfrm>
          <a:prstGeom prst="roundRect">
            <a:avLst>
              <a:gd name="adj" fmla="val 5333"/>
            </a:avLst>
          </a:prstGeom>
          <a:solidFill>
            <a:srgbClr val="EEF2F7"/>
          </a:solidFill>
          <a:ln w="12700">
            <a:solidFill>
              <a:srgbClr val="EEF2F7"/>
            </a:solidFill>
            <a:prstDash val="solid"/>
          </a:ln>
          <a:effectLst>
            <a:outerShdw blurRad="50800" dist="12700" dir="5400000" algn="bl" rotWithShape="0">
              <a:srgbClr val="000000">
                <a:alpha val="8000"/>
              </a:srgbClr>
            </a:outerShdw>
          </a:effectLst>
        </p:spPr>
      </p:sp>
      <p:sp>
        <p:nvSpPr>
          <p:cNvPr id="20" name="Text 17"/>
          <p:cNvSpPr txBox="1"/>
          <p:nvPr/>
        </p:nvSpPr>
        <p:spPr>
          <a:xfrm>
            <a:off x="8321040" y="3931920"/>
            <a:ext cx="3017520" cy="457200"/>
          </a:xfrm>
          <a:prstGeom prst="rect">
            <a:avLst/>
          </a:prstGeom>
          <a:noFill/>
          <a:ln/>
        </p:spPr>
        <p:txBody>
          <a:bodyPr wrap="square" lIns="0" tIns="0" rIns="0" bIns="0" rtlCol="0" anchor="t"/>
          <a:lstStyle/>
          <a:p>
            <a:pPr marL="0" indent="0">
              <a:buNone/>
            </a:pPr>
            <a:r>
              <a:rPr lang="en-US" sz="1500" b="1" dirty="0">
                <a:solidFill>
                  <a:schemeClr val="tx2"/>
                </a:solidFill>
              </a:rPr>
              <a:t>The market is the anchor</a:t>
            </a:r>
            <a:endParaRPr lang="en-US" sz="1500" dirty="0"/>
          </a:p>
        </p:txBody>
      </p:sp>
      <p:sp>
        <p:nvSpPr>
          <p:cNvPr id="21" name="Text 18"/>
          <p:cNvSpPr txBox="1"/>
          <p:nvPr/>
        </p:nvSpPr>
        <p:spPr>
          <a:xfrm>
            <a:off x="8321040" y="4434840"/>
            <a:ext cx="3017520" cy="1280160"/>
          </a:xfrm>
          <a:prstGeom prst="rect">
            <a:avLst/>
          </a:prstGeom>
          <a:noFill/>
          <a:ln/>
        </p:spPr>
        <p:txBody>
          <a:bodyPr wrap="square" lIns="0" tIns="0" rIns="0" bIns="0" rtlCol="0" anchor="t"/>
          <a:lstStyle/>
          <a:p>
            <a:pPr marL="0" indent="0">
              <a:buNone/>
            </a:pPr>
            <a:r>
              <a:rPr lang="en-US" sz="1150" dirty="0">
                <a:solidFill>
                  <a:schemeClr val="tx1"/>
                </a:solidFill>
              </a:rPr>
              <a:t>At thirty days futures call most decisions. The claim is auditability and discipline, not a better hit rate at this horizon.</a:t>
            </a:r>
            <a:endParaRPr lang="en-US" sz="11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rPr>
              <a:t>Follow-ups, in order of value</a:t>
            </a:r>
            <a:endParaRPr lang="en-US" sz="3200" dirty="0"/>
          </a:p>
        </p:txBody>
      </p:sp>
      <p:sp>
        <p:nvSpPr>
          <p:cNvPr id="4" name="Shape 1"/>
          <p:cNvSpPr/>
          <p:nvPr/>
        </p:nvSpPr>
        <p:spPr>
          <a:xfrm>
            <a:off x="548640" y="1508760"/>
            <a:ext cx="384048" cy="384048"/>
          </a:xfrm>
          <a:prstGeom prst="ellipse">
            <a:avLst/>
          </a:prstGeom>
          <a:solidFill>
            <a:srgbClr val="1E2761"/>
          </a:solidFill>
          <a:ln w="12700">
            <a:solidFill>
              <a:srgbClr val="1E2761"/>
            </a:solidFill>
            <a:prstDash val="solid"/>
          </a:ln>
        </p:spPr>
      </p:sp>
      <p:sp>
        <p:nvSpPr>
          <p:cNvPr id="5" name="Text 2"/>
          <p:cNvSpPr txBox="1"/>
          <p:nvPr/>
        </p:nvSpPr>
        <p:spPr>
          <a:xfrm>
            <a:off x="548640" y="150876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 3"/>
          <p:cNvSpPr txBox="1"/>
          <p:nvPr/>
        </p:nvSpPr>
        <p:spPr>
          <a:xfrm>
            <a:off x="1097280" y="1417320"/>
            <a:ext cx="4937760" cy="457200"/>
          </a:xfrm>
          <a:prstGeom prst="rect">
            <a:avLst/>
          </a:prstGeom>
          <a:noFill/>
          <a:ln/>
        </p:spPr>
        <p:txBody>
          <a:bodyPr wrap="square" lIns="0" tIns="0" rIns="0" bIns="0" rtlCol="0" anchor="ctr"/>
          <a:lstStyle/>
          <a:p>
            <a:pPr marL="0" indent="0">
              <a:buNone/>
            </a:pPr>
            <a:r>
              <a:rPr lang="en-US" sz="1500" b="1" dirty="0">
                <a:solidFill>
                  <a:schemeClr val="tx2"/>
                </a:solidFill>
              </a:rPr>
              <a:t>Score live decisions: built this week</a:t>
            </a:r>
            <a:endParaRPr lang="en-US" sz="1500" dirty="0"/>
          </a:p>
        </p:txBody>
      </p:sp>
      <p:sp>
        <p:nvSpPr>
          <p:cNvPr id="7" name="Text 4"/>
          <p:cNvSpPr txBox="1"/>
          <p:nvPr/>
        </p:nvSpPr>
        <p:spPr>
          <a:xfrm>
            <a:off x="1097280" y="1874520"/>
            <a:ext cx="4937760" cy="1051560"/>
          </a:xfrm>
          <a:prstGeom prst="rect">
            <a:avLst/>
          </a:prstGeom>
          <a:noFill/>
          <a:ln/>
        </p:spPr>
        <p:txBody>
          <a:bodyPr wrap="square" lIns="0" tIns="0" rIns="0" bIns="0" rtlCol="0" anchor="t"/>
          <a:lstStyle/>
          <a:p>
            <a:pPr marL="0" indent="0">
              <a:buNone/>
            </a:pPr>
            <a:r>
              <a:rPr lang="en-US" sz="1150" dirty="0">
                <a:solidFill>
                  <a:schemeClr val="tx1"/>
                </a:solidFill>
              </a:rPr>
              <a:t>Once the overnight-rate row is dated after the meeting, one click scores every forecast of that meeting, each track, each model and two naive baselines, with log score and Brier, into an append-only file. The first record lands the morning after 28 October. Every weight decision waits on this record.</a:t>
            </a:r>
            <a:endParaRPr lang="en-US" sz="1150" dirty="0"/>
          </a:p>
        </p:txBody>
      </p:sp>
      <p:sp>
        <p:nvSpPr>
          <p:cNvPr id="8" name="Shape 5"/>
          <p:cNvSpPr/>
          <p:nvPr/>
        </p:nvSpPr>
        <p:spPr>
          <a:xfrm>
            <a:off x="6217920" y="1508760"/>
            <a:ext cx="384048" cy="384048"/>
          </a:xfrm>
          <a:prstGeom prst="ellipse">
            <a:avLst/>
          </a:prstGeom>
          <a:solidFill>
            <a:srgbClr val="1E2761"/>
          </a:solidFill>
          <a:ln w="12700">
            <a:solidFill>
              <a:srgbClr val="1E2761"/>
            </a:solidFill>
            <a:prstDash val="solid"/>
          </a:ln>
        </p:spPr>
      </p:sp>
      <p:sp>
        <p:nvSpPr>
          <p:cNvPr id="9" name="Text 6"/>
          <p:cNvSpPr txBox="1"/>
          <p:nvPr/>
        </p:nvSpPr>
        <p:spPr>
          <a:xfrm>
            <a:off x="6217920" y="150876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Text 7"/>
          <p:cNvSpPr txBox="1"/>
          <p:nvPr/>
        </p:nvSpPr>
        <p:spPr>
          <a:xfrm>
            <a:off x="6766560" y="1417320"/>
            <a:ext cx="4937760" cy="457200"/>
          </a:xfrm>
          <a:prstGeom prst="rect">
            <a:avLst/>
          </a:prstGeom>
          <a:noFill/>
          <a:ln/>
        </p:spPr>
        <p:txBody>
          <a:bodyPr wrap="square" lIns="0" tIns="0" rIns="0" bIns="0" rtlCol="0" anchor="ctr"/>
          <a:lstStyle/>
          <a:p>
            <a:pPr marL="0" indent="0">
              <a:buNone/>
            </a:pPr>
            <a:r>
              <a:rPr lang="en-US" sz="1500" b="1" dirty="0">
                <a:solidFill>
                  <a:schemeClr val="tx2"/>
                </a:solidFill>
              </a:rPr>
              <a:t>Longer windows, same chain</a:t>
            </a:r>
            <a:endParaRPr lang="en-US" sz="1500" dirty="0"/>
          </a:p>
        </p:txBody>
      </p:sp>
      <p:sp>
        <p:nvSpPr>
          <p:cNvPr id="11" name="Text 8"/>
          <p:cNvSpPr txBox="1"/>
          <p:nvPr/>
        </p:nvSpPr>
        <p:spPr>
          <a:xfrm>
            <a:off x="6766560" y="1874520"/>
            <a:ext cx="4937760" cy="1051560"/>
          </a:xfrm>
          <a:prstGeom prst="rect">
            <a:avLst/>
          </a:prstGeom>
          <a:noFill/>
          <a:ln/>
        </p:spPr>
        <p:txBody>
          <a:bodyPr wrap="square" lIns="0" tIns="0" rIns="0" bIns="0" rtlCol="0" anchor="t"/>
          <a:lstStyle/>
          <a:p>
            <a:pPr marL="0" indent="0">
              <a:buNone/>
            </a:pPr>
            <a:r>
              <a:rPr lang="en-US" sz="1150" dirty="0">
                <a:solidFill>
                  <a:schemeClr val="tx1"/>
                </a:solidFill>
              </a:rPr>
              <a:t>The December meeting and the year-end rate. The market is less certain there (Polymarket prices a December hike at 76%), so evidence reading has more to add. The chain needs only a different target.</a:t>
            </a:r>
            <a:endParaRPr lang="en-US" sz="1150" dirty="0"/>
          </a:p>
        </p:txBody>
      </p:sp>
      <p:sp>
        <p:nvSpPr>
          <p:cNvPr id="12" name="Shape 9"/>
          <p:cNvSpPr/>
          <p:nvPr/>
        </p:nvSpPr>
        <p:spPr>
          <a:xfrm>
            <a:off x="548640" y="3063240"/>
            <a:ext cx="384048" cy="384048"/>
          </a:xfrm>
          <a:prstGeom prst="ellipse">
            <a:avLst/>
          </a:prstGeom>
          <a:solidFill>
            <a:srgbClr val="1E2761"/>
          </a:solidFill>
          <a:ln w="12700">
            <a:solidFill>
              <a:srgbClr val="1E2761"/>
            </a:solidFill>
            <a:prstDash val="solid"/>
          </a:ln>
        </p:spPr>
      </p:sp>
      <p:sp>
        <p:nvSpPr>
          <p:cNvPr id="13" name="Text 10"/>
          <p:cNvSpPr txBox="1"/>
          <p:nvPr/>
        </p:nvSpPr>
        <p:spPr>
          <a:xfrm>
            <a:off x="548640" y="306324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ext 11"/>
          <p:cNvSpPr txBox="1"/>
          <p:nvPr/>
        </p:nvSpPr>
        <p:spPr>
          <a:xfrm>
            <a:off x="1097280" y="2971800"/>
            <a:ext cx="4937760" cy="457200"/>
          </a:xfrm>
          <a:prstGeom prst="rect">
            <a:avLst/>
          </a:prstGeom>
          <a:noFill/>
          <a:ln/>
        </p:spPr>
        <p:txBody>
          <a:bodyPr wrap="square" lIns="0" tIns="0" rIns="0" bIns="0" rtlCol="0" anchor="ctr"/>
          <a:lstStyle/>
          <a:p>
            <a:pPr marL="0" indent="0">
              <a:buNone/>
            </a:pPr>
            <a:r>
              <a:rPr lang="en-US" sz="1500" b="1" dirty="0">
                <a:solidFill>
                  <a:schemeClr val="tx2"/>
                </a:solidFill>
              </a:rPr>
              <a:t>An events agent for regime shifts</a:t>
            </a:r>
            <a:endParaRPr lang="en-US" sz="1500" dirty="0"/>
          </a:p>
        </p:txBody>
      </p:sp>
      <p:sp>
        <p:nvSpPr>
          <p:cNvPr id="15" name="Text 12"/>
          <p:cNvSpPr txBox="1"/>
          <p:nvPr/>
        </p:nvSpPr>
        <p:spPr>
          <a:xfrm>
            <a:off x="1097280" y="3429000"/>
            <a:ext cx="4937760" cy="1051560"/>
          </a:xfrm>
          <a:prstGeom prst="rect">
            <a:avLst/>
          </a:prstGeom>
          <a:noFill/>
          <a:ln/>
        </p:spPr>
        <p:txBody>
          <a:bodyPr wrap="square" lIns="0" tIns="0" rIns="0" bIns="0" rtlCol="0" anchor="t"/>
          <a:lstStyle/>
          <a:p>
            <a:pPr marL="0" indent="0">
              <a:buNone/>
            </a:pPr>
            <a:r>
              <a:rPr lang="en-US" sz="1150" dirty="0">
                <a:solidFill>
                  <a:schemeClr val="tx1"/>
                </a:solidFill>
              </a:rPr>
              <a:t>1987, 1998, 2008, 2020: the Fed cut because of financial stress, not the data. A watch-out agent that scans the last three months for bank failures, funding stress and market dislocations, and raises a typed watch-out every analyst must answer.</a:t>
            </a:r>
            <a:endParaRPr lang="en-US" sz="1150" dirty="0"/>
          </a:p>
        </p:txBody>
      </p:sp>
      <p:sp>
        <p:nvSpPr>
          <p:cNvPr id="16" name="Shape 13"/>
          <p:cNvSpPr/>
          <p:nvPr/>
        </p:nvSpPr>
        <p:spPr>
          <a:xfrm>
            <a:off x="6217920" y="3063240"/>
            <a:ext cx="384048" cy="384048"/>
          </a:xfrm>
          <a:prstGeom prst="ellipse">
            <a:avLst/>
          </a:prstGeom>
          <a:solidFill>
            <a:srgbClr val="1E2761"/>
          </a:solidFill>
          <a:ln w="12700">
            <a:solidFill>
              <a:srgbClr val="1E2761"/>
            </a:solidFill>
            <a:prstDash val="solid"/>
          </a:ln>
        </p:spPr>
      </p:sp>
      <p:sp>
        <p:nvSpPr>
          <p:cNvPr id="17" name="Text 14"/>
          <p:cNvSpPr txBox="1"/>
          <p:nvPr/>
        </p:nvSpPr>
        <p:spPr>
          <a:xfrm>
            <a:off x="6217920" y="306324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8" name="Text 15"/>
          <p:cNvSpPr txBox="1"/>
          <p:nvPr/>
        </p:nvSpPr>
        <p:spPr>
          <a:xfrm>
            <a:off x="6766560" y="2971800"/>
            <a:ext cx="4937760" cy="457200"/>
          </a:xfrm>
          <a:prstGeom prst="rect">
            <a:avLst/>
          </a:prstGeom>
          <a:noFill/>
          <a:ln/>
        </p:spPr>
        <p:txBody>
          <a:bodyPr wrap="square" lIns="0" tIns="0" rIns="0" bIns="0" rtlCol="0" anchor="ctr"/>
          <a:lstStyle/>
          <a:p>
            <a:pPr marL="0" indent="0">
              <a:buNone/>
            </a:pPr>
            <a:r>
              <a:rPr lang="en-US" sz="1500" b="1" dirty="0">
                <a:solidFill>
                  <a:schemeClr val="tx2"/>
                </a:solidFill>
              </a:rPr>
              <a:t>Pre-registered weight sets</a:t>
            </a:r>
            <a:endParaRPr lang="en-US" sz="1500" dirty="0"/>
          </a:p>
        </p:txBody>
      </p:sp>
      <p:sp>
        <p:nvSpPr>
          <p:cNvPr id="19" name="Text 16"/>
          <p:cNvSpPr txBox="1"/>
          <p:nvPr/>
        </p:nvSpPr>
        <p:spPr>
          <a:xfrm>
            <a:off x="6766560" y="3429000"/>
            <a:ext cx="4937760" cy="1051560"/>
          </a:xfrm>
          <a:prstGeom prst="rect">
            <a:avLst/>
          </a:prstGeom>
          <a:noFill/>
          <a:ln/>
        </p:spPr>
        <p:txBody>
          <a:bodyPr wrap="square" lIns="0" tIns="0" rIns="0" bIns="0" rtlCol="0" anchor="t"/>
          <a:lstStyle/>
          <a:p>
            <a:pPr marL="0" indent="0">
              <a:buNone/>
            </a:pPr>
            <a:r>
              <a:rPr lang="en-US" sz="1150" dirty="0">
                <a:solidFill>
                  <a:schemeClr val="tx1"/>
                </a:solidFill>
              </a:rPr>
              <a:t>Three or four candidate weight sets written down now, all scored on each live decision; the live set changes only by amendment on that record.</a:t>
            </a:r>
            <a:endParaRPr lang="en-US" sz="1150" dirty="0"/>
          </a:p>
        </p:txBody>
      </p:sp>
      <p:sp>
        <p:nvSpPr>
          <p:cNvPr id="20" name="Shape 17"/>
          <p:cNvSpPr/>
          <p:nvPr/>
        </p:nvSpPr>
        <p:spPr>
          <a:xfrm>
            <a:off x="548640" y="4617720"/>
            <a:ext cx="384048" cy="384048"/>
          </a:xfrm>
          <a:prstGeom prst="ellipse">
            <a:avLst/>
          </a:prstGeom>
          <a:solidFill>
            <a:srgbClr val="1E2761"/>
          </a:solidFill>
          <a:ln w="12700">
            <a:solidFill>
              <a:srgbClr val="1E2761"/>
            </a:solidFill>
            <a:prstDash val="solid"/>
          </a:ln>
        </p:spPr>
      </p:sp>
      <p:sp>
        <p:nvSpPr>
          <p:cNvPr id="21" name="Text 18"/>
          <p:cNvSpPr txBox="1"/>
          <p:nvPr/>
        </p:nvSpPr>
        <p:spPr>
          <a:xfrm>
            <a:off x="548640" y="461772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2" name="Text 19"/>
          <p:cNvSpPr txBox="1"/>
          <p:nvPr/>
        </p:nvSpPr>
        <p:spPr>
          <a:xfrm>
            <a:off x="1097280" y="4526280"/>
            <a:ext cx="4937760" cy="457200"/>
          </a:xfrm>
          <a:prstGeom prst="rect">
            <a:avLst/>
          </a:prstGeom>
          <a:noFill/>
          <a:ln/>
        </p:spPr>
        <p:txBody>
          <a:bodyPr wrap="square" lIns="0" tIns="0" rIns="0" bIns="0" rtlCol="0" anchor="ctr"/>
          <a:lstStyle/>
          <a:p>
            <a:pPr marL="0" indent="0">
              <a:buNone/>
            </a:pPr>
            <a:r>
              <a:rPr lang="en-US" sz="1500" b="1" dirty="0">
                <a:solidFill>
                  <a:schemeClr val="tx2"/>
                </a:solidFill>
              </a:rPr>
              <a:t>Reasoning quality, S8</a:t>
            </a:r>
            <a:endParaRPr lang="en-US" sz="1500" dirty="0"/>
          </a:p>
        </p:txBody>
      </p:sp>
      <p:sp>
        <p:nvSpPr>
          <p:cNvPr id="23" name="Text 20"/>
          <p:cNvSpPr txBox="1"/>
          <p:nvPr/>
        </p:nvSpPr>
        <p:spPr>
          <a:xfrm>
            <a:off x="1097280" y="4983480"/>
            <a:ext cx="4937760" cy="1051560"/>
          </a:xfrm>
          <a:prstGeom prst="rect">
            <a:avLst/>
          </a:prstGeom>
          <a:noFill/>
          <a:ln/>
        </p:spPr>
        <p:txBody>
          <a:bodyPr wrap="square" lIns="0" tIns="0" rIns="0" bIns="0" rtlCol="0" anchor="t"/>
          <a:lstStyle/>
          <a:p>
            <a:pPr marL="0" indent="0">
              <a:buNone/>
            </a:pPr>
            <a:r>
              <a:rPr lang="en-US" sz="1150" dirty="0">
                <a:solidFill>
                  <a:schemeClr val="tx1"/>
                </a:solidFill>
              </a:rPr>
              <a:t>Twenty traces hand-graded on four questions; a model grader trusted only once it agrees with those grades.</a:t>
            </a:r>
            <a:endParaRPr lang="en-US" sz="1150" dirty="0"/>
          </a:p>
        </p:txBody>
      </p:sp>
      <p:sp>
        <p:nvSpPr>
          <p:cNvPr id="24" name="Shape 21"/>
          <p:cNvSpPr/>
          <p:nvPr/>
        </p:nvSpPr>
        <p:spPr>
          <a:xfrm>
            <a:off x="6217920" y="4617720"/>
            <a:ext cx="384048" cy="384048"/>
          </a:xfrm>
          <a:prstGeom prst="ellipse">
            <a:avLst/>
          </a:prstGeom>
          <a:solidFill>
            <a:srgbClr val="1E2761"/>
          </a:solidFill>
          <a:ln w="12700">
            <a:solidFill>
              <a:srgbClr val="1E2761"/>
            </a:solidFill>
            <a:prstDash val="solid"/>
          </a:ln>
        </p:spPr>
      </p:sp>
      <p:sp>
        <p:nvSpPr>
          <p:cNvPr id="25" name="Text 22"/>
          <p:cNvSpPr txBox="1"/>
          <p:nvPr/>
        </p:nvSpPr>
        <p:spPr>
          <a:xfrm>
            <a:off x="6217920" y="461772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6" name="Text 23"/>
          <p:cNvSpPr txBox="1"/>
          <p:nvPr/>
        </p:nvSpPr>
        <p:spPr>
          <a:xfrm>
            <a:off x="6766560" y="4526280"/>
            <a:ext cx="4937760" cy="457200"/>
          </a:xfrm>
          <a:prstGeom prst="rect">
            <a:avLst/>
          </a:prstGeom>
          <a:noFill/>
          <a:ln/>
        </p:spPr>
        <p:txBody>
          <a:bodyPr wrap="square" lIns="0" tIns="0" rIns="0" bIns="0" rtlCol="0" anchor="ctr"/>
          <a:lstStyle/>
          <a:p>
            <a:pPr marL="0" indent="0">
              <a:buNone/>
            </a:pPr>
            <a:r>
              <a:rPr lang="en-US" sz="1500" b="1" dirty="0">
                <a:solidFill>
                  <a:schemeClr val="tx2"/>
                </a:solidFill>
              </a:rPr>
              <a:t>One more step and a second model family</a:t>
            </a:r>
            <a:endParaRPr lang="en-US" sz="1500" dirty="0"/>
          </a:p>
        </p:txBody>
      </p:sp>
      <p:sp>
        <p:nvSpPr>
          <p:cNvPr id="27" name="Text 24"/>
          <p:cNvSpPr txBox="1"/>
          <p:nvPr/>
        </p:nvSpPr>
        <p:spPr>
          <a:xfrm>
            <a:off x="6766560" y="4983480"/>
            <a:ext cx="4937760" cy="1051560"/>
          </a:xfrm>
          <a:prstGeom prst="rect">
            <a:avLst/>
          </a:prstGeom>
          <a:noFill/>
          <a:ln/>
        </p:spPr>
        <p:txBody>
          <a:bodyPr wrap="square" lIns="0" tIns="0" rIns="0" bIns="0" rtlCol="0" anchor="t"/>
          <a:lstStyle/>
          <a:p>
            <a:pPr marL="0" indent="0">
              <a:buNone/>
            </a:pPr>
            <a:r>
              <a:rPr lang="en-US" sz="1150" dirty="0">
                <a:solidFill>
                  <a:schemeClr val="tx1"/>
                </a:solidFill>
              </a:rPr>
              <a:t>A hawk, a dove and a synthesiser on the ladder; a second model family as a cross-check that the harness, not the model, is doing the work.</a:t>
            </a:r>
            <a:endParaRPr lang="en-US" sz="1150" dirty="0"/>
          </a:p>
        </p:txBody>
      </p:sp>
      <p:sp>
        <p:nvSpPr>
          <p:cNvPr id="3"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03120"/>
            <a:ext cx="11091672" cy="1280160"/>
          </a:xfrm>
          <a:prstGeom prst="rect">
            <a:avLst/>
          </a:prstGeom>
          <a:noFill/>
          <a:ln/>
        </p:spPr>
        <p:txBody>
          <a:bodyPr wrap="square" lIns="0" tIns="0" rIns="0" bIns="0" rtlCol="0" anchor="b"/>
          <a:lstStyle/>
          <a:p>
            <a:pPr marL="0" indent="0" algn="l">
              <a:buNone/>
            </a:pPr>
            <a:r>
              <a:rPr lang="en-US" sz="4000" b="1" dirty="0">
                <a:solidFill>
                  <a:schemeClr val="bg1"/>
                </a:solidFill>
              </a:rPr>
              <a:t>Three things to take away</a:t>
            </a:r>
            <a:endParaRPr lang="en-US" sz="4000" dirty="0"/>
          </a:p>
        </p:txBody>
      </p:sp>
      <p:sp>
        <p:nvSpPr>
          <p:cNvPr id="3" name="Text 0"/>
          <p:cNvSpPr>
            <a:spLocks noGrp="1"/>
          </p:cNvSpPr>
          <p:nvPr>
            <p:ph type="body" idx="101" hasCustomPrompt="1"/>
          </p:nvPr>
        </p:nvSpPr>
        <p:spPr>
          <a:xfrm>
            <a:off x="548640" y="3520440"/>
            <a:ext cx="11091672" cy="1463040"/>
          </a:xfrm>
          <a:prstGeom prst="rect">
            <a:avLst/>
          </a:prstGeom>
          <a:noFill/>
          <a:ln/>
        </p:spPr>
        <p:txBody>
          <a:bodyPr wrap="square" lIns="0" tIns="0" rIns="0" bIns="0" rtlCol="0" anchor="t"/>
          <a:lstStyle/>
          <a:p>
            <a:pPr marL="342900" indent="-342900" algn="l">
              <a:spcAft>
                <a:spcPts val="800"/>
              </a:spcAft>
              <a:buSzPct val="100000"/>
              <a:buChar char="•"/>
            </a:pPr>
            <a:r>
              <a:rPr lang="en-US" sz="2000" dirty="0">
                <a:solidFill>
                  <a:srgbClr val="CADCFC"/>
                </a:solidFill>
              </a:rPr>
              <a:t>The harness is the product. Same model, same evidence, same day: naive it wobbles and leaks; harnessed it is stable, quoted and checked.</a:t>
            </a:r>
            <a:endParaRPr lang="en-US" sz="2000" dirty="0"/>
          </a:p>
          <a:p>
            <a:pPr marL="342900" indent="-342900" algn="l">
              <a:spcAft>
                <a:spcPts val="800"/>
              </a:spcAft>
              <a:buSzPct val="100000"/>
              <a:buChar char="•"/>
            </a:pPr>
            <a:r>
              <a:rPr lang="en-US" sz="2000" dirty="0">
                <a:solidFill>
                  <a:srgbClr val="CADCFC"/>
                </a:solidFill>
              </a:rPr>
              <a:t>Judge the process. Eight decisions a year cannot prove skill; a pre-registered scorecard measured on every snapshot can show discipline and catch drift.</a:t>
            </a:r>
            <a:endParaRPr lang="en-US" sz="2000" dirty="0"/>
          </a:p>
          <a:p>
            <a:pPr marL="342900" indent="-342900" algn="l">
              <a:buSzPct val="100000"/>
              <a:buChar char="•"/>
            </a:pPr>
            <a:r>
              <a:rPr lang="en-US" sz="2000" dirty="0">
                <a:solidFill>
                  <a:srgbClr val="CADCFC"/>
                </a:solidFill>
              </a:rPr>
              <a:t>The ask: scrutinise the scorecard, suggest the next window, and tell us which other decisions deserve the same chain.</a:t>
            </a:r>
            <a:endParaRPr lang="en-US" sz="2000" dirty="0"/>
          </a:p>
        </p:txBody>
      </p:sp>
    </p:spTree>
  </p:cSld>
  <p:clrMapOvr>
    <a:masterClrMapping/>
  </p:clrMapOvr>
</p:sld>
</file>

<file path=ppt/theme/theme1.xml><?xml version="1.0" encoding="utf-8"?>
<a:theme xmlns:a="http://schemas.openxmlformats.org/drawingml/2006/main" name="FedCast">
  <a:themeElements>
    <a:clrScheme name="FedCast">
      <a:dk1>
        <a:srgbClr val="1B1F2A"/>
      </a:dk1>
      <a:lt1>
        <a:srgbClr val="FFFFFF"/>
      </a:lt1>
      <a:dk2>
        <a:srgbClr val="1E2761"/>
      </a:dk2>
      <a:lt2>
        <a:srgbClr val="EEF2F7"/>
      </a:lt2>
      <a:accent1>
        <a:srgbClr val="1E2761"/>
      </a:accent1>
      <a:accent2>
        <a:srgbClr val="C8553D"/>
      </a:accent2>
      <a:accent3>
        <a:srgbClr val="2C6E49"/>
      </a:accent3>
      <a:accent4>
        <a:srgbClr val="6B7280"/>
      </a:accent4>
      <a:accent5>
        <a:srgbClr val="CADCFC"/>
      </a:accent5>
      <a:accent6>
        <a:srgbClr val="E9B44C"/>
      </a:accent6>
      <a:hlink>
        <a:srgbClr val="1E2761"/>
      </a:hlink>
      <a:folHlink>
        <a:srgbClr val="6B7280"/>
      </a:folHlink>
    </a:clrScheme>
    <a:fontScheme name="FedCa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5200</Words>
  <Application>Microsoft Office PowerPoint</Application>
  <PresentationFormat>Widescreen</PresentationFormat>
  <Paragraphs>500</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Courier New</vt:lpstr>
      <vt:lpstr>FedCast</vt:lpstr>
      <vt:lpstr>FedCast</vt:lpstr>
      <vt:lpstr>About me</vt:lpstr>
      <vt:lpstr>The question, and today's answer</vt:lpstr>
      <vt:lpstr>Live demo 1: the forecast</vt:lpstr>
      <vt:lpstr>Why build this</vt:lpstr>
      <vt:lpstr>What others do, and what each lacks</vt:lpstr>
      <vt:lpstr>Our edge: not a better guess, a checkable one</vt:lpstr>
      <vt:lpstr>One chain, left to right</vt:lpstr>
      <vt:lpstr>Today's readings: from five models to one number</vt:lpstr>
      <vt:lpstr>Live demo 2: the evidence graph and the pool</vt:lpstr>
      <vt:lpstr>Eight analysts, one model, one ladder</vt:lpstr>
      <vt:lpstr>What the harness enforces around every analyst</vt:lpstr>
      <vt:lpstr>Live demo 3: what each analyst is asked and given</vt:lpstr>
      <vt:lpstr>The ladder, four snapshots, five runs each</vt:lpstr>
      <vt:lpstr>What each step bought</vt:lpstr>
      <vt:lpstr>What the specialists said on 26 October</vt:lpstr>
      <vt:lpstr>Live demo 4: what the analysts concluded</vt:lpstr>
      <vt:lpstr>The scorecard: eight of ten dimensions measured by code</vt:lpstr>
      <vt:lpstr>Live demo 5: the scorecard and the drift table</vt:lpstr>
      <vt:lpstr>Governance: pre-register, amend in the open, replay</vt:lpstr>
      <vt:lpstr>Live demo 6: the ledger and replay</vt:lpstr>
      <vt:lpstr>What this does not claim</vt:lpstr>
      <vt:lpstr>Follow-ups, in order of value</vt:lpstr>
      <vt:lpstr>Three things to take away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FedCast: a process-judged forecaster for the next Fed decision</dc:title>
  <dc:subject>PptxGenJS Presentation</dc:subject>
  <dc:creator>FedCast</dc:creator>
  <cp:lastModifiedBy>Kahming Tan</cp:lastModifiedBy>
  <cp:revision>1</cp:revision>
  <dcterms:created xsi:type="dcterms:W3CDTF">2026-10-28T11:54:25Z</dcterms:created>
  <dcterms:modified xsi:type="dcterms:W3CDTF">2026-10-29T04:10:24Z</dcterms:modified>
</cp:coreProperties>
</file>