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a7c7f43-9be4-34e6-727d-336499a47159}">
          <p14:sldIdLst>
            <p14:sldId id="256"/>
            <p14:sldId id="257"/>
          </p14:sldIdLst>
        </p14:section>
        <p14:section name="Objective" id="{701fe992-99a1-7c93-122c-9d17719ff9c7}">
          <p14:sldIdLst>
            <p14:sldId id="258"/>
            <p14:sldId id="259"/>
            <p14:sldId id="260"/>
            <p14:sldId id="261"/>
          </p14:sldIdLst>
        </p14:section>
        <p14:section name="How it works" id="{1cf151a3-5b9f-155a-a2bd-ed29be3b9c33}">
          <p14:sldIdLst>
            <p14:sldId id="262"/>
            <p14:sldId id="263"/>
          </p14:sldIdLst>
        </p14:section>
        <p14:section name="The harness" id="{c75b9c62-f724-63bf-6621-8bd1c7623959}">
          <p14:sldIdLst>
            <p14:sldId id="264"/>
            <p14:sldId id="265"/>
          </p14:sldIdLst>
        </p14:section>
        <p14:section name="Evidence" id="{906e48f8-1eac-7e6f-b127-421bf1e645bf}">
          <p14:sldIdLst>
            <p14:sldId id="266"/>
            <p14:sldId id="267"/>
            <p14:sldId id="268"/>
            <p14:sldId id="269"/>
          </p14:sldIdLst>
        </p14:section>
        <p14:section name="Limits and next" id="{90d0d94e-09bf-b47c-bcb0-f6061da366b0}">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thesis: a language model inside an engineered harness gives forecasts that are measurably more repeatable and more faithful to evidence than the same model asked naively, and the way to prove it is to measure the process, not to wait for eight decisions a year to come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before the session: role, background, and why this project. Keep to three points; this slide should take under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narrow on purpose: what will the FOMC decide at its next scheduled meeting, as probabilities over five outcomes. Today's answer is on the left. On the right is the point: the market alone says 90/10; the system says 71/23 and can show every step from evidence to that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First, accuracy is the wrong yardstick at this horizon: eight decisions a year, and the market already gets most of them right, so a good year proves nothing. Second, what a desk can use is a number whose every input it can see and challenge. Third, the harness is the asset: the same machine can target the December meeting, the year-end rate, or a different central bank, and the controls tell you whether it is still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comparison. At thirty days the futures market, read through CME FedWatch, calls about 88% of decisions right over thirty years, and nothing here claims to beat that. The academic LLM papers report higher accuracy but on sixteen meetings, with no replay and no verification of what the model read. The gap we fill is the right-hand column: not a better guess, a checkable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properties, each enforced by code, each measured. Say them slowly; they are the whole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boxes are code and deterministic. The orange box is the language model, which may lean the number but never writes it. The green box is the human. Walk it left to right; every box is a view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arithmetic for entry 16. The pool is a weighted average, then the floor. The specialists' mean lean of +4.4 basis points becomes 4.4 points of probability moved toward a hike, through the same capped mechanism a human view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explains what harnessing means. The same model is run eight ways on the same snapshot. Analyst 1 gets nothing but the question: that is what the model does on its own, the control. Each later arm adds exactly one technique, so the score difference between neighbouring arms is the value of that technique. Arms A and B are meant to fail; the tool is judged on C and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mechanisms. None of them is clever; together they are what makes a language model's output usable in a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The naive model wobbles by three to five points between identical runs, cites nothing, and leaks three dozen numbers from memory; it still thinks the Fed is cutting. Showing it the evidence removes the leaks but not the wobble, and nothing can be checked. Structure plus verification makes the output stable and fully verifiable. Specialists keep that and add attribution. Same model, same day; the difference is the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concrete. Each specialist's lean, and one real claim with the quote code matched. The labour analyst is the one that does not lean hawkish, and because it is a separate reader that dissent is visible rather than averaged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dimensions fixed before any forecasting code existed. Eight are now measured automatically on each new snapshot. The over-time table is the drift check: the marks never move, so a cell that turns red is a change in the system. It has already caught two things, bottom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amendments in five weeks, each logged with its reason, each changing the spec hash pinned in the tests. The point of the timeline is that every change to the method is visible and dated, and that the number can be recomputed under the spec it was made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limits before anyone asks. There is no live record: the first scored decision is 28 October. The weights are judgement, logged, not fitted. The probit is kept out. The sample behind every quant model is small and unbalanced. And at five weeks the market is the anchor, not the competitor.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follow-ups worth discussing with the room. Live scoring starts this week. Longer windows are where reading evidence should matter more: for the December meeting the market already prices a hike at three in four, and the year-end rate is open. And an events agent for regime shifts: the cuts of 1987, 1998, 2008 and 2020 were driven by financial stress, not by the data the models read; the base-rates pre-read already lists the intermeeting moves, and a watch-out agent could flag when conditions look like those episodes.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 forecast for 28 October is on file; the scoring is automatic from here; what the room can add is scrutiny and the next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520440"/>
            <a:ext cx="11091672" cy="1463040"/>
          </a:xfrm>
          <a:prstGeom prst="rect">
            <a:avLst/>
          </a:prstGeom>
          <a:noFill/>
          <a:ln/>
        </p:spPr>
        <p:txBody>
          <a:bodyPr wrap="square" rtlCol="0"/>
          <a:lstStyle>
            <a:lvl1pPr algn="l" indent="0" marL="0">
              <a:buNone/>
              <a:defRPr lang="en-US" sz="2000" dirty="0">
                <a:solidFill>
                  <a:srgbClr val="CADCF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280160"/>
          </a:xfrm>
          <a:prstGeom prst="rect">
            <a:avLst/>
          </a:prstGeom>
          <a:noFill/>
          <a:ln/>
        </p:spPr>
        <p:txBody>
          <a:bodyPr wrap="square" lIns="0" tIns="0" rIns="0" bIns="0" rtlCol="0" anchor="b"/>
          <a:lstStyle/>
          <a:p>
            <a:pPr algn="l" indent="0" marL="0">
              <a:buNone/>
            </a:pPr>
            <a:r>
              <a:rPr lang="en-US" sz="4000" b="1" dirty="0">
                <a:solidFill>
                  <a:schemeClr val="bg1"/>
                </a:solidFill>
              </a:rPr>
              <a:t>FedCast</a:t>
            </a:r>
            <a:endParaRPr lang="en-US" sz="4000" dirty="0"/>
          </a:p>
        </p:txBody>
      </p:sp>
      <p:sp>
        <p:nvSpPr>
          <p:cNvPr id="3" name="Text 0"/>
          <p:cNvSpPr/>
          <p:nvPr>
            <p:ph idx="101" type="body" hasCustomPrompt="1"/>
          </p:nvPr>
        </p:nvSpPr>
        <p:spPr>
          <a:xfrm>
            <a:off x="548640" y="3520440"/>
            <a:ext cx="11091672" cy="1463040"/>
          </a:xfrm>
          <a:prstGeom prst="rect">
            <a:avLst/>
          </a:prstGeom>
          <a:noFill/>
          <a:ln/>
        </p:spPr>
        <p:txBody>
          <a:bodyPr wrap="square" lIns="0" tIns="0" rIns="0" bIns="0" rtlCol="0" anchor="t"/>
          <a:lstStyle/>
          <a:p>
            <a:pPr algn="l" indent="0" marL="0">
              <a:buNone/>
            </a:pPr>
            <a:r>
              <a:rPr lang="en-US" sz="2000" dirty="0">
                <a:solidFill>
                  <a:srgbClr val="CADCFC"/>
                </a:solidFill>
              </a:rPr>
              <a:t>A forecaster for the next Federal Reserve rate decision, built to be judged by its process rather than its luck</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indent="0" marL="0">
              <a:buNone/>
            </a:pPr>
            <a:r>
              <a:rPr lang="en-US" sz="1400" dirty="0">
                <a:solidFill>
                  <a:srgbClr val="CADCFC"/>
                </a:solidFill>
              </a:rPr>
              <a:t>[Your name]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About me</a:t>
            </a:r>
            <a:endParaRPr lang="en-US" sz="3200" dirty="0"/>
          </a:p>
        </p:txBody>
      </p:sp>
      <p:sp>
        <p:nvSpPr>
          <p:cNvPr id="4" name="Shape 1"/>
          <p:cNvSpPr/>
          <p:nvPr/>
        </p:nvSpPr>
        <p:spPr>
          <a:xfrm>
            <a:off x="548640" y="1463040"/>
            <a:ext cx="5120640" cy="4206240"/>
          </a:xfrm>
          <a:prstGeom prst="roundRect">
            <a:avLst>
              <a:gd name="adj" fmla="val 260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Text 2"/>
          <p:cNvSpPr txBox="1"/>
          <p:nvPr/>
        </p:nvSpPr>
        <p:spPr>
          <a:xfrm>
            <a:off x="914400" y="1737360"/>
            <a:ext cx="4389120" cy="54864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[Your name]</a:t>
            </a:r>
            <a:endParaRPr lang="en-US" sz="2400" dirty="0"/>
          </a:p>
        </p:txBody>
      </p:sp>
      <p:sp>
        <p:nvSpPr>
          <p:cNvPr id="6" name="Text 3"/>
          <p:cNvSpPr txBox="1"/>
          <p:nvPr/>
        </p:nvSpPr>
        <p:spPr>
          <a:xfrm>
            <a:off x="914400" y="2286000"/>
            <a:ext cx="4389120" cy="457200"/>
          </a:xfrm>
          <a:prstGeom prst="rect">
            <a:avLst/>
          </a:prstGeom>
          <a:noFill/>
          <a:ln/>
        </p:spPr>
        <p:txBody>
          <a:bodyPr wrap="square" lIns="0" tIns="0" rIns="0" bIns="0" rtlCol="0" anchor="t"/>
          <a:lstStyle/>
          <a:p>
            <a:pPr indent="0" marL="0">
              <a:buNone/>
            </a:pPr>
            <a:r>
              <a:rPr lang="en-US" sz="1400" dirty="0">
                <a:solidFill>
                  <a:schemeClr val="accent4"/>
                </a:solidFill>
              </a:rPr>
              <a:t>[Role at Fullerton]</a:t>
            </a:r>
            <a:endParaRPr lang="en-US" sz="1400" dirty="0"/>
          </a:p>
        </p:txBody>
      </p:sp>
      <p:sp>
        <p:nvSpPr>
          <p:cNvPr id="7" name="Text 4"/>
          <p:cNvSpPr txBox="1"/>
          <p:nvPr/>
        </p:nvSpPr>
        <p:spPr>
          <a:xfrm>
            <a:off x="914400" y="2926080"/>
            <a:ext cx="438912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[Background: markets, data, engineering]</a:t>
            </a:r>
            <a:endParaRPr lang="en-US" sz="1500" dirty="0"/>
          </a:p>
          <a:p>
            <a:pPr marL="342900" indent="-342900">
              <a:spcAft>
                <a:spcPts val="600"/>
              </a:spcAft>
              <a:buSzPct val="100000"/>
              <a:buChar char="•"/>
            </a:pPr>
            <a:r>
              <a:rPr lang="en-US" sz="1500" dirty="0">
                <a:solidFill>
                  <a:schemeClr val="tx1"/>
                </a:solidFill>
              </a:rPr>
              <a:t>[What you do day to day]</a:t>
            </a:r>
            <a:endParaRPr lang="en-US" sz="1500" dirty="0"/>
          </a:p>
          <a:p>
            <a:pPr marL="342900" indent="-342900">
              <a:spcAft>
                <a:spcPts val="600"/>
              </a:spcAft>
              <a:buSzPct val="100000"/>
              <a:buChar char="•"/>
            </a:pPr>
            <a:r>
              <a:rPr lang="en-US" sz="1500" dirty="0">
                <a:solidFill>
                  <a:schemeClr val="tx1"/>
                </a:solidFill>
              </a:rPr>
              <a:t>[Why you built this: the question you wanted answered]</a:t>
            </a:r>
            <a:endParaRPr lang="en-US" sz="1500" dirty="0"/>
          </a:p>
        </p:txBody>
      </p:sp>
      <p:sp>
        <p:nvSpPr>
          <p:cNvPr id="8" name="Text 5"/>
          <p:cNvSpPr txBox="1"/>
          <p:nvPr/>
        </p:nvSpPr>
        <p:spPr>
          <a:xfrm>
            <a:off x="6400800" y="1554480"/>
            <a:ext cx="5212080" cy="457200"/>
          </a:xfrm>
          <a:prstGeom prst="rect">
            <a:avLst/>
          </a:prstGeom>
          <a:noFill/>
          <a:ln/>
        </p:spPr>
        <p:txBody>
          <a:bodyPr wrap="square" lIns="0" tIns="0" rIns="0" bIns="0" rtlCol="0" anchor="t"/>
          <a:lstStyle/>
          <a:p>
            <a:pPr indent="0" marL="0">
              <a:buNone/>
            </a:pPr>
            <a:r>
              <a:rPr lang="en-US" sz="1800" b="1" dirty="0">
                <a:solidFill>
                  <a:schemeClr val="tx2"/>
                </a:solidFill>
              </a:rPr>
              <a:t>What this session is</a:t>
            </a:r>
            <a:endParaRPr lang="en-US" sz="1800" dirty="0"/>
          </a:p>
        </p:txBody>
      </p:sp>
      <p:sp>
        <p:nvSpPr>
          <p:cNvPr id="9" name="Text 6"/>
          <p:cNvSpPr txBox="1"/>
          <p:nvPr/>
        </p:nvSpPr>
        <p:spPr>
          <a:xfrm>
            <a:off x="6400800" y="2103120"/>
            <a:ext cx="5212080" cy="32004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A tool that forecasts the next FOMC decision from frozen evidence</a:t>
            </a:r>
            <a:endParaRPr lang="en-US" sz="1500" dirty="0"/>
          </a:p>
          <a:p>
            <a:pPr marL="342900" indent="-342900">
              <a:spcAft>
                <a:spcPts val="600"/>
              </a:spcAft>
              <a:buSzPct val="100000"/>
              <a:buChar char="•"/>
            </a:pPr>
            <a:r>
              <a:rPr lang="en-US" sz="1500" dirty="0">
                <a:solidFill>
                  <a:schemeClr val="tx1"/>
                </a:solidFill>
              </a:rPr>
              <a:t>A method for deciding whether a language model can be trusted inside a forecasting process</a:t>
            </a:r>
            <a:endParaRPr lang="en-US" sz="1500" dirty="0"/>
          </a:p>
          <a:p>
            <a:pPr marL="342900" indent="-342900">
              <a:spcAft>
                <a:spcPts val="600"/>
              </a:spcAft>
              <a:buSzPct val="100000"/>
              <a:buChar char="•"/>
            </a:pPr>
            <a:r>
              <a:rPr lang="en-US" sz="1500" dirty="0">
                <a:solidFill>
                  <a:schemeClr val="tx1"/>
                </a:solidFill>
              </a:rPr>
              <a:t>A live record: a forecast for 28 October 2026 is on file now</a:t>
            </a:r>
            <a:endParaRPr lang="en-US" sz="1500" dirty="0"/>
          </a:p>
          <a:p>
            <a:pPr marL="342900" indent="-342900">
              <a:spcAft>
                <a:spcPts val="600"/>
              </a:spcAft>
              <a:buSzPct val="100000"/>
              <a:buChar char="•"/>
            </a:pPr>
            <a:r>
              <a:rPr lang="en-US" sz="1500" dirty="0">
                <a:solidFill>
                  <a:schemeClr val="tx1"/>
                </a:solidFill>
              </a:rPr>
              <a:t>Twenty minutes, then questions</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The question, and today's answer</a:t>
            </a:r>
            <a:endParaRPr lang="en-US" sz="3200" dirty="0"/>
          </a:p>
        </p:txBody>
      </p:sp>
      <p:sp>
        <p:nvSpPr>
          <p:cNvPr id="4" name="Text 1"/>
          <p:cNvSpPr txBox="1"/>
          <p:nvPr/>
        </p:nvSpPr>
        <p:spPr>
          <a:xfrm>
            <a:off x="548640" y="1554480"/>
            <a:ext cx="329184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28 Oct 2026</a:t>
            </a:r>
            <a:endParaRPr lang="en-US" sz="4000" dirty="0"/>
          </a:p>
        </p:txBody>
      </p:sp>
      <p:sp>
        <p:nvSpPr>
          <p:cNvPr id="5" name="Text 2"/>
          <p:cNvSpPr txBox="1"/>
          <p:nvPr/>
        </p:nvSpPr>
        <p:spPr>
          <a:xfrm>
            <a:off x="548640" y="2395728"/>
            <a:ext cx="3291840" cy="548640"/>
          </a:xfrm>
          <a:prstGeom prst="rect">
            <a:avLst/>
          </a:prstGeom>
          <a:noFill/>
          <a:ln/>
        </p:spPr>
        <p:txBody>
          <a:bodyPr wrap="square" lIns="0" tIns="0" rIns="0" bIns="0" rtlCol="0" anchor="t"/>
          <a:lstStyle/>
          <a:p>
            <a:pPr indent="0" marL="0">
              <a:buNone/>
            </a:pPr>
            <a:r>
              <a:rPr lang="en-US" sz="1200" dirty="0">
                <a:solidFill>
                  <a:schemeClr val="accent4"/>
                </a:solidFill>
              </a:rPr>
              <a:t>the decision being forecast</a:t>
            </a:r>
            <a:endParaRPr lang="en-US" sz="1200" dirty="0"/>
          </a:p>
        </p:txBody>
      </p:sp>
      <p:sp>
        <p:nvSpPr>
          <p:cNvPr id="6" name="Text 3"/>
          <p:cNvSpPr txBox="1"/>
          <p:nvPr/>
        </p:nvSpPr>
        <p:spPr>
          <a:xfrm>
            <a:off x="4114800" y="1554480"/>
            <a:ext cx="292608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71%</a:t>
            </a:r>
            <a:endParaRPr lang="en-US" sz="4000" dirty="0"/>
          </a:p>
        </p:txBody>
      </p:sp>
      <p:sp>
        <p:nvSpPr>
          <p:cNvPr id="7" name="Text 4"/>
          <p:cNvSpPr txBox="1"/>
          <p:nvPr/>
        </p:nvSpPr>
        <p:spPr>
          <a:xfrm>
            <a:off x="4114800" y="2395728"/>
            <a:ext cx="2926080" cy="548640"/>
          </a:xfrm>
          <a:prstGeom prst="rect">
            <a:avLst/>
          </a:prstGeom>
          <a:noFill/>
          <a:ln/>
        </p:spPr>
        <p:txBody>
          <a:bodyPr wrap="square" lIns="0" tIns="0" rIns="0" bIns="0" rtlCol="0" anchor="t"/>
          <a:lstStyle/>
          <a:p>
            <a:pPr indent="0" marL="0">
              <a:buNone/>
            </a:pPr>
            <a:r>
              <a:rPr lang="en-US" sz="1200" dirty="0">
                <a:solidFill>
                  <a:schemeClr val="accent4"/>
                </a:solidFill>
              </a:rPr>
              <a:t>no change</a:t>
            </a:r>
            <a:endParaRPr lang="en-US" sz="1200" dirty="0"/>
          </a:p>
        </p:txBody>
      </p:sp>
      <p:sp>
        <p:nvSpPr>
          <p:cNvPr id="8" name="Text 5"/>
          <p:cNvSpPr txBox="1"/>
          <p:nvPr/>
        </p:nvSpPr>
        <p:spPr>
          <a:xfrm>
            <a:off x="6949440" y="1554480"/>
            <a:ext cx="2926080" cy="822960"/>
          </a:xfrm>
          <a:prstGeom prst="rect">
            <a:avLst/>
          </a:prstGeom>
          <a:noFill/>
          <a:ln/>
        </p:spPr>
        <p:txBody>
          <a:bodyPr wrap="square" lIns="0" tIns="0" rIns="0" bIns="0" rtlCol="0" anchor="t"/>
          <a:lstStyle/>
          <a:p>
            <a:pPr indent="0" marL="0">
              <a:buNone/>
            </a:pPr>
            <a:r>
              <a:rPr lang="en-US" sz="4000" b="1" dirty="0">
                <a:solidFill>
                  <a:srgbClr val="C8553D"/>
                </a:solidFill>
                <a:latin typeface="Cambria" pitchFamily="34" charset="0"/>
                <a:ea typeface="Cambria" pitchFamily="34" charset="-122"/>
                <a:cs typeface="Cambria" pitchFamily="34" charset="-120"/>
              </a:rPr>
              <a:t>23%</a:t>
            </a:r>
            <a:endParaRPr lang="en-US" sz="4000" dirty="0"/>
          </a:p>
        </p:txBody>
      </p:sp>
      <p:sp>
        <p:nvSpPr>
          <p:cNvPr id="9" name="Text 6"/>
          <p:cNvSpPr txBox="1"/>
          <p:nvPr/>
        </p:nvSpPr>
        <p:spPr>
          <a:xfrm>
            <a:off x="6949440" y="2395728"/>
            <a:ext cx="2926080" cy="548640"/>
          </a:xfrm>
          <a:prstGeom prst="rect">
            <a:avLst/>
          </a:prstGeom>
          <a:noFill/>
          <a:ln/>
        </p:spPr>
        <p:txBody>
          <a:bodyPr wrap="square" lIns="0" tIns="0" rIns="0" bIns="0" rtlCol="0" anchor="t"/>
          <a:lstStyle/>
          <a:p>
            <a:pPr indent="0" marL="0">
              <a:buNone/>
            </a:pPr>
            <a:r>
              <a:rPr lang="en-US" sz="1200" dirty="0">
                <a:solidFill>
                  <a:schemeClr val="accent4"/>
                </a:solidFill>
              </a:rPr>
              <a:t>+25 bps hike</a:t>
            </a:r>
            <a:endParaRPr lang="en-US" sz="1200" dirty="0"/>
          </a:p>
        </p:txBody>
      </p:sp>
      <p:sp>
        <p:nvSpPr>
          <p:cNvPr id="10" name="Text 7"/>
          <p:cNvSpPr txBox="1"/>
          <p:nvPr/>
        </p:nvSpPr>
        <p:spPr>
          <a:xfrm>
            <a:off x="9692640" y="1554480"/>
            <a:ext cx="210312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6%</a:t>
            </a:r>
            <a:endParaRPr lang="en-US" sz="4000" dirty="0"/>
          </a:p>
        </p:txBody>
      </p:sp>
      <p:sp>
        <p:nvSpPr>
          <p:cNvPr id="11" name="Text 8"/>
          <p:cNvSpPr txBox="1"/>
          <p:nvPr/>
        </p:nvSpPr>
        <p:spPr>
          <a:xfrm>
            <a:off x="9692640" y="2395728"/>
            <a:ext cx="2103120" cy="548640"/>
          </a:xfrm>
          <a:prstGeom prst="rect">
            <a:avLst/>
          </a:prstGeom>
          <a:noFill/>
          <a:ln/>
        </p:spPr>
        <p:txBody>
          <a:bodyPr wrap="square" lIns="0" tIns="0" rIns="0" bIns="0" rtlCol="0" anchor="t"/>
          <a:lstStyle/>
          <a:p>
            <a:pPr indent="0" marL="0">
              <a:buNone/>
            </a:pPr>
            <a:r>
              <a:rPr lang="en-US" sz="1200" dirty="0">
                <a:solidFill>
                  <a:schemeClr val="accent4"/>
                </a:solidFill>
              </a:rPr>
              <a:t>the other three outcomes together</a:t>
            </a:r>
            <a:endParaRPr lang="en-US" sz="1200" dirty="0"/>
          </a:p>
        </p:txBody>
      </p:sp>
      <p:sp>
        <p:nvSpPr>
          <p:cNvPr id="12" name="Shape 9"/>
          <p:cNvSpPr/>
          <p:nvPr/>
        </p:nvSpPr>
        <p:spPr>
          <a:xfrm>
            <a:off x="548640" y="3383280"/>
            <a:ext cx="11091672" cy="2651760"/>
          </a:xfrm>
          <a:prstGeom prst="roundRect">
            <a:avLst>
              <a:gd name="adj" fmla="val 4138"/>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3" name="Text 10"/>
          <p:cNvSpPr txBox="1"/>
          <p:nvPr/>
        </p:nvSpPr>
        <p:spPr>
          <a:xfrm>
            <a:off x="914400" y="3566160"/>
            <a:ext cx="5486400" cy="365760"/>
          </a:xfrm>
          <a:prstGeom prst="rect">
            <a:avLst/>
          </a:prstGeom>
          <a:noFill/>
          <a:ln/>
        </p:spPr>
        <p:txBody>
          <a:bodyPr wrap="square" lIns="0" tIns="0" rIns="0" bIns="0" rtlCol="0" anchor="t"/>
          <a:lstStyle/>
          <a:p>
            <a:pPr indent="0" marL="0">
              <a:buNone/>
            </a:pPr>
            <a:r>
              <a:rPr lang="en-US" sz="1600" b="1" dirty="0">
                <a:solidFill>
                  <a:schemeClr val="tx2"/>
                </a:solidFill>
              </a:rPr>
              <a:t>Where the number comes from</a:t>
            </a:r>
            <a:endParaRPr lang="en-US" sz="1600" dirty="0"/>
          </a:p>
        </p:txBody>
      </p:sp>
      <p:sp>
        <p:nvSpPr>
          <p:cNvPr id="14" name="Text 11"/>
          <p:cNvSpPr txBox="1"/>
          <p:nvPr/>
        </p:nvSpPr>
        <p:spPr>
          <a:xfrm>
            <a:off x="914400" y="3977640"/>
            <a:ext cx="10360152" cy="20116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1"/>
                </a:solidFill>
              </a:rPr>
              <a:t>One frozen snapshot of 22 evidence items, pulled 26 October: futures, eight FRED series, both statements, minutes, transcript, projections, speeches, 32 years of decisions, prediction-market odds</a:t>
            </a:r>
            <a:endParaRPr lang="en-US" sz="1350" dirty="0"/>
          </a:p>
          <a:p>
            <a:pPr marL="342900" indent="-342900">
              <a:spcAft>
                <a:spcPts val="600"/>
              </a:spcAft>
              <a:buSzPct val="100000"/>
              <a:buChar char="•"/>
            </a:pPr>
            <a:r>
              <a:rPr lang="en-US" sz="1350" dirty="0">
                <a:solidFill>
                  <a:schemeClr val="tx1"/>
                </a:solidFill>
              </a:rPr>
              <a:t>Four models pooled by code with fixed weights: market-implied 0.6, the Fed's own Taylor rules 0.2, prediction-market odds 0.1, historical base rates 0.1; then a 1.5% floor on every outcome</a:t>
            </a:r>
            <a:endParaRPr lang="en-US" sz="1350" dirty="0"/>
          </a:p>
          <a:p>
            <a:pPr marL="342900" indent="-342900">
              <a:spcAft>
                <a:spcPts val="600"/>
              </a:spcAft>
              <a:buSzPct val="100000"/>
              <a:buChar char="•"/>
            </a:pPr>
            <a:r>
              <a:rPr lang="en-US" sz="1350" dirty="0">
                <a:solidFill>
                  <a:schemeClr val="tx1"/>
                </a:solidFill>
              </a:rPr>
              <a:t>Five specialist analysts (a language model, tools off, every claim quoted and verified) lean the pooled number by a bounded 4.4 points toward a hike</a:t>
            </a:r>
            <a:endParaRPr lang="en-US" sz="1350" dirty="0"/>
          </a:p>
          <a:p>
            <a:pPr marL="342900" indent="-342900">
              <a:spcAft>
                <a:spcPts val="600"/>
              </a:spcAft>
              <a:buSzPct val="100000"/>
              <a:buChar char="•"/>
            </a:pPr>
            <a:r>
              <a:rPr lang="en-US" sz="1350" dirty="0">
                <a:solidFill>
                  <a:schemeClr val="tx1"/>
                </a:solidFill>
              </a:rPr>
              <a:t>Ledger entry #16, hash-chained, replays exactly from its snapshot</a:t>
            </a:r>
            <a:endParaRPr lang="en-US" sz="13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Why build this</a:t>
            </a:r>
            <a:endParaRPr lang="en-US" sz="3200" dirty="0"/>
          </a:p>
        </p:txBody>
      </p:sp>
      <p:sp>
        <p:nvSpPr>
          <p:cNvPr id="4" name="Shape 1"/>
          <p:cNvSpPr/>
          <p:nvPr/>
        </p:nvSpPr>
        <p:spPr>
          <a:xfrm>
            <a:off x="548640" y="1554480"/>
            <a:ext cx="3520440" cy="3657600"/>
          </a:xfrm>
          <a:prstGeom prst="roundRect">
            <a:avLst>
              <a:gd name="adj" fmla="val 31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Shape 2"/>
          <p:cNvSpPr/>
          <p:nvPr/>
        </p:nvSpPr>
        <p:spPr>
          <a:xfrm>
            <a:off x="822960" y="1783080"/>
            <a:ext cx="384048" cy="384048"/>
          </a:xfrm>
          <a:prstGeom prst="ellipse">
            <a:avLst/>
          </a:prstGeom>
          <a:solidFill>
            <a:srgbClr val="1E2761"/>
          </a:solidFill>
          <a:ln w="12700">
            <a:solidFill>
              <a:srgbClr val="1E2761"/>
            </a:solidFill>
            <a:prstDash val="solid"/>
          </a:ln>
        </p:spPr>
      </p:sp>
      <p:sp>
        <p:nvSpPr>
          <p:cNvPr id="6" name="Text 3"/>
          <p:cNvSpPr txBox="1"/>
          <p:nvPr/>
        </p:nvSpPr>
        <p:spPr>
          <a:xfrm>
            <a:off x="82296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822960" y="2286000"/>
            <a:ext cx="3017520" cy="640080"/>
          </a:xfrm>
          <a:prstGeom prst="rect">
            <a:avLst/>
          </a:prstGeom>
          <a:noFill/>
          <a:ln/>
        </p:spPr>
        <p:txBody>
          <a:bodyPr wrap="square" lIns="0" tIns="0" rIns="0" bIns="0" rtlCol="0" anchor="t"/>
          <a:lstStyle/>
          <a:p>
            <a:pPr indent="0" marL="0">
              <a:buNone/>
            </a:pPr>
            <a:r>
              <a:rPr lang="en-US" sz="1700" b="1" dirty="0">
                <a:solidFill>
                  <a:schemeClr val="tx2"/>
                </a:solidFill>
              </a:rPr>
              <a:t>Judge the process, not the luck</a:t>
            </a:r>
            <a:endParaRPr lang="en-US" sz="1700" dirty="0"/>
          </a:p>
        </p:txBody>
      </p:sp>
      <p:sp>
        <p:nvSpPr>
          <p:cNvPr id="8" name="Text 5"/>
          <p:cNvSpPr txBox="1"/>
          <p:nvPr/>
        </p:nvSpPr>
        <p:spPr>
          <a:xfrm>
            <a:off x="822960" y="2971800"/>
            <a:ext cx="3017520" cy="2148840"/>
          </a:xfrm>
          <a:prstGeom prst="rect">
            <a:avLst/>
          </a:prstGeom>
          <a:noFill/>
          <a:ln/>
        </p:spPr>
        <p:txBody>
          <a:bodyPr wrap="square" lIns="0" tIns="0" rIns="0" bIns="0" rtlCol="0" anchor="t"/>
          <a:lstStyle/>
          <a:p>
            <a:pPr indent="0" marL="0">
              <a:buNone/>
            </a:pPr>
            <a:r>
              <a:rPr lang="en-US" sz="1400" dirty="0">
                <a:solidFill>
                  <a:schemeClr val="tx1"/>
                </a:solidFill>
              </a:rPr>
              <a:t>Eight decisions a year is far too few to tell skill from chance. So the yardstick is a ten-dimension scorecard fixed before any code existed: repeatability, groundedness, leakage, directional sanity, noise invariance, coherence, auditability and more. Outcomes are logged and never used to tune.</a:t>
            </a:r>
            <a:endParaRPr lang="en-US" sz="1400" dirty="0"/>
          </a:p>
        </p:txBody>
      </p:sp>
      <p:sp>
        <p:nvSpPr>
          <p:cNvPr id="9" name="Shape 6"/>
          <p:cNvSpPr/>
          <p:nvPr/>
        </p:nvSpPr>
        <p:spPr>
          <a:xfrm>
            <a:off x="4297680" y="1554480"/>
            <a:ext cx="3520440" cy="3657600"/>
          </a:xfrm>
          <a:prstGeom prst="roundRect">
            <a:avLst>
              <a:gd name="adj" fmla="val 31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0" name="Shape 7"/>
          <p:cNvSpPr/>
          <p:nvPr/>
        </p:nvSpPr>
        <p:spPr>
          <a:xfrm>
            <a:off x="4572000" y="1783080"/>
            <a:ext cx="384048" cy="384048"/>
          </a:xfrm>
          <a:prstGeom prst="ellipse">
            <a:avLst/>
          </a:prstGeom>
          <a:solidFill>
            <a:srgbClr val="1E2761"/>
          </a:solidFill>
          <a:ln w="12700">
            <a:solidFill>
              <a:srgbClr val="1E2761"/>
            </a:solidFill>
            <a:prstDash val="solid"/>
          </a:ln>
        </p:spPr>
      </p:sp>
      <p:sp>
        <p:nvSpPr>
          <p:cNvPr id="11" name="Text 8"/>
          <p:cNvSpPr txBox="1"/>
          <p:nvPr/>
        </p:nvSpPr>
        <p:spPr>
          <a:xfrm>
            <a:off x="457200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9"/>
          <p:cNvSpPr txBox="1"/>
          <p:nvPr/>
        </p:nvSpPr>
        <p:spPr>
          <a:xfrm>
            <a:off x="4572000" y="2286000"/>
            <a:ext cx="3017520" cy="640080"/>
          </a:xfrm>
          <a:prstGeom prst="rect">
            <a:avLst/>
          </a:prstGeom>
          <a:noFill/>
          <a:ln/>
        </p:spPr>
        <p:txBody>
          <a:bodyPr wrap="square" lIns="0" tIns="0" rIns="0" bIns="0" rtlCol="0" anchor="t"/>
          <a:lstStyle/>
          <a:p>
            <a:pPr indent="0" marL="0">
              <a:buNone/>
            </a:pPr>
            <a:r>
              <a:rPr lang="en-US" sz="1700" b="1" dirty="0">
                <a:solidFill>
                  <a:schemeClr val="tx2"/>
                </a:solidFill>
              </a:rPr>
              <a:t>A number you can audit</a:t>
            </a:r>
            <a:endParaRPr lang="en-US" sz="1700" dirty="0"/>
          </a:p>
        </p:txBody>
      </p:sp>
      <p:sp>
        <p:nvSpPr>
          <p:cNvPr id="13" name="Text 10"/>
          <p:cNvSpPr txBox="1"/>
          <p:nvPr/>
        </p:nvSpPr>
        <p:spPr>
          <a:xfrm>
            <a:off x="4572000" y="2971800"/>
            <a:ext cx="3017520" cy="2148840"/>
          </a:xfrm>
          <a:prstGeom prst="rect">
            <a:avLst/>
          </a:prstGeom>
          <a:noFill/>
          <a:ln/>
        </p:spPr>
        <p:txBody>
          <a:bodyPr wrap="square" lIns="0" tIns="0" rIns="0" bIns="0" rtlCol="0" anchor="t"/>
          <a:lstStyle/>
          <a:p>
            <a:pPr indent="0" marL="0">
              <a:buNone/>
            </a:pPr>
            <a:r>
              <a:rPr lang="en-US" sz="1400" dirty="0">
                <a:solidFill>
                  <a:schemeClr val="tx1"/>
                </a:solidFill>
              </a:rPr>
              <a:t>Every forecast runs on one fingerprinted snapshot. Every model lists the items it read. Every analyst claim carries a verbatim quote that code has matched. Every entry in the ledger recomputes exactly from its snapshot. Nothing moves the number silently.</a:t>
            </a:r>
            <a:endParaRPr lang="en-US" sz="1400" dirty="0"/>
          </a:p>
        </p:txBody>
      </p:sp>
      <p:sp>
        <p:nvSpPr>
          <p:cNvPr id="14" name="Shape 11"/>
          <p:cNvSpPr/>
          <p:nvPr/>
        </p:nvSpPr>
        <p:spPr>
          <a:xfrm>
            <a:off x="8046720" y="1554480"/>
            <a:ext cx="3520440" cy="3657600"/>
          </a:xfrm>
          <a:prstGeom prst="roundRect">
            <a:avLst>
              <a:gd name="adj" fmla="val 31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5" name="Shape 12"/>
          <p:cNvSpPr/>
          <p:nvPr/>
        </p:nvSpPr>
        <p:spPr>
          <a:xfrm>
            <a:off x="8321040" y="1783080"/>
            <a:ext cx="384048" cy="384048"/>
          </a:xfrm>
          <a:prstGeom prst="ellipse">
            <a:avLst/>
          </a:prstGeom>
          <a:solidFill>
            <a:srgbClr val="1E2761"/>
          </a:solidFill>
          <a:ln w="12700">
            <a:solidFill>
              <a:srgbClr val="1E2761"/>
            </a:solidFill>
            <a:prstDash val="solid"/>
          </a:ln>
        </p:spPr>
      </p:sp>
      <p:sp>
        <p:nvSpPr>
          <p:cNvPr id="16" name="Text 13"/>
          <p:cNvSpPr txBox="1"/>
          <p:nvPr/>
        </p:nvSpPr>
        <p:spPr>
          <a:xfrm>
            <a:off x="832104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8321040" y="2286000"/>
            <a:ext cx="3017520" cy="640080"/>
          </a:xfrm>
          <a:prstGeom prst="rect">
            <a:avLst/>
          </a:prstGeom>
          <a:noFill/>
          <a:ln/>
        </p:spPr>
        <p:txBody>
          <a:bodyPr wrap="square" lIns="0" tIns="0" rIns="0" bIns="0" rtlCol="0" anchor="t"/>
          <a:lstStyle/>
          <a:p>
            <a:pPr indent="0" marL="0">
              <a:buNone/>
            </a:pPr>
            <a:r>
              <a:rPr lang="en-US" sz="1700" b="1" dirty="0">
                <a:solidFill>
                  <a:schemeClr val="tx2"/>
                </a:solidFill>
              </a:rPr>
              <a:t>A harness that transfers</a:t>
            </a:r>
            <a:endParaRPr lang="en-US" sz="1700" dirty="0"/>
          </a:p>
        </p:txBody>
      </p:sp>
      <p:sp>
        <p:nvSpPr>
          <p:cNvPr id="18" name="Text 15"/>
          <p:cNvSpPr txBox="1"/>
          <p:nvPr/>
        </p:nvSpPr>
        <p:spPr>
          <a:xfrm>
            <a:off x="8321040" y="2971800"/>
            <a:ext cx="3017520" cy="2148840"/>
          </a:xfrm>
          <a:prstGeom prst="rect">
            <a:avLst/>
          </a:prstGeom>
          <a:noFill/>
          <a:ln/>
        </p:spPr>
        <p:txBody>
          <a:bodyPr wrap="square" lIns="0" tIns="0" rIns="0" bIns="0" rtlCol="0" anchor="t"/>
          <a:lstStyle/>
          <a:p>
            <a:pPr indent="0" marL="0">
              <a:buNone/>
            </a:pPr>
            <a:r>
              <a:rPr lang="en-US" sz="1400" dirty="0">
                <a:solidFill>
                  <a:schemeClr val="tx1"/>
                </a:solidFill>
              </a:rPr>
              <a:t>The decision is the first target, not the only one. The same chain can forecast the December meeting, the year-end rate, or another central bank, and the control arms measure whether the language model is still earning its place.</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others do, and what each lacks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377440"/>
                <a:gridCol w="2651760"/>
                <a:gridCol w="2926080"/>
                <a:gridCol w="3136392"/>
              </a:tblGrid>
              <a:tr h="566928">
                <a:tc>
                  <a:txBody>
                    <a:bodyPr/>
                    <a:lstStyle/>
                    <a:p>
                      <a:pPr indent="0" marL="0">
                        <a:buNone/>
                      </a:pPr>
                      <a:r>
                        <a:rPr lang="en-US" sz="1150" b="1" dirty="0">
                          <a:solidFill>
                            <a:srgbClr val="FFFFFF"/>
                          </a:solidFill>
                        </a:rPr>
                        <a:t>Predictor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rPr>
                        <a:t>What it is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rPr>
                        <a:t>Strength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rPr>
                        <a:t>What it lacks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r>
              <a:tr h="566928">
                <a:tc>
                  <a:txBody>
                    <a:bodyPr/>
                    <a:lstStyle/>
                    <a:p>
                      <a:pPr indent="0" marL="0">
                        <a:buNone/>
                      </a:pPr>
                      <a:r>
                        <a:rPr lang="en-US" sz="1150" dirty="0">
                          <a:solidFill>
                            <a:srgbClr val="1B1F2A"/>
                          </a:solidFill>
                        </a:rPr>
                        <a:t>Fed funds futures (CME FedWatch)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Price of the contract that settles on the month's average rate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About 88% right at 30 days over 1994 to 2024 (Bonini, Huang, Simaan). The anchor of our pool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No reasons. One number with no evidence trail; fails silently when the Fed surprises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dirty="0">
                          <a:solidFill>
                            <a:srgbClr val="1B1F2A"/>
                          </a:solidFill>
                        </a:rPr>
                        <a:t>Prediction markets (Polymarket, Kalshi)</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Crowd odds on each outcome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Independent crowd; fast to move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Thin and fee-distorted; a $22 entry can sit next to a $67m one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dirty="0">
                          <a:solidFill>
                            <a:srgbClr val="1B1F2A"/>
                          </a:solidFill>
                        </a:rPr>
                        <a:t>Economist surveys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Median of polled forecasters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Human judgement, broad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Slow, unauditable, consensus-seeking</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dirty="0">
                          <a:solidFill>
                            <a:srgbClr val="1B1F2A"/>
                          </a:solidFill>
                        </a:rPr>
                        <a:t>Policy rules (Taylor family)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Rate a formula says is appropriate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Transparent, the Fed's own benchmarks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Depends on unobservable r* and u*; says where rates should be, not what the committee will do</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dirty="0">
                          <a:solidFill>
                            <a:srgbClr val="1B1F2A"/>
                          </a:solidFill>
                        </a:rPr>
                        <a:t>LLM 'FOMC agent' papers (2025)</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Models that read Fed text and vote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Reported 90%+ accuracy on 2023 to 2024</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16 meetings; no frozen evidence, no quote verification, no replay, no control arm</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b="1" dirty="0">
                          <a:solidFill>
                            <a:schemeClr val="tx2"/>
                          </a:solidFill>
                        </a:rPr>
                        <a:t>FedCast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All of the above pooled by code, plus verified analysts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Every number traceable; repeatable; a scorecard that catches drift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No live record yet; no accuracy claim at five weeks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bl>
          </a:graphicData>
        </a:graphic>
      </p:graphicFrame>
      <p:sp>
        <p:nvSpPr>
          <p:cNvPr id="5" name="Text 1"/>
          <p:cNvSpPr txBox="1"/>
          <p:nvPr/>
        </p:nvSpPr>
        <p:spPr>
          <a:xfrm>
            <a:off x="548640" y="5897880"/>
            <a:ext cx="11091672" cy="365760"/>
          </a:xfrm>
          <a:prstGeom prst="rect">
            <a:avLst/>
          </a:prstGeom>
          <a:noFill/>
          <a:ln/>
        </p:spPr>
        <p:txBody>
          <a:bodyPr wrap="square" lIns="0" tIns="0" rIns="0" bIns="0" rtlCol="0" anchor="t"/>
          <a:lstStyle/>
          <a:p>
            <a:pPr indent="0" marL="0">
              <a:buNone/>
            </a:pPr>
            <a:r>
              <a:rPr lang="en-US" sz="950" dirty="0">
                <a:solidFill>
                  <a:schemeClr val="accent4"/>
                </a:solidFill>
              </a:rPr>
              <a:t>Sources: Bonini, Huang and Simaan, 'Watching the FedWatch' (232 meetings, May 1994 to March 2024); FedSight AI preprint, December 2025; Takano, Hirano and Nakagawa, arXiv 2511.02469.</a:t>
            </a:r>
            <a:endParaRPr lang="en-US" sz="9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Our edge: not a better guess, a checkable one</a:t>
            </a:r>
            <a:endParaRPr lang="en-US" sz="3200" dirty="0"/>
          </a:p>
        </p:txBody>
      </p:sp>
      <p:sp>
        <p:nvSpPr>
          <p:cNvPr id="4" name="Shape 1"/>
          <p:cNvSpPr/>
          <p:nvPr/>
        </p:nvSpPr>
        <p:spPr>
          <a:xfrm>
            <a:off x="548640" y="1508760"/>
            <a:ext cx="5440680" cy="2103120"/>
          </a:xfrm>
          <a:prstGeom prst="roundRect">
            <a:avLst>
              <a:gd name="adj" fmla="val 52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Shape 2"/>
          <p:cNvSpPr/>
          <p:nvPr/>
        </p:nvSpPr>
        <p:spPr>
          <a:xfrm>
            <a:off x="822960" y="1783080"/>
            <a:ext cx="457200" cy="457200"/>
          </a:xfrm>
          <a:prstGeom prst="ellipse">
            <a:avLst/>
          </a:prstGeom>
          <a:solidFill>
            <a:srgbClr val="E9B44C"/>
          </a:solidFill>
          <a:ln w="12700">
            <a:solidFill>
              <a:srgbClr val="E9B44C"/>
            </a:solidFill>
            <a:prstDash val="solid"/>
          </a:ln>
        </p:spPr>
      </p:sp>
      <p:sp>
        <p:nvSpPr>
          <p:cNvPr id="6" name="Text 3"/>
          <p:cNvSpPr txBox="1"/>
          <p:nvPr/>
        </p:nvSpPr>
        <p:spPr>
          <a:xfrm>
            <a:off x="1463040" y="1764792"/>
            <a:ext cx="4297680" cy="502920"/>
          </a:xfrm>
          <a:prstGeom prst="rect">
            <a:avLst/>
          </a:prstGeom>
          <a:noFill/>
          <a:ln/>
        </p:spPr>
        <p:txBody>
          <a:bodyPr wrap="square" lIns="0" tIns="0" rIns="0" bIns="0" rtlCol="0" anchor="ctr"/>
          <a:lstStyle/>
          <a:p>
            <a:pPr indent="0" marL="0">
              <a:buNone/>
            </a:pPr>
            <a:r>
              <a:rPr lang="en-US" sz="1600" b="1" dirty="0">
                <a:solidFill>
                  <a:schemeClr val="tx2"/>
                </a:solidFill>
              </a:rPr>
              <a:t>Frozen evidence</a:t>
            </a:r>
            <a:endParaRPr lang="en-US" sz="1600" dirty="0"/>
          </a:p>
        </p:txBody>
      </p:sp>
      <p:sp>
        <p:nvSpPr>
          <p:cNvPr id="7" name="Text 4"/>
          <p:cNvSpPr txBox="1"/>
          <p:nvPr/>
        </p:nvSpPr>
        <p:spPr>
          <a:xfrm>
            <a:off x="822960" y="2377440"/>
            <a:ext cx="4937760" cy="1188720"/>
          </a:xfrm>
          <a:prstGeom prst="rect">
            <a:avLst/>
          </a:prstGeom>
          <a:noFill/>
          <a:ln/>
        </p:spPr>
        <p:txBody>
          <a:bodyPr wrap="square" lIns="0" tIns="0" rIns="0" bIns="0" rtlCol="0" anchor="t"/>
          <a:lstStyle/>
          <a:p>
            <a:pPr indent="0" marL="0">
              <a:buNone/>
            </a:pPr>
            <a:r>
              <a:rPr lang="en-US" sz="1250" dirty="0">
                <a:solidFill>
                  <a:schemeClr val="tx1"/>
                </a:solidFill>
              </a:rPr>
              <a:t>One fingerprinted snapshot per forecast, dated in US time, data as first published. No internet, no memory. If it is not in the snapshot, nothing may read it.</a:t>
            </a:r>
            <a:endParaRPr lang="en-US" sz="1250" dirty="0"/>
          </a:p>
        </p:txBody>
      </p:sp>
      <p:sp>
        <p:nvSpPr>
          <p:cNvPr id="8" name="Shape 5"/>
          <p:cNvSpPr/>
          <p:nvPr/>
        </p:nvSpPr>
        <p:spPr>
          <a:xfrm>
            <a:off x="6217920" y="1508760"/>
            <a:ext cx="5440680" cy="2103120"/>
          </a:xfrm>
          <a:prstGeom prst="roundRect">
            <a:avLst>
              <a:gd name="adj" fmla="val 52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9" name="Shape 6"/>
          <p:cNvSpPr/>
          <p:nvPr/>
        </p:nvSpPr>
        <p:spPr>
          <a:xfrm>
            <a:off x="6492240" y="1783080"/>
            <a:ext cx="457200" cy="457200"/>
          </a:xfrm>
          <a:prstGeom prst="ellipse">
            <a:avLst/>
          </a:prstGeom>
          <a:solidFill>
            <a:srgbClr val="E9B44C"/>
          </a:solidFill>
          <a:ln w="12700">
            <a:solidFill>
              <a:srgbClr val="E9B44C"/>
            </a:solidFill>
            <a:prstDash val="solid"/>
          </a:ln>
        </p:spPr>
      </p:sp>
      <p:sp>
        <p:nvSpPr>
          <p:cNvPr id="10" name="Text 7"/>
          <p:cNvSpPr txBox="1"/>
          <p:nvPr/>
        </p:nvSpPr>
        <p:spPr>
          <a:xfrm>
            <a:off x="7132320" y="1764792"/>
            <a:ext cx="4297680" cy="502920"/>
          </a:xfrm>
          <a:prstGeom prst="rect">
            <a:avLst/>
          </a:prstGeom>
          <a:noFill/>
          <a:ln/>
        </p:spPr>
        <p:txBody>
          <a:bodyPr wrap="square" lIns="0" tIns="0" rIns="0" bIns="0" rtlCol="0" anchor="ctr"/>
          <a:lstStyle/>
          <a:p>
            <a:pPr indent="0" marL="0">
              <a:buNone/>
            </a:pPr>
            <a:r>
              <a:rPr lang="en-US" sz="1600" b="1" dirty="0">
                <a:solidFill>
                  <a:schemeClr val="tx2"/>
                </a:solidFill>
              </a:rPr>
              <a:t>Code computes, models read, code checks</a:t>
            </a:r>
            <a:endParaRPr lang="en-US" sz="1600" dirty="0"/>
          </a:p>
        </p:txBody>
      </p:sp>
      <p:sp>
        <p:nvSpPr>
          <p:cNvPr id="11" name="Text 8"/>
          <p:cNvSpPr txBox="1"/>
          <p:nvPr/>
        </p:nvSpPr>
        <p:spPr>
          <a:xfrm>
            <a:off x="6492240" y="2377440"/>
            <a:ext cx="4937760" cy="1188720"/>
          </a:xfrm>
          <a:prstGeom prst="rect">
            <a:avLst/>
          </a:prstGeom>
          <a:noFill/>
          <a:ln/>
        </p:spPr>
        <p:txBody>
          <a:bodyPr wrap="square" lIns="0" tIns="0" rIns="0" bIns="0" rtlCol="0" anchor="t"/>
          <a:lstStyle/>
          <a:p>
            <a:pPr indent="0" marL="0">
              <a:buNone/>
            </a:pPr>
            <a:r>
              <a:rPr lang="en-US" sz="1250" dirty="0">
                <a:solidFill>
                  <a:schemeClr val="tx1"/>
                </a:solidFill>
              </a:rPr>
              <a:t>Arithmetic is done by code. The language model is used only for reading text, and every claim it makes must quote a snapshot item; code string-matches the quote and flags any number not in the evidence.</a:t>
            </a:r>
            <a:endParaRPr lang="en-US" sz="1250" dirty="0"/>
          </a:p>
        </p:txBody>
      </p:sp>
      <p:sp>
        <p:nvSpPr>
          <p:cNvPr id="12" name="Shape 9"/>
          <p:cNvSpPr/>
          <p:nvPr/>
        </p:nvSpPr>
        <p:spPr>
          <a:xfrm>
            <a:off x="548640" y="3840480"/>
            <a:ext cx="5440680" cy="2103120"/>
          </a:xfrm>
          <a:prstGeom prst="roundRect">
            <a:avLst>
              <a:gd name="adj" fmla="val 52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3" name="Shape 10"/>
          <p:cNvSpPr/>
          <p:nvPr/>
        </p:nvSpPr>
        <p:spPr>
          <a:xfrm>
            <a:off x="822960" y="4114800"/>
            <a:ext cx="457200" cy="457200"/>
          </a:xfrm>
          <a:prstGeom prst="ellipse">
            <a:avLst/>
          </a:prstGeom>
          <a:solidFill>
            <a:srgbClr val="E9B44C"/>
          </a:solidFill>
          <a:ln w="12700">
            <a:solidFill>
              <a:srgbClr val="E9B44C"/>
            </a:solidFill>
            <a:prstDash val="solid"/>
          </a:ln>
        </p:spPr>
      </p:sp>
      <p:sp>
        <p:nvSpPr>
          <p:cNvPr id="14" name="Text 11"/>
          <p:cNvSpPr txBox="1"/>
          <p:nvPr/>
        </p:nvSpPr>
        <p:spPr>
          <a:xfrm>
            <a:off x="1463040" y="4096512"/>
            <a:ext cx="4297680" cy="502920"/>
          </a:xfrm>
          <a:prstGeom prst="rect">
            <a:avLst/>
          </a:prstGeom>
          <a:noFill/>
          <a:ln/>
        </p:spPr>
        <p:txBody>
          <a:bodyPr wrap="square" lIns="0" tIns="0" rIns="0" bIns="0" rtlCol="0" anchor="ctr"/>
          <a:lstStyle/>
          <a:p>
            <a:pPr indent="0" marL="0">
              <a:buNone/>
            </a:pPr>
            <a:r>
              <a:rPr lang="en-US" sz="1600" b="1" dirty="0">
                <a:solidFill>
                  <a:schemeClr val="tx2"/>
                </a:solidFill>
              </a:rPr>
              <a:t>Human judgement through typed channels</a:t>
            </a:r>
            <a:endParaRPr lang="en-US" sz="1600" dirty="0"/>
          </a:p>
        </p:txBody>
      </p:sp>
      <p:sp>
        <p:nvSpPr>
          <p:cNvPr id="15" name="Text 12"/>
          <p:cNvSpPr txBox="1"/>
          <p:nvPr/>
        </p:nvSpPr>
        <p:spPr>
          <a:xfrm>
            <a:off x="822960" y="4709160"/>
            <a:ext cx="4937760" cy="1188720"/>
          </a:xfrm>
          <a:prstGeom prst="rect">
            <a:avLst/>
          </a:prstGeom>
          <a:noFill/>
          <a:ln/>
        </p:spPr>
        <p:txBody>
          <a:bodyPr wrap="square" lIns="0" tIns="0" rIns="0" bIns="0" rtlCol="0" anchor="t"/>
          <a:lstStyle/>
          <a:p>
            <a:pPr indent="0" marL="0">
              <a:buNone/>
            </a:pPr>
            <a:r>
              <a:rPr lang="en-US" sz="1250" dirty="0">
                <a:solidFill>
                  <a:schemeClr val="tx1"/>
                </a:solidFill>
              </a:rPr>
              <a:t>Views tilt the number by a capped amount and expire. Watch-outs must be answered by id. Documents and odds enter as evidence. Nothing nudges the number quietly.</a:t>
            </a:r>
            <a:endParaRPr lang="en-US" sz="1250" dirty="0"/>
          </a:p>
        </p:txBody>
      </p:sp>
      <p:sp>
        <p:nvSpPr>
          <p:cNvPr id="16" name="Shape 13"/>
          <p:cNvSpPr/>
          <p:nvPr/>
        </p:nvSpPr>
        <p:spPr>
          <a:xfrm>
            <a:off x="6217920" y="3840480"/>
            <a:ext cx="5440680" cy="2103120"/>
          </a:xfrm>
          <a:prstGeom prst="roundRect">
            <a:avLst>
              <a:gd name="adj" fmla="val 52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7" name="Shape 14"/>
          <p:cNvSpPr/>
          <p:nvPr/>
        </p:nvSpPr>
        <p:spPr>
          <a:xfrm>
            <a:off x="6492240" y="4114800"/>
            <a:ext cx="457200" cy="457200"/>
          </a:xfrm>
          <a:prstGeom prst="ellipse">
            <a:avLst/>
          </a:prstGeom>
          <a:solidFill>
            <a:srgbClr val="E9B44C"/>
          </a:solidFill>
          <a:ln w="12700">
            <a:solidFill>
              <a:srgbClr val="E9B44C"/>
            </a:solidFill>
            <a:prstDash val="solid"/>
          </a:ln>
        </p:spPr>
      </p:sp>
      <p:sp>
        <p:nvSpPr>
          <p:cNvPr id="18" name="Text 15"/>
          <p:cNvSpPr txBox="1"/>
          <p:nvPr/>
        </p:nvSpPr>
        <p:spPr>
          <a:xfrm>
            <a:off x="7132320" y="4096512"/>
            <a:ext cx="4297680" cy="502920"/>
          </a:xfrm>
          <a:prstGeom prst="rect">
            <a:avLst/>
          </a:prstGeom>
          <a:noFill/>
          <a:ln/>
        </p:spPr>
        <p:txBody>
          <a:bodyPr wrap="square" lIns="0" tIns="0" rIns="0" bIns="0" rtlCol="0" anchor="ctr"/>
          <a:lstStyle/>
          <a:p>
            <a:pPr indent="0" marL="0">
              <a:buNone/>
            </a:pPr>
            <a:r>
              <a:rPr lang="en-US" sz="1600" b="1" dirty="0">
                <a:solidFill>
                  <a:schemeClr val="tx2"/>
                </a:solidFill>
              </a:rPr>
              <a:t>Pre-registered, amended in the open, replayable</a:t>
            </a:r>
            <a:endParaRPr lang="en-US" sz="1600" dirty="0"/>
          </a:p>
        </p:txBody>
      </p:sp>
      <p:sp>
        <p:nvSpPr>
          <p:cNvPr id="19" name="Text 16"/>
          <p:cNvSpPr txBox="1"/>
          <p:nvPr/>
        </p:nvSpPr>
        <p:spPr>
          <a:xfrm>
            <a:off x="6492240" y="4709160"/>
            <a:ext cx="4937760" cy="1188720"/>
          </a:xfrm>
          <a:prstGeom prst="rect">
            <a:avLst/>
          </a:prstGeom>
          <a:noFill/>
          <a:ln/>
        </p:spPr>
        <p:txBody>
          <a:bodyPr wrap="square" lIns="0" tIns="0" rIns="0" bIns="0" rtlCol="0" anchor="t"/>
          <a:lstStyle/>
          <a:p>
            <a:pPr indent="0" marL="0">
              <a:buNone/>
            </a:pPr>
            <a:r>
              <a:rPr lang="en-US" sz="1250" dirty="0">
                <a:solidFill>
                  <a:schemeClr val="tx1"/>
                </a:solidFill>
              </a:rPr>
              <a:t>The scorecard, weights, floor and every model rule are hashed and pinned in the tests. Seven logged amendments. Every ledger entry recomputes from its snapshot.</a:t>
            </a:r>
            <a:endParaRPr lang="en-US" sz="12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One chain, left to right</a:t>
            </a:r>
            <a:endParaRPr lang="en-US" sz="3200" dirty="0"/>
          </a:p>
        </p:txBody>
      </p:sp>
      <p:sp>
        <p:nvSpPr>
          <p:cNvPr id="4" name="Shape 1"/>
          <p:cNvSpPr/>
          <p:nvPr/>
        </p:nvSpPr>
        <p:spPr>
          <a:xfrm>
            <a:off x="548640" y="2194560"/>
            <a:ext cx="1481328" cy="1828800"/>
          </a:xfrm>
          <a:prstGeom prst="roundRect">
            <a:avLst>
              <a:gd name="adj" fmla="val 6173"/>
            </a:avLst>
          </a:prstGeom>
          <a:solidFill>
            <a:srgbClr val="1E2761"/>
          </a:solidFill>
          <a:ln w="12700">
            <a:solidFill>
              <a:srgbClr val="1E2761"/>
            </a:solidFill>
            <a:prstDash val="solid"/>
          </a:ln>
        </p:spPr>
      </p:sp>
      <p:sp>
        <p:nvSpPr>
          <p:cNvPr id="5" name="Text 2"/>
          <p:cNvSpPr txBox="1"/>
          <p:nvPr/>
        </p:nvSpPr>
        <p:spPr>
          <a:xfrm>
            <a:off x="658368"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Evidence</a:t>
            </a:r>
            <a:endParaRPr lang="en-US" sz="1500" dirty="0"/>
          </a:p>
        </p:txBody>
      </p:sp>
      <p:sp>
        <p:nvSpPr>
          <p:cNvPr id="6" name="Text 3"/>
          <p:cNvSpPr txBox="1"/>
          <p:nvPr/>
        </p:nvSpPr>
        <p:spPr>
          <a:xfrm>
            <a:off x="658368"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22 frozen items</a:t>
            </a:r>
            <a:endParaRPr lang="en-US" sz="1100" dirty="0"/>
          </a:p>
        </p:txBody>
      </p:sp>
      <p:sp>
        <p:nvSpPr>
          <p:cNvPr id="7" name="Shape 4"/>
          <p:cNvSpPr/>
          <p:nvPr/>
        </p:nvSpPr>
        <p:spPr>
          <a:xfrm>
            <a:off x="2057400" y="3044952"/>
            <a:ext cx="100584" cy="128016"/>
          </a:xfrm>
          <a:prstGeom prst="rtTriangle">
            <a:avLst/>
          </a:prstGeom>
          <a:solidFill>
            <a:srgbClr val="6B7280"/>
          </a:solidFill>
          <a:ln w="12700">
            <a:solidFill>
              <a:srgbClr val="6B7280"/>
            </a:solidFill>
            <a:prstDash val="solid"/>
          </a:ln>
        </p:spPr>
      </p:sp>
      <p:sp>
        <p:nvSpPr>
          <p:cNvPr id="8" name="Shape 5"/>
          <p:cNvSpPr/>
          <p:nvPr/>
        </p:nvSpPr>
        <p:spPr>
          <a:xfrm>
            <a:off x="2185416" y="2194560"/>
            <a:ext cx="1481328" cy="1828800"/>
          </a:xfrm>
          <a:prstGeom prst="roundRect">
            <a:avLst>
              <a:gd name="adj" fmla="val 6173"/>
            </a:avLst>
          </a:prstGeom>
          <a:solidFill>
            <a:srgbClr val="1E2761"/>
          </a:solidFill>
          <a:ln w="12700">
            <a:solidFill>
              <a:srgbClr val="1E2761"/>
            </a:solidFill>
            <a:prstDash val="solid"/>
          </a:ln>
        </p:spPr>
      </p:sp>
      <p:sp>
        <p:nvSpPr>
          <p:cNvPr id="9" name="Text 6"/>
          <p:cNvSpPr txBox="1"/>
          <p:nvPr/>
        </p:nvSpPr>
        <p:spPr>
          <a:xfrm>
            <a:off x="2295144"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Signals</a:t>
            </a:r>
            <a:endParaRPr lang="en-US" sz="1500" dirty="0"/>
          </a:p>
        </p:txBody>
      </p:sp>
      <p:sp>
        <p:nvSpPr>
          <p:cNvPr id="10" name="Text 7"/>
          <p:cNvSpPr txBox="1"/>
          <p:nvPr/>
        </p:nvSpPr>
        <p:spPr>
          <a:xfrm>
            <a:off x="2295144"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inflation, labour, financial, tone, base rates, projections</a:t>
            </a:r>
            <a:endParaRPr lang="en-US" sz="1100" dirty="0"/>
          </a:p>
        </p:txBody>
      </p:sp>
      <p:sp>
        <p:nvSpPr>
          <p:cNvPr id="11" name="Shape 8"/>
          <p:cNvSpPr/>
          <p:nvPr/>
        </p:nvSpPr>
        <p:spPr>
          <a:xfrm>
            <a:off x="3694176" y="3044952"/>
            <a:ext cx="100584" cy="128016"/>
          </a:xfrm>
          <a:prstGeom prst="rtTriangle">
            <a:avLst/>
          </a:prstGeom>
          <a:solidFill>
            <a:srgbClr val="6B7280"/>
          </a:solidFill>
          <a:ln w="12700">
            <a:solidFill>
              <a:srgbClr val="6B7280"/>
            </a:solidFill>
            <a:prstDash val="solid"/>
          </a:ln>
        </p:spPr>
      </p:sp>
      <p:sp>
        <p:nvSpPr>
          <p:cNvPr id="12" name="Shape 9"/>
          <p:cNvSpPr/>
          <p:nvPr/>
        </p:nvSpPr>
        <p:spPr>
          <a:xfrm>
            <a:off x="3822192" y="2194560"/>
            <a:ext cx="1481328" cy="1828800"/>
          </a:xfrm>
          <a:prstGeom prst="roundRect">
            <a:avLst>
              <a:gd name="adj" fmla="val 6173"/>
            </a:avLst>
          </a:prstGeom>
          <a:solidFill>
            <a:srgbClr val="1E2761"/>
          </a:solidFill>
          <a:ln w="12700">
            <a:solidFill>
              <a:srgbClr val="1E2761"/>
            </a:solidFill>
            <a:prstDash val="solid"/>
          </a:ln>
        </p:spPr>
      </p:sp>
      <p:sp>
        <p:nvSpPr>
          <p:cNvPr id="13" name="Text 10"/>
          <p:cNvSpPr txBox="1"/>
          <p:nvPr/>
        </p:nvSpPr>
        <p:spPr>
          <a:xfrm>
            <a:off x="3931920"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Models</a:t>
            </a:r>
            <a:endParaRPr lang="en-US" sz="1500" dirty="0"/>
          </a:p>
        </p:txBody>
      </p:sp>
      <p:sp>
        <p:nvSpPr>
          <p:cNvPr id="14" name="Text 11"/>
          <p:cNvSpPr txBox="1"/>
          <p:nvPr/>
        </p:nvSpPr>
        <p:spPr>
          <a:xfrm>
            <a:off x="3931920"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market, Taylor rules, odds, base rates, probit</a:t>
            </a:r>
            <a:endParaRPr lang="en-US" sz="1100" dirty="0"/>
          </a:p>
        </p:txBody>
      </p:sp>
      <p:sp>
        <p:nvSpPr>
          <p:cNvPr id="15" name="Shape 12"/>
          <p:cNvSpPr/>
          <p:nvPr/>
        </p:nvSpPr>
        <p:spPr>
          <a:xfrm>
            <a:off x="5330952" y="3044952"/>
            <a:ext cx="100584" cy="128016"/>
          </a:xfrm>
          <a:prstGeom prst="rtTriangle">
            <a:avLst/>
          </a:prstGeom>
          <a:solidFill>
            <a:srgbClr val="6B7280"/>
          </a:solidFill>
          <a:ln w="12700">
            <a:solidFill>
              <a:srgbClr val="6B7280"/>
            </a:solidFill>
            <a:prstDash val="solid"/>
          </a:ln>
        </p:spPr>
      </p:sp>
      <p:sp>
        <p:nvSpPr>
          <p:cNvPr id="16" name="Shape 13"/>
          <p:cNvSpPr/>
          <p:nvPr/>
        </p:nvSpPr>
        <p:spPr>
          <a:xfrm>
            <a:off x="5458968" y="2194560"/>
            <a:ext cx="1481328" cy="1828800"/>
          </a:xfrm>
          <a:prstGeom prst="roundRect">
            <a:avLst>
              <a:gd name="adj" fmla="val 6173"/>
            </a:avLst>
          </a:prstGeom>
          <a:solidFill>
            <a:srgbClr val="1E2761"/>
          </a:solidFill>
          <a:ln w="12700">
            <a:solidFill>
              <a:srgbClr val="1E2761"/>
            </a:solidFill>
            <a:prstDash val="solid"/>
          </a:ln>
        </p:spPr>
      </p:sp>
      <p:sp>
        <p:nvSpPr>
          <p:cNvPr id="17" name="Text 14"/>
          <p:cNvSpPr txBox="1"/>
          <p:nvPr/>
        </p:nvSpPr>
        <p:spPr>
          <a:xfrm>
            <a:off x="5568696"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Pool</a:t>
            </a:r>
            <a:endParaRPr lang="en-US" sz="1500" dirty="0"/>
          </a:p>
        </p:txBody>
      </p:sp>
      <p:sp>
        <p:nvSpPr>
          <p:cNvPr id="18" name="Text 15"/>
          <p:cNvSpPr txBox="1"/>
          <p:nvPr/>
        </p:nvSpPr>
        <p:spPr>
          <a:xfrm>
            <a:off x="5568696"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fixed weights, 1.5% floor</a:t>
            </a:r>
            <a:endParaRPr lang="en-US" sz="1100" dirty="0"/>
          </a:p>
        </p:txBody>
      </p:sp>
      <p:sp>
        <p:nvSpPr>
          <p:cNvPr id="19" name="Shape 16"/>
          <p:cNvSpPr/>
          <p:nvPr/>
        </p:nvSpPr>
        <p:spPr>
          <a:xfrm>
            <a:off x="6967728" y="3044952"/>
            <a:ext cx="100584" cy="128016"/>
          </a:xfrm>
          <a:prstGeom prst="rtTriangle">
            <a:avLst/>
          </a:prstGeom>
          <a:solidFill>
            <a:srgbClr val="6B7280"/>
          </a:solidFill>
          <a:ln w="12700">
            <a:solidFill>
              <a:srgbClr val="6B7280"/>
            </a:solidFill>
            <a:prstDash val="solid"/>
          </a:ln>
        </p:spPr>
      </p:sp>
      <p:sp>
        <p:nvSpPr>
          <p:cNvPr id="20" name="Shape 17"/>
          <p:cNvSpPr/>
          <p:nvPr/>
        </p:nvSpPr>
        <p:spPr>
          <a:xfrm>
            <a:off x="7095744" y="2194560"/>
            <a:ext cx="1481328" cy="1828800"/>
          </a:xfrm>
          <a:prstGeom prst="roundRect">
            <a:avLst>
              <a:gd name="adj" fmla="val 6173"/>
            </a:avLst>
          </a:prstGeom>
          <a:solidFill>
            <a:srgbClr val="C8553D"/>
          </a:solidFill>
          <a:ln w="12700">
            <a:solidFill>
              <a:srgbClr val="C8553D"/>
            </a:solidFill>
            <a:prstDash val="solid"/>
          </a:ln>
        </p:spPr>
      </p:sp>
      <p:sp>
        <p:nvSpPr>
          <p:cNvPr id="21" name="Text 18"/>
          <p:cNvSpPr txBox="1"/>
          <p:nvPr/>
        </p:nvSpPr>
        <p:spPr>
          <a:xfrm>
            <a:off x="7205472"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Analysts</a:t>
            </a:r>
            <a:endParaRPr lang="en-US" sz="1500" dirty="0"/>
          </a:p>
        </p:txBody>
      </p:sp>
      <p:sp>
        <p:nvSpPr>
          <p:cNvPr id="22" name="Text 19"/>
          <p:cNvSpPr txBox="1"/>
          <p:nvPr/>
        </p:nvSpPr>
        <p:spPr>
          <a:xfrm>
            <a:off x="7205472"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5 specialists, bounded tilt</a:t>
            </a:r>
            <a:endParaRPr lang="en-US" sz="1100" dirty="0"/>
          </a:p>
        </p:txBody>
      </p:sp>
      <p:sp>
        <p:nvSpPr>
          <p:cNvPr id="23" name="Shape 20"/>
          <p:cNvSpPr/>
          <p:nvPr/>
        </p:nvSpPr>
        <p:spPr>
          <a:xfrm>
            <a:off x="8604504" y="3044952"/>
            <a:ext cx="100584" cy="128016"/>
          </a:xfrm>
          <a:prstGeom prst="rtTriangle">
            <a:avLst/>
          </a:prstGeom>
          <a:solidFill>
            <a:srgbClr val="6B7280"/>
          </a:solidFill>
          <a:ln w="12700">
            <a:solidFill>
              <a:srgbClr val="6B7280"/>
            </a:solidFill>
            <a:prstDash val="solid"/>
          </a:ln>
        </p:spPr>
      </p:sp>
      <p:sp>
        <p:nvSpPr>
          <p:cNvPr id="24" name="Shape 21"/>
          <p:cNvSpPr/>
          <p:nvPr/>
        </p:nvSpPr>
        <p:spPr>
          <a:xfrm>
            <a:off x="8732520" y="2194560"/>
            <a:ext cx="1481328" cy="1828800"/>
          </a:xfrm>
          <a:prstGeom prst="roundRect">
            <a:avLst>
              <a:gd name="adj" fmla="val 6173"/>
            </a:avLst>
          </a:prstGeom>
          <a:solidFill>
            <a:srgbClr val="2C6E49"/>
          </a:solidFill>
          <a:ln w="12700">
            <a:solidFill>
              <a:srgbClr val="2C6E49"/>
            </a:solidFill>
            <a:prstDash val="solid"/>
          </a:ln>
        </p:spPr>
      </p:sp>
      <p:sp>
        <p:nvSpPr>
          <p:cNvPr id="25" name="Text 22"/>
          <p:cNvSpPr txBox="1"/>
          <p:nvPr/>
        </p:nvSpPr>
        <p:spPr>
          <a:xfrm>
            <a:off x="8842248"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You</a:t>
            </a:r>
            <a:endParaRPr lang="en-US" sz="1500" dirty="0"/>
          </a:p>
        </p:txBody>
      </p:sp>
      <p:sp>
        <p:nvSpPr>
          <p:cNvPr id="26" name="Text 23"/>
          <p:cNvSpPr txBox="1"/>
          <p:nvPr/>
        </p:nvSpPr>
        <p:spPr>
          <a:xfrm>
            <a:off x="8842248"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views, watch-outs, documents, odds</a:t>
            </a:r>
            <a:endParaRPr lang="en-US" sz="1100" dirty="0"/>
          </a:p>
        </p:txBody>
      </p:sp>
      <p:sp>
        <p:nvSpPr>
          <p:cNvPr id="27" name="Shape 24"/>
          <p:cNvSpPr/>
          <p:nvPr/>
        </p:nvSpPr>
        <p:spPr>
          <a:xfrm>
            <a:off x="10241280" y="3044952"/>
            <a:ext cx="100584" cy="128016"/>
          </a:xfrm>
          <a:prstGeom prst="rtTriangle">
            <a:avLst/>
          </a:prstGeom>
          <a:solidFill>
            <a:srgbClr val="6B7280"/>
          </a:solidFill>
          <a:ln w="12700">
            <a:solidFill>
              <a:srgbClr val="6B7280"/>
            </a:solidFill>
            <a:prstDash val="solid"/>
          </a:ln>
        </p:spPr>
      </p:sp>
      <p:sp>
        <p:nvSpPr>
          <p:cNvPr id="28" name="Shape 25"/>
          <p:cNvSpPr/>
          <p:nvPr/>
        </p:nvSpPr>
        <p:spPr>
          <a:xfrm>
            <a:off x="10369296" y="2194560"/>
            <a:ext cx="1481328" cy="1828800"/>
          </a:xfrm>
          <a:prstGeom prst="roundRect">
            <a:avLst>
              <a:gd name="adj" fmla="val 6173"/>
            </a:avLst>
          </a:prstGeom>
          <a:solidFill>
            <a:srgbClr val="1E2761"/>
          </a:solidFill>
          <a:ln w="12700">
            <a:solidFill>
              <a:srgbClr val="1E2761"/>
            </a:solidFill>
            <a:prstDash val="solid"/>
          </a:ln>
        </p:spPr>
      </p:sp>
      <p:sp>
        <p:nvSpPr>
          <p:cNvPr id="29" name="Text 26"/>
          <p:cNvSpPr txBox="1"/>
          <p:nvPr/>
        </p:nvSpPr>
        <p:spPr>
          <a:xfrm>
            <a:off x="10479024"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Ledger</a:t>
            </a:r>
            <a:endParaRPr lang="en-US" sz="1500" dirty="0"/>
          </a:p>
        </p:txBody>
      </p:sp>
      <p:sp>
        <p:nvSpPr>
          <p:cNvPr id="30" name="Text 27"/>
          <p:cNvSpPr txBox="1"/>
          <p:nvPr/>
        </p:nvSpPr>
        <p:spPr>
          <a:xfrm>
            <a:off x="10479024"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hash-chained, replays exactly</a:t>
            </a:r>
            <a:endParaRPr lang="en-US" sz="1100" dirty="0"/>
          </a:p>
        </p:txBody>
      </p:sp>
      <p:sp>
        <p:nvSpPr>
          <p:cNvPr id="31" name="Shape 28"/>
          <p:cNvSpPr/>
          <p:nvPr/>
        </p:nvSpPr>
        <p:spPr>
          <a:xfrm>
            <a:off x="548640" y="4480560"/>
            <a:ext cx="274320" cy="274320"/>
          </a:xfrm>
          <a:prstGeom prst="rect">
            <a:avLst/>
          </a:prstGeom>
          <a:solidFill>
            <a:srgbClr val="1E2761"/>
          </a:solidFill>
          <a:ln w="12700">
            <a:solidFill>
              <a:srgbClr val="1E2761"/>
            </a:solidFill>
            <a:prstDash val="solid"/>
          </a:ln>
        </p:spPr>
      </p:sp>
      <p:sp>
        <p:nvSpPr>
          <p:cNvPr id="32" name="Text 29"/>
          <p:cNvSpPr txBox="1"/>
          <p:nvPr/>
        </p:nvSpPr>
        <p:spPr>
          <a:xfrm>
            <a:off x="914400" y="4480560"/>
            <a:ext cx="2743200" cy="274320"/>
          </a:xfrm>
          <a:prstGeom prst="rect">
            <a:avLst/>
          </a:prstGeom>
          <a:noFill/>
          <a:ln/>
        </p:spPr>
        <p:txBody>
          <a:bodyPr wrap="square" lIns="0" tIns="0" rIns="0" bIns="0" rtlCol="0" anchor="ctr"/>
          <a:lstStyle/>
          <a:p>
            <a:pPr indent="0" marL="0">
              <a:buNone/>
            </a:pPr>
            <a:r>
              <a:rPr lang="en-US" sz="1200" dirty="0">
                <a:solidFill>
                  <a:schemeClr val="tx1"/>
                </a:solidFill>
              </a:rPr>
              <a:t>Code, deterministic</a:t>
            </a:r>
            <a:endParaRPr lang="en-US" sz="1200" dirty="0"/>
          </a:p>
        </p:txBody>
      </p:sp>
      <p:sp>
        <p:nvSpPr>
          <p:cNvPr id="33" name="Shape 30"/>
          <p:cNvSpPr/>
          <p:nvPr/>
        </p:nvSpPr>
        <p:spPr>
          <a:xfrm>
            <a:off x="3840480" y="4480560"/>
            <a:ext cx="274320" cy="274320"/>
          </a:xfrm>
          <a:prstGeom prst="rect">
            <a:avLst/>
          </a:prstGeom>
          <a:solidFill>
            <a:srgbClr val="C8553D"/>
          </a:solidFill>
          <a:ln w="12700">
            <a:solidFill>
              <a:srgbClr val="C8553D"/>
            </a:solidFill>
            <a:prstDash val="solid"/>
          </a:ln>
        </p:spPr>
      </p:sp>
      <p:sp>
        <p:nvSpPr>
          <p:cNvPr id="34" name="Text 31"/>
          <p:cNvSpPr txBox="1"/>
          <p:nvPr/>
        </p:nvSpPr>
        <p:spPr>
          <a:xfrm>
            <a:off x="4206240" y="4480560"/>
            <a:ext cx="2743200" cy="274320"/>
          </a:xfrm>
          <a:prstGeom prst="rect">
            <a:avLst/>
          </a:prstGeom>
          <a:noFill/>
          <a:ln/>
        </p:spPr>
        <p:txBody>
          <a:bodyPr wrap="square" lIns="0" tIns="0" rIns="0" bIns="0" rtlCol="0" anchor="ctr"/>
          <a:lstStyle/>
          <a:p>
            <a:pPr indent="0" marL="0">
              <a:buNone/>
            </a:pPr>
            <a:r>
              <a:rPr lang="en-US" sz="1200" dirty="0">
                <a:solidFill>
                  <a:schemeClr val="tx1"/>
                </a:solidFill>
              </a:rPr>
              <a:t>Language model, bounded</a:t>
            </a:r>
            <a:endParaRPr lang="en-US" sz="1200" dirty="0"/>
          </a:p>
        </p:txBody>
      </p:sp>
      <p:sp>
        <p:nvSpPr>
          <p:cNvPr id="35" name="Shape 32"/>
          <p:cNvSpPr/>
          <p:nvPr/>
        </p:nvSpPr>
        <p:spPr>
          <a:xfrm>
            <a:off x="7132320" y="4480560"/>
            <a:ext cx="274320" cy="274320"/>
          </a:xfrm>
          <a:prstGeom prst="rect">
            <a:avLst/>
          </a:prstGeom>
          <a:solidFill>
            <a:srgbClr val="2C6E49"/>
          </a:solidFill>
          <a:ln w="12700">
            <a:solidFill>
              <a:srgbClr val="2C6E49"/>
            </a:solidFill>
            <a:prstDash val="solid"/>
          </a:ln>
        </p:spPr>
      </p:sp>
      <p:sp>
        <p:nvSpPr>
          <p:cNvPr id="36" name="Text 33"/>
          <p:cNvSpPr txBox="1"/>
          <p:nvPr/>
        </p:nvSpPr>
        <p:spPr>
          <a:xfrm>
            <a:off x="7498080" y="4480560"/>
            <a:ext cx="2743200" cy="274320"/>
          </a:xfrm>
          <a:prstGeom prst="rect">
            <a:avLst/>
          </a:prstGeom>
          <a:noFill/>
          <a:ln/>
        </p:spPr>
        <p:txBody>
          <a:bodyPr wrap="square" lIns="0" tIns="0" rIns="0" bIns="0" rtlCol="0" anchor="ctr"/>
          <a:lstStyle/>
          <a:p>
            <a:pPr indent="0" marL="0">
              <a:buNone/>
            </a:pPr>
            <a:r>
              <a:rPr lang="en-US" sz="1200" dirty="0">
                <a:solidFill>
                  <a:schemeClr val="tx1"/>
                </a:solidFill>
              </a:rPr>
              <a:t>Human, typed channels</a:t>
            </a:r>
            <a:endParaRPr lang="en-US" sz="1200" dirty="0"/>
          </a:p>
        </p:txBody>
      </p:sp>
      <p:sp>
        <p:nvSpPr>
          <p:cNvPr id="37" name="Text 34"/>
          <p:cNvSpPr txBox="1"/>
          <p:nvPr/>
        </p:nvSpPr>
        <p:spPr>
          <a:xfrm>
            <a:off x="548640" y="5120640"/>
            <a:ext cx="11091672" cy="822960"/>
          </a:xfrm>
          <a:prstGeom prst="rect">
            <a:avLst/>
          </a:prstGeom>
          <a:noFill/>
          <a:ln/>
        </p:spPr>
        <p:txBody>
          <a:bodyPr wrap="square" lIns="0" tIns="0" rIns="0" bIns="0" rtlCol="0" anchor="t"/>
          <a:lstStyle/>
          <a:p>
            <a:pPr indent="0" marL="0">
              <a:buNone/>
            </a:pPr>
            <a:r>
              <a:rPr lang="en-US" sz="1300" i="1" dirty="0">
                <a:solidFill>
                  <a:schemeClr val="accent4"/>
                </a:solidFill>
              </a:rPr>
              <a:t>Signals are computed, not asked: the analysts are handed the numbers code has already worked out. Everything a model could compute, code computes. The language model reads the words.</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Today's readings: from five models to one number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920240"/>
                <a:gridCol w="4233672"/>
                <a:gridCol w="822960"/>
                <a:gridCol w="1188720"/>
                <a:gridCol w="822960"/>
                <a:gridCol w="822960"/>
                <a:gridCol w="1280160"/>
              </a:tblGrid>
              <a:tr h="475488">
                <a:tc>
                  <a:txBody>
                    <a:bodyPr/>
                    <a:lstStyle/>
                    <a:p>
                      <a:pPr indent="0" marL="0">
                        <a:buNone/>
                      </a:pPr>
                      <a:r>
                        <a:rPr lang="en-US" sz="1200" b="1" dirty="0">
                          <a:solidFill>
                            <a:srgbClr val="FFFFFF"/>
                          </a:solidFill>
                        </a:rPr>
                        <a:t>Model</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rPr>
                        <a:t>What it reads</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−25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no change</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+25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+50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weight</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r>
              <a:tr h="475488">
                <a:tc>
                  <a:txBody>
                    <a:bodyPr/>
                    <a:lstStyle/>
                    <a:p>
                      <a:pPr indent="0" marL="0">
                        <a:buNone/>
                      </a:pPr>
                      <a:r>
                        <a:rPr lang="en-US" sz="1200" dirty="0">
                          <a:solidFill>
                            <a:srgbClr val="1B1F2A"/>
                          </a:solidFill>
                        </a:rPr>
                        <a:t>Market-implied</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November fed-funds future against the overnight rate: +2.5 bp expected</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90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10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0.6</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dirty="0">
                          <a:solidFill>
                            <a:srgbClr val="1B1F2A"/>
                          </a:solidFill>
                        </a:rPr>
                        <a:t>Taylor family</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12-month core PCE 3.0%, unemployment 4.2%, four rules × nine r*/u* pairs</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9</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44</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40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7</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0.2</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dirty="0">
                          <a:solidFill>
                            <a:srgbClr val="1B1F2A"/>
                          </a:solidFill>
                        </a:rPr>
                        <a:t>Prediction market</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Polymarket, 26 Oct, $67m traded</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95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4.5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0.1</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dirty="0">
                          <a:solidFill>
                            <a:srgbClr val="1B1F2A"/>
                          </a:solidFill>
                        </a:rPr>
                        <a:t>Historical base rates</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What followed a hike at the 49 meetings since 1994 that came after one</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35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52</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13</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0.1</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b="1" dirty="0">
                          <a:solidFill>
                            <a:srgbClr val="1B1F2A"/>
                          </a:solidFill>
                        </a:rPr>
                        <a:t>Pooled</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Weighted average, then the 1.5% floor</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1.8</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74.7</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19.4</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2.6</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dirty="0">
                          <a:solidFill>
                            <a:srgbClr val="1B1F2A"/>
                          </a:solidFill>
                        </a:rPr>
                        <a:t>Specialists' tilt</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+4.4 bp hawkish, mean of five: 4.4 points moved toward the hike outcomes</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b="1" dirty="0">
                          <a:solidFill>
                            <a:srgbClr val="1B1F2A"/>
                          </a:solidFill>
                        </a:rPr>
                        <a:t>Machine forecast</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Ledger entry #16</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1.4</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71.3</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22.6</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3.8</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bl>
          </a:graphicData>
        </a:graphic>
      </p:graphicFrame>
      <p:sp>
        <p:nvSpPr>
          <p:cNvPr id="5" name="Text 1"/>
          <p:cNvSpPr txBox="1"/>
          <p:nvPr/>
        </p:nvSpPr>
        <p:spPr>
          <a:xfrm>
            <a:off x="548640" y="5577840"/>
            <a:ext cx="11091672" cy="365760"/>
          </a:xfrm>
          <a:prstGeom prst="rect">
            <a:avLst/>
          </a:prstGeom>
          <a:noFill/>
          <a:ln/>
        </p:spPr>
        <p:txBody>
          <a:bodyPr wrap="square" lIns="0" tIns="0" rIns="0" bIns="0" rtlCol="0" anchor="t"/>
          <a:lstStyle/>
          <a:p>
            <a:pPr indent="0" marL="0">
              <a:buNone/>
            </a:pPr>
            <a:r>
              <a:rPr lang="en-US" sz="1100" dirty="0">
                <a:solidFill>
                  <a:schemeClr val="accent4"/>
                </a:solidFill>
              </a:rPr>
              <a:t>Percentages, rounded. The ordered probit is computed and shown but carries weight 0 until it has a live record.</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Eight analysts, one model, four arms</a:t>
            </a:r>
            <a:endParaRPr lang="en-US" sz="3200" dirty="0"/>
          </a:p>
        </p:txBody>
      </p:sp>
      <p:sp>
        <p:nvSpPr>
          <p:cNvPr id="4" name="Shape 1"/>
          <p:cNvSpPr/>
          <p:nvPr/>
        </p:nvSpPr>
        <p:spPr>
          <a:xfrm>
            <a:off x="548640" y="1417320"/>
            <a:ext cx="822960" cy="1005840"/>
          </a:xfrm>
          <a:prstGeom prst="roundRect">
            <a:avLst>
              <a:gd name="adj" fmla="val 11111"/>
            </a:avLst>
          </a:prstGeom>
          <a:solidFill>
            <a:srgbClr val="6B7280"/>
          </a:solidFill>
          <a:ln w="12700">
            <a:solidFill>
              <a:srgbClr val="6B7280"/>
            </a:solidFill>
            <a:prstDash val="solid"/>
          </a:ln>
        </p:spPr>
      </p:sp>
      <p:sp>
        <p:nvSpPr>
          <p:cNvPr id="5" name="Text 2"/>
          <p:cNvSpPr txBox="1"/>
          <p:nvPr/>
        </p:nvSpPr>
        <p:spPr>
          <a:xfrm>
            <a:off x="548640" y="1417320"/>
            <a:ext cx="822960" cy="100584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A</a:t>
            </a:r>
            <a:endParaRPr lang="en-US" sz="3000" dirty="0"/>
          </a:p>
        </p:txBody>
      </p:sp>
      <p:sp>
        <p:nvSpPr>
          <p:cNvPr id="6" name="Text 3"/>
          <p:cNvSpPr txBox="1"/>
          <p:nvPr/>
        </p:nvSpPr>
        <p:spPr>
          <a:xfrm>
            <a:off x="1554480" y="1435608"/>
            <a:ext cx="3657600" cy="457200"/>
          </a:xfrm>
          <a:prstGeom prst="rect">
            <a:avLst/>
          </a:prstGeom>
          <a:noFill/>
          <a:ln/>
        </p:spPr>
        <p:txBody>
          <a:bodyPr wrap="square" lIns="0" tIns="0" rIns="0" bIns="0" rtlCol="0" anchor="ctr"/>
          <a:lstStyle/>
          <a:p>
            <a:pPr indent="0" marL="0">
              <a:buNone/>
            </a:pPr>
            <a:r>
              <a:rPr lang="en-US" sz="1400" b="1" dirty="0">
                <a:solidFill>
                  <a:schemeClr val="tx2"/>
                </a:solidFill>
              </a:rPr>
              <a:t>Analyst 1: naive</a:t>
            </a:r>
            <a:endParaRPr lang="en-US" sz="1400" dirty="0"/>
          </a:p>
        </p:txBody>
      </p:sp>
      <p:sp>
        <p:nvSpPr>
          <p:cNvPr id="7" name="Text 4"/>
          <p:cNvSpPr txBox="1"/>
          <p:nvPr/>
        </p:nvSpPr>
        <p:spPr>
          <a:xfrm>
            <a:off x="1554480" y="1874520"/>
            <a:ext cx="3657600" cy="594360"/>
          </a:xfrm>
          <a:prstGeom prst="rect">
            <a:avLst/>
          </a:prstGeom>
          <a:noFill/>
          <a:ln/>
        </p:spPr>
        <p:txBody>
          <a:bodyPr wrap="square" lIns="0" tIns="0" rIns="0" bIns="0" rtlCol="0" anchor="t"/>
          <a:lstStyle/>
          <a:p>
            <a:pPr indent="0" marL="0">
              <a:buNone/>
            </a:pPr>
            <a:r>
              <a:rPr lang="en-US" sz="1050" dirty="0">
                <a:solidFill>
                  <a:schemeClr val="tx1"/>
                </a:solidFill>
              </a:rPr>
              <a:t>The question and the date. Nothing else.</a:t>
            </a:r>
            <a:endParaRPr lang="en-US" sz="1050" dirty="0"/>
          </a:p>
        </p:txBody>
      </p:sp>
      <p:sp>
        <p:nvSpPr>
          <p:cNvPr id="8" name="Text 5"/>
          <p:cNvSpPr txBox="1"/>
          <p:nvPr/>
        </p:nvSpPr>
        <p:spPr>
          <a:xfrm>
            <a:off x="5486400" y="1508760"/>
            <a:ext cx="6126480" cy="868680"/>
          </a:xfrm>
          <a:prstGeom prst="rect">
            <a:avLst/>
          </a:prstGeom>
          <a:noFill/>
          <a:ln/>
        </p:spPr>
        <p:txBody>
          <a:bodyPr wrap="square" lIns="0" tIns="0" rIns="0" bIns="0" rtlCol="0" anchor="ctr"/>
          <a:lstStyle/>
          <a:p>
            <a:pPr indent="0" marL="0">
              <a:buNone/>
            </a:pPr>
            <a:r>
              <a:rPr lang="en-US" sz="1250" dirty="0">
                <a:solidFill>
                  <a:schemeClr val="tx1"/>
                </a:solidFill>
              </a:rPr>
              <a:t>What the model does on its own. The control every other arm is measured against.</a:t>
            </a:r>
            <a:endParaRPr lang="en-US" sz="1250" dirty="0"/>
          </a:p>
        </p:txBody>
      </p:sp>
      <p:sp>
        <p:nvSpPr>
          <p:cNvPr id="9" name="Shape 6"/>
          <p:cNvSpPr/>
          <p:nvPr/>
        </p:nvSpPr>
        <p:spPr>
          <a:xfrm>
            <a:off x="548640" y="2578608"/>
            <a:ext cx="822960" cy="1005840"/>
          </a:xfrm>
          <a:prstGeom prst="roundRect">
            <a:avLst>
              <a:gd name="adj" fmla="val 11111"/>
            </a:avLst>
          </a:prstGeom>
          <a:solidFill>
            <a:srgbClr val="6B7280"/>
          </a:solidFill>
          <a:ln w="12700">
            <a:solidFill>
              <a:srgbClr val="6B7280"/>
            </a:solidFill>
            <a:prstDash val="solid"/>
          </a:ln>
        </p:spPr>
      </p:sp>
      <p:sp>
        <p:nvSpPr>
          <p:cNvPr id="10" name="Text 7"/>
          <p:cNvSpPr txBox="1"/>
          <p:nvPr/>
        </p:nvSpPr>
        <p:spPr>
          <a:xfrm>
            <a:off x="548640" y="2578608"/>
            <a:ext cx="822960" cy="100584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B</a:t>
            </a:r>
            <a:endParaRPr lang="en-US" sz="3000" dirty="0"/>
          </a:p>
        </p:txBody>
      </p:sp>
      <p:sp>
        <p:nvSpPr>
          <p:cNvPr id="11" name="Text 8"/>
          <p:cNvSpPr txBox="1"/>
          <p:nvPr/>
        </p:nvSpPr>
        <p:spPr>
          <a:xfrm>
            <a:off x="1554480" y="2596896"/>
            <a:ext cx="3657600" cy="457200"/>
          </a:xfrm>
          <a:prstGeom prst="rect">
            <a:avLst/>
          </a:prstGeom>
          <a:noFill/>
          <a:ln/>
        </p:spPr>
        <p:txBody>
          <a:bodyPr wrap="square" lIns="0" tIns="0" rIns="0" bIns="0" rtlCol="0" anchor="ctr"/>
          <a:lstStyle/>
          <a:p>
            <a:pPr indent="0" marL="0">
              <a:buNone/>
            </a:pPr>
            <a:r>
              <a:rPr lang="en-US" sz="1400" b="1" dirty="0">
                <a:solidFill>
                  <a:schemeClr val="tx2"/>
                </a:solidFill>
              </a:rPr>
              <a:t>Analyst 2: evidence shown, nothing verified</a:t>
            </a:r>
            <a:endParaRPr lang="en-US" sz="1400" dirty="0"/>
          </a:p>
        </p:txBody>
      </p:sp>
      <p:sp>
        <p:nvSpPr>
          <p:cNvPr id="12" name="Text 9"/>
          <p:cNvSpPr txBox="1"/>
          <p:nvPr/>
        </p:nvSpPr>
        <p:spPr>
          <a:xfrm>
            <a:off x="1554480" y="3035808"/>
            <a:ext cx="3657600" cy="594360"/>
          </a:xfrm>
          <a:prstGeom prst="rect">
            <a:avLst/>
          </a:prstGeom>
          <a:noFill/>
          <a:ln/>
        </p:spPr>
        <p:txBody>
          <a:bodyPr wrap="square" lIns="0" tIns="0" rIns="0" bIns="0" rtlCol="0" anchor="t"/>
          <a:lstStyle/>
          <a:p>
            <a:pPr indent="0" marL="0">
              <a:buNone/>
            </a:pPr>
            <a:r>
              <a:rPr lang="en-US" sz="1050" dirty="0">
                <a:solidFill>
                  <a:schemeClr val="tx1"/>
                </a:solidFill>
              </a:rPr>
              <a:t>Every document and every pre-computed number, 128,000 characters. Free-form answer.</a:t>
            </a:r>
            <a:endParaRPr lang="en-US" sz="1050" dirty="0"/>
          </a:p>
        </p:txBody>
      </p:sp>
      <p:sp>
        <p:nvSpPr>
          <p:cNvPr id="13" name="Text 10"/>
          <p:cNvSpPr txBox="1"/>
          <p:nvPr/>
        </p:nvSpPr>
        <p:spPr>
          <a:xfrm>
            <a:off x="5486400" y="2670048"/>
            <a:ext cx="6126480" cy="868680"/>
          </a:xfrm>
          <a:prstGeom prst="rect">
            <a:avLst/>
          </a:prstGeom>
          <a:noFill/>
          <a:ln/>
        </p:spPr>
        <p:txBody>
          <a:bodyPr wrap="square" lIns="0" tIns="0" rIns="0" bIns="0" rtlCol="0" anchor="ctr"/>
          <a:lstStyle/>
          <a:p>
            <a:pPr indent="0" marL="0">
              <a:buNone/>
            </a:pPr>
            <a:r>
              <a:rPr lang="en-US" sz="1250" dirty="0">
                <a:solidFill>
                  <a:schemeClr val="tx1"/>
                </a:solidFill>
              </a:rPr>
              <a:t>Adds the evidence. Shows what evidence alone fixes, and what it does not.</a:t>
            </a:r>
            <a:endParaRPr lang="en-US" sz="1250" dirty="0"/>
          </a:p>
        </p:txBody>
      </p:sp>
      <p:sp>
        <p:nvSpPr>
          <p:cNvPr id="14" name="Shape 11"/>
          <p:cNvSpPr/>
          <p:nvPr/>
        </p:nvSpPr>
        <p:spPr>
          <a:xfrm>
            <a:off x="548640" y="3739896"/>
            <a:ext cx="822960" cy="1005840"/>
          </a:xfrm>
          <a:prstGeom prst="roundRect">
            <a:avLst>
              <a:gd name="adj" fmla="val 11111"/>
            </a:avLst>
          </a:prstGeom>
          <a:solidFill>
            <a:srgbClr val="1E2761"/>
          </a:solidFill>
          <a:ln w="12700">
            <a:solidFill>
              <a:srgbClr val="1E2761"/>
            </a:solidFill>
            <a:prstDash val="solid"/>
          </a:ln>
        </p:spPr>
      </p:sp>
      <p:sp>
        <p:nvSpPr>
          <p:cNvPr id="15" name="Text 12"/>
          <p:cNvSpPr txBox="1"/>
          <p:nvPr/>
        </p:nvSpPr>
        <p:spPr>
          <a:xfrm>
            <a:off x="548640" y="3739896"/>
            <a:ext cx="822960" cy="100584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C</a:t>
            </a:r>
            <a:endParaRPr lang="en-US" sz="3000" dirty="0"/>
          </a:p>
        </p:txBody>
      </p:sp>
      <p:sp>
        <p:nvSpPr>
          <p:cNvPr id="16" name="Text 13"/>
          <p:cNvSpPr txBox="1"/>
          <p:nvPr/>
        </p:nvSpPr>
        <p:spPr>
          <a:xfrm>
            <a:off x="1554480" y="3758184"/>
            <a:ext cx="3657600" cy="457200"/>
          </a:xfrm>
          <a:prstGeom prst="rect">
            <a:avLst/>
          </a:prstGeom>
          <a:noFill/>
          <a:ln/>
        </p:spPr>
        <p:txBody>
          <a:bodyPr wrap="square" lIns="0" tIns="0" rIns="0" bIns="0" rtlCol="0" anchor="ctr"/>
          <a:lstStyle/>
          <a:p>
            <a:pPr indent="0" marL="0">
              <a:buNone/>
            </a:pPr>
            <a:r>
              <a:rPr lang="en-US" sz="1400" b="1" dirty="0">
                <a:solidFill>
                  <a:schemeClr val="tx2"/>
                </a:solidFill>
              </a:rPr>
              <a:t>Analyst 3: generalist with verifier</a:t>
            </a:r>
            <a:endParaRPr lang="en-US" sz="1400" dirty="0"/>
          </a:p>
        </p:txBody>
      </p:sp>
      <p:sp>
        <p:nvSpPr>
          <p:cNvPr id="17" name="Text 14"/>
          <p:cNvSpPr txBox="1"/>
          <p:nvPr/>
        </p:nvSpPr>
        <p:spPr>
          <a:xfrm>
            <a:off x="1554480" y="4197096"/>
            <a:ext cx="3657600" cy="594360"/>
          </a:xfrm>
          <a:prstGeom prst="rect">
            <a:avLst/>
          </a:prstGeom>
          <a:noFill/>
          <a:ln/>
        </p:spPr>
        <p:txBody>
          <a:bodyPr wrap="square" lIns="0" tIns="0" rIns="0" bIns="0" rtlCol="0" anchor="t"/>
          <a:lstStyle/>
          <a:p>
            <a:pPr indent="0" marL="0">
              <a:buNone/>
            </a:pPr>
            <a:r>
              <a:rPr lang="en-US" sz="1050" dirty="0">
                <a:solidFill>
                  <a:schemeClr val="tx1"/>
                </a:solidFill>
              </a:rPr>
              <a:t>Same evidence, but a fixed answer shape: a verbatim quote per claim, a watch-out report, a tilt capped at ±10 bp. Code checks every quote and number.</a:t>
            </a:r>
            <a:endParaRPr lang="en-US" sz="1050" dirty="0"/>
          </a:p>
        </p:txBody>
      </p:sp>
      <p:sp>
        <p:nvSpPr>
          <p:cNvPr id="18" name="Text 15"/>
          <p:cNvSpPr txBox="1"/>
          <p:nvPr/>
        </p:nvSpPr>
        <p:spPr>
          <a:xfrm>
            <a:off x="5486400" y="3831336"/>
            <a:ext cx="6126480" cy="868680"/>
          </a:xfrm>
          <a:prstGeom prst="rect">
            <a:avLst/>
          </a:prstGeom>
          <a:noFill/>
          <a:ln/>
        </p:spPr>
        <p:txBody>
          <a:bodyPr wrap="square" lIns="0" tIns="0" rIns="0" bIns="0" rtlCol="0" anchor="ctr"/>
          <a:lstStyle/>
          <a:p>
            <a:pPr indent="0" marL="0">
              <a:buNone/>
            </a:pPr>
            <a:r>
              <a:rPr lang="en-US" sz="1250" dirty="0">
                <a:solidFill>
                  <a:schemeClr val="tx1"/>
                </a:solidFill>
              </a:rPr>
              <a:t>Adds structure and verification. This is where the output becomes stable and checkable.</a:t>
            </a:r>
            <a:endParaRPr lang="en-US" sz="1250" dirty="0"/>
          </a:p>
        </p:txBody>
      </p:sp>
      <p:sp>
        <p:nvSpPr>
          <p:cNvPr id="19" name="Shape 16"/>
          <p:cNvSpPr/>
          <p:nvPr/>
        </p:nvSpPr>
        <p:spPr>
          <a:xfrm>
            <a:off x="548640" y="4901184"/>
            <a:ext cx="822960" cy="1005840"/>
          </a:xfrm>
          <a:prstGeom prst="roundRect">
            <a:avLst>
              <a:gd name="adj" fmla="val 11111"/>
            </a:avLst>
          </a:prstGeom>
          <a:solidFill>
            <a:srgbClr val="C8553D"/>
          </a:solidFill>
          <a:ln w="12700">
            <a:solidFill>
              <a:srgbClr val="C8553D"/>
            </a:solidFill>
            <a:prstDash val="solid"/>
          </a:ln>
        </p:spPr>
      </p:sp>
      <p:sp>
        <p:nvSpPr>
          <p:cNvPr id="20" name="Text 17"/>
          <p:cNvSpPr txBox="1"/>
          <p:nvPr/>
        </p:nvSpPr>
        <p:spPr>
          <a:xfrm>
            <a:off x="548640" y="4901184"/>
            <a:ext cx="822960" cy="100584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D</a:t>
            </a:r>
            <a:endParaRPr lang="en-US" sz="3000" dirty="0"/>
          </a:p>
        </p:txBody>
      </p:sp>
      <p:sp>
        <p:nvSpPr>
          <p:cNvPr id="21" name="Text 18"/>
          <p:cNvSpPr txBox="1"/>
          <p:nvPr/>
        </p:nvSpPr>
        <p:spPr>
          <a:xfrm>
            <a:off x="1554480" y="4919472"/>
            <a:ext cx="3657600" cy="457200"/>
          </a:xfrm>
          <a:prstGeom prst="rect">
            <a:avLst/>
          </a:prstGeom>
          <a:noFill/>
          <a:ln/>
        </p:spPr>
        <p:txBody>
          <a:bodyPr wrap="square" lIns="0" tIns="0" rIns="0" bIns="0" rtlCol="0" anchor="ctr"/>
          <a:lstStyle/>
          <a:p>
            <a:pPr indent="0" marL="0">
              <a:buNone/>
            </a:pPr>
            <a:r>
              <a:rPr lang="en-US" sz="1400" b="1" dirty="0">
                <a:solidFill>
                  <a:schemeClr val="tx2"/>
                </a:solidFill>
              </a:rPr>
              <a:t>Analysts 4 to 8: specialists</a:t>
            </a:r>
            <a:endParaRPr lang="en-US" sz="1400" dirty="0"/>
          </a:p>
        </p:txBody>
      </p:sp>
      <p:sp>
        <p:nvSpPr>
          <p:cNvPr id="22" name="Text 19"/>
          <p:cNvSpPr txBox="1"/>
          <p:nvPr/>
        </p:nvSpPr>
        <p:spPr>
          <a:xfrm>
            <a:off x="1554480" y="5358384"/>
            <a:ext cx="3657600" cy="594360"/>
          </a:xfrm>
          <a:prstGeom prst="rect">
            <a:avLst/>
          </a:prstGeom>
          <a:noFill/>
          <a:ln/>
        </p:spPr>
        <p:txBody>
          <a:bodyPr wrap="square" lIns="0" tIns="0" rIns="0" bIns="0" rtlCol="0" anchor="t"/>
          <a:lstStyle/>
          <a:p>
            <a:pPr indent="0" marL="0">
              <a:buNone/>
            </a:pPr>
            <a:r>
              <a:rPr lang="en-US" sz="1050" dirty="0">
                <a:solidFill>
                  <a:schemeClr val="tx1"/>
                </a:solidFill>
              </a:rPr>
              <a:t>One slice each: communications, minutes, inflation, labour, financial conditions. Same schema, same verifier.</a:t>
            </a:r>
            <a:endParaRPr lang="en-US" sz="1050" dirty="0"/>
          </a:p>
        </p:txBody>
      </p:sp>
      <p:sp>
        <p:nvSpPr>
          <p:cNvPr id="23" name="Text 20"/>
          <p:cNvSpPr txBox="1"/>
          <p:nvPr/>
        </p:nvSpPr>
        <p:spPr>
          <a:xfrm>
            <a:off x="5486400" y="4992624"/>
            <a:ext cx="6126480" cy="868680"/>
          </a:xfrm>
          <a:prstGeom prst="rect">
            <a:avLst/>
          </a:prstGeom>
          <a:noFill/>
          <a:ln/>
        </p:spPr>
        <p:txBody>
          <a:bodyPr wrap="square" lIns="0" tIns="0" rIns="0" bIns="0" rtlCol="0" anchor="ctr"/>
          <a:lstStyle/>
          <a:p>
            <a:pPr indent="0" marL="0">
              <a:buNone/>
            </a:pPr>
            <a:r>
              <a:rPr lang="en-US" sz="1250" dirty="0">
                <a:solidFill>
                  <a:schemeClr val="tx1"/>
                </a:solidFill>
              </a:rPr>
              <a:t>Adds specialisation. Each judgement is attributable to its evidence; a dissent survives instead of being averaged away.</a:t>
            </a:r>
            <a:endParaRPr lang="en-US" sz="1250" dirty="0"/>
          </a:p>
        </p:txBody>
      </p:sp>
      <p:sp>
        <p:nvSpPr>
          <p:cNvPr id="24" name="Text 21"/>
          <p:cNvSpPr txBox="1"/>
          <p:nvPr/>
        </p:nvSpPr>
        <p:spPr>
          <a:xfrm>
            <a:off x="548640" y="6080760"/>
            <a:ext cx="11091672" cy="320040"/>
          </a:xfrm>
          <a:prstGeom prst="rect">
            <a:avLst/>
          </a:prstGeom>
          <a:noFill/>
          <a:ln/>
        </p:spPr>
        <p:txBody>
          <a:bodyPr wrap="square" lIns="0" tIns="0" rIns="0" bIns="0" rtlCol="0" anchor="t"/>
          <a:lstStyle/>
          <a:p>
            <a:pPr indent="0" marL="0">
              <a:buNone/>
            </a:pPr>
            <a:r>
              <a:rPr lang="en-US" sz="1200" i="1" dirty="0">
                <a:solidFill>
                  <a:schemeClr val="accent4"/>
                </a:solidFill>
              </a:rPr>
              <a:t>Each arm adds one technique. The value of the technique is the difference between neighbouring arms.</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the harness enforces around every analyst</a:t>
            </a:r>
            <a:endParaRPr lang="en-US" sz="3200" dirty="0"/>
          </a:p>
        </p:txBody>
      </p:sp>
      <p:sp>
        <p:nvSpPr>
          <p:cNvPr id="4" name="Shape 1"/>
          <p:cNvSpPr/>
          <p:nvPr/>
        </p:nvSpPr>
        <p:spPr>
          <a:xfrm>
            <a:off x="548640" y="1508760"/>
            <a:ext cx="384048" cy="384048"/>
          </a:xfrm>
          <a:prstGeom prst="ellipse">
            <a:avLst/>
          </a:prstGeom>
          <a:solidFill>
            <a:srgbClr val="1E2761"/>
          </a:solidFill>
          <a:ln w="12700">
            <a:solidFill>
              <a:srgbClr val="1E2761"/>
            </a:solidFill>
            <a:prstDash val="solid"/>
          </a:ln>
        </p:spPr>
      </p:sp>
      <p:sp>
        <p:nvSpPr>
          <p:cNvPr id="5" name="Text 2"/>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143000" y="1417320"/>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Tools off, slice only</a:t>
            </a:r>
            <a:endParaRPr lang="en-US" sz="1500" dirty="0"/>
          </a:p>
        </p:txBody>
      </p:sp>
      <p:sp>
        <p:nvSpPr>
          <p:cNvPr id="7" name="Text 4"/>
          <p:cNvSpPr txBox="1"/>
          <p:nvPr/>
        </p:nvSpPr>
        <p:spPr>
          <a:xfrm>
            <a:off x="4023360" y="1435608"/>
            <a:ext cx="7589520" cy="822960"/>
          </a:xfrm>
          <a:prstGeom prst="rect">
            <a:avLst/>
          </a:prstGeom>
          <a:noFill/>
          <a:ln/>
        </p:spPr>
        <p:txBody>
          <a:bodyPr wrap="square" lIns="0" tIns="0" rIns="0" bIns="0" rtlCol="0" anchor="ctr"/>
          <a:lstStyle/>
          <a:p>
            <a:pPr indent="0" marL="0">
              <a:buNone/>
            </a:pPr>
            <a:r>
              <a:rPr lang="en-US" sz="1250" dirty="0">
                <a:solidFill>
                  <a:schemeClr val="tx1"/>
                </a:solidFill>
              </a:rPr>
              <a:t>The model sees its slice of the frozen snapshot and nothing else: no browsing, no memory of the Fed, no other analyst's output.</a:t>
            </a:r>
            <a:endParaRPr lang="en-US" sz="1250" dirty="0"/>
          </a:p>
        </p:txBody>
      </p:sp>
      <p:sp>
        <p:nvSpPr>
          <p:cNvPr id="8" name="Shape 5"/>
          <p:cNvSpPr/>
          <p:nvPr/>
        </p:nvSpPr>
        <p:spPr>
          <a:xfrm>
            <a:off x="548640" y="2441448"/>
            <a:ext cx="384048" cy="384048"/>
          </a:xfrm>
          <a:prstGeom prst="ellipse">
            <a:avLst/>
          </a:prstGeom>
          <a:solidFill>
            <a:srgbClr val="1E2761"/>
          </a:solidFill>
          <a:ln w="12700">
            <a:solidFill>
              <a:srgbClr val="1E2761"/>
            </a:solidFill>
            <a:prstDash val="solid"/>
          </a:ln>
        </p:spPr>
      </p:sp>
      <p:sp>
        <p:nvSpPr>
          <p:cNvPr id="9" name="Text 6"/>
          <p:cNvSpPr txBox="1"/>
          <p:nvPr/>
        </p:nvSpPr>
        <p:spPr>
          <a:xfrm>
            <a:off x="548640" y="2441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1143000" y="2350008"/>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Pre-reads</a:t>
            </a:r>
            <a:endParaRPr lang="en-US" sz="1500" dirty="0"/>
          </a:p>
        </p:txBody>
      </p:sp>
      <p:sp>
        <p:nvSpPr>
          <p:cNvPr id="11" name="Text 8"/>
          <p:cNvSpPr txBox="1"/>
          <p:nvPr/>
        </p:nvSpPr>
        <p:spPr>
          <a:xfrm>
            <a:off x="4023360" y="2368296"/>
            <a:ext cx="7589520" cy="822960"/>
          </a:xfrm>
          <a:prstGeom prst="rect">
            <a:avLst/>
          </a:prstGeom>
          <a:noFill/>
          <a:ln/>
        </p:spPr>
        <p:txBody>
          <a:bodyPr wrap="square" lIns="0" tIns="0" rIns="0" bIns="0" rtlCol="0" anchor="ctr"/>
          <a:lstStyle/>
          <a:p>
            <a:pPr indent="0" marL="0">
              <a:buNone/>
            </a:pPr>
            <a:r>
              <a:rPr lang="en-US" sz="1250" dirty="0">
                <a:solidFill>
                  <a:schemeClr val="tx1"/>
                </a:solidFill>
              </a:rPr>
              <a:t>Numbers are computed by code and handed over: inflation gap, labour slack, financial conditions, tone, base rates. The model never does arithmetic.</a:t>
            </a:r>
            <a:endParaRPr lang="en-US" sz="1250" dirty="0"/>
          </a:p>
        </p:txBody>
      </p:sp>
      <p:sp>
        <p:nvSpPr>
          <p:cNvPr id="12" name="Shape 9"/>
          <p:cNvSpPr/>
          <p:nvPr/>
        </p:nvSpPr>
        <p:spPr>
          <a:xfrm>
            <a:off x="548640" y="3374136"/>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48640" y="33741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1"/>
          <p:cNvSpPr txBox="1"/>
          <p:nvPr/>
        </p:nvSpPr>
        <p:spPr>
          <a:xfrm>
            <a:off x="1143000" y="3282696"/>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Fixed answer shape</a:t>
            </a:r>
            <a:endParaRPr lang="en-US" sz="1500" dirty="0"/>
          </a:p>
        </p:txBody>
      </p:sp>
      <p:sp>
        <p:nvSpPr>
          <p:cNvPr id="15" name="Text 12"/>
          <p:cNvSpPr txBox="1"/>
          <p:nvPr/>
        </p:nvSpPr>
        <p:spPr>
          <a:xfrm>
            <a:off x="4023360" y="3300984"/>
            <a:ext cx="7589520" cy="822960"/>
          </a:xfrm>
          <a:prstGeom prst="rect">
            <a:avLst/>
          </a:prstGeom>
          <a:noFill/>
          <a:ln/>
        </p:spPr>
        <p:txBody>
          <a:bodyPr wrap="square" lIns="0" tIns="0" rIns="0" bIns="0" rtlCol="0" anchor="ctr"/>
          <a:lstStyle/>
          <a:p>
            <a:pPr indent="0" marL="0">
              <a:buNone/>
            </a:pPr>
            <a:r>
              <a:rPr lang="en-US" sz="1250" dirty="0">
                <a:solidFill>
                  <a:schemeClr val="tx1"/>
                </a:solidFill>
              </a:rPr>
              <a:t>Claims, each with a verbatim quote and the item it came from; a report on every watch-out by id; a tilt bounded to ±10 basis points. Enforced by the runtime.</a:t>
            </a:r>
            <a:endParaRPr lang="en-US" sz="1250" dirty="0"/>
          </a:p>
        </p:txBody>
      </p:sp>
      <p:sp>
        <p:nvSpPr>
          <p:cNvPr id="16" name="Shape 13"/>
          <p:cNvSpPr/>
          <p:nvPr/>
        </p:nvSpPr>
        <p:spPr>
          <a:xfrm>
            <a:off x="548640" y="4306824"/>
            <a:ext cx="384048" cy="384048"/>
          </a:xfrm>
          <a:prstGeom prst="ellipse">
            <a:avLst/>
          </a:prstGeom>
          <a:solidFill>
            <a:srgbClr val="1E2761"/>
          </a:solidFill>
          <a:ln w="12700">
            <a:solidFill>
              <a:srgbClr val="1E2761"/>
            </a:solidFill>
            <a:prstDash val="solid"/>
          </a:ln>
        </p:spPr>
      </p:sp>
      <p:sp>
        <p:nvSpPr>
          <p:cNvPr id="17" name="Text 14"/>
          <p:cNvSpPr txBox="1"/>
          <p:nvPr/>
        </p:nvSpPr>
        <p:spPr>
          <a:xfrm>
            <a:off x="548640" y="430682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 15"/>
          <p:cNvSpPr txBox="1"/>
          <p:nvPr/>
        </p:nvSpPr>
        <p:spPr>
          <a:xfrm>
            <a:off x="1143000" y="4215384"/>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Code verifies</a:t>
            </a:r>
            <a:endParaRPr lang="en-US" sz="1500" dirty="0"/>
          </a:p>
        </p:txBody>
      </p:sp>
      <p:sp>
        <p:nvSpPr>
          <p:cNvPr id="19" name="Text 16"/>
          <p:cNvSpPr txBox="1"/>
          <p:nvPr/>
        </p:nvSpPr>
        <p:spPr>
          <a:xfrm>
            <a:off x="4023360" y="4233672"/>
            <a:ext cx="7589520" cy="822960"/>
          </a:xfrm>
          <a:prstGeom prst="rect">
            <a:avLst/>
          </a:prstGeom>
          <a:noFill/>
          <a:ln/>
        </p:spPr>
        <p:txBody>
          <a:bodyPr wrap="square" lIns="0" tIns="0" rIns="0" bIns="0" rtlCol="0" anchor="ctr"/>
          <a:lstStyle/>
          <a:p>
            <a:pPr indent="0" marL="0">
              <a:buNone/>
            </a:pPr>
            <a:r>
              <a:rPr lang="en-US" sz="1250" dirty="0">
                <a:solidFill>
                  <a:schemeClr val="tx1"/>
                </a:solidFill>
              </a:rPr>
              <a:t>Every quote is string-matched to its item. Every number is matched to the snapshot. Every watch-out must be answered. Failures are counted, never hidden.</a:t>
            </a:r>
            <a:endParaRPr lang="en-US" sz="1250" dirty="0"/>
          </a:p>
        </p:txBody>
      </p:sp>
      <p:sp>
        <p:nvSpPr>
          <p:cNvPr id="20" name="Shape 17"/>
          <p:cNvSpPr/>
          <p:nvPr/>
        </p:nvSpPr>
        <p:spPr>
          <a:xfrm>
            <a:off x="548640" y="5239512"/>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48640" y="52395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 19"/>
          <p:cNvSpPr txBox="1"/>
          <p:nvPr/>
        </p:nvSpPr>
        <p:spPr>
          <a:xfrm>
            <a:off x="1143000" y="5148072"/>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Recorded and repeated</a:t>
            </a:r>
            <a:endParaRPr lang="en-US" sz="1500" dirty="0"/>
          </a:p>
        </p:txBody>
      </p:sp>
      <p:sp>
        <p:nvSpPr>
          <p:cNvPr id="23" name="Text 20"/>
          <p:cNvSpPr txBox="1"/>
          <p:nvPr/>
        </p:nvSpPr>
        <p:spPr>
          <a:xfrm>
            <a:off x="4023360" y="5166360"/>
            <a:ext cx="7589520" cy="822960"/>
          </a:xfrm>
          <a:prstGeom prst="rect">
            <a:avLst/>
          </a:prstGeom>
          <a:noFill/>
          <a:ln/>
        </p:spPr>
        <p:txBody>
          <a:bodyPr wrap="square" lIns="0" tIns="0" rIns="0" bIns="0" rtlCol="0" anchor="ctr"/>
          <a:lstStyle/>
          <a:p>
            <a:pPr indent="0" marL="0">
              <a:buNone/>
            </a:pPr>
            <a:r>
              <a:rPr lang="en-US" sz="1250" dirty="0">
                <a:solidFill>
                  <a:schemeClr val="tx1"/>
                </a:solidFill>
              </a:rPr>
              <a:t>Five identical runs per analyst per snapshot, each stored with its prompt hash. Repeatability is measured, and a recorded run replays for free.</a:t>
            </a:r>
            <a:endParaRPr lang="en-US" sz="12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The ladder, three snapshots, five runs each</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3017520"/>
                <a:gridCol w="2011680"/>
                <a:gridCol w="2011680"/>
                <a:gridCol w="2011680"/>
                <a:gridCol w="2039112"/>
              </a:tblGrid>
              <a:tr h="777240">
                <a:tc>
                  <a:txBody>
                    <a:bodyPr/>
                    <a:lstStyle/>
                    <a:p>
                      <a:pPr indent="0" marL="0">
                        <a:buNone/>
                      </a:pPr>
                      <a:r>
                        <a:rPr lang="en-US" sz="1150" b="1" dirty="0">
                          <a:solidFill>
                            <a:srgbClr val="FFFFFF"/>
                          </a:solidFill>
                        </a:rPr>
                        <a:t>Dimension (pass mark)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Arm A: naive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Arm B: evidence shown</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Arm C: generalist + verifier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Arm D: specialists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r>
              <a:tr h="777240">
                <a:tc>
                  <a:txBody>
                    <a:bodyPr/>
                    <a:lstStyle/>
                    <a:p>
                      <a:pPr indent="0" marL="0">
                        <a:buNone/>
                      </a:pPr>
                      <a:r>
                        <a:rPr lang="en-US" sz="1150" dirty="0">
                          <a:solidFill>
                            <a:srgbClr val="1B1F2A"/>
                          </a:solidFill>
                        </a:rPr>
                        <a:t>S1 Repeatability (≤ 2 pp)</a:t>
                      </a:r>
                      <a:endParaRPr lang="en-US" sz="1150" dirty="0"/>
                    </a:p>
                    <a:p>
                      <a:pPr indent="0" marL="0">
                        <a:buNone/>
                      </a:pPr>
                      <a:r>
                        <a:rPr lang="en-US" sz="1150" dirty="0">
                          <a:solidFill>
                            <a:srgbClr val="1B1F2A"/>
                          </a:solidFill>
                        </a:rPr>
                        <a:t>max move of any probability across 5 identical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3.4 / 4.5 / 4.9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3.3 / 2.3 / 4.8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0.6 / 0.5 / 0.5 bp of tilt,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0.5 / 0.8 / 1.2 bp of tilt,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777240">
                <a:tc>
                  <a:txBody>
                    <a:bodyPr/>
                    <a:lstStyle/>
                    <a:p>
                      <a:pPr indent="0" marL="0">
                        <a:buNone/>
                      </a:pPr>
                      <a:r>
                        <a:rPr lang="en-US" sz="1150" dirty="0">
                          <a:solidFill>
                            <a:srgbClr val="1B1F2A"/>
                          </a:solidFill>
                        </a:rPr>
                        <a:t>S2 Groundedness (≥ 95%)</a:t>
                      </a:r>
                      <a:endParaRPr lang="en-US" sz="1150" dirty="0"/>
                    </a:p>
                    <a:p>
                      <a:pPr indent="0" marL="0">
                        <a:buNone/>
                      </a:pPr>
                      <a:r>
                        <a:rPr lang="en-US" sz="1150" dirty="0">
                          <a:solidFill>
                            <a:srgbClr val="1B1F2A"/>
                          </a:solidFill>
                        </a:rPr>
                        <a:t>share of claims whose quote code found in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0%,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not measurable: no quotes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100% on all three,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100 / 97 / 100%,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777240">
                <a:tc>
                  <a:txBody>
                    <a:bodyPr/>
                    <a:lstStyle/>
                    <a:p>
                      <a:pPr indent="0" marL="0">
                        <a:buNone/>
                      </a:pPr>
                      <a:r>
                        <a:rPr lang="en-US" sz="1150" dirty="0">
                          <a:solidFill>
                            <a:srgbClr val="1B1F2A"/>
                          </a:solidFill>
                        </a:rPr>
                        <a:t>S3 Leakage (exactly 0)</a:t>
                      </a:r>
                      <a:endParaRPr lang="en-US" sz="1150" dirty="0"/>
                    </a:p>
                    <a:p>
                      <a:pPr indent="0" marL="0">
                        <a:buNone/>
                      </a:pPr>
                      <a:r>
                        <a:rPr lang="en-US" sz="1150" dirty="0">
                          <a:solidFill>
                            <a:srgbClr val="1B1F2A"/>
                          </a:solidFill>
                        </a:rPr>
                        <a:t>numbers in the answer that are not in the snapshot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36 / 36 / 39,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777240">
                <a:tc>
                  <a:txBody>
                    <a:bodyPr/>
                    <a:lstStyle/>
                    <a:p>
                      <a:pPr indent="0" marL="0">
                        <a:buNone/>
                      </a:pPr>
                      <a:r>
                        <a:rPr lang="en-US" sz="1150" dirty="0">
                          <a:solidFill>
                            <a:srgbClr val="1B1F2A"/>
                          </a:solidFill>
                        </a:rPr>
                        <a:t>What it concluded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Cut 25 bps at 57%: its memory of the Fed is stale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+25 bps at 55 to 57%: reads the evidence, overshoots the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+7.0 / +6.6 / +6.4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+4.4 / +4.1 / +4.4 bp hawkish; labour the lone non-hawk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bl>
          </a:graphicData>
        </a:graphic>
      </p:graphicFrame>
      <p:sp>
        <p:nvSpPr>
          <p:cNvPr id="5" name="Text 1"/>
          <p:cNvSpPr txBox="1"/>
          <p:nvPr/>
        </p:nvSpPr>
        <p:spPr>
          <a:xfrm>
            <a:off x="548640" y="5806440"/>
            <a:ext cx="11091672" cy="457200"/>
          </a:xfrm>
          <a:prstGeom prst="rect">
            <a:avLst/>
          </a:prstGeom>
          <a:noFill/>
          <a:ln/>
        </p:spPr>
        <p:txBody>
          <a:bodyPr wrap="square" lIns="0" tIns="0" rIns="0" bIns="0" rtlCol="0" anchor="t"/>
          <a:lstStyle/>
          <a:p>
            <a:pPr indent="0" marL="0">
              <a:buNone/>
            </a:pPr>
            <a:r>
              <a:rPr lang="en-US" sz="1050" dirty="0">
                <a:solidFill>
                  <a:schemeClr val="accent4"/>
                </a:solidFill>
              </a:rPr>
              <a:t>Snapshots of 15, 24 and 26 October 2026. Arms C and D report S1 in basis points of tilt because they output a lean, not a distribution.</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the specialists said on 26 October</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737360"/>
                <a:gridCol w="2743200"/>
                <a:gridCol w="1280160"/>
                <a:gridCol w="1005840"/>
              </a:tblGrid>
              <a:tr h="502920">
                <a:tc>
                  <a:txBody>
                    <a:bodyPr/>
                    <a:lstStyle/>
                    <a:p>
                      <a:pPr indent="0" marL="0">
                        <a:buNone/>
                      </a:pPr>
                      <a:r>
                        <a:rPr lang="en-US" sz="1150" b="1" dirty="0">
                          <a:solidFill>
                            <a:srgbClr val="FFFFFF"/>
                          </a:solidFill>
                        </a:rPr>
                        <a:t>Analyst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rPr>
                        <a:t>Reads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Lean (5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Verified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r>
              <a:tr h="502920">
                <a:tc>
                  <a:txBody>
                    <a:bodyPr/>
                    <a:lstStyle/>
                    <a:p>
                      <a:pPr indent="0" marL="0">
                        <a:buNone/>
                      </a:pPr>
                      <a:r>
                        <a:rPr lang="en-US" sz="1150" dirty="0">
                          <a:solidFill>
                            <a:srgbClr val="1B1F2A"/>
                          </a:solidFill>
                        </a:rPr>
                        <a:t>4 Communications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Both statements, minutes, transcript, speeches, tone pre-read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+6.0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02920">
                <a:tc>
                  <a:txBody>
                    <a:bodyPr/>
                    <a:lstStyle/>
                    <a:p>
                      <a:pPr indent="0" marL="0">
                        <a:buNone/>
                      </a:pPr>
                      <a:r>
                        <a:rPr lang="en-US" sz="1150" dirty="0">
                          <a:solidFill>
                            <a:srgbClr val="1B1F2A"/>
                          </a:solidFill>
                        </a:rPr>
                        <a:t>5 Minutes digest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The minutes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+6.6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02920">
                <a:tc>
                  <a:txBody>
                    <a:bodyPr/>
                    <a:lstStyle/>
                    <a:p>
                      <a:pPr indent="0" marL="0">
                        <a:buNone/>
                      </a:pPr>
                      <a:r>
                        <a:rPr lang="en-US" sz="1150" dirty="0">
                          <a:solidFill>
                            <a:srgbClr val="1B1F2A"/>
                          </a:solidFill>
                        </a:rPr>
                        <a:t>6 Inflation</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Inflation pre-read, projections,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+6.4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02920">
                <a:tc>
                  <a:txBody>
                    <a:bodyPr/>
                    <a:lstStyle/>
                    <a:p>
                      <a:pPr indent="0" marL="0">
                        <a:buNone/>
                      </a:pPr>
                      <a:r>
                        <a:rPr lang="en-US" sz="1150" dirty="0">
                          <a:solidFill>
                            <a:srgbClr val="1B1F2A"/>
                          </a:solidFill>
                        </a:rPr>
                        <a:t>7 Labour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Labour pre-read, projections,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−0.4 bp, neutral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02920">
                <a:tc>
                  <a:txBody>
                    <a:bodyPr/>
                    <a:lstStyle/>
                    <a:p>
                      <a:pPr indent="0" marL="0">
                        <a:buNone/>
                      </a:pPr>
                      <a:r>
                        <a:rPr lang="en-US" sz="1150" dirty="0">
                          <a:solidFill>
                            <a:srgbClr val="1B1F2A"/>
                          </a:solidFill>
                        </a:rPr>
                        <a:t>8 Financial conditions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Financial pre-read, base rates,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+3.4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bl>
          </a:graphicData>
        </a:graphic>
      </p:graphicFrame>
      <p:sp>
        <p:nvSpPr>
          <p:cNvPr id="5" name="Shape 1"/>
          <p:cNvSpPr/>
          <p:nvPr/>
        </p:nvSpPr>
        <p:spPr>
          <a:xfrm>
            <a:off x="7680960" y="1417320"/>
            <a:ext cx="3959352" cy="3429000"/>
          </a:xfrm>
          <a:prstGeom prst="roundRect">
            <a:avLst>
              <a:gd name="adj" fmla="val 3200"/>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6" name="Text 2"/>
          <p:cNvSpPr txBox="1"/>
          <p:nvPr/>
        </p:nvSpPr>
        <p:spPr>
          <a:xfrm>
            <a:off x="7955280" y="1600200"/>
            <a:ext cx="3474720" cy="365760"/>
          </a:xfrm>
          <a:prstGeom prst="rect">
            <a:avLst/>
          </a:prstGeom>
          <a:noFill/>
          <a:ln/>
        </p:spPr>
        <p:txBody>
          <a:bodyPr wrap="square" lIns="0" tIns="0" rIns="0" bIns="0" rtlCol="0" anchor="t"/>
          <a:lstStyle/>
          <a:p>
            <a:pPr indent="0" marL="0">
              <a:buNone/>
            </a:pPr>
            <a:r>
              <a:rPr lang="en-US" sz="1400" b="1" dirty="0">
                <a:solidFill>
                  <a:schemeClr val="tx2"/>
                </a:solidFill>
              </a:rPr>
              <a:t>One claim, as recorded</a:t>
            </a:r>
            <a:endParaRPr lang="en-US" sz="1400" dirty="0"/>
          </a:p>
        </p:txBody>
      </p:sp>
      <p:sp>
        <p:nvSpPr>
          <p:cNvPr id="7" name="Text 3"/>
          <p:cNvSpPr txBox="1"/>
          <p:nvPr/>
        </p:nvSpPr>
        <p:spPr>
          <a:xfrm>
            <a:off x="7955280" y="2011680"/>
            <a:ext cx="3474720" cy="1005840"/>
          </a:xfrm>
          <a:prstGeom prst="rect">
            <a:avLst/>
          </a:prstGeom>
          <a:noFill/>
          <a:ln/>
        </p:spPr>
        <p:txBody>
          <a:bodyPr wrap="square" lIns="0" tIns="0" rIns="0" bIns="0" rtlCol="0" anchor="t"/>
          <a:lstStyle/>
          <a:p>
            <a:pPr indent="0" marL="0">
              <a:buNone/>
            </a:pPr>
            <a:r>
              <a:rPr lang="en-US" sz="1200" dirty="0">
                <a:solidFill>
                  <a:schemeClr val="tx1"/>
                </a:solidFill>
              </a:rPr>
              <a:t>Communications analyst: the deterministic tone read scores the most recent policy communication as fully hawkish, with a unanimous hike vote and no dovish lexicon hits.</a:t>
            </a:r>
            <a:endParaRPr lang="en-US" sz="1200" dirty="0"/>
          </a:p>
        </p:txBody>
      </p:sp>
      <p:sp>
        <p:nvSpPr>
          <p:cNvPr id="8" name="Text 4"/>
          <p:cNvSpPr txBox="1"/>
          <p:nvPr/>
        </p:nvSpPr>
        <p:spPr>
          <a:xfrm>
            <a:off x="7955280" y="3017520"/>
            <a:ext cx="3474720" cy="502920"/>
          </a:xfrm>
          <a:prstGeom prst="rect">
            <a:avLst/>
          </a:prstGeom>
          <a:noFill/>
          <a:ln/>
        </p:spPr>
        <p:txBody>
          <a:bodyPr wrap="square" lIns="0" tIns="0" rIns="0" bIns="0" rtlCol="0" anchor="t"/>
          <a:lstStyle/>
          <a:p>
            <a:pPr indent="0" marL="0">
              <a:buNone/>
            </a:pPr>
            <a:r>
              <a:rPr lang="en-US" sz="1100" dirty="0">
                <a:solidFill>
                  <a:schemeClr val="accent4"/>
                </a:solidFill>
                <a:latin typeface="Courier New" pitchFamily="34" charset="0"/>
                <a:ea typeface="Courier New" pitchFamily="34" charset="-122"/>
                <a:cs typeface="Courier New" pitchFamily="34" charset="-120"/>
              </a:rPr>
              <a:t>Quote: "score": 1.0   Item: signal.tone   Verified by code</a:t>
            </a:r>
            <a:endParaRPr lang="en-US" sz="1100" dirty="0"/>
          </a:p>
        </p:txBody>
      </p:sp>
      <p:sp>
        <p:nvSpPr>
          <p:cNvPr id="9" name="Text 5"/>
          <p:cNvSpPr txBox="1"/>
          <p:nvPr/>
        </p:nvSpPr>
        <p:spPr>
          <a:xfrm>
            <a:off x="7955280" y="3566160"/>
            <a:ext cx="3474720" cy="1188720"/>
          </a:xfrm>
          <a:prstGeom prst="rect">
            <a:avLst/>
          </a:prstGeom>
          <a:noFill/>
          <a:ln/>
        </p:spPr>
        <p:txBody>
          <a:bodyPr wrap="square" lIns="0" tIns="0" rIns="0" bIns="0" rtlCol="0" anchor="t"/>
          <a:lstStyle/>
          <a:p>
            <a:pPr indent="0" marL="0">
              <a:buNone/>
            </a:pPr>
            <a:r>
              <a:rPr lang="en-US" sz="1100" dirty="0">
                <a:solidFill>
                  <a:schemeClr val="tx1"/>
                </a:solidFill>
              </a:rPr>
              <a:t>The pre-read is our arithmetic over the two statements: 12 votes for, none against, eight hawkish words, no dovish ones. The analyst quoted it and code found the quote.</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The scorecard: eight of ten dimensions measured by code</a:t>
            </a:r>
            <a:endParaRPr lang="en-US" sz="3200" dirty="0"/>
          </a:p>
        </p:txBody>
      </p:sp>
      <p:sp>
        <p:nvSpPr>
          <p:cNvPr id="4" name="Shape 1"/>
          <p:cNvSpPr/>
          <p:nvPr/>
        </p:nvSpPr>
        <p:spPr>
          <a:xfrm>
            <a:off x="54864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Shape 2"/>
          <p:cNvSpPr/>
          <p:nvPr/>
        </p:nvSpPr>
        <p:spPr>
          <a:xfrm>
            <a:off x="685800" y="1737360"/>
            <a:ext cx="384048" cy="384048"/>
          </a:xfrm>
          <a:prstGeom prst="ellipse">
            <a:avLst/>
          </a:prstGeom>
          <a:solidFill>
            <a:srgbClr val="2C6E49"/>
          </a:solidFill>
          <a:ln w="12700">
            <a:solidFill>
              <a:srgbClr val="2C6E49"/>
            </a:solidFill>
            <a:prstDash val="solid"/>
          </a:ln>
        </p:spPr>
      </p:sp>
      <p:sp>
        <p:nvSpPr>
          <p:cNvPr id="6" name="Text 3"/>
          <p:cNvSpPr txBox="1"/>
          <p:nvPr/>
        </p:nvSpPr>
        <p:spPr>
          <a:xfrm>
            <a:off x="68580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S1</a:t>
            </a:r>
            <a:endParaRPr lang="en-US" sz="1000" dirty="0"/>
          </a:p>
        </p:txBody>
      </p:sp>
      <p:sp>
        <p:nvSpPr>
          <p:cNvPr id="7" name="Text 4"/>
          <p:cNvSpPr txBox="1"/>
          <p:nvPr/>
        </p:nvSpPr>
        <p:spPr>
          <a:xfrm>
            <a:off x="117043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Repeatability</a:t>
            </a:r>
            <a:endParaRPr lang="en-US" sz="1200" dirty="0"/>
          </a:p>
        </p:txBody>
      </p:sp>
      <p:sp>
        <p:nvSpPr>
          <p:cNvPr id="8" name="Text 5"/>
          <p:cNvSpPr txBox="1"/>
          <p:nvPr/>
        </p:nvSpPr>
        <p:spPr>
          <a:xfrm>
            <a:off x="117043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9" name="Shape 6"/>
          <p:cNvSpPr/>
          <p:nvPr/>
        </p:nvSpPr>
        <p:spPr>
          <a:xfrm>
            <a:off x="278892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0" name="Shape 7"/>
          <p:cNvSpPr/>
          <p:nvPr/>
        </p:nvSpPr>
        <p:spPr>
          <a:xfrm>
            <a:off x="2926080" y="1737360"/>
            <a:ext cx="384048" cy="384048"/>
          </a:xfrm>
          <a:prstGeom prst="ellipse">
            <a:avLst/>
          </a:prstGeom>
          <a:solidFill>
            <a:srgbClr val="2C6E49"/>
          </a:solidFill>
          <a:ln w="12700">
            <a:solidFill>
              <a:srgbClr val="2C6E49"/>
            </a:solidFill>
            <a:prstDash val="solid"/>
          </a:ln>
        </p:spPr>
      </p:sp>
      <p:sp>
        <p:nvSpPr>
          <p:cNvPr id="11" name="Text 8"/>
          <p:cNvSpPr txBox="1"/>
          <p:nvPr/>
        </p:nvSpPr>
        <p:spPr>
          <a:xfrm>
            <a:off x="292608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S2</a:t>
            </a:r>
            <a:endParaRPr lang="en-US" sz="1000" dirty="0"/>
          </a:p>
        </p:txBody>
      </p:sp>
      <p:sp>
        <p:nvSpPr>
          <p:cNvPr id="12" name="Text 9"/>
          <p:cNvSpPr txBox="1"/>
          <p:nvPr/>
        </p:nvSpPr>
        <p:spPr>
          <a:xfrm>
            <a:off x="341071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Groundedness</a:t>
            </a:r>
            <a:endParaRPr lang="en-US" sz="1200" dirty="0"/>
          </a:p>
        </p:txBody>
      </p:sp>
      <p:sp>
        <p:nvSpPr>
          <p:cNvPr id="13" name="Text 10"/>
          <p:cNvSpPr txBox="1"/>
          <p:nvPr/>
        </p:nvSpPr>
        <p:spPr>
          <a:xfrm>
            <a:off x="341071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14" name="Shape 11"/>
          <p:cNvSpPr/>
          <p:nvPr/>
        </p:nvSpPr>
        <p:spPr>
          <a:xfrm>
            <a:off x="502920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5" name="Shape 12"/>
          <p:cNvSpPr/>
          <p:nvPr/>
        </p:nvSpPr>
        <p:spPr>
          <a:xfrm>
            <a:off x="5166360" y="1737360"/>
            <a:ext cx="384048" cy="384048"/>
          </a:xfrm>
          <a:prstGeom prst="ellipse">
            <a:avLst/>
          </a:prstGeom>
          <a:solidFill>
            <a:srgbClr val="2C6E49"/>
          </a:solidFill>
          <a:ln w="12700">
            <a:solidFill>
              <a:srgbClr val="2C6E49"/>
            </a:solidFill>
            <a:prstDash val="solid"/>
          </a:ln>
        </p:spPr>
      </p:sp>
      <p:sp>
        <p:nvSpPr>
          <p:cNvPr id="16" name="Text 13"/>
          <p:cNvSpPr txBox="1"/>
          <p:nvPr/>
        </p:nvSpPr>
        <p:spPr>
          <a:xfrm>
            <a:off x="516636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S3</a:t>
            </a:r>
            <a:endParaRPr lang="en-US" sz="1000" dirty="0"/>
          </a:p>
        </p:txBody>
      </p:sp>
      <p:sp>
        <p:nvSpPr>
          <p:cNvPr id="17" name="Text 14"/>
          <p:cNvSpPr txBox="1"/>
          <p:nvPr/>
        </p:nvSpPr>
        <p:spPr>
          <a:xfrm>
            <a:off x="565099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Leakage</a:t>
            </a:r>
            <a:endParaRPr lang="en-US" sz="1200" dirty="0"/>
          </a:p>
        </p:txBody>
      </p:sp>
      <p:sp>
        <p:nvSpPr>
          <p:cNvPr id="18" name="Text 15"/>
          <p:cNvSpPr txBox="1"/>
          <p:nvPr/>
        </p:nvSpPr>
        <p:spPr>
          <a:xfrm>
            <a:off x="565099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19" name="Shape 16"/>
          <p:cNvSpPr/>
          <p:nvPr/>
        </p:nvSpPr>
        <p:spPr>
          <a:xfrm>
            <a:off x="726948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20" name="Shape 17"/>
          <p:cNvSpPr/>
          <p:nvPr/>
        </p:nvSpPr>
        <p:spPr>
          <a:xfrm>
            <a:off x="7406640" y="1737360"/>
            <a:ext cx="384048" cy="384048"/>
          </a:xfrm>
          <a:prstGeom prst="ellipse">
            <a:avLst/>
          </a:prstGeom>
          <a:solidFill>
            <a:srgbClr val="2C6E49"/>
          </a:solidFill>
          <a:ln w="12700">
            <a:solidFill>
              <a:srgbClr val="2C6E49"/>
            </a:solidFill>
            <a:prstDash val="solid"/>
          </a:ln>
        </p:spPr>
      </p:sp>
      <p:sp>
        <p:nvSpPr>
          <p:cNvPr id="21" name="Text 18"/>
          <p:cNvSpPr txBox="1"/>
          <p:nvPr/>
        </p:nvSpPr>
        <p:spPr>
          <a:xfrm>
            <a:off x="740664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S4</a:t>
            </a:r>
            <a:endParaRPr lang="en-US" sz="1000" dirty="0"/>
          </a:p>
        </p:txBody>
      </p:sp>
      <p:sp>
        <p:nvSpPr>
          <p:cNvPr id="22" name="Text 19"/>
          <p:cNvSpPr txBox="1"/>
          <p:nvPr/>
        </p:nvSpPr>
        <p:spPr>
          <a:xfrm>
            <a:off x="789127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Directional sanity</a:t>
            </a:r>
            <a:endParaRPr lang="en-US" sz="1200" dirty="0"/>
          </a:p>
        </p:txBody>
      </p:sp>
      <p:sp>
        <p:nvSpPr>
          <p:cNvPr id="23" name="Text 20"/>
          <p:cNvSpPr txBox="1"/>
          <p:nvPr/>
        </p:nvSpPr>
        <p:spPr>
          <a:xfrm>
            <a:off x="789127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24" name="Shape 21"/>
          <p:cNvSpPr/>
          <p:nvPr/>
        </p:nvSpPr>
        <p:spPr>
          <a:xfrm>
            <a:off x="950976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25" name="Shape 22"/>
          <p:cNvSpPr/>
          <p:nvPr/>
        </p:nvSpPr>
        <p:spPr>
          <a:xfrm>
            <a:off x="9646920" y="1737360"/>
            <a:ext cx="384048" cy="384048"/>
          </a:xfrm>
          <a:prstGeom prst="ellipse">
            <a:avLst/>
          </a:prstGeom>
          <a:solidFill>
            <a:srgbClr val="2C6E49"/>
          </a:solidFill>
          <a:ln w="12700">
            <a:solidFill>
              <a:srgbClr val="2C6E49"/>
            </a:solidFill>
            <a:prstDash val="solid"/>
          </a:ln>
        </p:spPr>
      </p:sp>
      <p:sp>
        <p:nvSpPr>
          <p:cNvPr id="26" name="Text 23"/>
          <p:cNvSpPr txBox="1"/>
          <p:nvPr/>
        </p:nvSpPr>
        <p:spPr>
          <a:xfrm>
            <a:off x="964692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S5</a:t>
            </a:r>
            <a:endParaRPr lang="en-US" sz="1000" dirty="0"/>
          </a:p>
        </p:txBody>
      </p:sp>
      <p:sp>
        <p:nvSpPr>
          <p:cNvPr id="27" name="Text 24"/>
          <p:cNvSpPr txBox="1"/>
          <p:nvPr/>
        </p:nvSpPr>
        <p:spPr>
          <a:xfrm>
            <a:off x="1013155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Noise invariance</a:t>
            </a:r>
            <a:endParaRPr lang="en-US" sz="1200" dirty="0"/>
          </a:p>
        </p:txBody>
      </p:sp>
      <p:sp>
        <p:nvSpPr>
          <p:cNvPr id="28" name="Text 25"/>
          <p:cNvSpPr txBox="1"/>
          <p:nvPr/>
        </p:nvSpPr>
        <p:spPr>
          <a:xfrm>
            <a:off x="1013155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29" name="Shape 26"/>
          <p:cNvSpPr/>
          <p:nvPr/>
        </p:nvSpPr>
        <p:spPr>
          <a:xfrm>
            <a:off x="54864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30" name="Shape 27"/>
          <p:cNvSpPr/>
          <p:nvPr/>
        </p:nvSpPr>
        <p:spPr>
          <a:xfrm>
            <a:off x="685800" y="2880360"/>
            <a:ext cx="384048" cy="384048"/>
          </a:xfrm>
          <a:prstGeom prst="ellipse">
            <a:avLst/>
          </a:prstGeom>
          <a:solidFill>
            <a:srgbClr val="E9B44C"/>
          </a:solidFill>
          <a:ln w="12700">
            <a:solidFill>
              <a:srgbClr val="E9B44C"/>
            </a:solidFill>
            <a:prstDash val="solid"/>
          </a:ln>
        </p:spPr>
      </p:sp>
      <p:sp>
        <p:nvSpPr>
          <p:cNvPr id="31" name="Text 28"/>
          <p:cNvSpPr txBox="1"/>
          <p:nvPr/>
        </p:nvSpPr>
        <p:spPr>
          <a:xfrm>
            <a:off x="68580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S6</a:t>
            </a:r>
            <a:endParaRPr lang="en-US" sz="1000" dirty="0"/>
          </a:p>
        </p:txBody>
      </p:sp>
      <p:sp>
        <p:nvSpPr>
          <p:cNvPr id="32" name="Text 29"/>
          <p:cNvSpPr txBox="1"/>
          <p:nvPr/>
        </p:nvSpPr>
        <p:spPr>
          <a:xfrm>
            <a:off x="117043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Paraphrase stability</a:t>
            </a:r>
            <a:endParaRPr lang="en-US" sz="1200" dirty="0"/>
          </a:p>
        </p:txBody>
      </p:sp>
      <p:sp>
        <p:nvSpPr>
          <p:cNvPr id="33" name="Text 30"/>
          <p:cNvSpPr txBox="1"/>
          <p:nvPr/>
        </p:nvSpPr>
        <p:spPr>
          <a:xfrm>
            <a:off x="117043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typed inputs only</a:t>
            </a:r>
            <a:endParaRPr lang="en-US" sz="1000" dirty="0"/>
          </a:p>
        </p:txBody>
      </p:sp>
      <p:sp>
        <p:nvSpPr>
          <p:cNvPr id="34" name="Shape 31"/>
          <p:cNvSpPr/>
          <p:nvPr/>
        </p:nvSpPr>
        <p:spPr>
          <a:xfrm>
            <a:off x="278892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35" name="Shape 32"/>
          <p:cNvSpPr/>
          <p:nvPr/>
        </p:nvSpPr>
        <p:spPr>
          <a:xfrm>
            <a:off x="2926080" y="2880360"/>
            <a:ext cx="384048" cy="384048"/>
          </a:xfrm>
          <a:prstGeom prst="ellipse">
            <a:avLst/>
          </a:prstGeom>
          <a:solidFill>
            <a:srgbClr val="2C6E49"/>
          </a:solidFill>
          <a:ln w="12700">
            <a:solidFill>
              <a:srgbClr val="2C6E49"/>
            </a:solidFill>
            <a:prstDash val="solid"/>
          </a:ln>
        </p:spPr>
      </p:sp>
      <p:sp>
        <p:nvSpPr>
          <p:cNvPr id="36" name="Text 33"/>
          <p:cNvSpPr txBox="1"/>
          <p:nvPr/>
        </p:nvSpPr>
        <p:spPr>
          <a:xfrm>
            <a:off x="292608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S7</a:t>
            </a:r>
            <a:endParaRPr lang="en-US" sz="1000" dirty="0"/>
          </a:p>
        </p:txBody>
      </p:sp>
      <p:sp>
        <p:nvSpPr>
          <p:cNvPr id="37" name="Text 34"/>
          <p:cNvSpPr txBox="1"/>
          <p:nvPr/>
        </p:nvSpPr>
        <p:spPr>
          <a:xfrm>
            <a:off x="341071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Coherence</a:t>
            </a:r>
            <a:endParaRPr lang="en-US" sz="1200" dirty="0"/>
          </a:p>
        </p:txBody>
      </p:sp>
      <p:sp>
        <p:nvSpPr>
          <p:cNvPr id="38" name="Text 35"/>
          <p:cNvSpPr txBox="1"/>
          <p:nvPr/>
        </p:nvSpPr>
        <p:spPr>
          <a:xfrm>
            <a:off x="341071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39" name="Shape 36"/>
          <p:cNvSpPr/>
          <p:nvPr/>
        </p:nvSpPr>
        <p:spPr>
          <a:xfrm>
            <a:off x="502920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40" name="Shape 37"/>
          <p:cNvSpPr/>
          <p:nvPr/>
        </p:nvSpPr>
        <p:spPr>
          <a:xfrm>
            <a:off x="5166360" y="2880360"/>
            <a:ext cx="384048" cy="384048"/>
          </a:xfrm>
          <a:prstGeom prst="ellipse">
            <a:avLst/>
          </a:prstGeom>
          <a:solidFill>
            <a:srgbClr val="6B7280"/>
          </a:solidFill>
          <a:ln w="12700">
            <a:solidFill>
              <a:srgbClr val="6B7280"/>
            </a:solidFill>
            <a:prstDash val="solid"/>
          </a:ln>
        </p:spPr>
      </p:sp>
      <p:sp>
        <p:nvSpPr>
          <p:cNvPr id="41" name="Text 38"/>
          <p:cNvSpPr txBox="1"/>
          <p:nvPr/>
        </p:nvSpPr>
        <p:spPr>
          <a:xfrm>
            <a:off x="516636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S8</a:t>
            </a:r>
            <a:endParaRPr lang="en-US" sz="1000" dirty="0"/>
          </a:p>
        </p:txBody>
      </p:sp>
      <p:sp>
        <p:nvSpPr>
          <p:cNvPr id="42" name="Text 39"/>
          <p:cNvSpPr txBox="1"/>
          <p:nvPr/>
        </p:nvSpPr>
        <p:spPr>
          <a:xfrm>
            <a:off x="565099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Reasoning quality</a:t>
            </a:r>
            <a:endParaRPr lang="en-US" sz="1200" dirty="0"/>
          </a:p>
        </p:txBody>
      </p:sp>
      <p:sp>
        <p:nvSpPr>
          <p:cNvPr id="43" name="Text 40"/>
          <p:cNvSpPr txBox="1"/>
          <p:nvPr/>
        </p:nvSpPr>
        <p:spPr>
          <a:xfrm>
            <a:off x="565099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not built: rubric grader</a:t>
            </a:r>
            <a:endParaRPr lang="en-US" sz="1000" dirty="0"/>
          </a:p>
        </p:txBody>
      </p:sp>
      <p:sp>
        <p:nvSpPr>
          <p:cNvPr id="44" name="Shape 41"/>
          <p:cNvSpPr/>
          <p:nvPr/>
        </p:nvSpPr>
        <p:spPr>
          <a:xfrm>
            <a:off x="726948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45" name="Shape 42"/>
          <p:cNvSpPr/>
          <p:nvPr/>
        </p:nvSpPr>
        <p:spPr>
          <a:xfrm>
            <a:off x="7406640" y="2880360"/>
            <a:ext cx="384048" cy="384048"/>
          </a:xfrm>
          <a:prstGeom prst="ellipse">
            <a:avLst/>
          </a:prstGeom>
          <a:solidFill>
            <a:srgbClr val="2C6E49"/>
          </a:solidFill>
          <a:ln w="12700">
            <a:solidFill>
              <a:srgbClr val="2C6E49"/>
            </a:solidFill>
            <a:prstDash val="solid"/>
          </a:ln>
        </p:spPr>
      </p:sp>
      <p:sp>
        <p:nvSpPr>
          <p:cNvPr id="46" name="Text 43"/>
          <p:cNvSpPr txBox="1"/>
          <p:nvPr/>
        </p:nvSpPr>
        <p:spPr>
          <a:xfrm>
            <a:off x="740664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S9</a:t>
            </a:r>
            <a:endParaRPr lang="en-US" sz="1000" dirty="0"/>
          </a:p>
        </p:txBody>
      </p:sp>
      <p:sp>
        <p:nvSpPr>
          <p:cNvPr id="47" name="Text 44"/>
          <p:cNvSpPr txBox="1"/>
          <p:nvPr/>
        </p:nvSpPr>
        <p:spPr>
          <a:xfrm>
            <a:off x="789127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Auditability</a:t>
            </a:r>
            <a:endParaRPr lang="en-US" sz="1200" dirty="0"/>
          </a:p>
        </p:txBody>
      </p:sp>
      <p:sp>
        <p:nvSpPr>
          <p:cNvPr id="48" name="Text 45"/>
          <p:cNvSpPr txBox="1"/>
          <p:nvPr/>
        </p:nvSpPr>
        <p:spPr>
          <a:xfrm>
            <a:off x="789127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49" name="Shape 46"/>
          <p:cNvSpPr/>
          <p:nvPr/>
        </p:nvSpPr>
        <p:spPr>
          <a:xfrm>
            <a:off x="950976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0" name="Shape 47"/>
          <p:cNvSpPr/>
          <p:nvPr/>
        </p:nvSpPr>
        <p:spPr>
          <a:xfrm>
            <a:off x="9646920" y="2880360"/>
            <a:ext cx="384048" cy="384048"/>
          </a:xfrm>
          <a:prstGeom prst="ellipse">
            <a:avLst/>
          </a:prstGeom>
          <a:solidFill>
            <a:srgbClr val="2C6E49"/>
          </a:solidFill>
          <a:ln w="12700">
            <a:solidFill>
              <a:srgbClr val="2C6E49"/>
            </a:solidFill>
            <a:prstDash val="solid"/>
          </a:ln>
        </p:spPr>
      </p:sp>
      <p:sp>
        <p:nvSpPr>
          <p:cNvPr id="51" name="Text 48"/>
          <p:cNvSpPr txBox="1"/>
          <p:nvPr/>
        </p:nvSpPr>
        <p:spPr>
          <a:xfrm>
            <a:off x="964692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S10</a:t>
            </a:r>
            <a:endParaRPr lang="en-US" sz="1000" dirty="0"/>
          </a:p>
        </p:txBody>
      </p:sp>
      <p:sp>
        <p:nvSpPr>
          <p:cNvPr id="52" name="Text 49"/>
          <p:cNvSpPr txBox="1"/>
          <p:nvPr/>
        </p:nvSpPr>
        <p:spPr>
          <a:xfrm>
            <a:off x="1013155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Human-input discipline</a:t>
            </a:r>
            <a:endParaRPr lang="en-US" sz="1200" dirty="0"/>
          </a:p>
        </p:txBody>
      </p:sp>
      <p:sp>
        <p:nvSpPr>
          <p:cNvPr id="53" name="Text 50"/>
          <p:cNvSpPr txBox="1"/>
          <p:nvPr/>
        </p:nvSpPr>
        <p:spPr>
          <a:xfrm>
            <a:off x="1013155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54" name="Shape 51"/>
          <p:cNvSpPr/>
          <p:nvPr/>
        </p:nvSpPr>
        <p:spPr>
          <a:xfrm>
            <a:off x="548640" y="3931920"/>
            <a:ext cx="5486400" cy="2194560"/>
          </a:xfrm>
          <a:prstGeom prst="roundRect">
            <a:avLst>
              <a:gd name="adj" fmla="val 5000"/>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5" name="Text 52"/>
          <p:cNvSpPr txBox="1"/>
          <p:nvPr/>
        </p:nvSpPr>
        <p:spPr>
          <a:xfrm>
            <a:off x="822960" y="4069080"/>
            <a:ext cx="4937760" cy="365760"/>
          </a:xfrm>
          <a:prstGeom prst="rect">
            <a:avLst/>
          </a:prstGeom>
          <a:noFill/>
          <a:ln/>
        </p:spPr>
        <p:txBody>
          <a:bodyPr wrap="square" lIns="0" tIns="0" rIns="0" bIns="0" rtlCol="0" anchor="t"/>
          <a:lstStyle/>
          <a:p>
            <a:pPr indent="0" marL="0">
              <a:buNone/>
            </a:pPr>
            <a:r>
              <a:rPr lang="en-US" sz="1400" b="1" dirty="0">
                <a:solidFill>
                  <a:schemeClr val="tx2"/>
                </a:solidFill>
              </a:rPr>
              <a:t>Measured by code on the 26 October snapshot</a:t>
            </a:r>
            <a:endParaRPr lang="en-US" sz="1400" dirty="0"/>
          </a:p>
        </p:txBody>
      </p:sp>
      <p:sp>
        <p:nvSpPr>
          <p:cNvPr id="56" name="Text 53"/>
          <p:cNvSpPr txBox="1"/>
          <p:nvPr/>
        </p:nvSpPr>
        <p:spPr>
          <a:xfrm>
            <a:off x="822960" y="4480560"/>
            <a:ext cx="493776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S4: 7 shocks, one input each, the pool must move the right way: 7 of 7</a:t>
            </a:r>
            <a:endParaRPr lang="en-US" sz="1200" dirty="0"/>
          </a:p>
          <a:p>
            <a:pPr marL="342900" indent="-342900">
              <a:spcAft>
                <a:spcPts val="600"/>
              </a:spcAft>
              <a:buSzPct val="100000"/>
              <a:buChar char="•"/>
            </a:pPr>
            <a:r>
              <a:rPr lang="en-US" sz="1200" dirty="0">
                <a:solidFill>
                  <a:schemeClr val="tx1"/>
                </a:solidFill>
              </a:rPr>
              <a:t>S5: 5 irrelevant changes to the snapshot: 0.0 points moved</a:t>
            </a:r>
            <a:endParaRPr lang="en-US" sz="1200" dirty="0"/>
          </a:p>
          <a:p>
            <a:pPr marL="342900" indent="-342900">
              <a:spcAft>
                <a:spcPts val="600"/>
              </a:spcAft>
              <a:buSzPct val="100000"/>
              <a:buChar char="•"/>
            </a:pPr>
            <a:r>
              <a:rPr lang="en-US" sz="1200" dirty="0">
                <a:solidFill>
                  <a:schemeClr val="tx1"/>
                </a:solidFill>
              </a:rPr>
              <a:t>S7: all 17 ledger entries coherent and attributable</a:t>
            </a:r>
            <a:endParaRPr lang="en-US" sz="1200" dirty="0"/>
          </a:p>
          <a:p>
            <a:pPr marL="342900" indent="-342900">
              <a:spcAft>
                <a:spcPts val="600"/>
              </a:spcAft>
              <a:buSzPct val="100000"/>
              <a:buChar char="•"/>
            </a:pPr>
            <a:r>
              <a:rPr lang="en-US" sz="1200" dirty="0">
                <a:solidFill>
                  <a:schemeClr val="tx1"/>
                </a:solidFill>
              </a:rPr>
              <a:t>S9: entries under the current spec recompute exactly: 3 of 3</a:t>
            </a:r>
            <a:endParaRPr lang="en-US" sz="1200" dirty="0"/>
          </a:p>
        </p:txBody>
      </p:sp>
      <p:sp>
        <p:nvSpPr>
          <p:cNvPr id="57" name="Shape 54"/>
          <p:cNvSpPr/>
          <p:nvPr/>
        </p:nvSpPr>
        <p:spPr>
          <a:xfrm>
            <a:off x="6309360" y="3931920"/>
            <a:ext cx="5330952" cy="2194560"/>
          </a:xfrm>
          <a:prstGeom prst="roundRect">
            <a:avLst>
              <a:gd name="adj" fmla="val 5000"/>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8" name="Text 55"/>
          <p:cNvSpPr txBox="1"/>
          <p:nvPr/>
        </p:nvSpPr>
        <p:spPr>
          <a:xfrm>
            <a:off x="6583680" y="4069080"/>
            <a:ext cx="4846320" cy="365760"/>
          </a:xfrm>
          <a:prstGeom prst="rect">
            <a:avLst/>
          </a:prstGeom>
          <a:noFill/>
          <a:ln/>
        </p:spPr>
        <p:txBody>
          <a:bodyPr wrap="square" lIns="0" tIns="0" rIns="0" bIns="0" rtlCol="0" anchor="t"/>
          <a:lstStyle/>
          <a:p>
            <a:pPr indent="0" marL="0">
              <a:buNone/>
            </a:pPr>
            <a:r>
              <a:rPr lang="en-US" sz="1400" b="1" dirty="0">
                <a:solidFill>
                  <a:schemeClr val="tx2"/>
                </a:solidFill>
              </a:rPr>
              <a:t>What it has already caught</a:t>
            </a:r>
            <a:endParaRPr lang="en-US" sz="1400" dirty="0"/>
          </a:p>
        </p:txBody>
      </p:sp>
      <p:sp>
        <p:nvSpPr>
          <p:cNvPr id="59" name="Text 56"/>
          <p:cNvSpPr txBox="1"/>
          <p:nvPr/>
        </p:nvSpPr>
        <p:spPr>
          <a:xfrm>
            <a:off x="6583680" y="4480560"/>
            <a:ext cx="484632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Four ledger entries stopped replaying after a model rule changed outside the hashed spec. Amendment #5 put every rule inside the hash; earlier entries are now labelled, not failed.</a:t>
            </a:r>
            <a:endParaRPr lang="en-US" sz="1200" dirty="0"/>
          </a:p>
          <a:p>
            <a:pPr marL="342900" indent="-342900">
              <a:spcAft>
                <a:spcPts val="600"/>
              </a:spcAft>
              <a:buSzPct val="100000"/>
              <a:buChar char="•"/>
            </a:pPr>
            <a:r>
              <a:rPr lang="en-US" sz="1200" dirty="0">
                <a:solidFill>
                  <a:schemeClr val="tx1"/>
                </a:solidFill>
              </a:rPr>
              <a:t>A shock test was perturbing the wrong odds entry once two were on file. A red cell on the drift table pointed straight at it; fixed with a unit test the same hour.</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Governance: pre-register, amend in the open, replay</a:t>
            </a:r>
            <a:endParaRPr lang="en-US" sz="3200" dirty="0"/>
          </a:p>
        </p:txBody>
      </p:sp>
      <p:sp>
        <p:nvSpPr>
          <p:cNvPr id="4" name="Shape 1"/>
          <p:cNvSpPr/>
          <p:nvPr/>
        </p:nvSpPr>
        <p:spPr>
          <a:xfrm>
            <a:off x="1005840" y="2514600"/>
            <a:ext cx="10177272" cy="0"/>
          </a:xfrm>
          <a:prstGeom prst="line">
            <a:avLst/>
          </a:prstGeom>
          <a:noFill/>
          <a:ln w="38100">
            <a:solidFill>
              <a:srgbClr val="CADCFC"/>
            </a:solidFill>
            <a:prstDash val="solid"/>
          </a:ln>
        </p:spPr>
      </p:sp>
      <p:sp>
        <p:nvSpPr>
          <p:cNvPr id="5" name="Shape 2"/>
          <p:cNvSpPr/>
          <p:nvPr/>
        </p:nvSpPr>
        <p:spPr>
          <a:xfrm>
            <a:off x="804672" y="2313432"/>
            <a:ext cx="402336" cy="402336"/>
          </a:xfrm>
          <a:prstGeom prst="ellipse">
            <a:avLst/>
          </a:prstGeom>
          <a:solidFill>
            <a:srgbClr val="1E2761"/>
          </a:solidFill>
          <a:ln w="25400">
            <a:solidFill>
              <a:srgbClr val="FFFFFF"/>
            </a:solidFill>
            <a:prstDash val="solid"/>
          </a:ln>
        </p:spPr>
      </p:sp>
      <p:sp>
        <p:nvSpPr>
          <p:cNvPr id="6" name="Text 3"/>
          <p:cNvSpPr txBox="1"/>
          <p:nvPr/>
        </p:nvSpPr>
        <p:spPr>
          <a:xfrm>
            <a:off x="91440"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#0</a:t>
            </a:r>
            <a:endParaRPr lang="en-US" sz="1400" dirty="0"/>
          </a:p>
        </p:txBody>
      </p:sp>
      <p:sp>
        <p:nvSpPr>
          <p:cNvPr id="7" name="Text 4"/>
          <p:cNvSpPr txBox="1"/>
          <p:nvPr/>
        </p:nvSpPr>
        <p:spPr>
          <a:xfrm>
            <a:off x="91440"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21 Sep</a:t>
            </a:r>
            <a:endParaRPr lang="en-US" sz="1100" dirty="0"/>
          </a:p>
        </p:txBody>
      </p:sp>
      <p:sp>
        <p:nvSpPr>
          <p:cNvPr id="8" name="Text 5"/>
          <p:cNvSpPr txBox="1"/>
          <p:nvPr/>
        </p:nvSpPr>
        <p:spPr>
          <a:xfrm>
            <a:off x="91440"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Scorecard S1 to S10, tilt cap 10 pp</a:t>
            </a:r>
            <a:endParaRPr lang="en-US" sz="1100" dirty="0"/>
          </a:p>
        </p:txBody>
      </p:sp>
      <p:sp>
        <p:nvSpPr>
          <p:cNvPr id="9" name="Shape 6"/>
          <p:cNvSpPr/>
          <p:nvPr/>
        </p:nvSpPr>
        <p:spPr>
          <a:xfrm>
            <a:off x="2840126" y="2313432"/>
            <a:ext cx="402336" cy="402336"/>
          </a:xfrm>
          <a:prstGeom prst="ellipse">
            <a:avLst/>
          </a:prstGeom>
          <a:solidFill>
            <a:srgbClr val="1E2761"/>
          </a:solidFill>
          <a:ln w="25400">
            <a:solidFill>
              <a:srgbClr val="FFFFFF"/>
            </a:solidFill>
            <a:prstDash val="solid"/>
          </a:ln>
        </p:spPr>
      </p:sp>
      <p:sp>
        <p:nvSpPr>
          <p:cNvPr id="10" name="Text 7"/>
          <p:cNvSpPr txBox="1"/>
          <p:nvPr/>
        </p:nvSpPr>
        <p:spPr>
          <a:xfrm>
            <a:off x="2126894"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#1</a:t>
            </a:r>
            <a:endParaRPr lang="en-US" sz="1400" dirty="0"/>
          </a:p>
        </p:txBody>
      </p:sp>
      <p:sp>
        <p:nvSpPr>
          <p:cNvPr id="11" name="Text 8"/>
          <p:cNvSpPr txBox="1"/>
          <p:nvPr/>
        </p:nvSpPr>
        <p:spPr>
          <a:xfrm>
            <a:off x="2126894"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 Oct</a:t>
            </a:r>
            <a:endParaRPr lang="en-US" sz="1100" dirty="0"/>
          </a:p>
        </p:txBody>
      </p:sp>
      <p:sp>
        <p:nvSpPr>
          <p:cNvPr id="12" name="Text 9"/>
          <p:cNvSpPr txBox="1"/>
          <p:nvPr/>
        </p:nvSpPr>
        <p:spPr>
          <a:xfrm>
            <a:off x="2126894"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Taylor rules join; 1.5% floor</a:t>
            </a:r>
            <a:endParaRPr lang="en-US" sz="1100" dirty="0"/>
          </a:p>
        </p:txBody>
      </p:sp>
      <p:sp>
        <p:nvSpPr>
          <p:cNvPr id="13" name="Shape 10"/>
          <p:cNvSpPr/>
          <p:nvPr/>
        </p:nvSpPr>
        <p:spPr>
          <a:xfrm>
            <a:off x="4875581" y="2313432"/>
            <a:ext cx="402336" cy="402336"/>
          </a:xfrm>
          <a:prstGeom prst="ellipse">
            <a:avLst/>
          </a:prstGeom>
          <a:solidFill>
            <a:srgbClr val="1E2761"/>
          </a:solidFill>
          <a:ln w="25400">
            <a:solidFill>
              <a:srgbClr val="FFFFFF"/>
            </a:solidFill>
            <a:prstDash val="solid"/>
          </a:ln>
        </p:spPr>
      </p:sp>
      <p:sp>
        <p:nvSpPr>
          <p:cNvPr id="14" name="Text 11"/>
          <p:cNvSpPr txBox="1"/>
          <p:nvPr/>
        </p:nvSpPr>
        <p:spPr>
          <a:xfrm>
            <a:off x="4162349"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#2</a:t>
            </a:r>
            <a:endParaRPr lang="en-US" sz="1400" dirty="0"/>
          </a:p>
        </p:txBody>
      </p:sp>
      <p:sp>
        <p:nvSpPr>
          <p:cNvPr id="15" name="Text 12"/>
          <p:cNvSpPr txBox="1"/>
          <p:nvPr/>
        </p:nvSpPr>
        <p:spPr>
          <a:xfrm>
            <a:off x="4162349"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 Oct</a:t>
            </a:r>
            <a:endParaRPr lang="en-US" sz="1100" dirty="0"/>
          </a:p>
        </p:txBody>
      </p:sp>
      <p:sp>
        <p:nvSpPr>
          <p:cNvPr id="16" name="Text 13"/>
          <p:cNvSpPr txBox="1"/>
          <p:nvPr/>
        </p:nvSpPr>
        <p:spPr>
          <a:xfrm>
            <a:off x="4162349"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Prediction-market odds join at 0.1</a:t>
            </a:r>
            <a:endParaRPr lang="en-US" sz="1100" dirty="0"/>
          </a:p>
        </p:txBody>
      </p:sp>
      <p:sp>
        <p:nvSpPr>
          <p:cNvPr id="17" name="Shape 14"/>
          <p:cNvSpPr/>
          <p:nvPr/>
        </p:nvSpPr>
        <p:spPr>
          <a:xfrm>
            <a:off x="6911035" y="2313432"/>
            <a:ext cx="402336" cy="402336"/>
          </a:xfrm>
          <a:prstGeom prst="ellipse">
            <a:avLst/>
          </a:prstGeom>
          <a:solidFill>
            <a:srgbClr val="1E2761"/>
          </a:solidFill>
          <a:ln w="25400">
            <a:solidFill>
              <a:srgbClr val="FFFFFF"/>
            </a:solidFill>
            <a:prstDash val="solid"/>
          </a:ln>
        </p:spPr>
      </p:sp>
      <p:sp>
        <p:nvSpPr>
          <p:cNvPr id="18" name="Text 15"/>
          <p:cNvSpPr txBox="1"/>
          <p:nvPr/>
        </p:nvSpPr>
        <p:spPr>
          <a:xfrm>
            <a:off x="6197803"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#3, #4</a:t>
            </a:r>
            <a:endParaRPr lang="en-US" sz="1400" dirty="0"/>
          </a:p>
        </p:txBody>
      </p:sp>
      <p:sp>
        <p:nvSpPr>
          <p:cNvPr id="19" name="Text 16"/>
          <p:cNvSpPr txBox="1"/>
          <p:nvPr/>
        </p:nvSpPr>
        <p:spPr>
          <a:xfrm>
            <a:off x="6197803"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16 Oct</a:t>
            </a:r>
            <a:endParaRPr lang="en-US" sz="1100" dirty="0"/>
          </a:p>
        </p:txBody>
      </p:sp>
      <p:sp>
        <p:nvSpPr>
          <p:cNvPr id="20" name="Text 17"/>
          <p:cNvSpPr txBox="1"/>
          <p:nvPr/>
        </p:nvSpPr>
        <p:spPr>
          <a:xfrm>
            <a:off x="6197803"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Stale odds flagged, used, never skipped</a:t>
            </a:r>
            <a:endParaRPr lang="en-US" sz="1100" dirty="0"/>
          </a:p>
        </p:txBody>
      </p:sp>
      <p:sp>
        <p:nvSpPr>
          <p:cNvPr id="21" name="Shape 18"/>
          <p:cNvSpPr/>
          <p:nvPr/>
        </p:nvSpPr>
        <p:spPr>
          <a:xfrm>
            <a:off x="8946490" y="2313432"/>
            <a:ext cx="402336" cy="402336"/>
          </a:xfrm>
          <a:prstGeom prst="ellipse">
            <a:avLst/>
          </a:prstGeom>
          <a:solidFill>
            <a:srgbClr val="1E2761"/>
          </a:solidFill>
          <a:ln w="25400">
            <a:solidFill>
              <a:srgbClr val="FFFFFF"/>
            </a:solidFill>
            <a:prstDash val="solid"/>
          </a:ln>
        </p:spPr>
      </p:sp>
      <p:sp>
        <p:nvSpPr>
          <p:cNvPr id="22" name="Text 19"/>
          <p:cNvSpPr txBox="1"/>
          <p:nvPr/>
        </p:nvSpPr>
        <p:spPr>
          <a:xfrm>
            <a:off x="8233258"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#5</a:t>
            </a:r>
            <a:endParaRPr lang="en-US" sz="1400" dirty="0"/>
          </a:p>
        </p:txBody>
      </p:sp>
      <p:sp>
        <p:nvSpPr>
          <p:cNvPr id="23" name="Text 20"/>
          <p:cNvSpPr txBox="1"/>
          <p:nvPr/>
        </p:nvSpPr>
        <p:spPr>
          <a:xfrm>
            <a:off x="8233258"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25 Oct</a:t>
            </a:r>
            <a:endParaRPr lang="en-US" sz="1100" dirty="0"/>
          </a:p>
        </p:txBody>
      </p:sp>
      <p:sp>
        <p:nvSpPr>
          <p:cNvPr id="24" name="Text 21"/>
          <p:cNvSpPr txBox="1"/>
          <p:nvPr/>
        </p:nvSpPr>
        <p:spPr>
          <a:xfrm>
            <a:off x="8233258"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Every model rule inside the spec hash</a:t>
            </a:r>
            <a:endParaRPr lang="en-US" sz="1100" dirty="0"/>
          </a:p>
        </p:txBody>
      </p:sp>
      <p:sp>
        <p:nvSpPr>
          <p:cNvPr id="25" name="Shape 22"/>
          <p:cNvSpPr/>
          <p:nvPr/>
        </p:nvSpPr>
        <p:spPr>
          <a:xfrm>
            <a:off x="10981944" y="2313432"/>
            <a:ext cx="402336" cy="402336"/>
          </a:xfrm>
          <a:prstGeom prst="ellipse">
            <a:avLst/>
          </a:prstGeom>
          <a:solidFill>
            <a:srgbClr val="1E2761"/>
          </a:solidFill>
          <a:ln w="25400">
            <a:solidFill>
              <a:srgbClr val="FFFFFF"/>
            </a:solidFill>
            <a:prstDash val="solid"/>
          </a:ln>
        </p:spPr>
      </p:sp>
      <p:sp>
        <p:nvSpPr>
          <p:cNvPr id="26" name="Text 23"/>
          <p:cNvSpPr txBox="1"/>
          <p:nvPr/>
        </p:nvSpPr>
        <p:spPr>
          <a:xfrm>
            <a:off x="10268712"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#6</a:t>
            </a:r>
            <a:endParaRPr lang="en-US" sz="1400" dirty="0"/>
          </a:p>
        </p:txBody>
      </p:sp>
      <p:sp>
        <p:nvSpPr>
          <p:cNvPr id="27" name="Text 24"/>
          <p:cNvSpPr txBox="1"/>
          <p:nvPr/>
        </p:nvSpPr>
        <p:spPr>
          <a:xfrm>
            <a:off x="10268712"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25 Oct</a:t>
            </a:r>
            <a:endParaRPr lang="en-US" sz="1100" dirty="0"/>
          </a:p>
        </p:txBody>
      </p:sp>
      <p:sp>
        <p:nvSpPr>
          <p:cNvPr id="28" name="Text 25"/>
          <p:cNvSpPr txBox="1"/>
          <p:nvPr/>
        </p:nvSpPr>
        <p:spPr>
          <a:xfrm>
            <a:off x="10268712"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Base rates at 0.1; specialists' tilt applied, capped</a:t>
            </a:r>
            <a:endParaRPr lang="en-US" sz="1100" dirty="0"/>
          </a:p>
        </p:txBody>
      </p:sp>
      <p:sp>
        <p:nvSpPr>
          <p:cNvPr id="29" name="Text 26"/>
          <p:cNvSpPr txBox="1"/>
          <p:nvPr/>
        </p:nvSpPr>
        <p:spPr>
          <a:xfrm>
            <a:off x="548640" y="4572000"/>
            <a:ext cx="265176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17</a:t>
            </a:r>
            <a:endParaRPr lang="en-US" sz="4000" dirty="0"/>
          </a:p>
        </p:txBody>
      </p:sp>
      <p:sp>
        <p:nvSpPr>
          <p:cNvPr id="30" name="Text 27"/>
          <p:cNvSpPr txBox="1"/>
          <p:nvPr/>
        </p:nvSpPr>
        <p:spPr>
          <a:xfrm>
            <a:off x="548640" y="5413248"/>
            <a:ext cx="2651760" cy="548640"/>
          </a:xfrm>
          <a:prstGeom prst="rect">
            <a:avLst/>
          </a:prstGeom>
          <a:noFill/>
          <a:ln/>
        </p:spPr>
        <p:txBody>
          <a:bodyPr wrap="square" lIns="0" tIns="0" rIns="0" bIns="0" rtlCol="0" anchor="t"/>
          <a:lstStyle/>
          <a:p>
            <a:pPr indent="0" marL="0">
              <a:buNone/>
            </a:pPr>
            <a:r>
              <a:rPr lang="en-US" sz="1200" dirty="0">
                <a:solidFill>
                  <a:schemeClr val="accent4"/>
                </a:solidFill>
              </a:rPr>
              <a:t>ledger entries, hash-chained</a:t>
            </a:r>
            <a:endParaRPr lang="en-US" sz="1200" dirty="0"/>
          </a:p>
        </p:txBody>
      </p:sp>
      <p:sp>
        <p:nvSpPr>
          <p:cNvPr id="31" name="Text 28"/>
          <p:cNvSpPr txBox="1"/>
          <p:nvPr/>
        </p:nvSpPr>
        <p:spPr>
          <a:xfrm>
            <a:off x="3383280" y="4572000"/>
            <a:ext cx="265176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7</a:t>
            </a:r>
            <a:endParaRPr lang="en-US" sz="4000" dirty="0"/>
          </a:p>
        </p:txBody>
      </p:sp>
      <p:sp>
        <p:nvSpPr>
          <p:cNvPr id="32" name="Text 29"/>
          <p:cNvSpPr txBox="1"/>
          <p:nvPr/>
        </p:nvSpPr>
        <p:spPr>
          <a:xfrm>
            <a:off x="3383280" y="5413248"/>
            <a:ext cx="2651760" cy="548640"/>
          </a:xfrm>
          <a:prstGeom prst="rect">
            <a:avLst/>
          </a:prstGeom>
          <a:noFill/>
          <a:ln/>
        </p:spPr>
        <p:txBody>
          <a:bodyPr wrap="square" lIns="0" tIns="0" rIns="0" bIns="0" rtlCol="0" anchor="t"/>
          <a:lstStyle/>
          <a:p>
            <a:pPr indent="0" marL="0">
              <a:buNone/>
            </a:pPr>
            <a:r>
              <a:rPr lang="en-US" sz="1200" dirty="0">
                <a:solidFill>
                  <a:schemeClr val="accent4"/>
                </a:solidFill>
              </a:rPr>
              <a:t>amendments, each with its reason</a:t>
            </a:r>
            <a:endParaRPr lang="en-US" sz="1200" dirty="0"/>
          </a:p>
        </p:txBody>
      </p:sp>
      <p:sp>
        <p:nvSpPr>
          <p:cNvPr id="33" name="Text 30"/>
          <p:cNvSpPr txBox="1"/>
          <p:nvPr/>
        </p:nvSpPr>
        <p:spPr>
          <a:xfrm>
            <a:off x="6217920" y="4572000"/>
            <a:ext cx="265176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108</a:t>
            </a:r>
            <a:endParaRPr lang="en-US" sz="4000" dirty="0"/>
          </a:p>
        </p:txBody>
      </p:sp>
      <p:sp>
        <p:nvSpPr>
          <p:cNvPr id="34" name="Text 31"/>
          <p:cNvSpPr txBox="1"/>
          <p:nvPr/>
        </p:nvSpPr>
        <p:spPr>
          <a:xfrm>
            <a:off x="6217920" y="5413248"/>
            <a:ext cx="2651760" cy="548640"/>
          </a:xfrm>
          <a:prstGeom prst="rect">
            <a:avLst/>
          </a:prstGeom>
          <a:noFill/>
          <a:ln/>
        </p:spPr>
        <p:txBody>
          <a:bodyPr wrap="square" lIns="0" tIns="0" rIns="0" bIns="0" rtlCol="0" anchor="t"/>
          <a:lstStyle/>
          <a:p>
            <a:pPr indent="0" marL="0">
              <a:buNone/>
            </a:pPr>
            <a:r>
              <a:rPr lang="en-US" sz="1200" dirty="0">
                <a:solidFill>
                  <a:schemeClr val="accent4"/>
                </a:solidFill>
              </a:rPr>
              <a:t>tests, spec hash pinned</a:t>
            </a:r>
            <a:endParaRPr lang="en-US" sz="1200" dirty="0"/>
          </a:p>
        </p:txBody>
      </p:sp>
      <p:sp>
        <p:nvSpPr>
          <p:cNvPr id="35" name="Text 32"/>
          <p:cNvSpPr txBox="1"/>
          <p:nvPr/>
        </p:nvSpPr>
        <p:spPr>
          <a:xfrm>
            <a:off x="9052560" y="4572000"/>
            <a:ext cx="265176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0</a:t>
            </a:r>
            <a:endParaRPr lang="en-US" sz="4000" dirty="0"/>
          </a:p>
        </p:txBody>
      </p:sp>
      <p:sp>
        <p:nvSpPr>
          <p:cNvPr id="36" name="Text 33"/>
          <p:cNvSpPr txBox="1"/>
          <p:nvPr/>
        </p:nvSpPr>
        <p:spPr>
          <a:xfrm>
            <a:off x="9052560" y="5413248"/>
            <a:ext cx="2651760" cy="548640"/>
          </a:xfrm>
          <a:prstGeom prst="rect">
            <a:avLst/>
          </a:prstGeom>
          <a:noFill/>
          <a:ln/>
        </p:spPr>
        <p:txBody>
          <a:bodyPr wrap="square" lIns="0" tIns="0" rIns="0" bIns="0" rtlCol="0" anchor="t"/>
          <a:lstStyle/>
          <a:p>
            <a:pPr indent="0" marL="0">
              <a:buNone/>
            </a:pPr>
            <a:r>
              <a:rPr lang="en-US" sz="1200" dirty="0">
                <a:solidFill>
                  <a:schemeClr val="accent4"/>
                </a:solidFill>
              </a:rPr>
              <a:t>numbers tuned on outcomes</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this does not claim</a:t>
            </a:r>
            <a:endParaRPr lang="en-US" sz="3200" dirty="0"/>
          </a:p>
        </p:txBody>
      </p:sp>
      <p:sp>
        <p:nvSpPr>
          <p:cNvPr id="4" name="Shape 1"/>
          <p:cNvSpPr/>
          <p:nvPr/>
        </p:nvSpPr>
        <p:spPr>
          <a:xfrm>
            <a:off x="548640" y="1463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Text 2"/>
          <p:cNvSpPr txBox="1"/>
          <p:nvPr/>
        </p:nvSpPr>
        <p:spPr>
          <a:xfrm>
            <a:off x="822960" y="1645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No live record yet</a:t>
            </a:r>
            <a:endParaRPr lang="en-US" sz="1500" dirty="0"/>
          </a:p>
        </p:txBody>
      </p:sp>
      <p:sp>
        <p:nvSpPr>
          <p:cNvPr id="6" name="Text 3"/>
          <p:cNvSpPr txBox="1"/>
          <p:nvPr/>
        </p:nvSpPr>
        <p:spPr>
          <a:xfrm>
            <a:off x="822960" y="2148840"/>
            <a:ext cx="3017520" cy="1280160"/>
          </a:xfrm>
          <a:prstGeom prst="rect">
            <a:avLst/>
          </a:prstGeom>
          <a:noFill/>
          <a:ln/>
        </p:spPr>
        <p:txBody>
          <a:bodyPr wrap="square" lIns="0" tIns="0" rIns="0" bIns="0" rtlCol="0" anchor="t"/>
          <a:lstStyle/>
          <a:p>
            <a:pPr indent="0" marL="0">
              <a:buNone/>
            </a:pPr>
            <a:r>
              <a:rPr lang="en-US" sz="1150" dirty="0">
                <a:solidFill>
                  <a:schemeClr val="tx1"/>
                </a:solidFill>
              </a:rPr>
              <a:t>The first decision this system is scored on is 28 October 2026. Everything so far is process evidence, which is the point, but calibration needs a record.</a:t>
            </a:r>
            <a:endParaRPr lang="en-US" sz="1150" dirty="0"/>
          </a:p>
        </p:txBody>
      </p:sp>
      <p:sp>
        <p:nvSpPr>
          <p:cNvPr id="7" name="Shape 4"/>
          <p:cNvSpPr/>
          <p:nvPr/>
        </p:nvSpPr>
        <p:spPr>
          <a:xfrm>
            <a:off x="4297680" y="1463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8" name="Text 5"/>
          <p:cNvSpPr txBox="1"/>
          <p:nvPr/>
        </p:nvSpPr>
        <p:spPr>
          <a:xfrm>
            <a:off x="4572000" y="1645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Weights are judgement</a:t>
            </a:r>
            <a:endParaRPr lang="en-US" sz="1500" dirty="0"/>
          </a:p>
        </p:txBody>
      </p:sp>
      <p:sp>
        <p:nvSpPr>
          <p:cNvPr id="9" name="Text 6"/>
          <p:cNvSpPr txBox="1"/>
          <p:nvPr/>
        </p:nvSpPr>
        <p:spPr>
          <a:xfrm>
            <a:off x="4572000" y="2148840"/>
            <a:ext cx="3017520" cy="1280160"/>
          </a:xfrm>
          <a:prstGeom prst="rect">
            <a:avLst/>
          </a:prstGeom>
          <a:noFill/>
          <a:ln/>
        </p:spPr>
        <p:txBody>
          <a:bodyPr wrap="square" lIns="0" tIns="0" rIns="0" bIns="0" rtlCol="0" anchor="t"/>
          <a:lstStyle/>
          <a:p>
            <a:pPr indent="0" marL="0">
              <a:buNone/>
            </a:pPr>
            <a:r>
              <a:rPr lang="en-US" sz="1150" dirty="0">
                <a:solidFill>
                  <a:schemeClr val="tx1"/>
                </a:solidFill>
              </a:rPr>
              <a:t>Market 0.6, Taylor 0.2, odds 0.1, base rates 0.1, the floor and the tilt mapping were set by reasoning and logged, never fitted. Candidate sets will be pre-registered and scored live.</a:t>
            </a:r>
            <a:endParaRPr lang="en-US" sz="1150" dirty="0"/>
          </a:p>
        </p:txBody>
      </p:sp>
      <p:sp>
        <p:nvSpPr>
          <p:cNvPr id="10" name="Shape 7"/>
          <p:cNvSpPr/>
          <p:nvPr/>
        </p:nvSpPr>
        <p:spPr>
          <a:xfrm>
            <a:off x="8046720" y="1463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1" name="Text 8"/>
          <p:cNvSpPr txBox="1"/>
          <p:nvPr/>
        </p:nvSpPr>
        <p:spPr>
          <a:xfrm>
            <a:off x="8321040" y="1645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The fitted model is outside</a:t>
            </a:r>
            <a:endParaRPr lang="en-US" sz="1500" dirty="0"/>
          </a:p>
        </p:txBody>
      </p:sp>
      <p:sp>
        <p:nvSpPr>
          <p:cNvPr id="12" name="Text 9"/>
          <p:cNvSpPr txBox="1"/>
          <p:nvPr/>
        </p:nvSpPr>
        <p:spPr>
          <a:xfrm>
            <a:off x="8321040" y="2148840"/>
            <a:ext cx="3017520" cy="1280160"/>
          </a:xfrm>
          <a:prstGeom prst="rect">
            <a:avLst/>
          </a:prstGeom>
          <a:noFill/>
          <a:ln/>
        </p:spPr>
        <p:txBody>
          <a:bodyPr wrap="square" lIns="0" tIns="0" rIns="0" bIns="0" rtlCol="0" anchor="t"/>
          <a:lstStyle/>
          <a:p>
            <a:pPr indent="0" marL="0">
              <a:buNone/>
            </a:pPr>
            <a:r>
              <a:rPr lang="en-US" sz="1150" dirty="0">
                <a:solidFill>
                  <a:schemeClr val="tx1"/>
                </a:solidFill>
              </a:rPr>
              <a:t>A first ordered probit failed its out-of-sample gate and was reported, not tuned. Version 2 beats the base rate but carries a contamination caveat, so it stays at weight 0.</a:t>
            </a:r>
            <a:endParaRPr lang="en-US" sz="1150" dirty="0"/>
          </a:p>
        </p:txBody>
      </p:sp>
      <p:sp>
        <p:nvSpPr>
          <p:cNvPr id="13" name="Shape 10"/>
          <p:cNvSpPr/>
          <p:nvPr/>
        </p:nvSpPr>
        <p:spPr>
          <a:xfrm>
            <a:off x="548640" y="3749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4" name="Text 11"/>
          <p:cNvSpPr txBox="1"/>
          <p:nvPr/>
        </p:nvSpPr>
        <p:spPr>
          <a:xfrm>
            <a:off x="822960" y="3931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Small, unbalanced history</a:t>
            </a:r>
            <a:endParaRPr lang="en-US" sz="1500" dirty="0"/>
          </a:p>
        </p:txBody>
      </p:sp>
      <p:sp>
        <p:nvSpPr>
          <p:cNvPr id="15" name="Text 12"/>
          <p:cNvSpPr txBox="1"/>
          <p:nvPr/>
        </p:nvSpPr>
        <p:spPr>
          <a:xfrm>
            <a:off x="822960" y="4434840"/>
            <a:ext cx="3017520" cy="1280160"/>
          </a:xfrm>
          <a:prstGeom prst="rect">
            <a:avLst/>
          </a:prstGeom>
          <a:noFill/>
          <a:ln/>
        </p:spPr>
        <p:txBody>
          <a:bodyPr wrap="square" lIns="0" tIns="0" rIns="0" bIns="0" rtlCol="0" anchor="t"/>
          <a:lstStyle/>
          <a:p>
            <a:pPr indent="0" marL="0">
              <a:buNone/>
            </a:pPr>
            <a:r>
              <a:rPr lang="en-US" sz="1150" dirty="0">
                <a:solidFill>
                  <a:schemeClr val="tx1"/>
                </a:solidFill>
              </a:rPr>
              <a:t>About 130 decisions with full features, roughly 250 in all; 68% are holds and cuts cluster in three episodes. That is why there is no gradient-boosted anything.</a:t>
            </a:r>
            <a:endParaRPr lang="en-US" sz="1150" dirty="0"/>
          </a:p>
        </p:txBody>
      </p:sp>
      <p:sp>
        <p:nvSpPr>
          <p:cNvPr id="16" name="Shape 13"/>
          <p:cNvSpPr/>
          <p:nvPr/>
        </p:nvSpPr>
        <p:spPr>
          <a:xfrm>
            <a:off x="4297680" y="3749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7" name="Text 14"/>
          <p:cNvSpPr txBox="1"/>
          <p:nvPr/>
        </p:nvSpPr>
        <p:spPr>
          <a:xfrm>
            <a:off x="4572000" y="3931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Not every dimension yet</a:t>
            </a:r>
            <a:endParaRPr lang="en-US" sz="1500" dirty="0"/>
          </a:p>
        </p:txBody>
      </p:sp>
      <p:sp>
        <p:nvSpPr>
          <p:cNvPr id="18" name="Text 15"/>
          <p:cNvSpPr txBox="1"/>
          <p:nvPr/>
        </p:nvSpPr>
        <p:spPr>
          <a:xfrm>
            <a:off x="4572000" y="4434840"/>
            <a:ext cx="3017520" cy="1280160"/>
          </a:xfrm>
          <a:prstGeom prst="rect">
            <a:avLst/>
          </a:prstGeom>
          <a:noFill/>
          <a:ln/>
        </p:spPr>
        <p:txBody>
          <a:bodyPr wrap="square" lIns="0" tIns="0" rIns="0" bIns="0" rtlCol="0" anchor="t"/>
          <a:lstStyle/>
          <a:p>
            <a:pPr indent="0" marL="0">
              <a:buNone/>
            </a:pPr>
            <a:r>
              <a:rPr lang="en-US" sz="1150" dirty="0">
                <a:solidFill>
                  <a:schemeClr val="tx1"/>
                </a:solidFill>
              </a:rPr>
              <a:t>Reasoning quality (S8) needs a rubric grader checked against hand grades; the reworded-prompt test for the analysts is not built.</a:t>
            </a:r>
            <a:endParaRPr lang="en-US" sz="1150" dirty="0"/>
          </a:p>
        </p:txBody>
      </p:sp>
      <p:sp>
        <p:nvSpPr>
          <p:cNvPr id="19" name="Shape 16"/>
          <p:cNvSpPr/>
          <p:nvPr/>
        </p:nvSpPr>
        <p:spPr>
          <a:xfrm>
            <a:off x="8046720" y="3749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20" name="Text 17"/>
          <p:cNvSpPr txBox="1"/>
          <p:nvPr/>
        </p:nvSpPr>
        <p:spPr>
          <a:xfrm>
            <a:off x="8321040" y="3931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The market is the anchor</a:t>
            </a:r>
            <a:endParaRPr lang="en-US" sz="1500" dirty="0"/>
          </a:p>
        </p:txBody>
      </p:sp>
      <p:sp>
        <p:nvSpPr>
          <p:cNvPr id="21" name="Text 18"/>
          <p:cNvSpPr txBox="1"/>
          <p:nvPr/>
        </p:nvSpPr>
        <p:spPr>
          <a:xfrm>
            <a:off x="8321040" y="4434840"/>
            <a:ext cx="3017520" cy="1280160"/>
          </a:xfrm>
          <a:prstGeom prst="rect">
            <a:avLst/>
          </a:prstGeom>
          <a:noFill/>
          <a:ln/>
        </p:spPr>
        <p:txBody>
          <a:bodyPr wrap="square" lIns="0" tIns="0" rIns="0" bIns="0" rtlCol="0" anchor="t"/>
          <a:lstStyle/>
          <a:p>
            <a:pPr indent="0" marL="0">
              <a:buNone/>
            </a:pPr>
            <a:r>
              <a:rPr lang="en-US" sz="1150" dirty="0">
                <a:solidFill>
                  <a:schemeClr val="tx1"/>
                </a:solidFill>
              </a:rPr>
              <a:t>At thirty days futures call most decisions. The claim is auditability and discipline, not a better hit rate at this horizon.</a:t>
            </a:r>
            <a:endParaRPr lang="en-US" sz="11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Follow-ups, in order of value</a:t>
            </a:r>
            <a:endParaRPr lang="en-US" sz="3200" dirty="0"/>
          </a:p>
        </p:txBody>
      </p:sp>
      <p:sp>
        <p:nvSpPr>
          <p:cNvPr id="4" name="Shape 1"/>
          <p:cNvSpPr/>
          <p:nvPr/>
        </p:nvSpPr>
        <p:spPr>
          <a:xfrm>
            <a:off x="548640" y="1508760"/>
            <a:ext cx="384048" cy="384048"/>
          </a:xfrm>
          <a:prstGeom prst="ellipse">
            <a:avLst/>
          </a:prstGeom>
          <a:solidFill>
            <a:srgbClr val="1E2761"/>
          </a:solidFill>
          <a:ln w="12700">
            <a:solidFill>
              <a:srgbClr val="1E2761"/>
            </a:solidFill>
            <a:prstDash val="solid"/>
          </a:ln>
        </p:spPr>
      </p:sp>
      <p:sp>
        <p:nvSpPr>
          <p:cNvPr id="5" name="Text 2"/>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097280" y="141732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Score live decisions</a:t>
            </a:r>
            <a:endParaRPr lang="en-US" sz="1500" dirty="0"/>
          </a:p>
        </p:txBody>
      </p:sp>
      <p:sp>
        <p:nvSpPr>
          <p:cNvPr id="7" name="Text 4"/>
          <p:cNvSpPr txBox="1"/>
          <p:nvPr/>
        </p:nvSpPr>
        <p:spPr>
          <a:xfrm>
            <a:off x="1097280" y="1874520"/>
            <a:ext cx="4937760" cy="1051560"/>
          </a:xfrm>
          <a:prstGeom prst="rect">
            <a:avLst/>
          </a:prstGeom>
          <a:noFill/>
          <a:ln/>
        </p:spPr>
        <p:txBody>
          <a:bodyPr wrap="square" lIns="0" tIns="0" rIns="0" bIns="0" rtlCol="0" anchor="t"/>
          <a:lstStyle/>
          <a:p>
            <a:pPr indent="0" marL="0">
              <a:buNone/>
            </a:pPr>
            <a:r>
              <a:rPr lang="en-US" sz="1150" dirty="0">
                <a:solidFill>
                  <a:schemeClr val="tx1"/>
                </a:solidFill>
              </a:rPr>
              <a:t>From 28 October, a log score per model and per track is written to the ledger by code. Every weight decision waits on this record.</a:t>
            </a:r>
            <a:endParaRPr lang="en-US" sz="1150" dirty="0"/>
          </a:p>
        </p:txBody>
      </p:sp>
      <p:sp>
        <p:nvSpPr>
          <p:cNvPr id="8" name="Shape 5"/>
          <p:cNvSpPr/>
          <p:nvPr/>
        </p:nvSpPr>
        <p:spPr>
          <a:xfrm>
            <a:off x="6217920" y="1508760"/>
            <a:ext cx="384048" cy="384048"/>
          </a:xfrm>
          <a:prstGeom prst="ellipse">
            <a:avLst/>
          </a:prstGeom>
          <a:solidFill>
            <a:srgbClr val="1E2761"/>
          </a:solidFill>
          <a:ln w="12700">
            <a:solidFill>
              <a:srgbClr val="1E2761"/>
            </a:solidFill>
            <a:prstDash val="solid"/>
          </a:ln>
        </p:spPr>
      </p:sp>
      <p:sp>
        <p:nvSpPr>
          <p:cNvPr id="9" name="Text 6"/>
          <p:cNvSpPr txBox="1"/>
          <p:nvPr/>
        </p:nvSpPr>
        <p:spPr>
          <a:xfrm>
            <a:off x="6217920" y="15087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6766560" y="141732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Longer windows, same chain</a:t>
            </a:r>
            <a:endParaRPr lang="en-US" sz="1500" dirty="0"/>
          </a:p>
        </p:txBody>
      </p:sp>
      <p:sp>
        <p:nvSpPr>
          <p:cNvPr id="11" name="Text 8"/>
          <p:cNvSpPr txBox="1"/>
          <p:nvPr/>
        </p:nvSpPr>
        <p:spPr>
          <a:xfrm>
            <a:off x="6766560" y="1874520"/>
            <a:ext cx="4937760" cy="1051560"/>
          </a:xfrm>
          <a:prstGeom prst="rect">
            <a:avLst/>
          </a:prstGeom>
          <a:noFill/>
          <a:ln/>
        </p:spPr>
        <p:txBody>
          <a:bodyPr wrap="square" lIns="0" tIns="0" rIns="0" bIns="0" rtlCol="0" anchor="t"/>
          <a:lstStyle/>
          <a:p>
            <a:pPr indent="0" marL="0">
              <a:buNone/>
            </a:pPr>
            <a:r>
              <a:rPr lang="en-US" sz="1150" dirty="0">
                <a:solidFill>
                  <a:schemeClr val="tx1"/>
                </a:solidFill>
              </a:rPr>
              <a:t>The December meeting and the year-end rate. The market is less certain there (Polymarket prices a December hike at 76%), so evidence reading has more to add. The chain needs only a different target.</a:t>
            </a:r>
            <a:endParaRPr lang="en-US" sz="1150" dirty="0"/>
          </a:p>
        </p:txBody>
      </p:sp>
      <p:sp>
        <p:nvSpPr>
          <p:cNvPr id="12" name="Shape 9"/>
          <p:cNvSpPr/>
          <p:nvPr/>
        </p:nvSpPr>
        <p:spPr>
          <a:xfrm>
            <a:off x="548640" y="3063240"/>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48640" y="3063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1"/>
          <p:cNvSpPr txBox="1"/>
          <p:nvPr/>
        </p:nvSpPr>
        <p:spPr>
          <a:xfrm>
            <a:off x="1097280" y="297180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An events agent for regime shifts</a:t>
            </a:r>
            <a:endParaRPr lang="en-US" sz="1500" dirty="0"/>
          </a:p>
        </p:txBody>
      </p:sp>
      <p:sp>
        <p:nvSpPr>
          <p:cNvPr id="15" name="Text 12"/>
          <p:cNvSpPr txBox="1"/>
          <p:nvPr/>
        </p:nvSpPr>
        <p:spPr>
          <a:xfrm>
            <a:off x="1097280" y="3429000"/>
            <a:ext cx="4937760" cy="1051560"/>
          </a:xfrm>
          <a:prstGeom prst="rect">
            <a:avLst/>
          </a:prstGeom>
          <a:noFill/>
          <a:ln/>
        </p:spPr>
        <p:txBody>
          <a:bodyPr wrap="square" lIns="0" tIns="0" rIns="0" bIns="0" rtlCol="0" anchor="t"/>
          <a:lstStyle/>
          <a:p>
            <a:pPr indent="0" marL="0">
              <a:buNone/>
            </a:pPr>
            <a:r>
              <a:rPr lang="en-US" sz="1150" dirty="0">
                <a:solidFill>
                  <a:schemeClr val="tx1"/>
                </a:solidFill>
              </a:rPr>
              <a:t>1987, 1998, 2008, 2020: the Fed cut because of financial stress, not the data. A watch-out agent that scans the last three months for bank failures, funding stress and market dislocations, and raises a typed watch-out every analyst must answer.</a:t>
            </a:r>
            <a:endParaRPr lang="en-US" sz="1150" dirty="0"/>
          </a:p>
        </p:txBody>
      </p:sp>
      <p:sp>
        <p:nvSpPr>
          <p:cNvPr id="16" name="Shape 13"/>
          <p:cNvSpPr/>
          <p:nvPr/>
        </p:nvSpPr>
        <p:spPr>
          <a:xfrm>
            <a:off x="6217920" y="3063240"/>
            <a:ext cx="384048" cy="384048"/>
          </a:xfrm>
          <a:prstGeom prst="ellipse">
            <a:avLst/>
          </a:prstGeom>
          <a:solidFill>
            <a:srgbClr val="1E2761"/>
          </a:solidFill>
          <a:ln w="12700">
            <a:solidFill>
              <a:srgbClr val="1E2761"/>
            </a:solidFill>
            <a:prstDash val="solid"/>
          </a:ln>
        </p:spPr>
      </p:sp>
      <p:sp>
        <p:nvSpPr>
          <p:cNvPr id="17" name="Text 14"/>
          <p:cNvSpPr txBox="1"/>
          <p:nvPr/>
        </p:nvSpPr>
        <p:spPr>
          <a:xfrm>
            <a:off x="6217920" y="3063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 15"/>
          <p:cNvSpPr txBox="1"/>
          <p:nvPr/>
        </p:nvSpPr>
        <p:spPr>
          <a:xfrm>
            <a:off x="6766560" y="297180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Pre-registered weight sets</a:t>
            </a:r>
            <a:endParaRPr lang="en-US" sz="1500" dirty="0"/>
          </a:p>
        </p:txBody>
      </p:sp>
      <p:sp>
        <p:nvSpPr>
          <p:cNvPr id="19" name="Text 16"/>
          <p:cNvSpPr txBox="1"/>
          <p:nvPr/>
        </p:nvSpPr>
        <p:spPr>
          <a:xfrm>
            <a:off x="6766560" y="3429000"/>
            <a:ext cx="4937760" cy="1051560"/>
          </a:xfrm>
          <a:prstGeom prst="rect">
            <a:avLst/>
          </a:prstGeom>
          <a:noFill/>
          <a:ln/>
        </p:spPr>
        <p:txBody>
          <a:bodyPr wrap="square" lIns="0" tIns="0" rIns="0" bIns="0" rtlCol="0" anchor="t"/>
          <a:lstStyle/>
          <a:p>
            <a:pPr indent="0" marL="0">
              <a:buNone/>
            </a:pPr>
            <a:r>
              <a:rPr lang="en-US" sz="1150" dirty="0">
                <a:solidFill>
                  <a:schemeClr val="tx1"/>
                </a:solidFill>
              </a:rPr>
              <a:t>Three or four candidate weight sets written down now, all scored on each live decision; the live set changes only by amendment on that record.</a:t>
            </a:r>
            <a:endParaRPr lang="en-US" sz="1150" dirty="0"/>
          </a:p>
        </p:txBody>
      </p:sp>
      <p:sp>
        <p:nvSpPr>
          <p:cNvPr id="20" name="Shape 17"/>
          <p:cNvSpPr/>
          <p:nvPr/>
        </p:nvSpPr>
        <p:spPr>
          <a:xfrm>
            <a:off x="548640" y="4617720"/>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4864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 19"/>
          <p:cNvSpPr txBox="1"/>
          <p:nvPr/>
        </p:nvSpPr>
        <p:spPr>
          <a:xfrm>
            <a:off x="1097280" y="452628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Reasoning quality, S8</a:t>
            </a:r>
            <a:endParaRPr lang="en-US" sz="1500" dirty="0"/>
          </a:p>
        </p:txBody>
      </p:sp>
      <p:sp>
        <p:nvSpPr>
          <p:cNvPr id="23" name="Text 20"/>
          <p:cNvSpPr txBox="1"/>
          <p:nvPr/>
        </p:nvSpPr>
        <p:spPr>
          <a:xfrm>
            <a:off x="1097280" y="4983480"/>
            <a:ext cx="4937760" cy="1051560"/>
          </a:xfrm>
          <a:prstGeom prst="rect">
            <a:avLst/>
          </a:prstGeom>
          <a:noFill/>
          <a:ln/>
        </p:spPr>
        <p:txBody>
          <a:bodyPr wrap="square" lIns="0" tIns="0" rIns="0" bIns="0" rtlCol="0" anchor="t"/>
          <a:lstStyle/>
          <a:p>
            <a:pPr indent="0" marL="0">
              <a:buNone/>
            </a:pPr>
            <a:r>
              <a:rPr lang="en-US" sz="1150" dirty="0">
                <a:solidFill>
                  <a:schemeClr val="tx1"/>
                </a:solidFill>
              </a:rPr>
              <a:t>Twenty traces hand-graded on four questions; a model grader trusted only once it agrees with those grades.</a:t>
            </a:r>
            <a:endParaRPr lang="en-US" sz="1150" dirty="0"/>
          </a:p>
        </p:txBody>
      </p:sp>
      <p:sp>
        <p:nvSpPr>
          <p:cNvPr id="24" name="Shape 21"/>
          <p:cNvSpPr/>
          <p:nvPr/>
        </p:nvSpPr>
        <p:spPr>
          <a:xfrm>
            <a:off x="6217920" y="4617720"/>
            <a:ext cx="384048" cy="384048"/>
          </a:xfrm>
          <a:prstGeom prst="ellipse">
            <a:avLst/>
          </a:prstGeom>
          <a:solidFill>
            <a:srgbClr val="1E2761"/>
          </a:solidFill>
          <a:ln w="12700">
            <a:solidFill>
              <a:srgbClr val="1E2761"/>
            </a:solidFill>
            <a:prstDash val="solid"/>
          </a:ln>
        </p:spPr>
      </p:sp>
      <p:sp>
        <p:nvSpPr>
          <p:cNvPr id="25" name="Text 22"/>
          <p:cNvSpPr txBox="1"/>
          <p:nvPr/>
        </p:nvSpPr>
        <p:spPr>
          <a:xfrm>
            <a:off x="621792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6" name="Text 23"/>
          <p:cNvSpPr txBox="1"/>
          <p:nvPr/>
        </p:nvSpPr>
        <p:spPr>
          <a:xfrm>
            <a:off x="6766560" y="452628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Arm F and a second model family</a:t>
            </a:r>
            <a:endParaRPr lang="en-US" sz="1500" dirty="0"/>
          </a:p>
        </p:txBody>
      </p:sp>
      <p:sp>
        <p:nvSpPr>
          <p:cNvPr id="27" name="Text 24"/>
          <p:cNvSpPr txBox="1"/>
          <p:nvPr/>
        </p:nvSpPr>
        <p:spPr>
          <a:xfrm>
            <a:off x="6766560" y="4983480"/>
            <a:ext cx="4937760" cy="1051560"/>
          </a:xfrm>
          <a:prstGeom prst="rect">
            <a:avLst/>
          </a:prstGeom>
          <a:noFill/>
          <a:ln/>
        </p:spPr>
        <p:txBody>
          <a:bodyPr wrap="square" lIns="0" tIns="0" rIns="0" bIns="0" rtlCol="0" anchor="t"/>
          <a:lstStyle/>
          <a:p>
            <a:pPr indent="0" marL="0">
              <a:buNone/>
            </a:pPr>
            <a:r>
              <a:rPr lang="en-US" sz="1150" dirty="0">
                <a:solidFill>
                  <a:schemeClr val="tx1"/>
                </a:solidFill>
              </a:rPr>
              <a:t>A hawk, a dove and a synthesiser on the ladder; a second model family as a cross-check that the harness, not the model, is doing the work.</a:t>
            </a:r>
            <a:endParaRPr lang="en-US" sz="11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280160"/>
          </a:xfrm>
          <a:prstGeom prst="rect">
            <a:avLst/>
          </a:prstGeom>
          <a:noFill/>
          <a:ln/>
        </p:spPr>
        <p:txBody>
          <a:bodyPr wrap="square" lIns="0" tIns="0" rIns="0" bIns="0" rtlCol="0" anchor="b"/>
          <a:lstStyle/>
          <a:p>
            <a:pPr algn="l" indent="0" marL="0">
              <a:buNone/>
            </a:pPr>
            <a:r>
              <a:rPr lang="en-US" sz="4000" b="1" dirty="0">
                <a:solidFill>
                  <a:schemeClr val="bg1"/>
                </a:solidFill>
              </a:rPr>
              <a:t>Three things to take away</a:t>
            </a:r>
            <a:endParaRPr lang="en-US" sz="4000" dirty="0"/>
          </a:p>
        </p:txBody>
      </p:sp>
      <p:sp>
        <p:nvSpPr>
          <p:cNvPr id="3" name="Text 0"/>
          <p:cNvSpPr/>
          <p:nvPr>
            <p:ph idx="101" type="body" hasCustomPrompt="1"/>
          </p:nvPr>
        </p:nvSpPr>
        <p:spPr>
          <a:xfrm>
            <a:off x="548640" y="3520440"/>
            <a:ext cx="11091672" cy="14630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CADCFC"/>
                </a:solidFill>
              </a:rPr>
              <a:t>The harness is the product. Same model, same evidence, same day: naive it wobbles and leaks; harnessed it is stable, quoted and checked.</a:t>
            </a:r>
            <a:endParaRPr lang="en-US" sz="2000" dirty="0"/>
          </a:p>
          <a:p>
            <a:pPr algn="l" marL="342900" indent="-342900">
              <a:spcAft>
                <a:spcPts val="800"/>
              </a:spcAft>
              <a:buSzPct val="100000"/>
              <a:buChar char="•"/>
            </a:pPr>
            <a:r>
              <a:rPr lang="en-US" sz="2000" dirty="0">
                <a:solidFill>
                  <a:srgbClr val="CADCFC"/>
                </a:solidFill>
              </a:rPr>
              <a:t>Judge the process. Eight decisions a year cannot prove skill; a pre-registered scorecard measured on every snapshot can show discipline and catch drift.</a:t>
            </a:r>
            <a:endParaRPr lang="en-US" sz="2000" dirty="0"/>
          </a:p>
          <a:p>
            <a:pPr algn="l" marL="342900" indent="-342900">
              <a:buSzPct val="100000"/>
              <a:buChar char="•"/>
            </a:pPr>
            <a:r>
              <a:rPr lang="en-US" sz="2000" dirty="0">
                <a:solidFill>
                  <a:srgbClr val="CADCFC"/>
                </a:solidFill>
              </a:rPr>
              <a:t>The ask: scrutinise the scorecard, suggest the next window, and tell us which other decisions deserve the same chain.</a:t>
            </a:r>
            <a:endParaRPr lang="en-US" sz="2000" dirty="0"/>
          </a:p>
        </p:txBody>
      </p:sp>
    </p:spTree>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a process-judged forecaster for the next Fed decision</dc:title>
  <dc:subject>PptxGenJS Presentation</dc:subject>
  <dc:creator>FedCast</dc:creator>
  <cp:lastModifiedBy>FedCast</cp:lastModifiedBy>
  <cp:revision>1</cp:revision>
  <dcterms:created xsi:type="dcterms:W3CDTF">2026-10-27T15:56:35Z</dcterms:created>
  <dcterms:modified xsi:type="dcterms:W3CDTF">2026-10-27T15:56:35Z</dcterms:modified>
</cp:coreProperties>
</file>