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DB86A6D-6270-9E0B-DD52-AFBC16BC9F96}">
          <p14:sldIdLst>
            <p14:sldId id="256"/>
            <p14:sldId id="257"/>
          </p14:sldIdLst>
        </p14:section>
        <p14:section name="Objective" id="{B56BF528-DEBC-1DB5-5757-7A668B73D3C8}">
          <p14:sldIdLst>
            <p14:sldId id="258"/>
            <p14:sldId id="259"/>
            <p14:sldId id="260"/>
            <p14:sldId id="261"/>
          </p14:sldIdLst>
        </p14:section>
        <p14:section name="How it works" id="{60D67B51-31D8-00DA-C359-822E86926938}">
          <p14:sldIdLst>
            <p14:sldId id="262"/>
            <p14:sldId id="263"/>
            <p14:sldId id="264"/>
          </p14:sldIdLst>
        </p14:section>
        <p14:section name="The harness" id="{EE54BA1B-0215-6A9F-2BC8-2826B13206AB}">
          <p14:sldIdLst>
            <p14:sldId id="265"/>
            <p14:sldId id="266"/>
            <p14:sldId id="267"/>
          </p14:sldIdLst>
        </p14:section>
        <p14:section name="Evidence" id="{52B84982-4207-6A40-748F-E6489E60F5F4}">
          <p14:sldIdLst>
            <p14:sldId id="268"/>
            <p14:sldId id="269"/>
            <p14:sldId id="270"/>
            <p14:sldId id="271"/>
            <p14:sldId id="272"/>
            <p14:sldId id="273"/>
            <p14:sldId id="274"/>
          </p14:sldIdLst>
        </p14:section>
        <p14:section name="Limits and next" id="{DB99AC0A-7A3F-62DD-416E-E4E17F3411C4}">
          <p14:sldIdLst>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S1: wobble between identical runs (pp)</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4.2</c:v>
                </c:pt>
                <c:pt idx="1">
                  <c:v>3.5</c:v>
                </c:pt>
                <c:pt idx="2">
                  <c:v>0.6</c:v>
                </c:pt>
                <c:pt idx="3">
                  <c:v>0.8</c:v>
                </c:pt>
              </c:numCache>
            </c:numRef>
          </c:val>
          <c:extLst>
            <c:ext xmlns:c16="http://schemas.microsoft.com/office/drawing/2014/chart" uri="{C3380CC4-5D6E-409C-BE32-E72D297353CC}">
              <c16:uniqueId val="{00000000-BF29-4945-BBD0-BEEC435E91C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5"/>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S3: numbers from memory (count)</c:v>
                </c:pt>
              </c:strCache>
            </c:strRef>
          </c:tx>
          <c:spPr>
            <a:solidFill>
              <a:srgbClr val="1E2761"/>
            </a:solidFill>
            <a:effectLst/>
          </c:spPr>
          <c:invertIfNegative val="0"/>
          <c:dLbls>
            <c:numFmt formatCode="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37</c:v>
                </c:pt>
                <c:pt idx="1">
                  <c:v>0</c:v>
                </c:pt>
                <c:pt idx="2">
                  <c:v>0</c:v>
                </c:pt>
                <c:pt idx="3">
                  <c:v>0</c:v>
                </c:pt>
              </c:numCache>
            </c:numRef>
          </c:val>
          <c:extLst>
            <c:ext xmlns:c16="http://schemas.microsoft.com/office/drawing/2014/chart" uri="{C3380CC4-5D6E-409C-BE32-E72D297353CC}">
              <c16:uniqueId val="{00000000-62BA-446F-9236-55B772CF7A6D}"/>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S2: claims with a verbatim quote (%)</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question only</c:v>
                </c:pt>
                <c:pt idx="1">
                  <c:v>3: + shape, verifier</c:v>
                </c:pt>
                <c:pt idx="2">
                  <c:v>4-8: + one slice each</c:v>
                </c:pt>
              </c:strCache>
            </c:strRef>
          </c:cat>
          <c:val>
            <c:numRef>
              <c:f>Sheet1!$B$2:$B$4</c:f>
              <c:numCache>
                <c:formatCode>General</c:formatCode>
                <c:ptCount val="3"/>
                <c:pt idx="0">
                  <c:v>0</c:v>
                </c:pt>
                <c:pt idx="1">
                  <c:v>99.7</c:v>
                </c:pt>
                <c:pt idx="2">
                  <c:v>99.2</c:v>
                </c:pt>
              </c:numCache>
            </c:numRef>
          </c:val>
          <c:extLst>
            <c:ext xmlns:c16="http://schemas.microsoft.com/office/drawing/2014/chart" uri="{C3380CC4-5D6E-409C-BE32-E72D297353CC}">
              <c16:uniqueId val="{00000000-14DA-489C-AF1A-FD1953C11DB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286237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session: start the app (fedcast ui), press Pull evidence then Run forecast so the top bar reads 'under an hour ago', open the Forecast view, and have the Evidence graph, Analyst prompts, Analyst results and Scorecard tabs one click away. Open with the one-line thesis: a language model inside an engineered harness gives forecasts that are measurably more repeatable and more faithful to evidence than the same model asked naively, and the way to prove it is to measure the process, not to wait for eight decisions a year to come true.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thread: every system on the right put a model's output in front of people making live decisions, and the hard part was never the model, it was earning trust in what it said. FedCast is that problem made explicit and measurable.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8210099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narrow on purpose: what will the FOMC decide at its next scheduled meeting, as probabilities over five outcomes. The final entry before the meeting said no change at 67.6%, hike at 22.4%, with the specialists leaning hawkish by four basis points. The Fed held, ten votes to two, and both dissents wanted the quarter-point hike the specialists were leaning toward. Say plainly that the market alone was more confident (90/10) and we do not claim to beat it at five weeks; what the system adds is the reasons, and the vote bore the reasons out. Then: one decision proves little, which is why the rest of the talk is about process.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minute. The point is only that the number exists, is dated, and is traceable. Do not explain the models yet.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the first is the one to land. Eight decisions a year cannot tell skill from luck, so we judge the process with a scorecard fixed before any code. Second, auditable means concrete: an analyst that says inflation is elevated must quote the line it read and code must find it. Third, because everything is quotable and the analysts can read only the evidence, a wrong call is a traceable wrong call, and because the harness is repeatable it goes wrong the same way every time, so a fix can be tested and stays fixed. Details later in the deck: the ladder, the scorecard, the drift table.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comparison. At thirty days the futures market, read through CME FedWatch, calls about 88% of decisions right over thirty years, and nothing here claims to beat that. The academic LLM papers report higher accuracy but on sixteen meetings, with no replay and no verification of what the model read. The gap we fill is the right-hand column: not a better guess, a checkable one.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diagram from the brief. Four families of input, combined by code with fixed, published weights; no model writes the number. The language-model family enters only as a bounded lean. Right: the chain in order, each line a view in the app. Walk the diagram first, then the chain.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Entry 18, the final one before the meeting. The pool is a weighted average, then the floor. The specialists' mean lean of +4.0 basis points becomes 4.0 points of probability moved toward a hike, through the same capped mechanism a human view uses. Then the sentence in red: the weights are judgement, logged, not backtested. The backtest decides who is in the pool, not the weight; the probit failed its gate and sits at zero. Live scores from 28 October onward will move the weights, by amendment, on the record.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longest demo. Start at the raw futures price so the audience sees arithmetic, not a black box. Then the pool box, then one click into an evidence item to show the frozen 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explains what harnessing means. The same model is run eight ways on the same snapshot. Analyst 1 gets nothing but the question: that is what the model does on its own, the control. Each step up adds exactly one thing, so the score difference between neighbouring steps is the value of that thing. Analysts 1 and 2 are meant to fail; the tool is judged on 3 and 4 to 8.</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mechanisms. None of them is clever; together they are what makes a language model's output usable in a forecast. This is the architecture slide: spend time here. The repair round is the newest: a bounded correction against frozen evidence, with both answers kept so it cannot turn into prompt tuning.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analyst 1 first so the contrast with analyst 6 lands. Scroll the full prompt slowly past the schema and the pre-read; do not read it out.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an evolution. Analyst 1 wobbles by three to five points between identical runs, cites nothing, and leaks three dozen numbers from memory; it still thinks the Fed is cutting. Adding the evidence (analyst 2) removes the leaks but not the wobble, and nothing can be checked. Adding the answer shape and the verifier (analyst 3) is the step that makes the output stable and fully verifiable. Specialists (4 to 8) keep that and add attribution. Same model, same day; the difference at each step is the one thing added.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charts, one per dimension, averaged over the four snapshots. Left: how much the answer moves between identical runs. The step that matters is analyst 2 to analyst 3: the answer shape and the verifier take the wobble from three and a half points to under one. Middle: numbers from memory, gone as soon as the evidence is shown. Right: share of claims whose quote code found verbatim; analyst 2 cannot be measured because it quotes nothing. The specialists keep what analyst 3 achieved. For analysts 3 to 8 the wobble is in their lean, which maps one basis point to one percentage point of probability, so the four bars are comparable.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concrete. Each specialist's lean, and one real claim with the quote code matched. The labour analyst is the one that does not lean hawkish, and because it is a separate reader that dissent is visible rather than averaged away.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signal.tone claim on analyst 4 if asked where a quote comes from: it is the pre-read, our arithmetic over the two statements.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dimensions fixed before any forecasting code existed. Eight are now measured automatically on each new snapshot. The over-time table is the drift check: the marks never move, so a cell that turns red is a change in the system. It has already caught two things, bottom right.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is short, skip the dropdown and go straight to the over-time table.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Press the button, read the result line, move 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limits, said before anyone asks: one scored decision; weights by judgement; the fitted model outside; the market is the anchor. Right, what is next, in order of value: the December window is already running on the same chain; pre-registered weight sets scored live; an events agent for the regime shifts the models cannot read (1987, 1998, 2008, 2020 were financial-stress cuts); the reasoning grader and a second model family.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forecast for 28 October is on file; the scoring is automatic from here; what the room can add is scrutiny and the next target.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rtlCol="0"/>
          <a:lstStyle>
            <a:lvl1pPr marL="0" indent="0" algn="l">
              <a:buNone/>
              <a:defRPr lang="en-US" sz="2000" dirty="0">
                <a:solidFill>
                  <a:srgbClr val="CADCF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marL="0" indent="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chart" Target="../charts/chart3.xml"/><Relationship Id="rId4" Type="http://schemas.openxmlformats.org/officeDocument/2006/relationships/chart" Target="../charts/char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FedCast</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0" indent="0" algn="l">
              <a:buNone/>
            </a:pPr>
            <a:r>
              <a:rPr lang="en-US" sz="2000" dirty="0">
                <a:solidFill>
                  <a:srgbClr val="CADCFC"/>
                </a:solidFill>
              </a:rPr>
              <a:t>A forecaster for the next Federal Reserve rate decision, built to be judged by its process rather than its luck</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marL="0" indent="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a:t>
            </a:r>
            <a:r>
              <a:rPr lang="en-US" sz="1250" dirty="0"/>
              <a:t>Sovereign Wealth Fund. </a:t>
            </a:r>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t>
            </a:r>
            <a:r>
              <a:rPr lang="en-US" sz="1150" dirty="0"/>
              <a:t>contributed to RSAF AI Strategy</a:t>
            </a:r>
            <a:r>
              <a:rPr lang="en-US" sz="1150" dirty="0">
                <a:solidFill>
                  <a:schemeClr val="tx1"/>
                </a:solidFill>
              </a:rPr>
              <a:t>,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models/Applications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valuation and execution</a:t>
            </a:r>
            <a:endParaRPr lang="en-US" sz="1300" dirty="0"/>
          </a:p>
        </p:txBody>
      </p:sp>
      <p:sp>
        <p:nvSpPr>
          <p:cNvPr id="15" name="Text 12"/>
          <p:cNvSpPr txBox="1"/>
          <p:nvPr/>
        </p:nvSpPr>
        <p:spPr>
          <a:xfrm>
            <a:off x="5879592" y="2234363"/>
            <a:ext cx="5760720" cy="713232"/>
          </a:xfrm>
          <a:prstGeom prst="rect">
            <a:avLst/>
          </a:prstGeom>
          <a:noFill/>
          <a:ln/>
        </p:spPr>
        <p:txBody>
          <a:bodyPr wrap="square" lIns="0" tIns="0" rIns="0" bIns="0" rtlCol="0" anchor="t"/>
          <a:lstStyle/>
          <a:p>
            <a:pPr lvl="0"/>
            <a:r>
              <a:rPr lang="en-US" sz="1050" b="1" dirty="0"/>
              <a:t>Investment analytics:</a:t>
            </a:r>
            <a:r>
              <a:rPr lang="en-US" sz="1050" dirty="0"/>
              <a:t> AI-assisted performance attribution and idea tracking for an investment team.</a:t>
            </a:r>
          </a:p>
          <a:p>
            <a:pPr lvl="0"/>
            <a:r>
              <a:rPr lang="en-US" sz="1050" b="1" dirty="0"/>
              <a:t>Valuation:</a:t>
            </a:r>
            <a:r>
              <a:rPr lang="en-US" sz="1050" dirty="0"/>
              <a:t> Machine-learning valuation for illiquid assets.</a:t>
            </a:r>
          </a:p>
          <a:p>
            <a:pPr lvl="0"/>
            <a:r>
              <a:rPr lang="en-US" sz="1050" b="1" dirty="0"/>
              <a:t>Execution:</a:t>
            </a:r>
            <a:r>
              <a:rPr lang="en-US" sz="1050" dirty="0"/>
              <a:t> Trade workflow automation for investment teams.</a:t>
            </a:r>
          </a:p>
        </p:txBody>
      </p:sp>
      <p:sp>
        <p:nvSpPr>
          <p:cNvPr id="20" name="Shape 17"/>
          <p:cNvSpPr/>
          <p:nvPr/>
        </p:nvSpPr>
        <p:spPr>
          <a:xfrm>
            <a:off x="5394960" y="3377722"/>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394960" y="337772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2" name="Text 19"/>
          <p:cNvSpPr txBox="1"/>
          <p:nvPr/>
        </p:nvSpPr>
        <p:spPr>
          <a:xfrm>
            <a:off x="5897880" y="3332002"/>
            <a:ext cx="5760720" cy="320040"/>
          </a:xfrm>
          <a:prstGeom prst="rect">
            <a:avLst/>
          </a:prstGeom>
          <a:noFill/>
          <a:ln/>
        </p:spPr>
        <p:txBody>
          <a:bodyPr wrap="square" lIns="0" tIns="0" rIns="0" bIns="0" rtlCol="0" anchor="t"/>
          <a:lstStyle/>
          <a:p>
            <a:pPr marL="0" indent="0">
              <a:buNone/>
            </a:pPr>
            <a:r>
              <a:rPr lang="en-US" sz="1300" b="1" dirty="0">
                <a:solidFill>
                  <a:schemeClr val="tx2"/>
                </a:solidFill>
              </a:rPr>
              <a:t>Data Science </a:t>
            </a:r>
            <a:endParaRPr lang="en-US" sz="1300" dirty="0"/>
          </a:p>
        </p:txBody>
      </p:sp>
      <p:sp>
        <p:nvSpPr>
          <p:cNvPr id="23" name="Text 20"/>
          <p:cNvSpPr txBox="1"/>
          <p:nvPr/>
        </p:nvSpPr>
        <p:spPr>
          <a:xfrm>
            <a:off x="5897880" y="3652042"/>
            <a:ext cx="5760720" cy="713232"/>
          </a:xfrm>
          <a:prstGeom prst="rect">
            <a:avLst/>
          </a:prstGeom>
          <a:noFill/>
          <a:ln/>
        </p:spPr>
        <p:txBody>
          <a:bodyPr wrap="square" lIns="0" tIns="0" rIns="0" bIns="0" rtlCol="0" anchor="t"/>
          <a:lstStyle/>
          <a:p>
            <a:pPr marL="0" indent="0">
              <a:buNone/>
            </a:pPr>
            <a:r>
              <a:rPr lang="en-US" sz="1050" dirty="0">
                <a:solidFill>
                  <a:schemeClr val="tx1"/>
                </a:solidFill>
              </a:rPr>
              <a:t>- 4th of 160+ teams (MIT, DoD, USAF) in the 2023 USAF AI Accelerator, predicting pilot flying difficulty from physiology; </a:t>
            </a:r>
          </a:p>
          <a:p>
            <a:pPr marL="0" indent="0">
              <a:buNone/>
            </a:pPr>
            <a:r>
              <a:rPr lang="en-US" sz="1050" dirty="0"/>
              <a:t>- A</a:t>
            </a:r>
            <a:r>
              <a:rPr lang="en-US" sz="1050" dirty="0">
                <a:solidFill>
                  <a:schemeClr val="tx1"/>
                </a:solidFill>
              </a:rPr>
              <a:t>n ammunition recommender (quantile LightGBM) that cut wastage with no shortfall</a:t>
            </a:r>
            <a:r>
              <a:rPr lang="en-US" sz="1050" dirty="0"/>
              <a:t> -&gt; </a:t>
            </a:r>
            <a:r>
              <a:rPr lang="en-US" sz="1050" dirty="0" err="1">
                <a:solidFill>
                  <a:schemeClr val="tx1"/>
                </a:solidFill>
              </a:rPr>
              <a:t>Defence</a:t>
            </a:r>
            <a:r>
              <a:rPr lang="en-US" sz="1050" dirty="0">
                <a:solidFill>
                  <a:schemeClr val="tx1"/>
                </a:solidFill>
              </a:rPr>
              <a:t> Manpower Committee Innovation Award 2022.</a:t>
            </a:r>
            <a:endParaRPr lang="en-US" sz="1050" dirty="0"/>
          </a:p>
        </p:txBody>
      </p:sp>
      <p:sp>
        <p:nvSpPr>
          <p:cNvPr id="24" name="Shape 21"/>
          <p:cNvSpPr/>
          <p:nvPr/>
        </p:nvSpPr>
        <p:spPr>
          <a:xfrm>
            <a:off x="5394960" y="4809744"/>
            <a:ext cx="384048" cy="384048"/>
          </a:xfrm>
          <a:prstGeom prst="ellipse">
            <a:avLst/>
          </a:prstGeom>
          <a:solidFill>
            <a:srgbClr val="1E2761"/>
          </a:solidFill>
          <a:ln w="12700">
            <a:solidFill>
              <a:srgbClr val="1E2761"/>
            </a:solidFill>
            <a:prstDash val="solid"/>
          </a:ln>
        </p:spPr>
      </p:sp>
      <p:sp>
        <p:nvSpPr>
          <p:cNvPr id="25" name="Text 22"/>
          <p:cNvSpPr txBox="1"/>
          <p:nvPr/>
        </p:nvSpPr>
        <p:spPr>
          <a:xfrm>
            <a:off x="5394960" y="480974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6" name="Text 23"/>
          <p:cNvSpPr txBox="1"/>
          <p:nvPr/>
        </p:nvSpPr>
        <p:spPr>
          <a:xfrm>
            <a:off x="5897880" y="476402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08406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39174" y="536044"/>
            <a:ext cx="1232199" cy="1232199"/>
          </a:xfrm>
          <a:prstGeom prst="ellipse">
            <a:avLst/>
          </a:prstGeom>
          <a:ln w="63500" cap="rnd">
            <a:noFill/>
          </a:ln>
          <a:effectLst/>
        </p:spPr>
      </p:pic>
    </p:spTree>
    <p:extLst>
      <p:ext uri="{BB962C8B-B14F-4D97-AF65-F5344CB8AC3E}">
        <p14:creationId xmlns:p14="http://schemas.microsoft.com/office/powerpoint/2010/main" val="5661748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question, the answer, and what happened</a:t>
            </a:r>
            <a:endParaRPr lang="en-US" sz="3200" dirty="0"/>
          </a:p>
        </p:txBody>
      </p:sp>
      <p:sp>
        <p:nvSpPr>
          <p:cNvPr id="4" name="Text 1"/>
          <p:cNvSpPr txBox="1"/>
          <p:nvPr/>
        </p:nvSpPr>
        <p:spPr>
          <a:xfrm>
            <a:off x="548640" y="141732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28 Oct</a:t>
            </a:r>
            <a:endParaRPr lang="en-US" sz="4000" dirty="0"/>
          </a:p>
        </p:txBody>
      </p:sp>
      <p:sp>
        <p:nvSpPr>
          <p:cNvPr id="5" name="Text 2"/>
          <p:cNvSpPr txBox="1"/>
          <p:nvPr/>
        </p:nvSpPr>
        <p:spPr>
          <a:xfrm>
            <a:off x="548640" y="225856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2026: the decision being forecast</a:t>
            </a:r>
            <a:endParaRPr lang="en-US" sz="1200" dirty="0"/>
          </a:p>
        </p:txBody>
      </p:sp>
      <p:sp>
        <p:nvSpPr>
          <p:cNvPr id="6" name="Text 3"/>
          <p:cNvSpPr txBox="1"/>
          <p:nvPr/>
        </p:nvSpPr>
        <p:spPr>
          <a:xfrm>
            <a:off x="3383280" y="141732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67.6%</a:t>
            </a:r>
            <a:endParaRPr lang="en-US" sz="4000" dirty="0"/>
          </a:p>
        </p:txBody>
      </p:sp>
      <p:sp>
        <p:nvSpPr>
          <p:cNvPr id="7" name="Text 4"/>
          <p:cNvSpPr txBox="1"/>
          <p:nvPr/>
        </p:nvSpPr>
        <p:spPr>
          <a:xfrm>
            <a:off x="3383280" y="225856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FedCast, no change: ledger entry #18, 27 hours before</a:t>
            </a:r>
            <a:endParaRPr lang="en-US" sz="1200" dirty="0"/>
          </a:p>
        </p:txBody>
      </p:sp>
      <p:sp>
        <p:nvSpPr>
          <p:cNvPr id="8" name="Text 5"/>
          <p:cNvSpPr txBox="1"/>
          <p:nvPr/>
        </p:nvSpPr>
        <p:spPr>
          <a:xfrm>
            <a:off x="6309360" y="1417320"/>
            <a:ext cx="2743200" cy="822960"/>
          </a:xfrm>
          <a:prstGeom prst="rect">
            <a:avLst/>
          </a:prstGeom>
          <a:noFill/>
          <a:ln/>
        </p:spPr>
        <p:txBody>
          <a:bodyPr wrap="square" lIns="0" tIns="0" rIns="0" bIns="0" rtlCol="0" anchor="t"/>
          <a:lstStyle/>
          <a:p>
            <a:pPr marL="0" indent="0">
              <a:buNone/>
            </a:pPr>
            <a:r>
              <a:rPr lang="en-US" sz="4000" b="1" dirty="0">
                <a:solidFill>
                  <a:srgbClr val="2C6E49"/>
                </a:solidFill>
                <a:latin typeface="Cambria" pitchFamily="34" charset="0"/>
                <a:ea typeface="Cambria" pitchFamily="34" charset="-122"/>
                <a:cs typeface="Cambria" pitchFamily="34" charset="-120"/>
              </a:rPr>
              <a:t>Hold</a:t>
            </a:r>
            <a:endParaRPr lang="en-US" sz="4000" dirty="0"/>
          </a:p>
        </p:txBody>
      </p:sp>
      <p:sp>
        <p:nvSpPr>
          <p:cNvPr id="9" name="Text 6"/>
          <p:cNvSpPr txBox="1"/>
          <p:nvPr/>
        </p:nvSpPr>
        <p:spPr>
          <a:xfrm>
            <a:off x="6309360" y="225856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what the Fed did: 3.75 to 4.00%, unchanged</a:t>
            </a:r>
            <a:endParaRPr lang="en-US" sz="1200" dirty="0"/>
          </a:p>
        </p:txBody>
      </p:sp>
      <p:sp>
        <p:nvSpPr>
          <p:cNvPr id="10" name="Text 7"/>
          <p:cNvSpPr txBox="1"/>
          <p:nvPr/>
        </p:nvSpPr>
        <p:spPr>
          <a:xfrm>
            <a:off x="9235440" y="1417320"/>
            <a:ext cx="2377440" cy="822960"/>
          </a:xfrm>
          <a:prstGeom prst="rect">
            <a:avLst/>
          </a:prstGeom>
          <a:noFill/>
          <a:ln/>
        </p:spPr>
        <p:txBody>
          <a:bodyPr wrap="square" lIns="0" tIns="0" rIns="0" bIns="0" rtlCol="0" anchor="t"/>
          <a:lstStyle/>
          <a:p>
            <a:pPr marL="0" indent="0">
              <a:buNone/>
            </a:pPr>
            <a:r>
              <a:rPr lang="en-US" sz="4000" b="1" dirty="0">
                <a:solidFill>
                  <a:srgbClr val="C8553D"/>
                </a:solidFill>
                <a:latin typeface="Cambria" pitchFamily="34" charset="0"/>
                <a:ea typeface="Cambria" pitchFamily="34" charset="-122"/>
                <a:cs typeface="Cambria" pitchFamily="34" charset="-120"/>
              </a:rPr>
              <a:t>10 to 2</a:t>
            </a:r>
            <a:endParaRPr lang="en-US" sz="4000" dirty="0"/>
          </a:p>
        </p:txBody>
      </p:sp>
      <p:sp>
        <p:nvSpPr>
          <p:cNvPr id="11" name="Text 8"/>
          <p:cNvSpPr txBox="1"/>
          <p:nvPr/>
        </p:nvSpPr>
        <p:spPr>
          <a:xfrm>
            <a:off x="9235440" y="2258568"/>
            <a:ext cx="2377440" cy="548640"/>
          </a:xfrm>
          <a:prstGeom prst="rect">
            <a:avLst/>
          </a:prstGeom>
          <a:noFill/>
          <a:ln/>
        </p:spPr>
        <p:txBody>
          <a:bodyPr wrap="square" lIns="0" tIns="0" rIns="0" bIns="0" rtlCol="0" anchor="t"/>
          <a:lstStyle/>
          <a:p>
            <a:pPr marL="0" indent="0">
              <a:buNone/>
            </a:pPr>
            <a:r>
              <a:rPr lang="en-US" sz="1200" dirty="0">
                <a:solidFill>
                  <a:schemeClr val="accent4"/>
                </a:solidFill>
              </a:rPr>
              <a:t>two dissents, both for the +25 bps the specialists leaned toward</a:t>
            </a:r>
            <a:endParaRPr lang="en-US" sz="1200" dirty="0"/>
          </a:p>
        </p:txBody>
      </p:sp>
      <p:sp>
        <p:nvSpPr>
          <p:cNvPr id="12" name="Shape 9"/>
          <p:cNvSpPr/>
          <p:nvPr/>
        </p:nvSpPr>
        <p:spPr>
          <a:xfrm>
            <a:off x="548640" y="3063240"/>
            <a:ext cx="5486400" cy="3063240"/>
          </a:xfrm>
          <a:prstGeom prst="roundRect">
            <a:avLst>
              <a:gd name="adj" fmla="val 3582"/>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3" name="Text 10"/>
          <p:cNvSpPr txBox="1"/>
          <p:nvPr/>
        </p:nvSpPr>
        <p:spPr>
          <a:xfrm>
            <a:off x="822960" y="3200400"/>
            <a:ext cx="5029200" cy="365760"/>
          </a:xfrm>
          <a:prstGeom prst="rect">
            <a:avLst/>
          </a:prstGeom>
          <a:noFill/>
          <a:ln/>
        </p:spPr>
        <p:txBody>
          <a:bodyPr wrap="square" lIns="0" tIns="0" rIns="0" bIns="0" rtlCol="0" anchor="t"/>
          <a:lstStyle/>
          <a:p>
            <a:pPr marL="0" indent="0">
              <a:buNone/>
            </a:pPr>
            <a:r>
              <a:rPr lang="en-US" sz="1500" b="1" dirty="0">
                <a:solidFill>
                  <a:schemeClr val="tx2"/>
                </a:solidFill>
              </a:rPr>
              <a:t>How the number was made</a:t>
            </a:r>
            <a:endParaRPr lang="en-US" sz="1500" dirty="0"/>
          </a:p>
        </p:txBody>
      </p:sp>
      <p:sp>
        <p:nvSpPr>
          <p:cNvPr id="14" name="Text 11"/>
          <p:cNvSpPr txBox="1"/>
          <p:nvPr/>
        </p:nvSpPr>
        <p:spPr>
          <a:xfrm>
            <a:off x="822960" y="3566160"/>
            <a:ext cx="5029200" cy="2514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One frozen snapshot of 23 evidence items, pulled 28 October: futures, eight FRED series, both statements, minutes, transcript, projections, speeches, 32 years of decisions, the NY Fed natural rate, prediction-market odds</a:t>
            </a:r>
            <a:endParaRPr lang="en-US" sz="1200" dirty="0"/>
          </a:p>
          <a:p>
            <a:pPr marL="342900" indent="-342900">
              <a:spcAft>
                <a:spcPts val="400"/>
              </a:spcAft>
              <a:buSzPct val="100000"/>
              <a:buChar char="•"/>
            </a:pPr>
            <a:r>
              <a:rPr lang="en-US" sz="1200" dirty="0">
                <a:solidFill>
                  <a:schemeClr val="tx1"/>
                </a:solidFill>
              </a:rPr>
              <a:t>Four models pooled by code at fixed weights (market 0.6, Taylor rules 0.2, odds 0.1, base rates 0.1), then a 1.5% floor on every outcome: no change 70.9%, hike 26.2%</a:t>
            </a:r>
            <a:endParaRPr lang="en-US" sz="1200" dirty="0"/>
          </a:p>
          <a:p>
            <a:pPr marL="342900" indent="-342900">
              <a:spcAft>
                <a:spcPts val="400"/>
              </a:spcAft>
              <a:buSzPct val="100000"/>
              <a:buChar char="•"/>
            </a:pPr>
            <a:r>
              <a:rPr lang="en-US" sz="1200" dirty="0">
                <a:solidFill>
                  <a:schemeClr val="tx1"/>
                </a:solidFill>
              </a:rPr>
              <a:t>Five specialist analysts, every claim quoted and verified by code, lean the number +4.0 bp toward a hike: no change 67.6%, +25 bps 22.4%, +50 bps 7.7%</a:t>
            </a:r>
            <a:endParaRPr lang="en-US" sz="1200" dirty="0"/>
          </a:p>
          <a:p>
            <a:pPr marL="342900" indent="-342900">
              <a:spcAft>
                <a:spcPts val="400"/>
              </a:spcAft>
              <a:buSzPct val="100000"/>
              <a:buChar char="•"/>
            </a:pPr>
            <a:r>
              <a:rPr lang="en-US" sz="1200" dirty="0">
                <a:solidFill>
                  <a:schemeClr val="tx1"/>
                </a:solidFill>
              </a:rPr>
              <a:t>Hash-chained ledger entry #18; recomputes exactly from its snapshot and the analyst runs it names</a:t>
            </a:r>
            <a:endParaRPr lang="en-US" sz="1200" dirty="0"/>
          </a:p>
        </p:txBody>
      </p:sp>
      <p:sp>
        <p:nvSpPr>
          <p:cNvPr id="15" name="Shape 12"/>
          <p:cNvSpPr/>
          <p:nvPr/>
        </p:nvSpPr>
        <p:spPr>
          <a:xfrm>
            <a:off x="6263640" y="3063240"/>
            <a:ext cx="5376672" cy="3063240"/>
          </a:xfrm>
          <a:prstGeom prst="roundRect">
            <a:avLst>
              <a:gd name="adj" fmla="val 3582"/>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6" name="Text 13"/>
          <p:cNvSpPr txBox="1"/>
          <p:nvPr/>
        </p:nvSpPr>
        <p:spPr>
          <a:xfrm>
            <a:off x="6537960" y="3200400"/>
            <a:ext cx="5029200" cy="365760"/>
          </a:xfrm>
          <a:prstGeom prst="rect">
            <a:avLst/>
          </a:prstGeom>
          <a:noFill/>
          <a:ln/>
        </p:spPr>
        <p:txBody>
          <a:bodyPr wrap="square" lIns="0" tIns="0" rIns="0" bIns="0" rtlCol="0" anchor="t"/>
          <a:lstStyle/>
          <a:p>
            <a:pPr marL="0" indent="0">
              <a:buNone/>
            </a:pPr>
            <a:r>
              <a:rPr lang="en-US" sz="1500" b="1" dirty="0">
                <a:solidFill>
                  <a:schemeClr val="tx2"/>
                </a:solidFill>
              </a:rPr>
              <a:t>What the outcome says</a:t>
            </a:r>
            <a:endParaRPr lang="en-US" sz="1500" dirty="0"/>
          </a:p>
        </p:txBody>
      </p:sp>
      <p:sp>
        <p:nvSpPr>
          <p:cNvPr id="17" name="Text 14"/>
          <p:cNvSpPr txBox="1"/>
          <p:nvPr/>
        </p:nvSpPr>
        <p:spPr>
          <a:xfrm>
            <a:off x="6537960" y="3566160"/>
            <a:ext cx="5102352" cy="2514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The most likely outcome was the outcome. The market alone was more confident (90/10); at five weeks we do not claim to beat it</a:t>
            </a:r>
            <a:endParaRPr lang="en-US" sz="1200" dirty="0"/>
          </a:p>
          <a:p>
            <a:pPr marL="342900" indent="-342900">
              <a:spcAft>
                <a:spcPts val="400"/>
              </a:spcAft>
              <a:buSzPct val="100000"/>
              <a:buChar char="•"/>
            </a:pPr>
            <a:r>
              <a:rPr lang="en-US" sz="1200" dirty="0">
                <a:solidFill>
                  <a:schemeClr val="tx1"/>
                </a:solidFill>
              </a:rPr>
              <a:t>What the system added was the reasons: the hawkish lean came from the communications, minutes and inflation readers; the labour reader was the lone dove. Two dissents for a hike is that lean, in the vote</a:t>
            </a:r>
            <a:endParaRPr lang="en-US" sz="1200" dirty="0"/>
          </a:p>
          <a:p>
            <a:pPr marL="342900" indent="-342900">
              <a:spcAft>
                <a:spcPts val="400"/>
              </a:spcAft>
              <a:buSzPct val="100000"/>
              <a:buChar char="•"/>
            </a:pPr>
            <a:r>
              <a:rPr lang="en-US" sz="1200" dirty="0">
                <a:solidFill>
                  <a:schemeClr val="tx1"/>
                </a:solidFill>
              </a:rPr>
              <a:t>Every reason is a quote code found in the frozen evidence, so the call can be taken apart claim by claim, which the rest of this talk does</a:t>
            </a:r>
            <a:endParaRPr lang="en-US" sz="1200" dirty="0"/>
          </a:p>
          <a:p>
            <a:pPr marL="342900" indent="-342900">
              <a:spcAft>
                <a:spcPts val="400"/>
              </a:spcAft>
              <a:buSzPct val="100000"/>
              <a:buChar char="•"/>
            </a:pPr>
            <a:r>
              <a:rPr lang="en-US" sz="1200" dirty="0">
                <a:solidFill>
                  <a:schemeClr val="tx1"/>
                </a:solidFill>
              </a:rPr>
              <a:t>One decision proves little. It is scored formally (log score, Brier, against the market and two naive baselines) the moment the NY Fed's post-meeting rate row lands, and every weight decision waits on that record</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Why build this</a:t>
            </a:r>
            <a:endParaRPr lang="en-US" sz="3200" dirty="0"/>
          </a:p>
        </p:txBody>
      </p:sp>
      <p:sp>
        <p:nvSpPr>
          <p:cNvPr id="4" name="Shape 1"/>
          <p:cNvSpPr/>
          <p:nvPr/>
        </p:nvSpPr>
        <p:spPr>
          <a:xfrm>
            <a:off x="54864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Shape 2"/>
          <p:cNvSpPr/>
          <p:nvPr/>
        </p:nvSpPr>
        <p:spPr>
          <a:xfrm>
            <a:off x="822960" y="1600200"/>
            <a:ext cx="384048" cy="384048"/>
          </a:xfrm>
          <a:prstGeom prst="ellipse">
            <a:avLst/>
          </a:prstGeom>
          <a:solidFill>
            <a:srgbClr val="1E2761"/>
          </a:solidFill>
          <a:ln w="12700">
            <a:solidFill>
              <a:srgbClr val="1E2761"/>
            </a:solidFill>
            <a:prstDash val="solid"/>
          </a:ln>
        </p:spPr>
      </p:sp>
      <p:sp>
        <p:nvSpPr>
          <p:cNvPr id="6" name="Text 3"/>
          <p:cNvSpPr txBox="1"/>
          <p:nvPr/>
        </p:nvSpPr>
        <p:spPr>
          <a:xfrm>
            <a:off x="82296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judge the process, not the luck</a:t>
            </a:r>
            <a:endParaRPr lang="en-US" sz="1500" dirty="0"/>
          </a:p>
        </p:txBody>
      </p:sp>
      <p:sp>
        <p:nvSpPr>
          <p:cNvPr id="8" name="Text 5"/>
          <p:cNvSpPr txBox="1"/>
          <p:nvPr/>
        </p:nvSpPr>
        <p:spPr>
          <a:xfrm>
            <a:off x="82296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Eight decisions a year: a good year proves nothing</a:t>
            </a:r>
            <a:endParaRPr lang="en-US" sz="1300" dirty="0"/>
          </a:p>
          <a:p>
            <a:pPr marL="342900" indent="-342900">
              <a:spcAft>
                <a:spcPts val="800"/>
              </a:spcAft>
              <a:buSzPct val="100000"/>
              <a:buChar char="•"/>
            </a:pPr>
            <a:r>
              <a:rPr lang="en-US" sz="1300" dirty="0">
                <a:solidFill>
                  <a:schemeClr val="tx1"/>
                </a:solidFill>
              </a:rPr>
              <a:t>The yardstick is a ten-point scorecard, fixed before any code: same evidence, same answer? every claim quoted? any number from memory? a shock moves the number the right way?</a:t>
            </a:r>
            <a:endParaRPr lang="en-US" sz="1300" dirty="0"/>
          </a:p>
          <a:p>
            <a:pPr marL="342900" indent="-342900">
              <a:spcAft>
                <a:spcPts val="800"/>
              </a:spcAft>
              <a:buSzPct val="100000"/>
              <a:buChar char="•"/>
            </a:pPr>
            <a:r>
              <a:rPr lang="en-US" sz="1300" dirty="0">
                <a:solidFill>
                  <a:schemeClr val="tx1"/>
                </a:solidFill>
              </a:rPr>
              <a:t>Outcomes are logged after each decision and never used to tune</a:t>
            </a:r>
            <a:endParaRPr lang="en-US" sz="1300" dirty="0"/>
          </a:p>
        </p:txBody>
      </p:sp>
      <p:sp>
        <p:nvSpPr>
          <p:cNvPr id="9" name="Shape 6"/>
          <p:cNvSpPr/>
          <p:nvPr/>
        </p:nvSpPr>
        <p:spPr>
          <a:xfrm>
            <a:off x="429768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0" name="Shape 7"/>
          <p:cNvSpPr/>
          <p:nvPr/>
        </p:nvSpPr>
        <p:spPr>
          <a:xfrm>
            <a:off x="4572000" y="1600200"/>
            <a:ext cx="384048" cy="384048"/>
          </a:xfrm>
          <a:prstGeom prst="ellipse">
            <a:avLst/>
          </a:prstGeom>
          <a:solidFill>
            <a:srgbClr val="1E2761"/>
          </a:solidFill>
          <a:ln w="12700">
            <a:solidFill>
              <a:srgbClr val="1E2761"/>
            </a:solidFill>
            <a:prstDash val="solid"/>
          </a:ln>
        </p:spPr>
      </p:sp>
      <p:sp>
        <p:nvSpPr>
          <p:cNvPr id="11" name="Text 8"/>
          <p:cNvSpPr txBox="1"/>
          <p:nvPr/>
        </p:nvSpPr>
        <p:spPr>
          <a:xfrm>
            <a:off x="457200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7492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Every step is auditable</a:t>
            </a:r>
            <a:endParaRPr lang="en-US" sz="1500" dirty="0"/>
          </a:p>
        </p:txBody>
      </p:sp>
      <p:sp>
        <p:nvSpPr>
          <p:cNvPr id="13" name="Text 10"/>
          <p:cNvSpPr txBox="1"/>
          <p:nvPr/>
        </p:nvSpPr>
        <p:spPr>
          <a:xfrm>
            <a:off x="457200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An analyst that says 'inflation remains elevated' must quote the statement line it read, and code checks the quote is there, character for character</a:t>
            </a:r>
            <a:endParaRPr lang="en-US" sz="1300" dirty="0"/>
          </a:p>
          <a:p>
            <a:pPr marL="342900" indent="-342900">
              <a:spcAft>
                <a:spcPts val="800"/>
              </a:spcAft>
              <a:buSzPct val="100000"/>
              <a:buChar char="•"/>
            </a:pPr>
            <a:r>
              <a:rPr lang="en-US" sz="1300" dirty="0">
                <a:solidFill>
                  <a:schemeClr val="tx1"/>
                </a:solidFill>
              </a:rPr>
              <a:t>Every number it uses must exist in the frozen evidence, or it is flagged as from memory</a:t>
            </a:r>
            <a:endParaRPr lang="en-US" sz="1300" dirty="0"/>
          </a:p>
          <a:p>
            <a:pPr marL="342900" indent="-342900">
              <a:spcAft>
                <a:spcPts val="800"/>
              </a:spcAft>
              <a:buSzPct val="100000"/>
              <a:buChar char="•"/>
            </a:pPr>
            <a:r>
              <a:rPr lang="en-US" sz="1300" dirty="0">
                <a:solidFill>
                  <a:schemeClr val="tx1"/>
                </a:solidFill>
              </a:rPr>
              <a:t>Every model lists the items it read; every ledger entry recomputes from its snapshot. If it is not quoted, it does not count</a:t>
            </a:r>
            <a:endParaRPr lang="en-US" sz="1300" dirty="0"/>
          </a:p>
        </p:txBody>
      </p:sp>
      <p:sp>
        <p:nvSpPr>
          <p:cNvPr id="14" name="Shape 11"/>
          <p:cNvSpPr/>
          <p:nvPr/>
        </p:nvSpPr>
        <p:spPr>
          <a:xfrm>
            <a:off x="804672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5" name="Shape 12"/>
          <p:cNvSpPr/>
          <p:nvPr/>
        </p:nvSpPr>
        <p:spPr>
          <a:xfrm>
            <a:off x="8321040" y="1600200"/>
            <a:ext cx="384048" cy="384048"/>
          </a:xfrm>
          <a:prstGeom prst="ellipse">
            <a:avLst/>
          </a:prstGeom>
          <a:solidFill>
            <a:srgbClr val="1E2761"/>
          </a:solidFill>
          <a:ln w="12700">
            <a:solidFill>
              <a:srgbClr val="1E2761"/>
            </a:solidFill>
            <a:prstDash val="solid"/>
          </a:ln>
        </p:spPr>
      </p:sp>
      <p:sp>
        <p:nvSpPr>
          <p:cNvPr id="16" name="Text 13"/>
          <p:cNvSpPr txBox="1"/>
          <p:nvPr/>
        </p:nvSpPr>
        <p:spPr>
          <a:xfrm>
            <a:off x="832104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82396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A harness that compounds</a:t>
            </a:r>
            <a:endParaRPr lang="en-US" sz="1500" dirty="0"/>
          </a:p>
        </p:txBody>
      </p:sp>
      <p:sp>
        <p:nvSpPr>
          <p:cNvPr id="18" name="Text 15"/>
          <p:cNvSpPr txBox="1"/>
          <p:nvPr/>
        </p:nvSpPr>
        <p:spPr>
          <a:xfrm>
            <a:off x="832104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Everything is quotable and the analysts can read only the evidence, so a wrong call is a traceable wrong call: we see which quote led where</a:t>
            </a:r>
            <a:endParaRPr lang="en-US" sz="1300" dirty="0"/>
          </a:p>
          <a:p>
            <a:pPr marL="342900" indent="-342900">
              <a:spcAft>
                <a:spcPts val="800"/>
              </a:spcAft>
              <a:buSzPct val="100000"/>
              <a:buChar char="•"/>
            </a:pPr>
            <a:r>
              <a:rPr lang="en-US" sz="1300" dirty="0">
                <a:solidFill>
                  <a:schemeClr val="tx1"/>
                </a:solidFill>
              </a:rPr>
              <a:t>The harness is repeatable, so it goes wrong the same way every time; a fix can be tested, and the drift table shows it stayed fixed</a:t>
            </a:r>
            <a:endParaRPr lang="en-US" sz="1300" dirty="0"/>
          </a:p>
          <a:p>
            <a:pPr marL="342900" indent="-342900">
              <a:spcAft>
                <a:spcPts val="800"/>
              </a:spcAft>
              <a:buSzPct val="100000"/>
              <a:buChar char="•"/>
            </a:pPr>
            <a:r>
              <a:rPr lang="en-US" sz="1300" dirty="0">
                <a:solidFill>
                  <a:schemeClr val="tx1"/>
                </a:solidFill>
              </a:rPr>
              <a:t>That is the virtuous cycle: audit, fix, re-measure. The ladder, the scorecard and the drift table later in the deck are that cycle</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others do, and what each lacks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37744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3136392">
                  <a:extLst>
                    <a:ext uri="{9D8B030D-6E8A-4147-A177-3AD203B41FA5}">
                      <a16:colId xmlns:a16="http://schemas.microsoft.com/office/drawing/2014/main" val="20003"/>
                    </a:ext>
                  </a:extLst>
                </a:gridCol>
              </a:tblGrid>
              <a:tr h="566928">
                <a:tc>
                  <a:txBody>
                    <a:bodyPr/>
                    <a:lstStyle/>
                    <a:p>
                      <a:pPr marL="0" indent="0">
                        <a:buNone/>
                      </a:pPr>
                      <a:r>
                        <a:rPr lang="en-US" sz="1150" b="1" dirty="0">
                          <a:solidFill>
                            <a:srgbClr val="FFFFFF"/>
                          </a:solidFill>
                        </a:rPr>
                        <a:t>Predictor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rPr>
                        <a:t>What it is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rPr>
                        <a:t>Strength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rPr>
                        <a:t>What it lacks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566928">
                <a:tc>
                  <a:txBody>
                    <a:bodyPr/>
                    <a:lstStyle/>
                    <a:p>
                      <a:pPr marL="0" indent="0">
                        <a:buNone/>
                      </a:pPr>
                      <a:r>
                        <a:rPr lang="en-US" sz="1150" dirty="0">
                          <a:solidFill>
                            <a:srgbClr val="1B1F2A"/>
                          </a:solidFill>
                        </a:rPr>
                        <a:t>Fed funds futures (CME FedWatch)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Price of the contract that settles on the month's average rate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About 88% right at 30 days over 1994 to 2024 (Bonini, Huang, Simaan). The anchor of our pool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No reasons. One number with no evidence trail; fails silently when the Fed surprises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150" dirty="0">
                          <a:solidFill>
                            <a:srgbClr val="1B1F2A"/>
                          </a:solidFill>
                        </a:rPr>
                        <a:t>Prediction markets (Polymarket, Kalshi)</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Crowd odds on each outcome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Independent crowd; fast to move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Thin and fee-distorted; a $22 entry can sit next to a $67m one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150" dirty="0">
                          <a:solidFill>
                            <a:srgbClr val="1B1F2A"/>
                          </a:solidFill>
                        </a:rPr>
                        <a:t>Economist surveys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Median of polled forecasters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Human judgement, broad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Slow, unauditable, consensus-seeking</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150" dirty="0">
                          <a:solidFill>
                            <a:srgbClr val="1B1F2A"/>
                          </a:solidFill>
                        </a:rPr>
                        <a:t>Policy rules (Taylor family)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Rate a formula says is appropriate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Transparent, the Fed's own benchmarks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Depends on unobservable r* and u*; says where rates should be, not what the committee will do</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150" dirty="0">
                          <a:solidFill>
                            <a:srgbClr val="1B1F2A"/>
                          </a:solidFill>
                        </a:rPr>
                        <a:t>LLM 'FOMC agent' papers (2025)</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Models that read Fed text and vote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Reported 90%+ accuracy on 2023 to 2024</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16 meetings; no frozen evidence, no quote verification, no replay, no control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566928">
                <a:tc>
                  <a:txBody>
                    <a:bodyPr/>
                    <a:lstStyle/>
                    <a:p>
                      <a:pPr marL="0" indent="0">
                        <a:buNone/>
                      </a:pPr>
                      <a:r>
                        <a:rPr lang="en-US" sz="1150" b="1" dirty="0">
                          <a:solidFill>
                            <a:schemeClr val="tx2"/>
                          </a:solidFill>
                        </a:rPr>
                        <a:t>FedCast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All of the above pooled by code, plus verified analysts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Every number traceable; repeatable; a scorecard that catches drift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No live record yet; no accuracy claim at five weeks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1"/>
          <p:cNvSpPr txBox="1"/>
          <p:nvPr/>
        </p:nvSpPr>
        <p:spPr>
          <a:xfrm>
            <a:off x="548640" y="5897880"/>
            <a:ext cx="11091672" cy="365760"/>
          </a:xfrm>
          <a:prstGeom prst="rect">
            <a:avLst/>
          </a:prstGeom>
          <a:noFill/>
          <a:ln/>
        </p:spPr>
        <p:txBody>
          <a:bodyPr wrap="square" lIns="0" tIns="0" rIns="0" bIns="0" rtlCol="0" anchor="t"/>
          <a:lstStyle/>
          <a:p>
            <a:pPr marL="0" indent="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Four families, one pool, one number</a:t>
            </a:r>
            <a:endParaRPr lang="en-US" sz="3200" dirty="0"/>
          </a:p>
        </p:txBody>
      </p:sp>
      <p:sp>
        <p:nvSpPr>
          <p:cNvPr id="4" name="Shape 1"/>
          <p:cNvSpPr/>
          <p:nvPr/>
        </p:nvSpPr>
        <p:spPr>
          <a:xfrm>
            <a:off x="548640" y="1463040"/>
            <a:ext cx="2743200" cy="960120"/>
          </a:xfrm>
          <a:prstGeom prst="roundRect">
            <a:avLst>
              <a:gd name="adj" fmla="val 7619"/>
            </a:avLst>
          </a:prstGeom>
          <a:solidFill>
            <a:srgbClr val="1E2761"/>
          </a:solidFill>
          <a:ln w="12700">
            <a:solidFill>
              <a:srgbClr val="1E2761"/>
            </a:solidFill>
            <a:prstDash val="solid"/>
          </a:ln>
        </p:spPr>
      </p:sp>
      <p:sp>
        <p:nvSpPr>
          <p:cNvPr id="5" name="Text 2"/>
          <p:cNvSpPr txBox="1"/>
          <p:nvPr/>
        </p:nvSpPr>
        <p:spPr>
          <a:xfrm>
            <a:off x="685800" y="1527048"/>
            <a:ext cx="2468880" cy="292608"/>
          </a:xfrm>
          <a:prstGeom prst="rect">
            <a:avLst/>
          </a:prstGeom>
          <a:noFill/>
          <a:ln/>
        </p:spPr>
        <p:txBody>
          <a:bodyPr wrap="square" lIns="0" tIns="0" rIns="0" bIns="0" rtlCol="0" anchor="t"/>
          <a:lstStyle/>
          <a:p>
            <a:pPr marL="0" indent="0">
              <a:buNone/>
            </a:pPr>
            <a:r>
              <a:rPr lang="en-US" sz="1300" b="1" dirty="0">
                <a:solidFill>
                  <a:schemeClr val="bg1"/>
                </a:solidFill>
              </a:rPr>
              <a:t>Economic predictors</a:t>
            </a:r>
            <a:endParaRPr lang="en-US" sz="1300" dirty="0"/>
          </a:p>
        </p:txBody>
      </p:sp>
      <p:sp>
        <p:nvSpPr>
          <p:cNvPr id="6" name="Text 3"/>
          <p:cNvSpPr txBox="1"/>
          <p:nvPr/>
        </p:nvSpPr>
        <p:spPr>
          <a:xfrm>
            <a:off x="685800" y="1828800"/>
            <a:ext cx="2468880" cy="566928"/>
          </a:xfrm>
          <a:prstGeom prst="rect">
            <a:avLst/>
          </a:prstGeom>
          <a:noFill/>
          <a:ln/>
        </p:spPr>
        <p:txBody>
          <a:bodyPr wrap="square" lIns="0" tIns="0" rIns="0" bIns="0" rtlCol="0" anchor="t"/>
          <a:lstStyle/>
          <a:p>
            <a:pPr marL="0" indent="0">
              <a:buNone/>
            </a:pPr>
            <a:r>
              <a:rPr lang="en-US" sz="950" dirty="0">
                <a:solidFill>
                  <a:schemeClr val="bg1"/>
                </a:solidFill>
              </a:rPr>
              <a:t>Fed funds futures (the anchor), the Fed's own four Taylor rules with r* from the NY Fed DSGE model, prediction-market odds</a:t>
            </a:r>
            <a:endParaRPr lang="en-US" sz="950" dirty="0"/>
          </a:p>
        </p:txBody>
      </p:sp>
      <p:sp>
        <p:nvSpPr>
          <p:cNvPr id="7" name="Shape 4"/>
          <p:cNvSpPr/>
          <p:nvPr/>
        </p:nvSpPr>
        <p:spPr>
          <a:xfrm>
            <a:off x="3364992" y="1943100"/>
            <a:ext cx="384048" cy="0"/>
          </a:xfrm>
          <a:prstGeom prst="line">
            <a:avLst/>
          </a:prstGeom>
          <a:noFill/>
          <a:ln w="19050">
            <a:solidFill>
              <a:srgbClr val="6B7280"/>
            </a:solidFill>
            <a:prstDash val="solid"/>
            <a:tailEnd type="triangle"/>
          </a:ln>
        </p:spPr>
      </p:sp>
      <p:sp>
        <p:nvSpPr>
          <p:cNvPr id="8" name="Shape 5"/>
          <p:cNvSpPr/>
          <p:nvPr/>
        </p:nvSpPr>
        <p:spPr>
          <a:xfrm>
            <a:off x="548640" y="2532888"/>
            <a:ext cx="2743200" cy="960120"/>
          </a:xfrm>
          <a:prstGeom prst="roundRect">
            <a:avLst>
              <a:gd name="adj" fmla="val 7619"/>
            </a:avLst>
          </a:prstGeom>
          <a:solidFill>
            <a:srgbClr val="1E2761"/>
          </a:solidFill>
          <a:ln w="12700">
            <a:solidFill>
              <a:srgbClr val="1E2761"/>
            </a:solidFill>
            <a:prstDash val="solid"/>
          </a:ln>
        </p:spPr>
      </p:sp>
      <p:sp>
        <p:nvSpPr>
          <p:cNvPr id="9" name="Text 6"/>
          <p:cNvSpPr txBox="1"/>
          <p:nvPr/>
        </p:nvSpPr>
        <p:spPr>
          <a:xfrm>
            <a:off x="685800" y="2596896"/>
            <a:ext cx="2468880" cy="292608"/>
          </a:xfrm>
          <a:prstGeom prst="rect">
            <a:avLst/>
          </a:prstGeom>
          <a:noFill/>
          <a:ln/>
        </p:spPr>
        <p:txBody>
          <a:bodyPr wrap="square" lIns="0" tIns="0" rIns="0" bIns="0" rtlCol="0" anchor="t"/>
          <a:lstStyle/>
          <a:p>
            <a:pPr marL="0" indent="0">
              <a:buNone/>
            </a:pPr>
            <a:r>
              <a:rPr lang="en-US" sz="1300" b="1" dirty="0">
                <a:solidFill>
                  <a:schemeClr val="bg1"/>
                </a:solidFill>
              </a:rPr>
              <a:t>Empirical data</a:t>
            </a:r>
            <a:endParaRPr lang="en-US" sz="1300" dirty="0"/>
          </a:p>
        </p:txBody>
      </p:sp>
      <p:sp>
        <p:nvSpPr>
          <p:cNvPr id="10" name="Text 7"/>
          <p:cNvSpPr txBox="1"/>
          <p:nvPr/>
        </p:nvSpPr>
        <p:spPr>
          <a:xfrm>
            <a:off x="685800" y="2898648"/>
            <a:ext cx="2468880" cy="566928"/>
          </a:xfrm>
          <a:prstGeom prst="rect">
            <a:avLst/>
          </a:prstGeom>
          <a:noFill/>
          <a:ln/>
        </p:spPr>
        <p:txBody>
          <a:bodyPr wrap="square" lIns="0" tIns="0" rIns="0" bIns="0" rtlCol="0" anchor="t"/>
          <a:lstStyle/>
          <a:p>
            <a:pPr marL="0" indent="0">
              <a:buNone/>
            </a:pPr>
            <a:r>
              <a:rPr lang="en-US" sz="950" dirty="0">
                <a:solidFill>
                  <a:schemeClr val="bg1"/>
                </a:solidFill>
              </a:rPr>
              <a:t>What followed each kind of decision over 32 years of FOMC history, conditioned on the last move</a:t>
            </a:r>
            <a:endParaRPr lang="en-US" sz="950" dirty="0"/>
          </a:p>
        </p:txBody>
      </p:sp>
      <p:sp>
        <p:nvSpPr>
          <p:cNvPr id="11" name="Shape 8"/>
          <p:cNvSpPr/>
          <p:nvPr/>
        </p:nvSpPr>
        <p:spPr>
          <a:xfrm>
            <a:off x="3364992" y="3012948"/>
            <a:ext cx="384048" cy="0"/>
          </a:xfrm>
          <a:prstGeom prst="line">
            <a:avLst/>
          </a:prstGeom>
          <a:noFill/>
          <a:ln w="19050">
            <a:solidFill>
              <a:srgbClr val="6B7280"/>
            </a:solidFill>
            <a:prstDash val="solid"/>
            <a:tailEnd type="triangle"/>
          </a:ln>
        </p:spPr>
      </p:sp>
      <p:sp>
        <p:nvSpPr>
          <p:cNvPr id="12" name="Shape 9"/>
          <p:cNvSpPr/>
          <p:nvPr/>
        </p:nvSpPr>
        <p:spPr>
          <a:xfrm>
            <a:off x="548640" y="3602736"/>
            <a:ext cx="2743200" cy="960120"/>
          </a:xfrm>
          <a:prstGeom prst="roundRect">
            <a:avLst>
              <a:gd name="adj" fmla="val 7619"/>
            </a:avLst>
          </a:prstGeom>
          <a:solidFill>
            <a:srgbClr val="6B7280"/>
          </a:solidFill>
          <a:ln w="12700">
            <a:solidFill>
              <a:srgbClr val="6B7280"/>
            </a:solidFill>
            <a:prstDash val="solid"/>
          </a:ln>
        </p:spPr>
      </p:sp>
      <p:sp>
        <p:nvSpPr>
          <p:cNvPr id="13" name="Text 10"/>
          <p:cNvSpPr txBox="1"/>
          <p:nvPr/>
        </p:nvSpPr>
        <p:spPr>
          <a:xfrm>
            <a:off x="685800" y="3666744"/>
            <a:ext cx="2468880" cy="292608"/>
          </a:xfrm>
          <a:prstGeom prst="rect">
            <a:avLst/>
          </a:prstGeom>
          <a:noFill/>
          <a:ln/>
        </p:spPr>
        <p:txBody>
          <a:bodyPr wrap="square" lIns="0" tIns="0" rIns="0" bIns="0" rtlCol="0" anchor="t"/>
          <a:lstStyle/>
          <a:p>
            <a:pPr marL="0" indent="0">
              <a:buNone/>
            </a:pPr>
            <a:r>
              <a:rPr lang="en-US" sz="1300" b="1" dirty="0">
                <a:solidFill>
                  <a:schemeClr val="bg1"/>
                </a:solidFill>
              </a:rPr>
              <a:t>Classic ML</a:t>
            </a:r>
            <a:endParaRPr lang="en-US" sz="1300" dirty="0"/>
          </a:p>
        </p:txBody>
      </p:sp>
      <p:sp>
        <p:nvSpPr>
          <p:cNvPr id="14" name="Text 11"/>
          <p:cNvSpPr txBox="1"/>
          <p:nvPr/>
        </p:nvSpPr>
        <p:spPr>
          <a:xfrm>
            <a:off x="685800" y="3968496"/>
            <a:ext cx="2468880" cy="566928"/>
          </a:xfrm>
          <a:prstGeom prst="rect">
            <a:avLst/>
          </a:prstGeom>
          <a:noFill/>
          <a:ln/>
        </p:spPr>
        <p:txBody>
          <a:bodyPr wrap="square" lIns="0" tIns="0" rIns="0" bIns="0" rtlCol="0" anchor="t"/>
          <a:lstStyle/>
          <a:p>
            <a:pPr marL="0" indent="0">
              <a:buNone/>
            </a:pPr>
            <a:r>
              <a:rPr lang="en-US" sz="950" dirty="0">
                <a:solidFill>
                  <a:schemeClr val="bg1"/>
                </a:solidFill>
              </a:rPr>
              <a:t>An ordered probit fitted on data as first published; computed and shown, weight 0 until it has a live record</a:t>
            </a:r>
            <a:endParaRPr lang="en-US" sz="950" dirty="0"/>
          </a:p>
        </p:txBody>
      </p:sp>
      <p:sp>
        <p:nvSpPr>
          <p:cNvPr id="15" name="Shape 12"/>
          <p:cNvSpPr/>
          <p:nvPr/>
        </p:nvSpPr>
        <p:spPr>
          <a:xfrm>
            <a:off x="3364992" y="4082796"/>
            <a:ext cx="384048" cy="0"/>
          </a:xfrm>
          <a:prstGeom prst="line">
            <a:avLst/>
          </a:prstGeom>
          <a:noFill/>
          <a:ln w="19050">
            <a:solidFill>
              <a:srgbClr val="6B7280"/>
            </a:solidFill>
            <a:prstDash val="solid"/>
            <a:tailEnd type="triangle"/>
          </a:ln>
        </p:spPr>
      </p:sp>
      <p:sp>
        <p:nvSpPr>
          <p:cNvPr id="16" name="Shape 13"/>
          <p:cNvSpPr/>
          <p:nvPr/>
        </p:nvSpPr>
        <p:spPr>
          <a:xfrm>
            <a:off x="548640" y="4672584"/>
            <a:ext cx="2743200" cy="960120"/>
          </a:xfrm>
          <a:prstGeom prst="roundRect">
            <a:avLst>
              <a:gd name="adj" fmla="val 7619"/>
            </a:avLst>
          </a:prstGeom>
          <a:solidFill>
            <a:srgbClr val="C8553D"/>
          </a:solidFill>
          <a:ln w="12700">
            <a:solidFill>
              <a:srgbClr val="C8553D"/>
            </a:solidFill>
            <a:prstDash val="solid"/>
          </a:ln>
        </p:spPr>
      </p:sp>
      <p:sp>
        <p:nvSpPr>
          <p:cNvPr id="17" name="Text 14"/>
          <p:cNvSpPr txBox="1"/>
          <p:nvPr/>
        </p:nvSpPr>
        <p:spPr>
          <a:xfrm>
            <a:off x="685800" y="4736592"/>
            <a:ext cx="2468880" cy="292608"/>
          </a:xfrm>
          <a:prstGeom prst="rect">
            <a:avLst/>
          </a:prstGeom>
          <a:noFill/>
          <a:ln/>
        </p:spPr>
        <p:txBody>
          <a:bodyPr wrap="square" lIns="0" tIns="0" rIns="0" bIns="0" rtlCol="0" anchor="t"/>
          <a:lstStyle/>
          <a:p>
            <a:pPr marL="0" indent="0">
              <a:buNone/>
            </a:pPr>
            <a:r>
              <a:rPr lang="en-US" sz="1300" b="1" dirty="0">
                <a:solidFill>
                  <a:schemeClr val="bg1"/>
                </a:solidFill>
              </a:rPr>
              <a:t>LLM-derived</a:t>
            </a:r>
            <a:endParaRPr lang="en-US" sz="1300" dirty="0"/>
          </a:p>
        </p:txBody>
      </p:sp>
      <p:sp>
        <p:nvSpPr>
          <p:cNvPr id="18" name="Text 15"/>
          <p:cNvSpPr txBox="1"/>
          <p:nvPr/>
        </p:nvSpPr>
        <p:spPr>
          <a:xfrm>
            <a:off x="685800" y="5038344"/>
            <a:ext cx="2468880" cy="566928"/>
          </a:xfrm>
          <a:prstGeom prst="rect">
            <a:avLst/>
          </a:prstGeom>
          <a:noFill/>
          <a:ln/>
        </p:spPr>
        <p:txBody>
          <a:bodyPr wrap="square" lIns="0" tIns="0" rIns="0" bIns="0" rtlCol="0" anchor="t"/>
          <a:lstStyle/>
          <a:p>
            <a:pPr marL="0" indent="0">
              <a:buNone/>
            </a:pPr>
            <a:r>
              <a:rPr lang="en-US" sz="950" dirty="0">
                <a:solidFill>
                  <a:schemeClr val="bg1"/>
                </a:solidFill>
              </a:rPr>
              <a:t>Five specialist analysts reading the Fed's own words; every claim quoted and verified by code; a bounded lean, not a weight</a:t>
            </a:r>
            <a:endParaRPr lang="en-US" sz="950" dirty="0"/>
          </a:p>
        </p:txBody>
      </p:sp>
      <p:sp>
        <p:nvSpPr>
          <p:cNvPr id="19" name="Shape 16"/>
          <p:cNvSpPr/>
          <p:nvPr/>
        </p:nvSpPr>
        <p:spPr>
          <a:xfrm>
            <a:off x="3364992" y="5152644"/>
            <a:ext cx="384048" cy="0"/>
          </a:xfrm>
          <a:prstGeom prst="line">
            <a:avLst/>
          </a:prstGeom>
          <a:noFill/>
          <a:ln w="19050">
            <a:solidFill>
              <a:srgbClr val="6B7280"/>
            </a:solidFill>
            <a:prstDash val="solid"/>
            <a:tailEnd type="triangle"/>
          </a:ln>
        </p:spPr>
      </p:sp>
      <p:sp>
        <p:nvSpPr>
          <p:cNvPr id="20" name="Shape 17"/>
          <p:cNvSpPr/>
          <p:nvPr/>
        </p:nvSpPr>
        <p:spPr>
          <a:xfrm>
            <a:off x="3822192" y="1463040"/>
            <a:ext cx="1371600" cy="4169664"/>
          </a:xfrm>
          <a:prstGeom prst="roundRect">
            <a:avLst>
              <a:gd name="adj" fmla="val 6667"/>
            </a:avLst>
          </a:prstGeom>
          <a:solidFill>
            <a:srgbClr val="EEF2F7"/>
          </a:solidFill>
          <a:ln w="12700">
            <a:solidFill>
              <a:srgbClr val="CADCFC"/>
            </a:solidFill>
            <a:prstDash val="solid"/>
          </a:ln>
        </p:spPr>
      </p:sp>
      <p:sp>
        <p:nvSpPr>
          <p:cNvPr id="21" name="Text 18"/>
          <p:cNvSpPr txBox="1"/>
          <p:nvPr/>
        </p:nvSpPr>
        <p:spPr>
          <a:xfrm>
            <a:off x="3822192" y="1737360"/>
            <a:ext cx="1371600" cy="365760"/>
          </a:xfrm>
          <a:prstGeom prst="rect">
            <a:avLst/>
          </a:prstGeom>
          <a:noFill/>
          <a:ln/>
        </p:spPr>
        <p:txBody>
          <a:bodyPr wrap="square" lIns="0" tIns="0" rIns="0" bIns="0" rtlCol="0" anchor="t"/>
          <a:lstStyle/>
          <a:p>
            <a:pPr marL="0" indent="0" algn="ctr">
              <a:buNone/>
            </a:pPr>
            <a:r>
              <a:rPr lang="en-US" sz="1500" b="1" dirty="0">
                <a:solidFill>
                  <a:schemeClr val="tx2"/>
                </a:solidFill>
              </a:rPr>
              <a:t>Pool</a:t>
            </a:r>
            <a:endParaRPr lang="en-US" sz="1500" dirty="0"/>
          </a:p>
        </p:txBody>
      </p:sp>
      <p:sp>
        <p:nvSpPr>
          <p:cNvPr id="22" name="Text 19"/>
          <p:cNvSpPr txBox="1"/>
          <p:nvPr/>
        </p:nvSpPr>
        <p:spPr>
          <a:xfrm>
            <a:off x="3931920" y="2194560"/>
            <a:ext cx="1152144" cy="3291840"/>
          </a:xfrm>
          <a:prstGeom prst="rect">
            <a:avLst/>
          </a:prstGeom>
          <a:noFill/>
          <a:ln/>
        </p:spPr>
        <p:txBody>
          <a:bodyPr wrap="square" lIns="0" tIns="0" rIns="0" bIns="0" rtlCol="0" anchor="t"/>
          <a:lstStyle/>
          <a:p>
            <a:pPr marL="0" indent="0" algn="ctr">
              <a:buNone/>
            </a:pPr>
            <a:r>
              <a:rPr lang="en-US" sz="950" dirty="0">
                <a:solidFill>
                  <a:schemeClr val="tx1"/>
                </a:solidFill>
              </a:rPr>
              <a:t>Weights 0.6 / 0.2 / 0.1 / 0.1, fixed and published. A 1.5% floor on every outcome. Then the analysts' lean, capped at 10 points. Code does this; no model writes the number.</a:t>
            </a:r>
            <a:endParaRPr lang="en-US" sz="950" dirty="0"/>
          </a:p>
        </p:txBody>
      </p:sp>
      <p:sp>
        <p:nvSpPr>
          <p:cNvPr id="23" name="Shape 20"/>
          <p:cNvSpPr/>
          <p:nvPr/>
        </p:nvSpPr>
        <p:spPr>
          <a:xfrm>
            <a:off x="5266944" y="3547872"/>
            <a:ext cx="384048" cy="0"/>
          </a:xfrm>
          <a:prstGeom prst="line">
            <a:avLst/>
          </a:prstGeom>
          <a:noFill/>
          <a:ln w="19050">
            <a:solidFill>
              <a:srgbClr val="6B7280"/>
            </a:solidFill>
            <a:prstDash val="solid"/>
            <a:tailEnd type="triangle"/>
          </a:ln>
        </p:spPr>
      </p:sp>
      <p:sp>
        <p:nvSpPr>
          <p:cNvPr id="24" name="Shape 21"/>
          <p:cNvSpPr/>
          <p:nvPr/>
        </p:nvSpPr>
        <p:spPr>
          <a:xfrm>
            <a:off x="5724144" y="2770632"/>
            <a:ext cx="1417320" cy="1554480"/>
          </a:xfrm>
          <a:prstGeom prst="roundRect">
            <a:avLst>
              <a:gd name="adj" fmla="val 6452"/>
            </a:avLst>
          </a:prstGeom>
          <a:solidFill>
            <a:srgbClr val="1E2761"/>
          </a:solidFill>
          <a:ln w="12700">
            <a:solidFill>
              <a:srgbClr val="1E2761"/>
            </a:solidFill>
            <a:prstDash val="solid"/>
          </a:ln>
        </p:spPr>
      </p:sp>
      <p:sp>
        <p:nvSpPr>
          <p:cNvPr id="25" name="Text 22"/>
          <p:cNvSpPr txBox="1"/>
          <p:nvPr/>
        </p:nvSpPr>
        <p:spPr>
          <a:xfrm>
            <a:off x="5724144" y="2862072"/>
            <a:ext cx="1417320" cy="365760"/>
          </a:xfrm>
          <a:prstGeom prst="rect">
            <a:avLst/>
          </a:prstGeom>
          <a:noFill/>
          <a:ln/>
        </p:spPr>
        <p:txBody>
          <a:bodyPr wrap="square" lIns="0" tIns="0" rIns="0" bIns="0" rtlCol="0" anchor="t"/>
          <a:lstStyle/>
          <a:p>
            <a:pPr marL="0" indent="0" algn="ctr">
              <a:buNone/>
            </a:pPr>
            <a:r>
              <a:rPr lang="en-US" sz="1400" b="1" dirty="0">
                <a:solidFill>
                  <a:schemeClr val="bg1"/>
                </a:solidFill>
              </a:rPr>
              <a:t>Forecast</a:t>
            </a:r>
            <a:endParaRPr lang="en-US" sz="1400" dirty="0"/>
          </a:p>
        </p:txBody>
      </p:sp>
      <p:sp>
        <p:nvSpPr>
          <p:cNvPr id="26" name="Text 23"/>
          <p:cNvSpPr txBox="1"/>
          <p:nvPr/>
        </p:nvSpPr>
        <p:spPr>
          <a:xfrm>
            <a:off x="5724144" y="3273552"/>
            <a:ext cx="1417320" cy="1005840"/>
          </a:xfrm>
          <a:prstGeom prst="rect">
            <a:avLst/>
          </a:prstGeom>
          <a:noFill/>
          <a:ln/>
        </p:spPr>
        <p:txBody>
          <a:bodyPr wrap="square" lIns="0" tIns="0" rIns="0" bIns="0" rtlCol="0" anchor="t"/>
          <a:lstStyle/>
          <a:p>
            <a:pPr marL="0" indent="0" algn="ctr">
              <a:buNone/>
            </a:pPr>
            <a:r>
              <a:rPr lang="en-US" sz="1050" dirty="0">
                <a:solidFill>
                  <a:schemeClr val="bg1"/>
                </a:solidFill>
              </a:rPr>
              <a:t>28 Oct, entry #18</a:t>
            </a:r>
            <a:endParaRPr lang="en-US" sz="1050" dirty="0"/>
          </a:p>
          <a:p>
            <a:pPr marL="0" indent="0" algn="ctr">
              <a:buNone/>
            </a:pPr>
            <a:r>
              <a:rPr lang="en-US" sz="1050" dirty="0">
                <a:solidFill>
                  <a:schemeClr val="bg1"/>
                </a:solidFill>
              </a:rPr>
              <a:t>no change 67.6%</a:t>
            </a:r>
            <a:endParaRPr lang="en-US" sz="1050" dirty="0"/>
          </a:p>
          <a:p>
            <a:pPr marL="0" indent="0" algn="ctr">
              <a:buNone/>
            </a:pPr>
            <a:r>
              <a:rPr lang="en-US" sz="1050" dirty="0">
                <a:solidFill>
                  <a:schemeClr val="bg1"/>
                </a:solidFill>
              </a:rPr>
              <a:t>+25 bps 22.4%</a:t>
            </a:r>
            <a:endParaRPr lang="en-US" sz="1050" dirty="0"/>
          </a:p>
        </p:txBody>
      </p:sp>
      <p:sp>
        <p:nvSpPr>
          <p:cNvPr id="27" name="Text 24"/>
          <p:cNvSpPr txBox="1"/>
          <p:nvPr/>
        </p:nvSpPr>
        <p:spPr>
          <a:xfrm>
            <a:off x="7415784" y="1417320"/>
            <a:ext cx="4224528" cy="365760"/>
          </a:xfrm>
          <a:prstGeom prst="rect">
            <a:avLst/>
          </a:prstGeom>
          <a:noFill/>
          <a:ln/>
        </p:spPr>
        <p:txBody>
          <a:bodyPr wrap="square" lIns="0" tIns="0" rIns="0" bIns="0" rtlCol="0" anchor="t"/>
          <a:lstStyle/>
          <a:p>
            <a:pPr marL="0" indent="0">
              <a:buNone/>
            </a:pPr>
            <a:r>
              <a:rPr lang="en-US" sz="1500" b="1" dirty="0">
                <a:solidFill>
                  <a:schemeClr val="tx2"/>
                </a:solidFill>
              </a:rPr>
              <a:t>The chain, in order</a:t>
            </a:r>
            <a:endParaRPr lang="en-US" sz="1500" dirty="0"/>
          </a:p>
        </p:txBody>
      </p:sp>
      <p:sp>
        <p:nvSpPr>
          <p:cNvPr id="28" name="Shape 25"/>
          <p:cNvSpPr/>
          <p:nvPr/>
        </p:nvSpPr>
        <p:spPr>
          <a:xfrm>
            <a:off x="7415784" y="1874520"/>
            <a:ext cx="109728" cy="548640"/>
          </a:xfrm>
          <a:prstGeom prst="rect">
            <a:avLst/>
          </a:prstGeom>
          <a:solidFill>
            <a:srgbClr val="1E2761"/>
          </a:solidFill>
          <a:ln w="12700">
            <a:solidFill>
              <a:srgbClr val="1E2761"/>
            </a:solidFill>
            <a:prstDash val="solid"/>
          </a:ln>
        </p:spPr>
      </p:sp>
      <p:sp>
        <p:nvSpPr>
          <p:cNvPr id="29" name="Text 26"/>
          <p:cNvSpPr txBox="1"/>
          <p:nvPr/>
        </p:nvSpPr>
        <p:spPr>
          <a:xfrm>
            <a:off x="7644384" y="182880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Evidence</a:t>
            </a:r>
            <a:endParaRPr lang="en-US" sz="1250" dirty="0"/>
          </a:p>
        </p:txBody>
      </p:sp>
      <p:sp>
        <p:nvSpPr>
          <p:cNvPr id="30" name="Text 27"/>
          <p:cNvSpPr txBox="1"/>
          <p:nvPr/>
        </p:nvSpPr>
        <p:spPr>
          <a:xfrm>
            <a:off x="8787384" y="1828800"/>
            <a:ext cx="2852928" cy="658368"/>
          </a:xfrm>
          <a:prstGeom prst="rect">
            <a:avLst/>
          </a:prstGeom>
          <a:noFill/>
          <a:ln/>
        </p:spPr>
        <p:txBody>
          <a:bodyPr wrap="square" lIns="0" tIns="0" rIns="0" bIns="0" rtlCol="0" anchor="ctr"/>
          <a:lstStyle/>
          <a:p>
            <a:pPr marL="0" indent="0">
              <a:buNone/>
            </a:pPr>
            <a:r>
              <a:rPr lang="en-US" sz="1000" dirty="0">
                <a:solidFill>
                  <a:schemeClr val="tx1"/>
                </a:solidFill>
              </a:rPr>
              <a:t>23 items frozen and fingerprinted, dated in US time, data as first published. Nothing outside it may be read.</a:t>
            </a:r>
            <a:endParaRPr lang="en-US" sz="1000" dirty="0"/>
          </a:p>
        </p:txBody>
      </p:sp>
      <p:sp>
        <p:nvSpPr>
          <p:cNvPr id="31" name="Shape 28"/>
          <p:cNvSpPr/>
          <p:nvPr/>
        </p:nvSpPr>
        <p:spPr>
          <a:xfrm>
            <a:off x="7415784" y="2587752"/>
            <a:ext cx="109728" cy="548640"/>
          </a:xfrm>
          <a:prstGeom prst="rect">
            <a:avLst/>
          </a:prstGeom>
          <a:solidFill>
            <a:srgbClr val="1E2761"/>
          </a:solidFill>
          <a:ln w="12700">
            <a:solidFill>
              <a:srgbClr val="1E2761"/>
            </a:solidFill>
            <a:prstDash val="solid"/>
          </a:ln>
        </p:spPr>
      </p:sp>
      <p:sp>
        <p:nvSpPr>
          <p:cNvPr id="32" name="Text 29"/>
          <p:cNvSpPr txBox="1"/>
          <p:nvPr/>
        </p:nvSpPr>
        <p:spPr>
          <a:xfrm>
            <a:off x="7644384" y="2542032"/>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Signals</a:t>
            </a:r>
            <a:endParaRPr lang="en-US" sz="1250" dirty="0"/>
          </a:p>
        </p:txBody>
      </p:sp>
      <p:sp>
        <p:nvSpPr>
          <p:cNvPr id="33" name="Text 30"/>
          <p:cNvSpPr txBox="1"/>
          <p:nvPr/>
        </p:nvSpPr>
        <p:spPr>
          <a:xfrm>
            <a:off x="8787384" y="2542032"/>
            <a:ext cx="2852928" cy="658368"/>
          </a:xfrm>
          <a:prstGeom prst="rect">
            <a:avLst/>
          </a:prstGeom>
          <a:noFill/>
          <a:ln/>
        </p:spPr>
        <p:txBody>
          <a:bodyPr wrap="square" lIns="0" tIns="0" rIns="0" bIns="0" rtlCol="0" anchor="ctr"/>
          <a:lstStyle/>
          <a:p>
            <a:pPr marL="0" indent="0">
              <a:buNone/>
            </a:pPr>
            <a:r>
              <a:rPr lang="en-US" sz="1000" dirty="0">
                <a:solidFill>
                  <a:schemeClr val="tx1"/>
                </a:solidFill>
              </a:rPr>
              <a:t>Computed by code and handed to the analysts as numbers: inflation gap, labour slack, financial conditions, statement tone, base rates, projections.</a:t>
            </a:r>
            <a:endParaRPr lang="en-US" sz="1000" dirty="0"/>
          </a:p>
        </p:txBody>
      </p:sp>
      <p:sp>
        <p:nvSpPr>
          <p:cNvPr id="34" name="Shape 31"/>
          <p:cNvSpPr/>
          <p:nvPr/>
        </p:nvSpPr>
        <p:spPr>
          <a:xfrm>
            <a:off x="7415784" y="3300984"/>
            <a:ext cx="109728" cy="548640"/>
          </a:xfrm>
          <a:prstGeom prst="rect">
            <a:avLst/>
          </a:prstGeom>
          <a:solidFill>
            <a:srgbClr val="1E2761"/>
          </a:solidFill>
          <a:ln w="12700">
            <a:solidFill>
              <a:srgbClr val="1E2761"/>
            </a:solidFill>
            <a:prstDash val="solid"/>
          </a:ln>
        </p:spPr>
      </p:sp>
      <p:sp>
        <p:nvSpPr>
          <p:cNvPr id="35" name="Text 32"/>
          <p:cNvSpPr txBox="1"/>
          <p:nvPr/>
        </p:nvSpPr>
        <p:spPr>
          <a:xfrm>
            <a:off x="7644384" y="3255264"/>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Pool</a:t>
            </a:r>
            <a:endParaRPr lang="en-US" sz="1250" dirty="0"/>
          </a:p>
        </p:txBody>
      </p:sp>
      <p:sp>
        <p:nvSpPr>
          <p:cNvPr id="36" name="Text 33"/>
          <p:cNvSpPr txBox="1"/>
          <p:nvPr/>
        </p:nvSpPr>
        <p:spPr>
          <a:xfrm>
            <a:off x="8787384" y="3255264"/>
            <a:ext cx="2852928" cy="658368"/>
          </a:xfrm>
          <a:prstGeom prst="rect">
            <a:avLst/>
          </a:prstGeom>
          <a:noFill/>
          <a:ln/>
        </p:spPr>
        <p:txBody>
          <a:bodyPr wrap="square" lIns="0" tIns="0" rIns="0" bIns="0" rtlCol="0" anchor="ctr"/>
          <a:lstStyle/>
          <a:p>
            <a:pPr marL="0" indent="0">
              <a:buNone/>
            </a:pPr>
            <a:r>
              <a:rPr lang="en-US" sz="1000" dirty="0">
                <a:solidFill>
                  <a:schemeClr val="tx1"/>
                </a:solidFill>
              </a:rPr>
              <a:t>Four families at fixed weights, the floor, then the specialists' lean.</a:t>
            </a:r>
            <a:endParaRPr lang="en-US" sz="1000" dirty="0"/>
          </a:p>
        </p:txBody>
      </p:sp>
      <p:sp>
        <p:nvSpPr>
          <p:cNvPr id="37" name="Shape 34"/>
          <p:cNvSpPr/>
          <p:nvPr/>
        </p:nvSpPr>
        <p:spPr>
          <a:xfrm>
            <a:off x="7415784" y="4014216"/>
            <a:ext cx="109728" cy="548640"/>
          </a:xfrm>
          <a:prstGeom prst="rect">
            <a:avLst/>
          </a:prstGeom>
          <a:solidFill>
            <a:srgbClr val="C8553D"/>
          </a:solidFill>
          <a:ln w="12700">
            <a:solidFill>
              <a:srgbClr val="C8553D"/>
            </a:solidFill>
            <a:prstDash val="solid"/>
          </a:ln>
        </p:spPr>
      </p:sp>
      <p:sp>
        <p:nvSpPr>
          <p:cNvPr id="38" name="Text 35"/>
          <p:cNvSpPr txBox="1"/>
          <p:nvPr/>
        </p:nvSpPr>
        <p:spPr>
          <a:xfrm>
            <a:off x="7644384" y="3968496"/>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Analysts</a:t>
            </a:r>
            <a:endParaRPr lang="en-US" sz="1250" dirty="0"/>
          </a:p>
        </p:txBody>
      </p:sp>
      <p:sp>
        <p:nvSpPr>
          <p:cNvPr id="39" name="Text 36"/>
          <p:cNvSpPr txBox="1"/>
          <p:nvPr/>
        </p:nvSpPr>
        <p:spPr>
          <a:xfrm>
            <a:off x="8787384" y="3968496"/>
            <a:ext cx="2852928" cy="658368"/>
          </a:xfrm>
          <a:prstGeom prst="rect">
            <a:avLst/>
          </a:prstGeom>
          <a:noFill/>
          <a:ln/>
        </p:spPr>
        <p:txBody>
          <a:bodyPr wrap="square" lIns="0" tIns="0" rIns="0" bIns="0" rtlCol="0" anchor="ctr"/>
          <a:lstStyle/>
          <a:p>
            <a:pPr marL="0" indent="0">
              <a:buNone/>
            </a:pPr>
            <a:r>
              <a:rPr lang="en-US" sz="1000" dirty="0">
                <a:solidFill>
                  <a:schemeClr val="tx1"/>
                </a:solidFill>
              </a:rPr>
              <a:t>Only analysts 4 to 8 enter the number. Analysts 1 to 3 are checks and balances on the ladder.</a:t>
            </a:r>
            <a:endParaRPr lang="en-US" sz="1000" dirty="0"/>
          </a:p>
        </p:txBody>
      </p:sp>
      <p:sp>
        <p:nvSpPr>
          <p:cNvPr id="40" name="Shape 37"/>
          <p:cNvSpPr/>
          <p:nvPr/>
        </p:nvSpPr>
        <p:spPr>
          <a:xfrm>
            <a:off x="7415784" y="4727448"/>
            <a:ext cx="109728" cy="548640"/>
          </a:xfrm>
          <a:prstGeom prst="rect">
            <a:avLst/>
          </a:prstGeom>
          <a:solidFill>
            <a:srgbClr val="2C6E49"/>
          </a:solidFill>
          <a:ln w="12700">
            <a:solidFill>
              <a:srgbClr val="2C6E49"/>
            </a:solidFill>
            <a:prstDash val="solid"/>
          </a:ln>
        </p:spPr>
      </p:sp>
      <p:sp>
        <p:nvSpPr>
          <p:cNvPr id="41" name="Text 38"/>
          <p:cNvSpPr txBox="1"/>
          <p:nvPr/>
        </p:nvSpPr>
        <p:spPr>
          <a:xfrm>
            <a:off x="7644384" y="4681728"/>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You</a:t>
            </a:r>
            <a:endParaRPr lang="en-US" sz="1250" dirty="0"/>
          </a:p>
        </p:txBody>
      </p:sp>
      <p:sp>
        <p:nvSpPr>
          <p:cNvPr id="42" name="Text 39"/>
          <p:cNvSpPr txBox="1"/>
          <p:nvPr/>
        </p:nvSpPr>
        <p:spPr>
          <a:xfrm>
            <a:off x="8787384" y="4681728"/>
            <a:ext cx="2852928" cy="658368"/>
          </a:xfrm>
          <a:prstGeom prst="rect">
            <a:avLst/>
          </a:prstGeom>
          <a:noFill/>
          <a:ln/>
        </p:spPr>
        <p:txBody>
          <a:bodyPr wrap="square" lIns="0" tIns="0" rIns="0" bIns="0" rtlCol="0" anchor="ctr"/>
          <a:lstStyle/>
          <a:p>
            <a:pPr marL="0" indent="0">
              <a:buNone/>
            </a:pPr>
            <a:r>
              <a:rPr lang="en-US" sz="1000" dirty="0">
                <a:solidFill>
                  <a:schemeClr val="tx1"/>
                </a:solidFill>
              </a:rPr>
              <a:t>Views tilt by at most 10 points and expire; watch-outs must be answered by id; documents and odds become evidence.</a:t>
            </a:r>
            <a:endParaRPr lang="en-US" sz="1000" dirty="0"/>
          </a:p>
        </p:txBody>
      </p:sp>
      <p:sp>
        <p:nvSpPr>
          <p:cNvPr id="43" name="Shape 40"/>
          <p:cNvSpPr/>
          <p:nvPr/>
        </p:nvSpPr>
        <p:spPr>
          <a:xfrm>
            <a:off x="7415784" y="5440680"/>
            <a:ext cx="109728" cy="548640"/>
          </a:xfrm>
          <a:prstGeom prst="rect">
            <a:avLst/>
          </a:prstGeom>
          <a:solidFill>
            <a:srgbClr val="1E2761"/>
          </a:solidFill>
          <a:ln w="12700">
            <a:solidFill>
              <a:srgbClr val="1E2761"/>
            </a:solidFill>
            <a:prstDash val="solid"/>
          </a:ln>
        </p:spPr>
      </p:sp>
      <p:sp>
        <p:nvSpPr>
          <p:cNvPr id="44" name="Text 41"/>
          <p:cNvSpPr txBox="1"/>
          <p:nvPr/>
        </p:nvSpPr>
        <p:spPr>
          <a:xfrm>
            <a:off x="7644384" y="539496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Ledger</a:t>
            </a:r>
            <a:endParaRPr lang="en-US" sz="1250" dirty="0"/>
          </a:p>
        </p:txBody>
      </p:sp>
      <p:sp>
        <p:nvSpPr>
          <p:cNvPr id="45" name="Text 42"/>
          <p:cNvSpPr txBox="1"/>
          <p:nvPr/>
        </p:nvSpPr>
        <p:spPr>
          <a:xfrm>
            <a:off x="8787384" y="5394960"/>
            <a:ext cx="2852928" cy="658368"/>
          </a:xfrm>
          <a:prstGeom prst="rect">
            <a:avLst/>
          </a:prstGeom>
          <a:noFill/>
          <a:ln/>
        </p:spPr>
        <p:txBody>
          <a:bodyPr wrap="square" lIns="0" tIns="0" rIns="0" bIns="0" rtlCol="0" anchor="ctr"/>
          <a:lstStyle/>
          <a:p>
            <a:pPr marL="0" indent="0">
              <a:buNone/>
            </a:pPr>
            <a:r>
              <a:rPr lang="en-US" sz="1000" dirty="0">
                <a:solidFill>
                  <a:schemeClr val="tx1"/>
                </a:solidFill>
              </a:rPr>
              <a:t>Append-only, hash-chained; every entry recomputes from its snapshot and the runs it names.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arithmetic: from five models to one number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1828800">
                  <a:extLst>
                    <a:ext uri="{9D8B030D-6E8A-4147-A177-3AD203B41FA5}">
                      <a16:colId xmlns:a16="http://schemas.microsoft.com/office/drawing/2014/main" val="20000"/>
                    </a:ext>
                  </a:extLst>
                </a:gridCol>
                <a:gridCol w="4325112">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marL="0" indent="0">
                        <a:buNone/>
                      </a:pPr>
                      <a:r>
                        <a:rPr lang="en-US" sz="1150" b="1" dirty="0">
                          <a:solidFill>
                            <a:srgbClr val="FFFFFF"/>
                          </a:solidFill>
                        </a:rPr>
                        <a:t>Model</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rPr>
                        <a:t>What it reads</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−25</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no change</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+25</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+50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weight</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57200">
                <a:tc>
                  <a:txBody>
                    <a:bodyPr/>
                    <a:lstStyle/>
                    <a:p>
                      <a:pPr marL="0" indent="0">
                        <a:buNone/>
                      </a:pPr>
                      <a:r>
                        <a:rPr lang="en-US" sz="1150" dirty="0">
                          <a:solidFill>
                            <a:srgbClr val="1B1F2A"/>
                          </a:solidFill>
                        </a:rPr>
                        <a:t>Market-implied</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November fed-funds future against the overnight rate: +2.5 bp expected, split between the two nearest outcomes</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90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0.6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150" dirty="0">
                          <a:solidFill>
                            <a:srgbClr val="1B1F2A"/>
                          </a:solidFill>
                        </a:rPr>
                        <a:t>Taylor family</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12-month core PCE 3.0%, unemployment 4.2%, r* from the NY Fed DSGE model (0.65 / 1.86 / 3.06%), four rules × nine r*/u* pairs: +22.5 bp mean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4.5</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26.9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44.6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23.8</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0.2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150" dirty="0">
                          <a:solidFill>
                            <a:srgbClr val="1B1F2A"/>
                          </a:solidFill>
                        </a:rPr>
                        <a:t>Prediction market</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Polymarket, 26 Oct, $67m traded: 94.5% no change</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0.2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94.9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4.5</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0.4</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0.1</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150" dirty="0">
                          <a:solidFill>
                            <a:srgbClr val="1B1F2A"/>
                          </a:solidFill>
                        </a:rPr>
                        <a:t>Historical base rates</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What followed a hike at the 49 scheduled meetings since 1994 that came after one</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34.7</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52.2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13.1</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0.1</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150" dirty="0">
                          <a:solidFill>
                            <a:srgbClr val="1B1F2A"/>
                          </a:solidFill>
                        </a:rPr>
                        <a:t>Ordered probit v2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Nine features on first-published data; failed v1, caveated v2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24.2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63.8</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12.0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150" b="1" dirty="0">
                          <a:solidFill>
                            <a:srgbClr val="1B1F2A"/>
                          </a:solidFill>
                        </a:rPr>
                        <a:t>Pooled</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Weighted average, then the 1.5% floor</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1.5</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70.9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20.2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6.0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buNone/>
                      </a:pPr>
                      <a:r>
                        <a:rPr lang="en-US" sz="1150" dirty="0">
                          <a:solidFill>
                            <a:srgbClr val="1B1F2A"/>
                          </a:solidFill>
                        </a:rPr>
                        <a:t>Specialists' lean</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+4.0 bp hawkish, mean of analysts 4 to 8: 4.0 points moved toward the hike outcomes</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7"/>
                  </a:ext>
                </a:extLst>
              </a:tr>
              <a:tr h="457200">
                <a:tc>
                  <a:txBody>
                    <a:bodyPr/>
                    <a:lstStyle/>
                    <a:p>
                      <a:pPr marL="0" indent="0">
                        <a:buNone/>
                      </a:pPr>
                      <a:r>
                        <a:rPr lang="en-US" sz="1150" b="1" dirty="0">
                          <a:solidFill>
                            <a:srgbClr val="1B1F2A"/>
                          </a:solidFill>
                        </a:rPr>
                        <a:t>Machine forecast</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Ledger entry #18, 28 October</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1.2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67.6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22.4</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7.7</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Shape 1"/>
          <p:cNvSpPr/>
          <p:nvPr/>
        </p:nvSpPr>
        <p:spPr>
          <a:xfrm>
            <a:off x="548640" y="5532120"/>
            <a:ext cx="11091672" cy="777240"/>
          </a:xfrm>
          <a:prstGeom prst="roundRect">
            <a:avLst>
              <a:gd name="adj" fmla="val 14118"/>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6" name="Text 2"/>
          <p:cNvSpPr txBox="1"/>
          <p:nvPr/>
        </p:nvSpPr>
        <p:spPr>
          <a:xfrm>
            <a:off x="777240" y="5596128"/>
            <a:ext cx="10634472" cy="658368"/>
          </a:xfrm>
          <a:prstGeom prst="rect">
            <a:avLst/>
          </a:prstGeom>
          <a:noFill/>
          <a:ln/>
        </p:spPr>
        <p:txBody>
          <a:bodyPr wrap="square" lIns="0" tIns="0" rIns="0" bIns="0" rtlCol="0" anchor="ctr"/>
          <a:lstStyle/>
          <a:p>
            <a:pPr marL="0" indent="0">
              <a:buNone/>
            </a:pPr>
            <a:r>
              <a:rPr lang="en-US" sz="1100" dirty="0">
                <a:solidFill>
                  <a:srgbClr val="C8553D"/>
                </a:solidFill>
              </a:rPr>
              <a:t>The weights are judgement, logged, not backtested. The backtest (expanding window, 129 decisions since 2010) decides who is in the pool: the base rates beat the fitted probit and joined; the probit failed its gate and sits at weight 0. Live scores from 28 October onward decide the weights, by amendment, on the record. Fitting them on the same history the models came from would prove nothing.</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machine_only</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dirty="0">
                <a:solidFill>
                  <a:srgbClr val="FFFFFF"/>
                </a:solidFill>
              </a:rPr>
              <a:t>The language model's lean is the one line between pooled and machine_only. It can tilt, it cannot write.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Eight analysts, one model, one ladder</a:t>
            </a:r>
            <a:endParaRPr lang="en-US" sz="3200" dirty="0"/>
          </a:p>
        </p:txBody>
      </p:sp>
      <p:sp>
        <p:nvSpPr>
          <p:cNvPr id="4" name="Shape 1"/>
          <p:cNvSpPr/>
          <p:nvPr/>
        </p:nvSpPr>
        <p:spPr>
          <a:xfrm>
            <a:off x="548640" y="1417320"/>
            <a:ext cx="822960" cy="1005840"/>
          </a:xfrm>
          <a:prstGeom prst="roundRect">
            <a:avLst>
              <a:gd name="adj" fmla="val 11111"/>
            </a:avLst>
          </a:prstGeom>
          <a:solidFill>
            <a:srgbClr val="6B7280"/>
          </a:solidFill>
          <a:ln w="12700">
            <a:solidFill>
              <a:srgbClr val="6B7280"/>
            </a:solidFill>
            <a:prstDash val="solid"/>
          </a:ln>
        </p:spPr>
      </p:sp>
      <p:sp>
        <p:nvSpPr>
          <p:cNvPr id="5" name="Text 2"/>
          <p:cNvSpPr txBox="1"/>
          <p:nvPr/>
        </p:nvSpPr>
        <p:spPr>
          <a:xfrm>
            <a:off x="548640" y="1417320"/>
            <a:ext cx="822960" cy="1005840"/>
          </a:xfrm>
          <a:prstGeom prst="rect">
            <a:avLst/>
          </a:prstGeom>
          <a:noFill/>
          <a:ln/>
        </p:spPr>
        <p:txBody>
          <a:bodyPr wrap="square" lIns="0" tIns="0" rIns="0" bIns="0" rtlCol="0" anchor="ctr"/>
          <a:lstStyle/>
          <a:p>
            <a:pPr marL="0" indent="0" algn="ctr">
              <a:buNone/>
            </a:pPr>
            <a:r>
              <a:rPr lang="en-US" sz="3000" b="1" dirty="0">
                <a:solidFill>
                  <a:schemeClr val="bg1"/>
                </a:solidFill>
                <a:latin typeface="Cambria" pitchFamily="34" charset="0"/>
                <a:ea typeface="Cambria" pitchFamily="34" charset="-122"/>
                <a:cs typeface="Cambria" pitchFamily="34" charset="-120"/>
              </a:rPr>
              <a:t>1</a:t>
            </a:r>
            <a:endParaRPr lang="en-US" sz="3000" dirty="0"/>
          </a:p>
        </p:txBody>
      </p:sp>
      <p:sp>
        <p:nvSpPr>
          <p:cNvPr id="6" name="Text 3"/>
          <p:cNvSpPr txBox="1"/>
          <p:nvPr/>
        </p:nvSpPr>
        <p:spPr>
          <a:xfrm>
            <a:off x="1554480" y="1435608"/>
            <a:ext cx="3657600" cy="457200"/>
          </a:xfrm>
          <a:prstGeom prst="rect">
            <a:avLst/>
          </a:prstGeom>
          <a:noFill/>
          <a:ln/>
        </p:spPr>
        <p:txBody>
          <a:bodyPr wrap="square" lIns="0" tIns="0" rIns="0" bIns="0" rtlCol="0" anchor="ctr"/>
          <a:lstStyle/>
          <a:p>
            <a:pPr marL="0" indent="0">
              <a:buNone/>
            </a:pPr>
            <a:r>
              <a:rPr lang="en-US" sz="1400" b="1" dirty="0">
                <a:solidFill>
                  <a:schemeClr val="tx2"/>
                </a:solidFill>
              </a:rPr>
              <a:t>Analyst 1: naive</a:t>
            </a:r>
            <a:endParaRPr lang="en-US" sz="1400" dirty="0"/>
          </a:p>
        </p:txBody>
      </p:sp>
      <p:sp>
        <p:nvSpPr>
          <p:cNvPr id="7" name="Text 4"/>
          <p:cNvSpPr txBox="1"/>
          <p:nvPr/>
        </p:nvSpPr>
        <p:spPr>
          <a:xfrm>
            <a:off x="1554480" y="1874520"/>
            <a:ext cx="3657600" cy="594360"/>
          </a:xfrm>
          <a:prstGeom prst="rect">
            <a:avLst/>
          </a:prstGeom>
          <a:noFill/>
          <a:ln/>
        </p:spPr>
        <p:txBody>
          <a:bodyPr wrap="square" lIns="0" tIns="0" rIns="0" bIns="0" rtlCol="0" anchor="t"/>
          <a:lstStyle/>
          <a:p>
            <a:pPr marL="0" indent="0">
              <a:buNone/>
            </a:pPr>
            <a:r>
              <a:rPr lang="en-US" sz="1050" dirty="0">
                <a:solidFill>
                  <a:schemeClr val="tx1"/>
                </a:solidFill>
              </a:rPr>
              <a:t>The question and the date. Nothing else.</a:t>
            </a:r>
            <a:endParaRPr lang="en-US" sz="1050" dirty="0"/>
          </a:p>
        </p:txBody>
      </p:sp>
      <p:sp>
        <p:nvSpPr>
          <p:cNvPr id="8" name="Text 5"/>
          <p:cNvSpPr txBox="1"/>
          <p:nvPr/>
        </p:nvSpPr>
        <p:spPr>
          <a:xfrm>
            <a:off x="5486400" y="1508760"/>
            <a:ext cx="6126480" cy="868680"/>
          </a:xfrm>
          <a:prstGeom prst="rect">
            <a:avLst/>
          </a:prstGeom>
          <a:noFill/>
          <a:ln/>
        </p:spPr>
        <p:txBody>
          <a:bodyPr wrap="square" lIns="0" tIns="0" rIns="0" bIns="0" rtlCol="0" anchor="ctr"/>
          <a:lstStyle/>
          <a:p>
            <a:pPr marL="0" indent="0">
              <a:buNone/>
            </a:pPr>
            <a:r>
              <a:rPr lang="en-US" sz="1250" dirty="0">
                <a:solidFill>
                  <a:schemeClr val="tx1"/>
                </a:solidFill>
              </a:rPr>
              <a:t>What the model does on its own. The control every later step is measured against.</a:t>
            </a:r>
            <a:endParaRPr lang="en-US" sz="1250" dirty="0"/>
          </a:p>
        </p:txBody>
      </p:sp>
      <p:sp>
        <p:nvSpPr>
          <p:cNvPr id="9" name="Shape 6"/>
          <p:cNvSpPr/>
          <p:nvPr/>
        </p:nvSpPr>
        <p:spPr>
          <a:xfrm>
            <a:off x="548640" y="2578608"/>
            <a:ext cx="822960" cy="1005840"/>
          </a:xfrm>
          <a:prstGeom prst="roundRect">
            <a:avLst>
              <a:gd name="adj" fmla="val 11111"/>
            </a:avLst>
          </a:prstGeom>
          <a:solidFill>
            <a:srgbClr val="6B7280"/>
          </a:solidFill>
          <a:ln w="12700">
            <a:solidFill>
              <a:srgbClr val="6B7280"/>
            </a:solidFill>
            <a:prstDash val="solid"/>
          </a:ln>
        </p:spPr>
      </p:sp>
      <p:sp>
        <p:nvSpPr>
          <p:cNvPr id="10" name="Text 7"/>
          <p:cNvSpPr txBox="1"/>
          <p:nvPr/>
        </p:nvSpPr>
        <p:spPr>
          <a:xfrm>
            <a:off x="548640" y="2578608"/>
            <a:ext cx="822960" cy="1005840"/>
          </a:xfrm>
          <a:prstGeom prst="rect">
            <a:avLst/>
          </a:prstGeom>
          <a:noFill/>
          <a:ln/>
        </p:spPr>
        <p:txBody>
          <a:bodyPr wrap="square" lIns="0" tIns="0" rIns="0" bIns="0" rtlCol="0" anchor="ctr"/>
          <a:lstStyle/>
          <a:p>
            <a:pPr marL="0" indent="0" algn="ctr">
              <a:buNone/>
            </a:pPr>
            <a:r>
              <a:rPr lang="en-US" sz="3000" b="1" dirty="0">
                <a:solidFill>
                  <a:schemeClr val="bg1"/>
                </a:solidFill>
                <a:latin typeface="Cambria" pitchFamily="34" charset="0"/>
                <a:ea typeface="Cambria" pitchFamily="34" charset="-122"/>
                <a:cs typeface="Cambria" pitchFamily="34" charset="-120"/>
              </a:rPr>
              <a:t>2</a:t>
            </a:r>
            <a:endParaRPr lang="en-US" sz="3000" dirty="0"/>
          </a:p>
        </p:txBody>
      </p:sp>
      <p:sp>
        <p:nvSpPr>
          <p:cNvPr id="11" name="Text 8"/>
          <p:cNvSpPr txBox="1"/>
          <p:nvPr/>
        </p:nvSpPr>
        <p:spPr>
          <a:xfrm>
            <a:off x="1554480" y="2596896"/>
            <a:ext cx="3657600" cy="457200"/>
          </a:xfrm>
          <a:prstGeom prst="rect">
            <a:avLst/>
          </a:prstGeom>
          <a:noFill/>
          <a:ln/>
        </p:spPr>
        <p:txBody>
          <a:bodyPr wrap="square" lIns="0" tIns="0" rIns="0" bIns="0" rtlCol="0" anchor="ctr"/>
          <a:lstStyle/>
          <a:p>
            <a:pPr marL="0" indent="0">
              <a:buNone/>
            </a:pPr>
            <a:r>
              <a:rPr lang="en-US" sz="1400" b="1" dirty="0">
                <a:solidFill>
                  <a:schemeClr val="tx2"/>
                </a:solidFill>
              </a:rPr>
              <a:t>Analyst 2: evidence shown, nothing verified</a:t>
            </a:r>
            <a:endParaRPr lang="en-US" sz="1400" dirty="0"/>
          </a:p>
        </p:txBody>
      </p:sp>
      <p:sp>
        <p:nvSpPr>
          <p:cNvPr id="12" name="Text 9"/>
          <p:cNvSpPr txBox="1"/>
          <p:nvPr/>
        </p:nvSpPr>
        <p:spPr>
          <a:xfrm>
            <a:off x="1554480" y="3035808"/>
            <a:ext cx="3657600" cy="594360"/>
          </a:xfrm>
          <a:prstGeom prst="rect">
            <a:avLst/>
          </a:prstGeom>
          <a:noFill/>
          <a:ln/>
        </p:spPr>
        <p:txBody>
          <a:bodyPr wrap="square" lIns="0" tIns="0" rIns="0" bIns="0" rtlCol="0" anchor="t"/>
          <a:lstStyle/>
          <a:p>
            <a:pPr marL="0" indent="0">
              <a:buNone/>
            </a:pPr>
            <a:r>
              <a:rPr lang="en-US" sz="1050" dirty="0">
                <a:solidFill>
                  <a:schemeClr val="tx1"/>
                </a:solidFill>
              </a:rPr>
              <a:t>Every document and every pre-computed number, 128,000 characters. Free-form answer.</a:t>
            </a:r>
            <a:endParaRPr lang="en-US" sz="1050" dirty="0"/>
          </a:p>
        </p:txBody>
      </p:sp>
      <p:sp>
        <p:nvSpPr>
          <p:cNvPr id="13" name="Text 10"/>
          <p:cNvSpPr txBox="1"/>
          <p:nvPr/>
        </p:nvSpPr>
        <p:spPr>
          <a:xfrm>
            <a:off x="5486400" y="2670048"/>
            <a:ext cx="6126480" cy="868680"/>
          </a:xfrm>
          <a:prstGeom prst="rect">
            <a:avLst/>
          </a:prstGeom>
          <a:noFill/>
          <a:ln/>
        </p:spPr>
        <p:txBody>
          <a:bodyPr wrap="square" lIns="0" tIns="0" rIns="0" bIns="0" rtlCol="0" anchor="ctr"/>
          <a:lstStyle/>
          <a:p>
            <a:pPr marL="0" indent="0">
              <a:buNone/>
            </a:pPr>
            <a:r>
              <a:rPr lang="en-US" sz="1250" dirty="0">
                <a:solidFill>
                  <a:schemeClr val="tx1"/>
                </a:solidFill>
              </a:rPr>
              <a:t>Adds the evidence. Shows what evidence alone fixes, and what it does not.</a:t>
            </a:r>
            <a:endParaRPr lang="en-US" sz="1250" dirty="0"/>
          </a:p>
        </p:txBody>
      </p:sp>
      <p:sp>
        <p:nvSpPr>
          <p:cNvPr id="14" name="Shape 11"/>
          <p:cNvSpPr/>
          <p:nvPr/>
        </p:nvSpPr>
        <p:spPr>
          <a:xfrm>
            <a:off x="548640" y="3739896"/>
            <a:ext cx="822960" cy="1005840"/>
          </a:xfrm>
          <a:prstGeom prst="roundRect">
            <a:avLst>
              <a:gd name="adj" fmla="val 11111"/>
            </a:avLst>
          </a:prstGeom>
          <a:solidFill>
            <a:srgbClr val="1E2761"/>
          </a:solidFill>
          <a:ln w="12700">
            <a:solidFill>
              <a:srgbClr val="1E2761"/>
            </a:solidFill>
            <a:prstDash val="solid"/>
          </a:ln>
        </p:spPr>
      </p:sp>
      <p:sp>
        <p:nvSpPr>
          <p:cNvPr id="15" name="Text 12"/>
          <p:cNvSpPr txBox="1"/>
          <p:nvPr/>
        </p:nvSpPr>
        <p:spPr>
          <a:xfrm>
            <a:off x="548640" y="3739896"/>
            <a:ext cx="822960" cy="1005840"/>
          </a:xfrm>
          <a:prstGeom prst="rect">
            <a:avLst/>
          </a:prstGeom>
          <a:noFill/>
          <a:ln/>
        </p:spPr>
        <p:txBody>
          <a:bodyPr wrap="square" lIns="0" tIns="0" rIns="0" bIns="0" rtlCol="0" anchor="ctr"/>
          <a:lstStyle/>
          <a:p>
            <a:pPr marL="0" indent="0" algn="ctr">
              <a:buNone/>
            </a:pPr>
            <a:r>
              <a:rPr lang="en-US" sz="3000" b="1" dirty="0">
                <a:solidFill>
                  <a:schemeClr val="bg1"/>
                </a:solidFill>
                <a:latin typeface="Cambria" pitchFamily="34" charset="0"/>
                <a:ea typeface="Cambria" pitchFamily="34" charset="-122"/>
                <a:cs typeface="Cambria" pitchFamily="34" charset="-120"/>
              </a:rPr>
              <a:t>3</a:t>
            </a:r>
            <a:endParaRPr lang="en-US" sz="3000" dirty="0"/>
          </a:p>
        </p:txBody>
      </p:sp>
      <p:sp>
        <p:nvSpPr>
          <p:cNvPr id="16" name="Text 13"/>
          <p:cNvSpPr txBox="1"/>
          <p:nvPr/>
        </p:nvSpPr>
        <p:spPr>
          <a:xfrm>
            <a:off x="1554480" y="3758184"/>
            <a:ext cx="3657600" cy="457200"/>
          </a:xfrm>
          <a:prstGeom prst="rect">
            <a:avLst/>
          </a:prstGeom>
          <a:noFill/>
          <a:ln/>
        </p:spPr>
        <p:txBody>
          <a:bodyPr wrap="square" lIns="0" tIns="0" rIns="0" bIns="0" rtlCol="0" anchor="ctr"/>
          <a:lstStyle/>
          <a:p>
            <a:pPr marL="0" indent="0">
              <a:buNone/>
            </a:pPr>
            <a:r>
              <a:rPr lang="en-US" sz="1400" b="1" dirty="0">
                <a:solidFill>
                  <a:schemeClr val="tx2"/>
                </a:solidFill>
              </a:rPr>
              <a:t>Analyst 3: generalist with verifier</a:t>
            </a:r>
            <a:endParaRPr lang="en-US" sz="1400" dirty="0"/>
          </a:p>
        </p:txBody>
      </p:sp>
      <p:sp>
        <p:nvSpPr>
          <p:cNvPr id="17" name="Text 14"/>
          <p:cNvSpPr txBox="1"/>
          <p:nvPr/>
        </p:nvSpPr>
        <p:spPr>
          <a:xfrm>
            <a:off x="1554480" y="4197096"/>
            <a:ext cx="3657600" cy="594360"/>
          </a:xfrm>
          <a:prstGeom prst="rect">
            <a:avLst/>
          </a:prstGeom>
          <a:noFill/>
          <a:ln/>
        </p:spPr>
        <p:txBody>
          <a:bodyPr wrap="square" lIns="0" tIns="0" rIns="0" bIns="0" rtlCol="0" anchor="t"/>
          <a:lstStyle/>
          <a:p>
            <a:pPr marL="0" indent="0">
              <a:buNone/>
            </a:pPr>
            <a:r>
              <a:rPr lang="en-US" sz="1050" dirty="0">
                <a:solidFill>
                  <a:schemeClr val="tx1"/>
                </a:solidFill>
              </a:rPr>
              <a:t>Same evidence, but a fixed answer shape: a verbatim quote per claim, a watch-out report, a tilt capped at ±10 bp. Code checks every quote and number.</a:t>
            </a:r>
            <a:endParaRPr lang="en-US" sz="1050" dirty="0"/>
          </a:p>
        </p:txBody>
      </p:sp>
      <p:sp>
        <p:nvSpPr>
          <p:cNvPr id="18" name="Text 15"/>
          <p:cNvSpPr txBox="1"/>
          <p:nvPr/>
        </p:nvSpPr>
        <p:spPr>
          <a:xfrm>
            <a:off x="5486400" y="3831336"/>
            <a:ext cx="6126480" cy="868680"/>
          </a:xfrm>
          <a:prstGeom prst="rect">
            <a:avLst/>
          </a:prstGeom>
          <a:noFill/>
          <a:ln/>
        </p:spPr>
        <p:txBody>
          <a:bodyPr wrap="square" lIns="0" tIns="0" rIns="0" bIns="0" rtlCol="0" anchor="ctr"/>
          <a:lstStyle/>
          <a:p>
            <a:pPr marL="0" indent="0">
              <a:buNone/>
            </a:pPr>
            <a:r>
              <a:rPr lang="en-US" sz="1250" dirty="0">
                <a:solidFill>
                  <a:schemeClr val="tx1"/>
                </a:solidFill>
              </a:rPr>
              <a:t>Adds structure and verification. This is where the output becomes stable and checkable.</a:t>
            </a:r>
            <a:endParaRPr lang="en-US" sz="1250" dirty="0"/>
          </a:p>
        </p:txBody>
      </p:sp>
      <p:sp>
        <p:nvSpPr>
          <p:cNvPr id="19" name="Shape 16"/>
          <p:cNvSpPr/>
          <p:nvPr/>
        </p:nvSpPr>
        <p:spPr>
          <a:xfrm>
            <a:off x="548640" y="4901184"/>
            <a:ext cx="822960" cy="1005840"/>
          </a:xfrm>
          <a:prstGeom prst="roundRect">
            <a:avLst>
              <a:gd name="adj" fmla="val 11111"/>
            </a:avLst>
          </a:prstGeom>
          <a:solidFill>
            <a:srgbClr val="C8553D"/>
          </a:solidFill>
          <a:ln w="12700">
            <a:solidFill>
              <a:srgbClr val="C8553D"/>
            </a:solidFill>
            <a:prstDash val="solid"/>
          </a:ln>
        </p:spPr>
      </p:sp>
      <p:sp>
        <p:nvSpPr>
          <p:cNvPr id="20" name="Text 17"/>
          <p:cNvSpPr txBox="1"/>
          <p:nvPr/>
        </p:nvSpPr>
        <p:spPr>
          <a:xfrm>
            <a:off x="548640" y="4901184"/>
            <a:ext cx="822960" cy="1005840"/>
          </a:xfrm>
          <a:prstGeom prst="rect">
            <a:avLst/>
          </a:prstGeom>
          <a:noFill/>
          <a:ln/>
        </p:spPr>
        <p:txBody>
          <a:bodyPr wrap="square" lIns="0" tIns="0" rIns="0" bIns="0" rtlCol="0" anchor="ctr"/>
          <a:lstStyle/>
          <a:p>
            <a:pPr marL="0" indent="0" algn="ctr">
              <a:buNone/>
            </a:pPr>
            <a:r>
              <a:rPr lang="en-US" sz="2200" b="1" dirty="0">
                <a:solidFill>
                  <a:schemeClr val="bg1"/>
                </a:solidFill>
                <a:latin typeface="Cambria" pitchFamily="34" charset="0"/>
                <a:ea typeface="Cambria" pitchFamily="34" charset="-122"/>
                <a:cs typeface="Cambria" pitchFamily="34" charset="-120"/>
              </a:rPr>
              <a:t>4-8</a:t>
            </a:r>
            <a:endParaRPr lang="en-US" sz="2200" dirty="0"/>
          </a:p>
        </p:txBody>
      </p:sp>
      <p:sp>
        <p:nvSpPr>
          <p:cNvPr id="21" name="Text 18"/>
          <p:cNvSpPr txBox="1"/>
          <p:nvPr/>
        </p:nvSpPr>
        <p:spPr>
          <a:xfrm>
            <a:off x="1554480" y="4919472"/>
            <a:ext cx="3657600" cy="457200"/>
          </a:xfrm>
          <a:prstGeom prst="rect">
            <a:avLst/>
          </a:prstGeom>
          <a:noFill/>
          <a:ln/>
        </p:spPr>
        <p:txBody>
          <a:bodyPr wrap="square" lIns="0" tIns="0" rIns="0" bIns="0" rtlCol="0" anchor="ctr"/>
          <a:lstStyle/>
          <a:p>
            <a:pPr marL="0" indent="0">
              <a:buNone/>
            </a:pPr>
            <a:r>
              <a:rPr lang="en-US" sz="1400" b="1" dirty="0">
                <a:solidFill>
                  <a:schemeClr val="tx2"/>
                </a:solidFill>
              </a:rPr>
              <a:t>Analysts 4 to 8: specialists</a:t>
            </a:r>
            <a:endParaRPr lang="en-US" sz="1400" dirty="0"/>
          </a:p>
        </p:txBody>
      </p:sp>
      <p:sp>
        <p:nvSpPr>
          <p:cNvPr id="22" name="Text 19"/>
          <p:cNvSpPr txBox="1"/>
          <p:nvPr/>
        </p:nvSpPr>
        <p:spPr>
          <a:xfrm>
            <a:off x="1554480" y="5358384"/>
            <a:ext cx="3657600" cy="594360"/>
          </a:xfrm>
          <a:prstGeom prst="rect">
            <a:avLst/>
          </a:prstGeom>
          <a:noFill/>
          <a:ln/>
        </p:spPr>
        <p:txBody>
          <a:bodyPr wrap="square" lIns="0" tIns="0" rIns="0" bIns="0" rtlCol="0" anchor="t"/>
          <a:lstStyle/>
          <a:p>
            <a:pPr marL="0" indent="0">
              <a:buNone/>
            </a:pPr>
            <a:r>
              <a:rPr lang="en-US" sz="1050" dirty="0">
                <a:solidFill>
                  <a:schemeClr val="tx1"/>
                </a:solidFill>
              </a:rPr>
              <a:t>One slice each: communications, minutes, inflation, labour, financial conditions. Same schema, same verifier.</a:t>
            </a:r>
            <a:endParaRPr lang="en-US" sz="1050" dirty="0"/>
          </a:p>
        </p:txBody>
      </p:sp>
      <p:sp>
        <p:nvSpPr>
          <p:cNvPr id="23" name="Text 20"/>
          <p:cNvSpPr txBox="1"/>
          <p:nvPr/>
        </p:nvSpPr>
        <p:spPr>
          <a:xfrm>
            <a:off x="5486400" y="4992624"/>
            <a:ext cx="6126480" cy="868680"/>
          </a:xfrm>
          <a:prstGeom prst="rect">
            <a:avLst/>
          </a:prstGeom>
          <a:noFill/>
          <a:ln/>
        </p:spPr>
        <p:txBody>
          <a:bodyPr wrap="square" lIns="0" tIns="0" rIns="0" bIns="0" rtlCol="0" anchor="ctr"/>
          <a:lstStyle/>
          <a:p>
            <a:pPr marL="0" indent="0">
              <a:buNone/>
            </a:pPr>
            <a:r>
              <a:rPr lang="en-US" sz="1250" dirty="0">
                <a:solidFill>
                  <a:schemeClr val="tx1"/>
                </a:solidFill>
              </a:rPr>
              <a:t>Adds specialisation. Each judgement is attributable to its evidence; a dissent survives instead of being averaged away.</a:t>
            </a:r>
            <a:endParaRPr lang="en-US" sz="1250" dirty="0"/>
          </a:p>
        </p:txBody>
      </p:sp>
      <p:sp>
        <p:nvSpPr>
          <p:cNvPr id="24" name="Text 21"/>
          <p:cNvSpPr txBox="1"/>
          <p:nvPr/>
        </p:nvSpPr>
        <p:spPr>
          <a:xfrm>
            <a:off x="548640" y="6035040"/>
            <a:ext cx="11091672" cy="457200"/>
          </a:xfrm>
          <a:prstGeom prst="rect">
            <a:avLst/>
          </a:prstGeom>
          <a:noFill/>
          <a:ln/>
        </p:spPr>
        <p:txBody>
          <a:bodyPr wrap="square" lIns="0" tIns="0" rIns="0" bIns="0" rtlCol="0" anchor="t"/>
          <a:lstStyle/>
          <a:p>
            <a:pPr marL="0" indent="0">
              <a:buNone/>
            </a:pPr>
            <a:r>
              <a:rPr lang="en-US" sz="1200" i="1" dirty="0">
                <a:solidFill>
                  <a:srgbClr val="C8553D"/>
                </a:solidFill>
              </a:rPr>
              <a:t>Each step adds one thing; the value of that thing is the difference in score between neighbouring steps. Only analysts 4 to 8 enter the number. Analysts 1 to 3 never touch it: they exist as checks and balances, to show what the harness adds and to catch drift.</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the harness enforces around every analyst</a:t>
            </a:r>
            <a:endParaRPr lang="en-US" sz="3200" dirty="0"/>
          </a:p>
        </p:txBody>
      </p:sp>
      <p:sp>
        <p:nvSpPr>
          <p:cNvPr id="4" name="Shape 1"/>
          <p:cNvSpPr/>
          <p:nvPr/>
        </p:nvSpPr>
        <p:spPr>
          <a:xfrm>
            <a:off x="548640" y="1463040"/>
            <a:ext cx="384048" cy="384048"/>
          </a:xfrm>
          <a:prstGeom prst="ellipse">
            <a:avLst/>
          </a:prstGeom>
          <a:solidFill>
            <a:srgbClr val="1E2761"/>
          </a:solidFill>
          <a:ln w="12700">
            <a:solidFill>
              <a:srgbClr val="1E2761"/>
            </a:solidFill>
            <a:prstDash val="solid"/>
          </a:ln>
        </p:spPr>
      </p:sp>
      <p:sp>
        <p:nvSpPr>
          <p:cNvPr id="5" name="Text 2"/>
          <p:cNvSpPr txBox="1"/>
          <p:nvPr/>
        </p:nvSpPr>
        <p:spPr>
          <a:xfrm>
            <a:off x="548640" y="146304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6" name="Text 3"/>
          <p:cNvSpPr txBox="1"/>
          <p:nvPr/>
        </p:nvSpPr>
        <p:spPr>
          <a:xfrm>
            <a:off x="1143000" y="1371600"/>
            <a:ext cx="3108960" cy="548640"/>
          </a:xfrm>
          <a:prstGeom prst="rect">
            <a:avLst/>
          </a:prstGeom>
          <a:noFill/>
          <a:ln/>
        </p:spPr>
        <p:txBody>
          <a:bodyPr wrap="square" lIns="0" tIns="0" rIns="0" bIns="0" rtlCol="0" anchor="ctr"/>
          <a:lstStyle/>
          <a:p>
            <a:pPr marL="0" indent="0">
              <a:buNone/>
            </a:pPr>
            <a:r>
              <a:rPr lang="en-US" sz="1500" b="1" dirty="0">
                <a:solidFill>
                  <a:schemeClr val="tx2"/>
                </a:solidFill>
              </a:rPr>
              <a:t>Tools off, slice only</a:t>
            </a:r>
            <a:endParaRPr lang="en-US" sz="1500" dirty="0"/>
          </a:p>
        </p:txBody>
      </p:sp>
      <p:sp>
        <p:nvSpPr>
          <p:cNvPr id="7" name="Text 4"/>
          <p:cNvSpPr txBox="1"/>
          <p:nvPr/>
        </p:nvSpPr>
        <p:spPr>
          <a:xfrm>
            <a:off x="4023360" y="1389888"/>
            <a:ext cx="7589520" cy="822960"/>
          </a:xfrm>
          <a:prstGeom prst="rect">
            <a:avLst/>
          </a:prstGeom>
          <a:noFill/>
          <a:ln/>
        </p:spPr>
        <p:txBody>
          <a:bodyPr wrap="square" lIns="0" tIns="0" rIns="0" bIns="0" rtlCol="0" anchor="ctr"/>
          <a:lstStyle/>
          <a:p>
            <a:pPr marL="0" indent="0">
              <a:buNone/>
            </a:pPr>
            <a:r>
              <a:rPr lang="en-US" sz="1250" dirty="0">
                <a:solidFill>
                  <a:schemeClr val="tx1"/>
                </a:solidFill>
              </a:rPr>
              <a:t>The model sees its slice of the frozen snapshot and nothing else: no browsing, no memory of the Fed, no other analyst's output.</a:t>
            </a:r>
            <a:endParaRPr lang="en-US" sz="1250" dirty="0"/>
          </a:p>
        </p:txBody>
      </p:sp>
      <p:sp>
        <p:nvSpPr>
          <p:cNvPr id="8" name="Shape 5"/>
          <p:cNvSpPr/>
          <p:nvPr/>
        </p:nvSpPr>
        <p:spPr>
          <a:xfrm>
            <a:off x="548640" y="2249424"/>
            <a:ext cx="384048" cy="384048"/>
          </a:xfrm>
          <a:prstGeom prst="ellipse">
            <a:avLst/>
          </a:prstGeom>
          <a:solidFill>
            <a:srgbClr val="1E2761"/>
          </a:solidFill>
          <a:ln w="12700">
            <a:solidFill>
              <a:srgbClr val="1E2761"/>
            </a:solidFill>
            <a:prstDash val="solid"/>
          </a:ln>
        </p:spPr>
      </p:sp>
      <p:sp>
        <p:nvSpPr>
          <p:cNvPr id="9" name="Text 6"/>
          <p:cNvSpPr txBox="1"/>
          <p:nvPr/>
        </p:nvSpPr>
        <p:spPr>
          <a:xfrm>
            <a:off x="548640" y="224942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0" name="Text 7"/>
          <p:cNvSpPr txBox="1"/>
          <p:nvPr/>
        </p:nvSpPr>
        <p:spPr>
          <a:xfrm>
            <a:off x="1143000" y="2157984"/>
            <a:ext cx="3108960" cy="548640"/>
          </a:xfrm>
          <a:prstGeom prst="rect">
            <a:avLst/>
          </a:prstGeom>
          <a:noFill/>
          <a:ln/>
        </p:spPr>
        <p:txBody>
          <a:bodyPr wrap="square" lIns="0" tIns="0" rIns="0" bIns="0" rtlCol="0" anchor="ctr"/>
          <a:lstStyle/>
          <a:p>
            <a:pPr marL="0" indent="0">
              <a:buNone/>
            </a:pPr>
            <a:r>
              <a:rPr lang="en-US" sz="1500" b="1" dirty="0">
                <a:solidFill>
                  <a:schemeClr val="tx2"/>
                </a:solidFill>
              </a:rPr>
              <a:t>Pre-reads</a:t>
            </a:r>
            <a:endParaRPr lang="en-US" sz="1500" dirty="0"/>
          </a:p>
        </p:txBody>
      </p:sp>
      <p:sp>
        <p:nvSpPr>
          <p:cNvPr id="11" name="Text 8"/>
          <p:cNvSpPr txBox="1"/>
          <p:nvPr/>
        </p:nvSpPr>
        <p:spPr>
          <a:xfrm>
            <a:off x="4023360" y="2176272"/>
            <a:ext cx="7589520" cy="822960"/>
          </a:xfrm>
          <a:prstGeom prst="rect">
            <a:avLst/>
          </a:prstGeom>
          <a:noFill/>
          <a:ln/>
        </p:spPr>
        <p:txBody>
          <a:bodyPr wrap="square" lIns="0" tIns="0" rIns="0" bIns="0" rtlCol="0" anchor="ctr"/>
          <a:lstStyle/>
          <a:p>
            <a:pPr marL="0" indent="0">
              <a:buNone/>
            </a:pPr>
            <a:r>
              <a:rPr lang="en-US" sz="1250" dirty="0">
                <a:solidFill>
                  <a:schemeClr val="tx1"/>
                </a:solidFill>
              </a:rPr>
              <a:t>Numbers are computed by code and handed over: inflation gap, labour slack, financial conditions, tone, base rates. The model never does arithmetic.</a:t>
            </a:r>
            <a:endParaRPr lang="en-US" sz="1250" dirty="0"/>
          </a:p>
        </p:txBody>
      </p:sp>
      <p:sp>
        <p:nvSpPr>
          <p:cNvPr id="12" name="Shape 9"/>
          <p:cNvSpPr/>
          <p:nvPr/>
        </p:nvSpPr>
        <p:spPr>
          <a:xfrm>
            <a:off x="548640" y="3035808"/>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48640" y="3035808"/>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ext 11"/>
          <p:cNvSpPr txBox="1"/>
          <p:nvPr/>
        </p:nvSpPr>
        <p:spPr>
          <a:xfrm>
            <a:off x="1143000" y="2944368"/>
            <a:ext cx="3108960" cy="548640"/>
          </a:xfrm>
          <a:prstGeom prst="rect">
            <a:avLst/>
          </a:prstGeom>
          <a:noFill/>
          <a:ln/>
        </p:spPr>
        <p:txBody>
          <a:bodyPr wrap="square" lIns="0" tIns="0" rIns="0" bIns="0" rtlCol="0" anchor="ctr"/>
          <a:lstStyle/>
          <a:p>
            <a:pPr marL="0" indent="0">
              <a:buNone/>
            </a:pPr>
            <a:r>
              <a:rPr lang="en-US" sz="1500" b="1" dirty="0">
                <a:solidFill>
                  <a:schemeClr val="tx2"/>
                </a:solidFill>
              </a:rPr>
              <a:t>Fixed answer shape</a:t>
            </a:r>
            <a:endParaRPr lang="en-US" sz="1500" dirty="0"/>
          </a:p>
        </p:txBody>
      </p:sp>
      <p:sp>
        <p:nvSpPr>
          <p:cNvPr id="15" name="Text 12"/>
          <p:cNvSpPr txBox="1"/>
          <p:nvPr/>
        </p:nvSpPr>
        <p:spPr>
          <a:xfrm>
            <a:off x="4023360" y="2962656"/>
            <a:ext cx="7589520" cy="822960"/>
          </a:xfrm>
          <a:prstGeom prst="rect">
            <a:avLst/>
          </a:prstGeom>
          <a:noFill/>
          <a:ln/>
        </p:spPr>
        <p:txBody>
          <a:bodyPr wrap="square" lIns="0" tIns="0" rIns="0" bIns="0" rtlCol="0" anchor="ctr"/>
          <a:lstStyle/>
          <a:p>
            <a:pPr marL="0" indent="0">
              <a:buNone/>
            </a:pPr>
            <a:r>
              <a:rPr lang="en-US" sz="1250" dirty="0">
                <a:solidFill>
                  <a:schemeClr val="tx1"/>
                </a:solidFill>
              </a:rPr>
              <a:t>Claims, each with a verbatim quote and the item it came from; a report on every watch-out by id; a tilt bounded to ±10 basis points. Enforced by the runtime.</a:t>
            </a:r>
            <a:endParaRPr lang="en-US" sz="1250" dirty="0"/>
          </a:p>
        </p:txBody>
      </p:sp>
      <p:sp>
        <p:nvSpPr>
          <p:cNvPr id="16" name="Shape 13"/>
          <p:cNvSpPr/>
          <p:nvPr/>
        </p:nvSpPr>
        <p:spPr>
          <a:xfrm>
            <a:off x="548640" y="3822192"/>
            <a:ext cx="384048" cy="384048"/>
          </a:xfrm>
          <a:prstGeom prst="ellipse">
            <a:avLst/>
          </a:prstGeom>
          <a:solidFill>
            <a:srgbClr val="1E2761"/>
          </a:solidFill>
          <a:ln w="12700">
            <a:solidFill>
              <a:srgbClr val="1E2761"/>
            </a:solidFill>
            <a:prstDash val="solid"/>
          </a:ln>
        </p:spPr>
      </p:sp>
      <p:sp>
        <p:nvSpPr>
          <p:cNvPr id="17" name="Text 14"/>
          <p:cNvSpPr txBox="1"/>
          <p:nvPr/>
        </p:nvSpPr>
        <p:spPr>
          <a:xfrm>
            <a:off x="548640" y="382219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8" name="Text 15"/>
          <p:cNvSpPr txBox="1"/>
          <p:nvPr/>
        </p:nvSpPr>
        <p:spPr>
          <a:xfrm>
            <a:off x="1143000" y="3730752"/>
            <a:ext cx="3108960" cy="548640"/>
          </a:xfrm>
          <a:prstGeom prst="rect">
            <a:avLst/>
          </a:prstGeom>
          <a:noFill/>
          <a:ln/>
        </p:spPr>
        <p:txBody>
          <a:bodyPr wrap="square" lIns="0" tIns="0" rIns="0" bIns="0" rtlCol="0" anchor="ctr"/>
          <a:lstStyle/>
          <a:p>
            <a:pPr marL="0" indent="0">
              <a:buNone/>
            </a:pPr>
            <a:r>
              <a:rPr lang="en-US" sz="1500" b="1" dirty="0">
                <a:solidFill>
                  <a:schemeClr val="tx2"/>
                </a:solidFill>
              </a:rPr>
              <a:t>Code verifies</a:t>
            </a:r>
            <a:endParaRPr lang="en-US" sz="1500" dirty="0"/>
          </a:p>
        </p:txBody>
      </p:sp>
      <p:sp>
        <p:nvSpPr>
          <p:cNvPr id="19" name="Text 16"/>
          <p:cNvSpPr txBox="1"/>
          <p:nvPr/>
        </p:nvSpPr>
        <p:spPr>
          <a:xfrm>
            <a:off x="4023360" y="3749040"/>
            <a:ext cx="7589520" cy="822960"/>
          </a:xfrm>
          <a:prstGeom prst="rect">
            <a:avLst/>
          </a:prstGeom>
          <a:noFill/>
          <a:ln/>
        </p:spPr>
        <p:txBody>
          <a:bodyPr wrap="square" lIns="0" tIns="0" rIns="0" bIns="0" rtlCol="0" anchor="ctr"/>
          <a:lstStyle/>
          <a:p>
            <a:pPr marL="0" indent="0">
              <a:buNone/>
            </a:pPr>
            <a:r>
              <a:rPr lang="en-US" sz="1250" dirty="0">
                <a:solidFill>
                  <a:schemeClr val="tx1"/>
                </a:solidFill>
              </a:rPr>
              <a:t>Every quote is string-matched to its item. Every number is matched to the snapshot. Every watch-out must be answered. Failures are counted, never hidden.</a:t>
            </a:r>
            <a:endParaRPr lang="en-US" sz="1250" dirty="0"/>
          </a:p>
        </p:txBody>
      </p:sp>
      <p:sp>
        <p:nvSpPr>
          <p:cNvPr id="20" name="Shape 17"/>
          <p:cNvSpPr/>
          <p:nvPr/>
        </p:nvSpPr>
        <p:spPr>
          <a:xfrm>
            <a:off x="548640" y="4608576"/>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48640" y="4608576"/>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2" name="Text 19"/>
          <p:cNvSpPr txBox="1"/>
          <p:nvPr/>
        </p:nvSpPr>
        <p:spPr>
          <a:xfrm>
            <a:off x="1143000" y="4517136"/>
            <a:ext cx="3108960" cy="548640"/>
          </a:xfrm>
          <a:prstGeom prst="rect">
            <a:avLst/>
          </a:prstGeom>
          <a:noFill/>
          <a:ln/>
        </p:spPr>
        <p:txBody>
          <a:bodyPr wrap="square" lIns="0" tIns="0" rIns="0" bIns="0" rtlCol="0" anchor="ctr"/>
          <a:lstStyle/>
          <a:p>
            <a:pPr marL="0" indent="0">
              <a:buNone/>
            </a:pPr>
            <a:r>
              <a:rPr lang="en-US" sz="1500" b="1" dirty="0">
                <a:solidFill>
                  <a:schemeClr val="tx2"/>
                </a:solidFill>
              </a:rPr>
              <a:t>Recorded and repeated</a:t>
            </a:r>
            <a:endParaRPr lang="en-US" sz="1500" dirty="0"/>
          </a:p>
        </p:txBody>
      </p:sp>
      <p:sp>
        <p:nvSpPr>
          <p:cNvPr id="23" name="Text 20"/>
          <p:cNvSpPr txBox="1"/>
          <p:nvPr/>
        </p:nvSpPr>
        <p:spPr>
          <a:xfrm>
            <a:off x="4023360" y="4535424"/>
            <a:ext cx="7589520" cy="822960"/>
          </a:xfrm>
          <a:prstGeom prst="rect">
            <a:avLst/>
          </a:prstGeom>
          <a:noFill/>
          <a:ln/>
        </p:spPr>
        <p:txBody>
          <a:bodyPr wrap="square" lIns="0" tIns="0" rIns="0" bIns="0" rtlCol="0" anchor="ctr"/>
          <a:lstStyle/>
          <a:p>
            <a:pPr marL="0" indent="0">
              <a:buNone/>
            </a:pPr>
            <a:r>
              <a:rPr lang="en-US" sz="1250" dirty="0">
                <a:solidFill>
                  <a:schemeClr val="tx1"/>
                </a:solidFill>
              </a:rPr>
              <a:t>Five identical runs per analyst per snapshot, each stored with its prompt hash. Repeatability is measured, and a recorded run replays for free.</a:t>
            </a:r>
            <a:endParaRPr lang="en-US" sz="1250" dirty="0"/>
          </a:p>
        </p:txBody>
      </p:sp>
      <p:sp>
        <p:nvSpPr>
          <p:cNvPr id="24" name="Shape 21"/>
          <p:cNvSpPr/>
          <p:nvPr/>
        </p:nvSpPr>
        <p:spPr>
          <a:xfrm>
            <a:off x="548640" y="5394960"/>
            <a:ext cx="384048" cy="384048"/>
          </a:xfrm>
          <a:prstGeom prst="ellipse">
            <a:avLst/>
          </a:prstGeom>
          <a:solidFill>
            <a:srgbClr val="1E2761"/>
          </a:solidFill>
          <a:ln w="12700">
            <a:solidFill>
              <a:srgbClr val="1E2761"/>
            </a:solidFill>
            <a:prstDash val="solid"/>
          </a:ln>
        </p:spPr>
      </p:sp>
      <p:sp>
        <p:nvSpPr>
          <p:cNvPr id="25" name="Text 22"/>
          <p:cNvSpPr txBox="1"/>
          <p:nvPr/>
        </p:nvSpPr>
        <p:spPr>
          <a:xfrm>
            <a:off x="548640" y="539496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26" name="Text 23"/>
          <p:cNvSpPr txBox="1"/>
          <p:nvPr/>
        </p:nvSpPr>
        <p:spPr>
          <a:xfrm>
            <a:off x="1143000" y="5303520"/>
            <a:ext cx="3108960" cy="548640"/>
          </a:xfrm>
          <a:prstGeom prst="rect">
            <a:avLst/>
          </a:prstGeom>
          <a:noFill/>
          <a:ln/>
        </p:spPr>
        <p:txBody>
          <a:bodyPr wrap="square" lIns="0" tIns="0" rIns="0" bIns="0" rtlCol="0" anchor="ctr"/>
          <a:lstStyle/>
          <a:p>
            <a:pPr marL="0" indent="0">
              <a:buNone/>
            </a:pPr>
            <a:r>
              <a:rPr lang="en-US" sz="1500" b="1" dirty="0">
                <a:solidFill>
                  <a:schemeClr val="tx2"/>
                </a:solidFill>
              </a:rPr>
              <a:t>One repair round</a:t>
            </a:r>
            <a:endParaRPr lang="en-US" sz="1500" dirty="0"/>
          </a:p>
        </p:txBody>
      </p:sp>
      <p:sp>
        <p:nvSpPr>
          <p:cNvPr id="27" name="Text 24"/>
          <p:cNvSpPr txBox="1"/>
          <p:nvPr/>
        </p:nvSpPr>
        <p:spPr>
          <a:xfrm>
            <a:off x="4023360" y="5321808"/>
            <a:ext cx="7589520" cy="822960"/>
          </a:xfrm>
          <a:prstGeom prst="rect">
            <a:avLst/>
          </a:prstGeom>
          <a:noFill/>
          <a:ln/>
        </p:spPr>
        <p:txBody>
          <a:bodyPr wrap="square" lIns="0" tIns="0" rIns="0" bIns="0" rtlCol="0" anchor="ctr"/>
          <a:lstStyle/>
          <a:p>
            <a:pPr marL="0" indent="0">
              <a:buNone/>
            </a:pPr>
            <a:r>
              <a:rPr lang="en-US" sz="1250" dirty="0">
                <a:solidFill>
                  <a:schemeClr val="tx1"/>
                </a:solidFill>
              </a:rPr>
              <a:t>If a quote is not found or a number is not in the evidence, the answer goes back once with the verifier's report: fix the quote verbatim, drop the number, or drop the claim. Both answers are kept; the repaired one counts. No second round.</a:t>
            </a:r>
            <a:endParaRPr lang="en-US" sz="12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6: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a:t>
            </a:r>
            <a:endParaRPr lang="en-US" sz="1300" dirty="0"/>
          </a:p>
          <a:p>
            <a:pPr marL="342900" indent="-342900">
              <a:spcAft>
                <a:spcPts val="800"/>
              </a:spcAft>
              <a:buSzPct val="100000"/>
              <a:buChar char="•"/>
            </a:pPr>
            <a:r>
              <a:rPr lang="en-US" sz="1300" dirty="0">
                <a:solidFill>
                  <a:srgbClr val="FFFFFF"/>
                </a:solidFill>
              </a:rPr>
              <a:t>Analyst 6: the system prompt, the enforced answer schema, the inflation pre-read, the item ids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If it is not on this page, the analyst does not get it.</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6 is this page.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ladder, four snapshots, five runs each</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3017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39112">
                  <a:extLst>
                    <a:ext uri="{9D8B030D-6E8A-4147-A177-3AD203B41FA5}">
                      <a16:colId xmlns:a16="http://schemas.microsoft.com/office/drawing/2014/main" val="20004"/>
                    </a:ext>
                  </a:extLst>
                </a:gridCol>
              </a:tblGrid>
              <a:tr h="777240">
                <a:tc>
                  <a:txBody>
                    <a:bodyPr/>
                    <a:lstStyle/>
                    <a:p>
                      <a:pPr marL="0" indent="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1: the question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2: +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3: + answer shape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Analysts 4-8: + one slice each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77240">
                <a:tc>
                  <a:txBody>
                    <a:bodyPr/>
                    <a:lstStyle/>
                    <a:p>
                      <a:pPr marL="0" indent="0">
                        <a:buNone/>
                      </a:pPr>
                      <a:r>
                        <a:rPr lang="en-US" sz="1150" dirty="0">
                          <a:solidFill>
                            <a:srgbClr val="1B1F2A"/>
                          </a:solidFill>
                        </a:rPr>
                        <a:t>S1 Repeatability (≤ 2 pp)</a:t>
                      </a:r>
                      <a:endParaRPr lang="en-US" sz="1150" dirty="0"/>
                    </a:p>
                    <a:p>
                      <a:pPr marL="0" indent="0">
                        <a:buNone/>
                      </a:pPr>
                      <a:r>
                        <a:rPr lang="en-US" sz="1150" dirty="0">
                          <a:solidFill>
                            <a:srgbClr val="1B1F2A"/>
                          </a:solidFill>
                        </a:rPr>
                        <a:t>max move of any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3.4 / 4.5 / 4.9 / 4.1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3.3 / 2.3 / 4.8 / 3.4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0.6 / 0.5 / 0.5 / 0.8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0.5 / 0.8 / 1.2 / 0.8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150" dirty="0">
                          <a:solidFill>
                            <a:srgbClr val="1B1F2A"/>
                          </a:solidFill>
                        </a:rPr>
                        <a:t>S2 Groundedness (≥ 95%)</a:t>
                      </a:r>
                      <a:endParaRPr lang="en-US" sz="1150" dirty="0"/>
                    </a:p>
                    <a:p>
                      <a:pPr marL="0" indent="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100 / 100 / 99%,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97 / 100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50" dirty="0">
                          <a:solidFill>
                            <a:srgbClr val="1B1F2A"/>
                          </a:solidFill>
                        </a:rPr>
                        <a:t>S3 Leakage (exactly 0)</a:t>
                      </a:r>
                      <a:endParaRPr lang="en-US" sz="1150" dirty="0"/>
                    </a:p>
                    <a:p>
                      <a:pPr marL="0" indent="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36 / 36 / 39 / 38,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Cut 25 bps at 57 to 67%: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+25 bps at 50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+7.0 / +6.6 / +6.4 / +5.8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+4.4 / +4.1 / +4.4 / +4.0 bp hawkish; labour 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marL="0" indent="0">
              <a:buNone/>
            </a:pPr>
            <a:r>
              <a:rPr lang="en-US" sz="1050" dirty="0">
                <a:solidFill>
                  <a:schemeClr val="accent4"/>
                </a:solidFill>
              </a:rPr>
              <a:t>Snapshots of 15, 24, 26 and 28 October 2026. Analysts 3 to 8 report S1 in basis points of tilt because they output a lean,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How good is the harness: what each step bought</a:t>
            </a:r>
            <a:endParaRPr lang="en-US" sz="3200" dirty="0"/>
          </a:p>
        </p:txBody>
      </p:sp>
      <p:sp>
        <p:nvSpPr>
          <p:cNvPr id="4" name="Text 1"/>
          <p:cNvSpPr txBox="1"/>
          <p:nvPr/>
        </p:nvSpPr>
        <p:spPr>
          <a:xfrm>
            <a:off x="548640"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S1: wobble between identical runs (pp)</a:t>
            </a:r>
            <a:endParaRPr lang="en-US" sz="1300" dirty="0"/>
          </a:p>
        </p:txBody>
      </p:sp>
      <p:graphicFrame>
        <p:nvGraphicFramePr>
          <p:cNvPr id="5" name="Chart 0"/>
          <p:cNvGraphicFramePr/>
          <p:nvPr/>
        </p:nvGraphicFramePr>
        <p:xfrm>
          <a:off x="548640" y="1691640"/>
          <a:ext cx="3544824"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548640"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Largest standard deviation across five runs, mean of four snapshots. Pass mark 2 pp. Analysts 3 to 8: standard deviation of the lean, 1 bp = 1 pp.</a:t>
            </a:r>
            <a:endParaRPr lang="en-US" sz="950" dirty="0"/>
          </a:p>
        </p:txBody>
      </p:sp>
      <p:sp>
        <p:nvSpPr>
          <p:cNvPr id="7" name="Text 3"/>
          <p:cNvSpPr txBox="1"/>
          <p:nvPr/>
        </p:nvSpPr>
        <p:spPr>
          <a:xfrm>
            <a:off x="4322064"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S3: numbers from memory (count)</a:t>
            </a:r>
            <a:endParaRPr lang="en-US" sz="1300" dirty="0"/>
          </a:p>
        </p:txBody>
      </p:sp>
      <p:graphicFrame>
        <p:nvGraphicFramePr>
          <p:cNvPr id="8" name="Chart 1"/>
          <p:cNvGraphicFramePr/>
          <p:nvPr/>
        </p:nvGraphicFramePr>
        <p:xfrm>
          <a:off x="4322064" y="1691640"/>
          <a:ext cx="3544824"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 4"/>
          <p:cNvSpPr txBox="1"/>
          <p:nvPr/>
        </p:nvSpPr>
        <p:spPr>
          <a:xfrm>
            <a:off x="4322064"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Numbers in the answer that exist nowhere in the frozen evidence, summed over five runs. Pass mark: exactly 0.</a:t>
            </a:r>
            <a:endParaRPr lang="en-US" sz="950" dirty="0"/>
          </a:p>
        </p:txBody>
      </p:sp>
      <p:sp>
        <p:nvSpPr>
          <p:cNvPr id="10" name="Text 5"/>
          <p:cNvSpPr txBox="1"/>
          <p:nvPr/>
        </p:nvSpPr>
        <p:spPr>
          <a:xfrm>
            <a:off x="8095488"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S2: claims with a verbatim quote (%)</a:t>
            </a:r>
            <a:endParaRPr lang="en-US" sz="1300" dirty="0"/>
          </a:p>
        </p:txBody>
      </p:sp>
      <p:graphicFrame>
        <p:nvGraphicFramePr>
          <p:cNvPr id="11" name="Chart 2"/>
          <p:cNvGraphicFramePr/>
          <p:nvPr/>
        </p:nvGraphicFramePr>
        <p:xfrm>
          <a:off x="8095488" y="1691640"/>
          <a:ext cx="3544824" cy="356616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6"/>
          <p:cNvSpPr txBox="1"/>
          <p:nvPr/>
        </p:nvSpPr>
        <p:spPr>
          <a:xfrm>
            <a:off x="8095488"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Share of claims whose quote code found character for character in the item named. Pass mark 95%. Analyst 2 is not shown: it quotes nothing, so it cannot be measured.</a:t>
            </a:r>
            <a:endParaRPr lang="en-US" sz="950" dirty="0"/>
          </a:p>
        </p:txBody>
      </p:sp>
      <p:sp>
        <p:nvSpPr>
          <p:cNvPr id="13" name="Text 7"/>
          <p:cNvSpPr txBox="1"/>
          <p:nvPr/>
        </p:nvSpPr>
        <p:spPr>
          <a:xfrm>
            <a:off x="548640" y="5989320"/>
            <a:ext cx="11091672" cy="411480"/>
          </a:xfrm>
          <a:prstGeom prst="rect">
            <a:avLst/>
          </a:prstGeom>
          <a:noFill/>
          <a:ln/>
        </p:spPr>
        <p:txBody>
          <a:bodyPr wrap="square" lIns="0" tIns="0" rIns="0" bIns="0" rtlCol="0" anchor="t"/>
          <a:lstStyle/>
          <a:p>
            <a:pPr marL="0" indent="0">
              <a:buNone/>
            </a:pPr>
            <a:r>
              <a:rPr lang="en-US" sz="1150" i="1" dirty="0">
                <a:solidFill>
                  <a:schemeClr val="accent2"/>
                </a:solidFill>
              </a:rPr>
              <a:t>The step from analyst 2 to analyst 3 is the harness: a fixed answer shape with a quote per claim, checked by code. It is the step that makes the model repeatable and checkable. Specialists keep both and add attribution.</a:t>
            </a:r>
            <a:endParaRPr lang="en-US" sz="11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the specialists said on 26 October</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502920">
                <a:tc>
                  <a:txBody>
                    <a:bodyPr/>
                    <a:lstStyle/>
                    <a:p>
                      <a:pPr marL="0" indent="0">
                        <a:buNone/>
                      </a:pPr>
                      <a:r>
                        <a:rPr lang="en-US" sz="1150" b="1" dirty="0">
                          <a:solidFill>
                            <a:srgbClr val="FFFFFF"/>
                          </a:solidFill>
                        </a:rPr>
                        <a:t>Analyst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50" b="1" dirty="0">
                          <a:solidFill>
                            <a:srgbClr val="FFFFFF"/>
                          </a:solidFill>
                        </a:rPr>
                        <a:t>Reads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Lean (5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Verified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502920">
                <a:tc>
                  <a:txBody>
                    <a:bodyPr/>
                    <a:lstStyle/>
                    <a:p>
                      <a:pPr marL="0" indent="0">
                        <a:buNone/>
                      </a:pPr>
                      <a:r>
                        <a:rPr lang="en-US" sz="1150" dirty="0">
                          <a:solidFill>
                            <a:srgbClr val="1B1F2A"/>
                          </a:solidFill>
                        </a:rPr>
                        <a:t>4 Communications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Both statements, minutes, transcript, speeches, tone pre-read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+6.0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buNone/>
                      </a:pPr>
                      <a:r>
                        <a:rPr lang="en-US" sz="1150" dirty="0">
                          <a:solidFill>
                            <a:srgbClr val="1B1F2A"/>
                          </a:solidFill>
                        </a:rPr>
                        <a:t>5 Minutes digest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The minutes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+6.6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150" dirty="0">
                          <a:solidFill>
                            <a:srgbClr val="1B1F2A"/>
                          </a:solidFill>
                        </a:rPr>
                        <a:t>6 Inflation</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Inflation pre-read, projections,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+6.4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150" dirty="0">
                          <a:solidFill>
                            <a:srgbClr val="1B1F2A"/>
                          </a:solidFill>
                        </a:rPr>
                        <a:t>7 Labour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Labour pre-read, projections,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−0.4 bp, neutral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502920">
                <a:tc>
                  <a:txBody>
                    <a:bodyPr/>
                    <a:lstStyle/>
                    <a:p>
                      <a:pPr marL="0" indent="0">
                        <a:buNone/>
                      </a:pPr>
                      <a:r>
                        <a:rPr lang="en-US" sz="1150" dirty="0">
                          <a:solidFill>
                            <a:srgbClr val="1B1F2A"/>
                          </a:solidFill>
                        </a:rPr>
                        <a:t>8 Financial conditions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150" dirty="0">
                          <a:solidFill>
                            <a:srgbClr val="1B1F2A"/>
                          </a:solidFill>
                        </a:rPr>
                        <a:t>Financial pre-read, base rates,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+3.4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Shape 1"/>
          <p:cNvSpPr/>
          <p:nvPr/>
        </p:nvSpPr>
        <p:spPr>
          <a:xfrm>
            <a:off x="7680960" y="1417320"/>
            <a:ext cx="3959352" cy="3429000"/>
          </a:xfrm>
          <a:prstGeom prst="roundRect">
            <a:avLst>
              <a:gd name="adj" fmla="val 320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6" name="Text 2"/>
          <p:cNvSpPr txBox="1"/>
          <p:nvPr/>
        </p:nvSpPr>
        <p:spPr>
          <a:xfrm>
            <a:off x="7955280" y="1600200"/>
            <a:ext cx="3474720" cy="365760"/>
          </a:xfrm>
          <a:prstGeom prst="rect">
            <a:avLst/>
          </a:prstGeom>
          <a:noFill/>
          <a:ln/>
        </p:spPr>
        <p:txBody>
          <a:bodyPr wrap="square" lIns="0" tIns="0" rIns="0" bIns="0" rtlCol="0" anchor="t"/>
          <a:lstStyle/>
          <a:p>
            <a:pPr marL="0" indent="0">
              <a:buNone/>
            </a:pPr>
            <a:r>
              <a:rPr lang="en-US" sz="1400" b="1" dirty="0">
                <a:solidFill>
                  <a:schemeClr val="tx2"/>
                </a:solidFill>
              </a:rPr>
              <a:t>One claim, as recorded</a:t>
            </a:r>
            <a:endParaRPr lang="en-US" sz="1400" dirty="0"/>
          </a:p>
        </p:txBody>
      </p:sp>
      <p:sp>
        <p:nvSpPr>
          <p:cNvPr id="7" name="Text 3"/>
          <p:cNvSpPr txBox="1"/>
          <p:nvPr/>
        </p:nvSpPr>
        <p:spPr>
          <a:xfrm>
            <a:off x="7955280" y="2011680"/>
            <a:ext cx="3474720" cy="1005840"/>
          </a:xfrm>
          <a:prstGeom prst="rect">
            <a:avLst/>
          </a:prstGeom>
          <a:noFill/>
          <a:ln/>
        </p:spPr>
        <p:txBody>
          <a:bodyPr wrap="square" lIns="0" tIns="0" rIns="0" bIns="0" rtlCol="0" anchor="t"/>
          <a:lstStyle/>
          <a:p>
            <a:pPr marL="0" indent="0">
              <a:buNone/>
            </a:pPr>
            <a:r>
              <a:rPr lang="en-US" sz="1200" dirty="0">
                <a:solidFill>
                  <a:schemeClr val="tx1"/>
                </a:solidFill>
              </a:rPr>
              <a:t>Communications analyst: the deterministic tone read scores the most recent policy communication as fully hawkish, with a unanimous hike vote and no dovish lexicon hits.</a:t>
            </a:r>
            <a:endParaRPr lang="en-US" sz="1200" dirty="0"/>
          </a:p>
        </p:txBody>
      </p:sp>
      <p:sp>
        <p:nvSpPr>
          <p:cNvPr id="8" name="Text 4"/>
          <p:cNvSpPr txBox="1"/>
          <p:nvPr/>
        </p:nvSpPr>
        <p:spPr>
          <a:xfrm>
            <a:off x="7955280" y="3017520"/>
            <a:ext cx="3474720" cy="502920"/>
          </a:xfrm>
          <a:prstGeom prst="rect">
            <a:avLst/>
          </a:prstGeom>
          <a:noFill/>
          <a:ln/>
        </p:spPr>
        <p:txBody>
          <a:bodyPr wrap="square" lIns="0" tIns="0" rIns="0" bIns="0" rtlCol="0" anchor="t"/>
          <a:lstStyle/>
          <a:p>
            <a:pPr marL="0" indent="0">
              <a:buNone/>
            </a:pPr>
            <a:r>
              <a:rPr lang="en-US" sz="1100" dirty="0">
                <a:solidFill>
                  <a:schemeClr val="accent4"/>
                </a:solidFill>
                <a:latin typeface="Courier New" pitchFamily="34" charset="0"/>
                <a:ea typeface="Courier New" pitchFamily="34" charset="-122"/>
                <a:cs typeface="Courier New" pitchFamily="34" charset="-120"/>
              </a:rPr>
              <a:t>Quote: "score": 1.0   Item: signal.tone   Verified by code</a:t>
            </a:r>
            <a:endParaRPr lang="en-US" sz="1100" dirty="0"/>
          </a:p>
        </p:txBody>
      </p:sp>
      <p:sp>
        <p:nvSpPr>
          <p:cNvPr id="9" name="Text 5"/>
          <p:cNvSpPr txBox="1"/>
          <p:nvPr/>
        </p:nvSpPr>
        <p:spPr>
          <a:xfrm>
            <a:off x="7955280" y="3566160"/>
            <a:ext cx="3474720" cy="1188720"/>
          </a:xfrm>
          <a:prstGeom prst="rect">
            <a:avLst/>
          </a:prstGeom>
          <a:noFill/>
          <a:ln/>
        </p:spPr>
        <p:txBody>
          <a:bodyPr wrap="square" lIns="0" tIns="0" rIns="0" bIns="0" rtlCol="0" anchor="t"/>
          <a:lstStyle/>
          <a:p>
            <a:pPr marL="0" indent="0">
              <a:buNone/>
            </a:pPr>
            <a:r>
              <a:rPr lang="en-US" sz="1100" dirty="0">
                <a:solidFill>
                  <a:schemeClr val="tx1"/>
                </a:solidFill>
              </a:rPr>
              <a:t>The pre-read is our arithmetic over the two statements: 12 votes for, none against, eight hawkish words, no dovish ones. The analyst quoted it and code found the quote.</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57%, numbers from memory flagged</a:t>
            </a:r>
            <a:endParaRPr lang="en-US" sz="1300" dirty="0"/>
          </a:p>
          <a:p>
            <a:pPr marL="342900" indent="-342900">
              <a:spcAft>
                <a:spcPts val="800"/>
              </a:spcAft>
              <a:buSzPct val="100000"/>
              <a:buChar char="•"/>
            </a:pPr>
            <a:r>
              <a:rPr lang="en-US" sz="1300" dirty="0">
                <a:solidFill>
                  <a:srgbClr val="FFFFFF"/>
                </a:solidFill>
              </a:rPr>
              <a:t>Analyst 4: the lean, grounded, leaked, watch-outs badges; one claim with its quote and the 'quote verified' mark</a:t>
            </a:r>
            <a:endParaRPr lang="en-US" sz="1300" dirty="0"/>
          </a:p>
          <a:p>
            <a:pPr marL="342900" indent="-342900">
              <a:spcAft>
                <a:spcPts val="800"/>
              </a:spcAft>
              <a:buSzPct val="100000"/>
              <a:buChar char="•"/>
            </a:pPr>
            <a:r>
              <a:rPr lang="en-US" sz="1300" dirty="0">
                <a:solidFill>
                  <a:srgbClr val="FFFFFF"/>
                </a:solidFill>
              </a:rPr>
              <a:t>Hover a badge for its definition</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scorecard: eight of ten dimensions measured by code</a:t>
            </a:r>
            <a:endParaRPr lang="en-US" sz="3200" dirty="0"/>
          </a:p>
        </p:txBody>
      </p:sp>
      <p:sp>
        <p:nvSpPr>
          <p:cNvPr id="4" name="Shape 1"/>
          <p:cNvSpPr/>
          <p:nvPr/>
        </p:nvSpPr>
        <p:spPr>
          <a:xfrm>
            <a:off x="548640" y="1463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Shape 2"/>
          <p:cNvSpPr/>
          <p:nvPr/>
        </p:nvSpPr>
        <p:spPr>
          <a:xfrm>
            <a:off x="685800" y="1737360"/>
            <a:ext cx="384048" cy="384048"/>
          </a:xfrm>
          <a:prstGeom prst="ellipse">
            <a:avLst/>
          </a:prstGeom>
          <a:solidFill>
            <a:srgbClr val="2C6E49"/>
          </a:solidFill>
          <a:ln w="12700">
            <a:solidFill>
              <a:srgbClr val="2C6E49"/>
            </a:solidFill>
            <a:prstDash val="solid"/>
          </a:ln>
        </p:spPr>
      </p:sp>
      <p:sp>
        <p:nvSpPr>
          <p:cNvPr id="6" name="Text 3"/>
          <p:cNvSpPr txBox="1"/>
          <p:nvPr/>
        </p:nvSpPr>
        <p:spPr>
          <a:xfrm>
            <a:off x="685800" y="1737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S1</a:t>
            </a:r>
            <a:endParaRPr lang="en-US" sz="1000" dirty="0"/>
          </a:p>
        </p:txBody>
      </p:sp>
      <p:sp>
        <p:nvSpPr>
          <p:cNvPr id="7" name="Text 4"/>
          <p:cNvSpPr txBox="1"/>
          <p:nvPr/>
        </p:nvSpPr>
        <p:spPr>
          <a:xfrm>
            <a:off x="1170432" y="1572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Repeatability</a:t>
            </a:r>
            <a:endParaRPr lang="en-US" sz="1200" dirty="0"/>
          </a:p>
        </p:txBody>
      </p:sp>
      <p:sp>
        <p:nvSpPr>
          <p:cNvPr id="8" name="Text 5"/>
          <p:cNvSpPr txBox="1"/>
          <p:nvPr/>
        </p:nvSpPr>
        <p:spPr>
          <a:xfrm>
            <a:off x="1170432" y="1965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9" name="Shape 6"/>
          <p:cNvSpPr/>
          <p:nvPr/>
        </p:nvSpPr>
        <p:spPr>
          <a:xfrm>
            <a:off x="2788920" y="1463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0" name="Shape 7"/>
          <p:cNvSpPr/>
          <p:nvPr/>
        </p:nvSpPr>
        <p:spPr>
          <a:xfrm>
            <a:off x="2926080" y="1737360"/>
            <a:ext cx="384048" cy="384048"/>
          </a:xfrm>
          <a:prstGeom prst="ellipse">
            <a:avLst/>
          </a:prstGeom>
          <a:solidFill>
            <a:srgbClr val="2C6E49"/>
          </a:solidFill>
          <a:ln w="12700">
            <a:solidFill>
              <a:srgbClr val="2C6E49"/>
            </a:solidFill>
            <a:prstDash val="solid"/>
          </a:ln>
        </p:spPr>
      </p:sp>
      <p:sp>
        <p:nvSpPr>
          <p:cNvPr id="11" name="Text 8"/>
          <p:cNvSpPr txBox="1"/>
          <p:nvPr/>
        </p:nvSpPr>
        <p:spPr>
          <a:xfrm>
            <a:off x="2926080" y="1737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S2</a:t>
            </a:r>
            <a:endParaRPr lang="en-US" sz="1000" dirty="0"/>
          </a:p>
        </p:txBody>
      </p:sp>
      <p:sp>
        <p:nvSpPr>
          <p:cNvPr id="12" name="Text 9"/>
          <p:cNvSpPr txBox="1"/>
          <p:nvPr/>
        </p:nvSpPr>
        <p:spPr>
          <a:xfrm>
            <a:off x="3410712" y="1572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Groundedness</a:t>
            </a:r>
            <a:endParaRPr lang="en-US" sz="1200" dirty="0"/>
          </a:p>
        </p:txBody>
      </p:sp>
      <p:sp>
        <p:nvSpPr>
          <p:cNvPr id="13" name="Text 10"/>
          <p:cNvSpPr txBox="1"/>
          <p:nvPr/>
        </p:nvSpPr>
        <p:spPr>
          <a:xfrm>
            <a:off x="3410712" y="1965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14" name="Shape 11"/>
          <p:cNvSpPr/>
          <p:nvPr/>
        </p:nvSpPr>
        <p:spPr>
          <a:xfrm>
            <a:off x="5029200" y="1463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5" name="Shape 12"/>
          <p:cNvSpPr/>
          <p:nvPr/>
        </p:nvSpPr>
        <p:spPr>
          <a:xfrm>
            <a:off x="5166360" y="1737360"/>
            <a:ext cx="384048" cy="384048"/>
          </a:xfrm>
          <a:prstGeom prst="ellipse">
            <a:avLst/>
          </a:prstGeom>
          <a:solidFill>
            <a:srgbClr val="2C6E49"/>
          </a:solidFill>
          <a:ln w="12700">
            <a:solidFill>
              <a:srgbClr val="2C6E49"/>
            </a:solidFill>
            <a:prstDash val="solid"/>
          </a:ln>
        </p:spPr>
      </p:sp>
      <p:sp>
        <p:nvSpPr>
          <p:cNvPr id="16" name="Text 13"/>
          <p:cNvSpPr txBox="1"/>
          <p:nvPr/>
        </p:nvSpPr>
        <p:spPr>
          <a:xfrm>
            <a:off x="5166360" y="1737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S3</a:t>
            </a:r>
            <a:endParaRPr lang="en-US" sz="1000" dirty="0"/>
          </a:p>
        </p:txBody>
      </p:sp>
      <p:sp>
        <p:nvSpPr>
          <p:cNvPr id="17" name="Text 14"/>
          <p:cNvSpPr txBox="1"/>
          <p:nvPr/>
        </p:nvSpPr>
        <p:spPr>
          <a:xfrm>
            <a:off x="5650992" y="1572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Leakage</a:t>
            </a:r>
            <a:endParaRPr lang="en-US" sz="1200" dirty="0"/>
          </a:p>
        </p:txBody>
      </p:sp>
      <p:sp>
        <p:nvSpPr>
          <p:cNvPr id="18" name="Text 15"/>
          <p:cNvSpPr txBox="1"/>
          <p:nvPr/>
        </p:nvSpPr>
        <p:spPr>
          <a:xfrm>
            <a:off x="5650992" y="1965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19" name="Shape 16"/>
          <p:cNvSpPr/>
          <p:nvPr/>
        </p:nvSpPr>
        <p:spPr>
          <a:xfrm>
            <a:off x="7269480" y="1463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20" name="Shape 17"/>
          <p:cNvSpPr/>
          <p:nvPr/>
        </p:nvSpPr>
        <p:spPr>
          <a:xfrm>
            <a:off x="7406640" y="1737360"/>
            <a:ext cx="384048" cy="384048"/>
          </a:xfrm>
          <a:prstGeom prst="ellipse">
            <a:avLst/>
          </a:prstGeom>
          <a:solidFill>
            <a:srgbClr val="2C6E49"/>
          </a:solidFill>
          <a:ln w="12700">
            <a:solidFill>
              <a:srgbClr val="2C6E49"/>
            </a:solidFill>
            <a:prstDash val="solid"/>
          </a:ln>
        </p:spPr>
      </p:sp>
      <p:sp>
        <p:nvSpPr>
          <p:cNvPr id="21" name="Text 18"/>
          <p:cNvSpPr txBox="1"/>
          <p:nvPr/>
        </p:nvSpPr>
        <p:spPr>
          <a:xfrm>
            <a:off x="7406640" y="1737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S4</a:t>
            </a:r>
            <a:endParaRPr lang="en-US" sz="1000" dirty="0"/>
          </a:p>
        </p:txBody>
      </p:sp>
      <p:sp>
        <p:nvSpPr>
          <p:cNvPr id="22" name="Text 19"/>
          <p:cNvSpPr txBox="1"/>
          <p:nvPr/>
        </p:nvSpPr>
        <p:spPr>
          <a:xfrm>
            <a:off x="7891272" y="1572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Directional sanity</a:t>
            </a:r>
            <a:endParaRPr lang="en-US" sz="1200" dirty="0"/>
          </a:p>
        </p:txBody>
      </p:sp>
      <p:sp>
        <p:nvSpPr>
          <p:cNvPr id="23" name="Text 20"/>
          <p:cNvSpPr txBox="1"/>
          <p:nvPr/>
        </p:nvSpPr>
        <p:spPr>
          <a:xfrm>
            <a:off x="7891272" y="1965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24" name="Shape 21"/>
          <p:cNvSpPr/>
          <p:nvPr/>
        </p:nvSpPr>
        <p:spPr>
          <a:xfrm>
            <a:off x="9509760" y="1463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25" name="Shape 22"/>
          <p:cNvSpPr/>
          <p:nvPr/>
        </p:nvSpPr>
        <p:spPr>
          <a:xfrm>
            <a:off x="9646920" y="1737360"/>
            <a:ext cx="384048" cy="384048"/>
          </a:xfrm>
          <a:prstGeom prst="ellipse">
            <a:avLst/>
          </a:prstGeom>
          <a:solidFill>
            <a:srgbClr val="2C6E49"/>
          </a:solidFill>
          <a:ln w="12700">
            <a:solidFill>
              <a:srgbClr val="2C6E49"/>
            </a:solidFill>
            <a:prstDash val="solid"/>
          </a:ln>
        </p:spPr>
      </p:sp>
      <p:sp>
        <p:nvSpPr>
          <p:cNvPr id="26" name="Text 23"/>
          <p:cNvSpPr txBox="1"/>
          <p:nvPr/>
        </p:nvSpPr>
        <p:spPr>
          <a:xfrm>
            <a:off x="9646920" y="1737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S5</a:t>
            </a:r>
            <a:endParaRPr lang="en-US" sz="1000" dirty="0"/>
          </a:p>
        </p:txBody>
      </p:sp>
      <p:sp>
        <p:nvSpPr>
          <p:cNvPr id="27" name="Text 24"/>
          <p:cNvSpPr txBox="1"/>
          <p:nvPr/>
        </p:nvSpPr>
        <p:spPr>
          <a:xfrm>
            <a:off x="10131552" y="1572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Noise invariance</a:t>
            </a:r>
            <a:endParaRPr lang="en-US" sz="1200" dirty="0"/>
          </a:p>
        </p:txBody>
      </p:sp>
      <p:sp>
        <p:nvSpPr>
          <p:cNvPr id="28" name="Text 25"/>
          <p:cNvSpPr txBox="1"/>
          <p:nvPr/>
        </p:nvSpPr>
        <p:spPr>
          <a:xfrm>
            <a:off x="10131552" y="1965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29" name="Shape 26"/>
          <p:cNvSpPr/>
          <p:nvPr/>
        </p:nvSpPr>
        <p:spPr>
          <a:xfrm>
            <a:off x="548640" y="2606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30" name="Shape 27"/>
          <p:cNvSpPr/>
          <p:nvPr/>
        </p:nvSpPr>
        <p:spPr>
          <a:xfrm>
            <a:off x="685800" y="2880360"/>
            <a:ext cx="384048" cy="384048"/>
          </a:xfrm>
          <a:prstGeom prst="ellipse">
            <a:avLst/>
          </a:prstGeom>
          <a:solidFill>
            <a:srgbClr val="E9B44C"/>
          </a:solidFill>
          <a:ln w="12700">
            <a:solidFill>
              <a:srgbClr val="E9B44C"/>
            </a:solidFill>
            <a:prstDash val="solid"/>
          </a:ln>
        </p:spPr>
      </p:sp>
      <p:sp>
        <p:nvSpPr>
          <p:cNvPr id="31" name="Text 28"/>
          <p:cNvSpPr txBox="1"/>
          <p:nvPr/>
        </p:nvSpPr>
        <p:spPr>
          <a:xfrm>
            <a:off x="685800" y="2880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S6</a:t>
            </a:r>
            <a:endParaRPr lang="en-US" sz="1000" dirty="0"/>
          </a:p>
        </p:txBody>
      </p:sp>
      <p:sp>
        <p:nvSpPr>
          <p:cNvPr id="32" name="Text 29"/>
          <p:cNvSpPr txBox="1"/>
          <p:nvPr/>
        </p:nvSpPr>
        <p:spPr>
          <a:xfrm>
            <a:off x="1170432" y="2715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Paraphrase stability</a:t>
            </a:r>
            <a:endParaRPr lang="en-US" sz="1200" dirty="0"/>
          </a:p>
        </p:txBody>
      </p:sp>
      <p:sp>
        <p:nvSpPr>
          <p:cNvPr id="33" name="Text 30"/>
          <p:cNvSpPr txBox="1"/>
          <p:nvPr/>
        </p:nvSpPr>
        <p:spPr>
          <a:xfrm>
            <a:off x="1170432" y="3108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typed inputs only</a:t>
            </a:r>
            <a:endParaRPr lang="en-US" sz="1000" dirty="0"/>
          </a:p>
        </p:txBody>
      </p:sp>
      <p:sp>
        <p:nvSpPr>
          <p:cNvPr id="34" name="Shape 31"/>
          <p:cNvSpPr/>
          <p:nvPr/>
        </p:nvSpPr>
        <p:spPr>
          <a:xfrm>
            <a:off x="2788920" y="2606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35" name="Shape 32"/>
          <p:cNvSpPr/>
          <p:nvPr/>
        </p:nvSpPr>
        <p:spPr>
          <a:xfrm>
            <a:off x="2926080" y="2880360"/>
            <a:ext cx="384048" cy="384048"/>
          </a:xfrm>
          <a:prstGeom prst="ellipse">
            <a:avLst/>
          </a:prstGeom>
          <a:solidFill>
            <a:srgbClr val="2C6E49"/>
          </a:solidFill>
          <a:ln w="12700">
            <a:solidFill>
              <a:srgbClr val="2C6E49"/>
            </a:solidFill>
            <a:prstDash val="solid"/>
          </a:ln>
        </p:spPr>
      </p:sp>
      <p:sp>
        <p:nvSpPr>
          <p:cNvPr id="36" name="Text 33"/>
          <p:cNvSpPr txBox="1"/>
          <p:nvPr/>
        </p:nvSpPr>
        <p:spPr>
          <a:xfrm>
            <a:off x="2926080" y="2880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S7</a:t>
            </a:r>
            <a:endParaRPr lang="en-US" sz="1000" dirty="0"/>
          </a:p>
        </p:txBody>
      </p:sp>
      <p:sp>
        <p:nvSpPr>
          <p:cNvPr id="37" name="Text 34"/>
          <p:cNvSpPr txBox="1"/>
          <p:nvPr/>
        </p:nvSpPr>
        <p:spPr>
          <a:xfrm>
            <a:off x="3410712" y="2715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Coherence</a:t>
            </a:r>
            <a:endParaRPr lang="en-US" sz="1200" dirty="0"/>
          </a:p>
        </p:txBody>
      </p:sp>
      <p:sp>
        <p:nvSpPr>
          <p:cNvPr id="38" name="Text 35"/>
          <p:cNvSpPr txBox="1"/>
          <p:nvPr/>
        </p:nvSpPr>
        <p:spPr>
          <a:xfrm>
            <a:off x="3410712" y="3108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39" name="Shape 36"/>
          <p:cNvSpPr/>
          <p:nvPr/>
        </p:nvSpPr>
        <p:spPr>
          <a:xfrm>
            <a:off x="5029200" y="2606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40" name="Shape 37"/>
          <p:cNvSpPr/>
          <p:nvPr/>
        </p:nvSpPr>
        <p:spPr>
          <a:xfrm>
            <a:off x="5166360" y="2880360"/>
            <a:ext cx="384048" cy="384048"/>
          </a:xfrm>
          <a:prstGeom prst="ellipse">
            <a:avLst/>
          </a:prstGeom>
          <a:solidFill>
            <a:srgbClr val="6B7280"/>
          </a:solidFill>
          <a:ln w="12700">
            <a:solidFill>
              <a:srgbClr val="6B7280"/>
            </a:solidFill>
            <a:prstDash val="solid"/>
          </a:ln>
        </p:spPr>
      </p:sp>
      <p:sp>
        <p:nvSpPr>
          <p:cNvPr id="41" name="Text 38"/>
          <p:cNvSpPr txBox="1"/>
          <p:nvPr/>
        </p:nvSpPr>
        <p:spPr>
          <a:xfrm>
            <a:off x="5166360" y="2880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S8</a:t>
            </a:r>
            <a:endParaRPr lang="en-US" sz="1000" dirty="0"/>
          </a:p>
        </p:txBody>
      </p:sp>
      <p:sp>
        <p:nvSpPr>
          <p:cNvPr id="42" name="Text 39"/>
          <p:cNvSpPr txBox="1"/>
          <p:nvPr/>
        </p:nvSpPr>
        <p:spPr>
          <a:xfrm>
            <a:off x="5650992" y="2715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Reasoning quality</a:t>
            </a:r>
            <a:endParaRPr lang="en-US" sz="1200" dirty="0"/>
          </a:p>
        </p:txBody>
      </p:sp>
      <p:sp>
        <p:nvSpPr>
          <p:cNvPr id="43" name="Text 40"/>
          <p:cNvSpPr txBox="1"/>
          <p:nvPr/>
        </p:nvSpPr>
        <p:spPr>
          <a:xfrm>
            <a:off x="5650992" y="3108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not built: rubric grader</a:t>
            </a:r>
            <a:endParaRPr lang="en-US" sz="1000" dirty="0"/>
          </a:p>
        </p:txBody>
      </p:sp>
      <p:sp>
        <p:nvSpPr>
          <p:cNvPr id="44" name="Shape 41"/>
          <p:cNvSpPr/>
          <p:nvPr/>
        </p:nvSpPr>
        <p:spPr>
          <a:xfrm>
            <a:off x="7269480" y="2606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45" name="Shape 42"/>
          <p:cNvSpPr/>
          <p:nvPr/>
        </p:nvSpPr>
        <p:spPr>
          <a:xfrm>
            <a:off x="7406640" y="2880360"/>
            <a:ext cx="384048" cy="384048"/>
          </a:xfrm>
          <a:prstGeom prst="ellipse">
            <a:avLst/>
          </a:prstGeom>
          <a:solidFill>
            <a:srgbClr val="2C6E49"/>
          </a:solidFill>
          <a:ln w="12700">
            <a:solidFill>
              <a:srgbClr val="2C6E49"/>
            </a:solidFill>
            <a:prstDash val="solid"/>
          </a:ln>
        </p:spPr>
      </p:sp>
      <p:sp>
        <p:nvSpPr>
          <p:cNvPr id="46" name="Text 43"/>
          <p:cNvSpPr txBox="1"/>
          <p:nvPr/>
        </p:nvSpPr>
        <p:spPr>
          <a:xfrm>
            <a:off x="7406640" y="2880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S9</a:t>
            </a:r>
            <a:endParaRPr lang="en-US" sz="1000" dirty="0"/>
          </a:p>
        </p:txBody>
      </p:sp>
      <p:sp>
        <p:nvSpPr>
          <p:cNvPr id="47" name="Text 44"/>
          <p:cNvSpPr txBox="1"/>
          <p:nvPr/>
        </p:nvSpPr>
        <p:spPr>
          <a:xfrm>
            <a:off x="7891272" y="2715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Auditability</a:t>
            </a:r>
            <a:endParaRPr lang="en-US" sz="1200" dirty="0"/>
          </a:p>
        </p:txBody>
      </p:sp>
      <p:sp>
        <p:nvSpPr>
          <p:cNvPr id="48" name="Text 45"/>
          <p:cNvSpPr txBox="1"/>
          <p:nvPr/>
        </p:nvSpPr>
        <p:spPr>
          <a:xfrm>
            <a:off x="7891272" y="3108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49" name="Shape 46"/>
          <p:cNvSpPr/>
          <p:nvPr/>
        </p:nvSpPr>
        <p:spPr>
          <a:xfrm>
            <a:off x="9509760" y="2606040"/>
            <a:ext cx="210312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0" name="Shape 47"/>
          <p:cNvSpPr/>
          <p:nvPr/>
        </p:nvSpPr>
        <p:spPr>
          <a:xfrm>
            <a:off x="9646920" y="2880360"/>
            <a:ext cx="384048" cy="384048"/>
          </a:xfrm>
          <a:prstGeom prst="ellipse">
            <a:avLst/>
          </a:prstGeom>
          <a:solidFill>
            <a:srgbClr val="2C6E49"/>
          </a:solidFill>
          <a:ln w="12700">
            <a:solidFill>
              <a:srgbClr val="2C6E49"/>
            </a:solidFill>
            <a:prstDash val="solid"/>
          </a:ln>
        </p:spPr>
      </p:sp>
      <p:sp>
        <p:nvSpPr>
          <p:cNvPr id="51" name="Text 48"/>
          <p:cNvSpPr txBox="1"/>
          <p:nvPr/>
        </p:nvSpPr>
        <p:spPr>
          <a:xfrm>
            <a:off x="9646920" y="2880360"/>
            <a:ext cx="384048" cy="384048"/>
          </a:xfrm>
          <a:prstGeom prst="rect">
            <a:avLst/>
          </a:prstGeom>
          <a:noFill/>
          <a:ln/>
        </p:spPr>
        <p:txBody>
          <a:bodyPr wrap="square" lIns="0" tIns="0" rIns="0" bIns="0" rtlCol="0" anchor="ctr"/>
          <a:lstStyle/>
          <a:p>
            <a:pPr marL="0" indent="0" algn="ctr">
              <a:buNone/>
            </a:pPr>
            <a:r>
              <a:rPr lang="en-US" sz="1000" b="1" dirty="0">
                <a:solidFill>
                  <a:schemeClr val="bg1"/>
                </a:solidFill>
              </a:rPr>
              <a:t>S10</a:t>
            </a:r>
            <a:endParaRPr lang="en-US" sz="1000" dirty="0"/>
          </a:p>
        </p:txBody>
      </p:sp>
      <p:sp>
        <p:nvSpPr>
          <p:cNvPr id="52" name="Text 49"/>
          <p:cNvSpPr txBox="1"/>
          <p:nvPr/>
        </p:nvSpPr>
        <p:spPr>
          <a:xfrm>
            <a:off x="10131552" y="2715768"/>
            <a:ext cx="1417320" cy="411480"/>
          </a:xfrm>
          <a:prstGeom prst="rect">
            <a:avLst/>
          </a:prstGeom>
          <a:noFill/>
          <a:ln/>
        </p:spPr>
        <p:txBody>
          <a:bodyPr wrap="square" lIns="0" tIns="0" rIns="0" bIns="0" rtlCol="0" anchor="ctr"/>
          <a:lstStyle/>
          <a:p>
            <a:pPr marL="0" indent="0">
              <a:buNone/>
            </a:pPr>
            <a:r>
              <a:rPr lang="en-US" sz="1200" b="1" dirty="0">
                <a:solidFill>
                  <a:schemeClr val="tx2"/>
                </a:solidFill>
              </a:rPr>
              <a:t>Human-input discipline</a:t>
            </a:r>
            <a:endParaRPr lang="en-US" sz="1200" dirty="0"/>
          </a:p>
        </p:txBody>
      </p:sp>
      <p:sp>
        <p:nvSpPr>
          <p:cNvPr id="53" name="Text 50"/>
          <p:cNvSpPr txBox="1"/>
          <p:nvPr/>
        </p:nvSpPr>
        <p:spPr>
          <a:xfrm>
            <a:off x="10131552" y="3108960"/>
            <a:ext cx="1417320" cy="411480"/>
          </a:xfrm>
          <a:prstGeom prst="rect">
            <a:avLst/>
          </a:prstGeom>
          <a:noFill/>
          <a:ln/>
        </p:spPr>
        <p:txBody>
          <a:bodyPr wrap="square" lIns="0" tIns="0" rIns="0" bIns="0" rtlCol="0" anchor="t"/>
          <a:lstStyle/>
          <a:p>
            <a:pPr marL="0" indent="0">
              <a:buNone/>
            </a:pPr>
            <a:r>
              <a:rPr lang="en-US" sz="1000" dirty="0">
                <a:solidFill>
                  <a:schemeClr val="accent4"/>
                </a:solidFill>
              </a:rPr>
              <a:t>measured by code</a:t>
            </a:r>
            <a:endParaRPr lang="en-US" sz="1000" dirty="0"/>
          </a:p>
        </p:txBody>
      </p:sp>
      <p:sp>
        <p:nvSpPr>
          <p:cNvPr id="54" name="Shape 51"/>
          <p:cNvSpPr/>
          <p:nvPr/>
        </p:nvSpPr>
        <p:spPr>
          <a:xfrm>
            <a:off x="548640" y="3931920"/>
            <a:ext cx="5486400" cy="2194560"/>
          </a:xfrm>
          <a:prstGeom prst="roundRect">
            <a:avLst>
              <a:gd name="adj" fmla="val 500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5" name="Text 52"/>
          <p:cNvSpPr txBox="1"/>
          <p:nvPr/>
        </p:nvSpPr>
        <p:spPr>
          <a:xfrm>
            <a:off x="822960" y="4069080"/>
            <a:ext cx="4937760" cy="365760"/>
          </a:xfrm>
          <a:prstGeom prst="rect">
            <a:avLst/>
          </a:prstGeom>
          <a:noFill/>
          <a:ln/>
        </p:spPr>
        <p:txBody>
          <a:bodyPr wrap="square" lIns="0" tIns="0" rIns="0" bIns="0" rtlCol="0" anchor="t"/>
          <a:lstStyle/>
          <a:p>
            <a:pPr marL="0" indent="0">
              <a:buNone/>
            </a:pPr>
            <a:r>
              <a:rPr lang="en-US" sz="1400" b="1" dirty="0">
                <a:solidFill>
                  <a:schemeClr val="tx2"/>
                </a:solidFill>
              </a:rPr>
              <a:t>Measured by code on the 28 October snapshot</a:t>
            </a:r>
            <a:endParaRPr lang="en-US" sz="1400" dirty="0"/>
          </a:p>
        </p:txBody>
      </p:sp>
      <p:sp>
        <p:nvSpPr>
          <p:cNvPr id="56" name="Text 53"/>
          <p:cNvSpPr txBox="1"/>
          <p:nvPr/>
        </p:nvSpPr>
        <p:spPr>
          <a:xfrm>
            <a:off x="822960" y="4480560"/>
            <a:ext cx="493776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S4: 7 shocks, one input each, the pool must move the right way: 7 of 7</a:t>
            </a:r>
            <a:endParaRPr lang="en-US" sz="1200" dirty="0"/>
          </a:p>
          <a:p>
            <a:pPr marL="342900" indent="-342900">
              <a:spcAft>
                <a:spcPts val="600"/>
              </a:spcAft>
              <a:buSzPct val="100000"/>
              <a:buChar char="•"/>
            </a:pPr>
            <a:r>
              <a:rPr lang="en-US" sz="1200" dirty="0">
                <a:solidFill>
                  <a:schemeClr val="tx1"/>
                </a:solidFill>
              </a:rPr>
              <a:t>S5: 5 irrelevant changes to the snapshot: 0.0 points moved</a:t>
            </a:r>
            <a:endParaRPr lang="en-US" sz="1200" dirty="0"/>
          </a:p>
          <a:p>
            <a:pPr marL="342900" indent="-342900">
              <a:spcAft>
                <a:spcPts val="600"/>
              </a:spcAft>
              <a:buSzPct val="100000"/>
              <a:buChar char="•"/>
            </a:pPr>
            <a:r>
              <a:rPr lang="en-US" sz="1200" dirty="0">
                <a:solidFill>
                  <a:schemeClr val="tx1"/>
                </a:solidFill>
              </a:rPr>
              <a:t>S7: every ledger entry coherent and attributable</a:t>
            </a:r>
            <a:endParaRPr lang="en-US" sz="1200" dirty="0"/>
          </a:p>
          <a:p>
            <a:pPr marL="342900" indent="-342900">
              <a:spcAft>
                <a:spcPts val="600"/>
              </a:spcAft>
              <a:buSzPct val="100000"/>
              <a:buChar char="•"/>
            </a:pPr>
            <a:r>
              <a:rPr lang="en-US" sz="1200" dirty="0">
                <a:solidFill>
                  <a:schemeClr val="tx1"/>
                </a:solidFill>
              </a:rPr>
              <a:t>S9: entries under the current spec recompute exactly, from the analyst runs they name</a:t>
            </a:r>
            <a:endParaRPr lang="en-US" sz="1200" dirty="0"/>
          </a:p>
        </p:txBody>
      </p:sp>
      <p:sp>
        <p:nvSpPr>
          <p:cNvPr id="57" name="Shape 54"/>
          <p:cNvSpPr/>
          <p:nvPr/>
        </p:nvSpPr>
        <p:spPr>
          <a:xfrm>
            <a:off x="6309360" y="3931920"/>
            <a:ext cx="5330952" cy="2194560"/>
          </a:xfrm>
          <a:prstGeom prst="roundRect">
            <a:avLst>
              <a:gd name="adj" fmla="val 500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8" name="Text 55"/>
          <p:cNvSpPr txBox="1"/>
          <p:nvPr/>
        </p:nvSpPr>
        <p:spPr>
          <a:xfrm>
            <a:off x="6583680" y="4069080"/>
            <a:ext cx="4846320" cy="365760"/>
          </a:xfrm>
          <a:prstGeom prst="rect">
            <a:avLst/>
          </a:prstGeom>
          <a:noFill/>
          <a:ln/>
        </p:spPr>
        <p:txBody>
          <a:bodyPr wrap="square" lIns="0" tIns="0" rIns="0" bIns="0" rtlCol="0" anchor="t"/>
          <a:lstStyle/>
          <a:p>
            <a:pPr marL="0" indent="0">
              <a:buNone/>
            </a:pPr>
            <a:r>
              <a:rPr lang="en-US" sz="1400" b="1" dirty="0">
                <a:solidFill>
                  <a:schemeClr val="tx2"/>
                </a:solidFill>
              </a:rPr>
              <a:t>What it has already caught</a:t>
            </a:r>
            <a:endParaRPr lang="en-US" sz="1400" dirty="0"/>
          </a:p>
        </p:txBody>
      </p:sp>
      <p:sp>
        <p:nvSpPr>
          <p:cNvPr id="59" name="Text 56"/>
          <p:cNvSpPr txBox="1"/>
          <p:nvPr/>
        </p:nvSpPr>
        <p:spPr>
          <a:xfrm>
            <a:off x="6583680" y="4480560"/>
            <a:ext cx="4846320" cy="155448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rPr>
              <a:t>Four ledger entries stopped replaying after a model rule changed outside the hashed spec; amendment #5 put every rule inside the hash.</a:t>
            </a:r>
            <a:endParaRPr lang="en-US" sz="1100" dirty="0"/>
          </a:p>
          <a:p>
            <a:pPr marL="342900" indent="-342900">
              <a:spcAft>
                <a:spcPts val="600"/>
              </a:spcAft>
              <a:buSzPct val="100000"/>
              <a:buChar char="•"/>
            </a:pPr>
            <a:r>
              <a:rPr lang="en-US" sz="1100" dirty="0">
                <a:solidFill>
                  <a:schemeClr val="tx1"/>
                </a:solidFill>
              </a:rPr>
              <a:t>A shock test was perturbing the wrong odds entry once two were on file; a red cell on the drift table pointed at it.</a:t>
            </a:r>
            <a:endParaRPr lang="en-US" sz="1100" dirty="0"/>
          </a:p>
          <a:p>
            <a:pPr marL="342900" indent="-342900">
              <a:spcAft>
                <a:spcPts val="600"/>
              </a:spcAft>
              <a:buSzPct val="100000"/>
              <a:buChar char="•"/>
            </a:pPr>
            <a:r>
              <a:rPr lang="en-US" sz="1100" dirty="0">
                <a:solidFill>
                  <a:schemeClr val="tx1"/>
                </a:solidFill>
              </a:rPr>
              <a:t>Replay was reading the latest analyst runs instead of the runs the entry used; a rerun would have broken an honest entry. Fixed the same day, with a test.</a:t>
            </a:r>
            <a:endParaRPr lang="en-US" sz="1100" dirty="0"/>
          </a:p>
          <a:p>
            <a:pPr marL="342900" indent="-342900">
              <a:spcAft>
                <a:spcPts val="600"/>
              </a:spcAft>
              <a:buSzPct val="100000"/>
              <a:buChar char="•"/>
            </a:pPr>
            <a:r>
              <a:rPr lang="en-US" sz="1100" dirty="0">
                <a:solidFill>
                  <a:schemeClr val="tx1"/>
                </a:solidFill>
              </a:rPr>
              <a:t>A verifier false positive (a zero written as 0 in the evidence); fixed, records re-scored without calling the model.</a:t>
            </a:r>
            <a:endParaRPr lang="en-US" sz="11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S4</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S4's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entry with its snapshot hash, spec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a:p>
            <a:pPr marL="342900" indent="-342900">
              <a:spcAft>
                <a:spcPts val="800"/>
              </a:spcAft>
              <a:buSzPct val="100000"/>
              <a:buChar char="•"/>
            </a:pPr>
            <a:r>
              <a:rPr lang="en-US" sz="1300" dirty="0">
                <a:solidFill>
                  <a:srgbClr val="FFFFFF"/>
                </a:solidFill>
              </a:rPr>
              <a:t>Eight numbered amendments, each with its reason, each a new spec hash pinned in the tests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this does not claim, and what comes next</a:t>
            </a:r>
            <a:endParaRPr lang="en-US" sz="3200" dirty="0"/>
          </a:p>
        </p:txBody>
      </p:sp>
      <p:sp>
        <p:nvSpPr>
          <p:cNvPr id="4" name="Text 1"/>
          <p:cNvSpPr txBox="1"/>
          <p:nvPr/>
        </p:nvSpPr>
        <p:spPr>
          <a:xfrm>
            <a:off x="548640" y="1371600"/>
            <a:ext cx="5486400" cy="365760"/>
          </a:xfrm>
          <a:prstGeom prst="rect">
            <a:avLst/>
          </a:prstGeom>
          <a:noFill/>
          <a:ln/>
        </p:spPr>
        <p:txBody>
          <a:bodyPr wrap="square" lIns="0" tIns="0" rIns="0" bIns="0" rtlCol="0" anchor="t"/>
          <a:lstStyle/>
          <a:p>
            <a:pPr marL="0" indent="0">
              <a:buNone/>
            </a:pPr>
            <a:r>
              <a:rPr lang="en-US" sz="1600" b="1" dirty="0">
                <a:solidFill>
                  <a:schemeClr val="tx2"/>
                </a:solidFill>
              </a:rPr>
              <a:t>What this does not claim</a:t>
            </a:r>
            <a:endParaRPr lang="en-US" sz="1600" dirty="0"/>
          </a:p>
        </p:txBody>
      </p:sp>
      <p:sp>
        <p:nvSpPr>
          <p:cNvPr id="5" name="Shape 2"/>
          <p:cNvSpPr/>
          <p:nvPr/>
        </p:nvSpPr>
        <p:spPr>
          <a:xfrm>
            <a:off x="548640" y="1828800"/>
            <a:ext cx="548640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6" name="Text 3"/>
          <p:cNvSpPr txBox="1"/>
          <p:nvPr/>
        </p:nvSpPr>
        <p:spPr>
          <a:xfrm>
            <a:off x="777240" y="1901952"/>
            <a:ext cx="5029200" cy="320040"/>
          </a:xfrm>
          <a:prstGeom prst="rect">
            <a:avLst/>
          </a:prstGeom>
          <a:noFill/>
          <a:ln/>
        </p:spPr>
        <p:txBody>
          <a:bodyPr wrap="square" lIns="0" tIns="0" rIns="0" bIns="0" rtlCol="0" anchor="t"/>
          <a:lstStyle/>
          <a:p>
            <a:pPr marL="0" indent="0">
              <a:buNone/>
            </a:pPr>
            <a:r>
              <a:rPr lang="en-US" sz="1300" b="1" dirty="0">
                <a:solidFill>
                  <a:schemeClr val="tx2"/>
                </a:solidFill>
              </a:rPr>
              <a:t>One scored decision</a:t>
            </a:r>
            <a:endParaRPr lang="en-US" sz="1300" dirty="0"/>
          </a:p>
        </p:txBody>
      </p:sp>
      <p:sp>
        <p:nvSpPr>
          <p:cNvPr id="7" name="Text 4"/>
          <p:cNvSpPr txBox="1"/>
          <p:nvPr/>
        </p:nvSpPr>
        <p:spPr>
          <a:xfrm>
            <a:off x="777240" y="2212848"/>
            <a:ext cx="5029200" cy="548640"/>
          </a:xfrm>
          <a:prstGeom prst="rect">
            <a:avLst/>
          </a:prstGeom>
          <a:noFill/>
          <a:ln/>
        </p:spPr>
        <p:txBody>
          <a:bodyPr wrap="square" lIns="0" tIns="0" rIns="0" bIns="0" rtlCol="0" anchor="t"/>
          <a:lstStyle/>
          <a:p>
            <a:pPr marL="0" indent="0">
              <a:buNone/>
            </a:pPr>
            <a:r>
              <a:rPr lang="en-US" sz="1050" dirty="0">
                <a:solidFill>
                  <a:schemeClr val="tx1"/>
                </a:solidFill>
              </a:rPr>
              <a:t>28 October is the first. Everything before it is process evidence, which is the point, but calibration needs a record.</a:t>
            </a:r>
            <a:endParaRPr lang="en-US" sz="1050" dirty="0"/>
          </a:p>
        </p:txBody>
      </p:sp>
      <p:sp>
        <p:nvSpPr>
          <p:cNvPr id="8" name="Shape 5"/>
          <p:cNvSpPr/>
          <p:nvPr/>
        </p:nvSpPr>
        <p:spPr>
          <a:xfrm>
            <a:off x="548640" y="2880360"/>
            <a:ext cx="548640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9" name="Text 6"/>
          <p:cNvSpPr txBox="1"/>
          <p:nvPr/>
        </p:nvSpPr>
        <p:spPr>
          <a:xfrm>
            <a:off x="777240" y="2953512"/>
            <a:ext cx="5029200" cy="320040"/>
          </a:xfrm>
          <a:prstGeom prst="rect">
            <a:avLst/>
          </a:prstGeom>
          <a:noFill/>
          <a:ln/>
        </p:spPr>
        <p:txBody>
          <a:bodyPr wrap="square" lIns="0" tIns="0" rIns="0" bIns="0" rtlCol="0" anchor="t"/>
          <a:lstStyle/>
          <a:p>
            <a:pPr marL="0" indent="0">
              <a:buNone/>
            </a:pPr>
            <a:r>
              <a:rPr lang="en-US" sz="1300" b="1" dirty="0">
                <a:solidFill>
                  <a:schemeClr val="tx2"/>
                </a:solidFill>
              </a:rPr>
              <a:t>Weights are judgement</a:t>
            </a:r>
            <a:endParaRPr lang="en-US" sz="1300" dirty="0"/>
          </a:p>
        </p:txBody>
      </p:sp>
      <p:sp>
        <p:nvSpPr>
          <p:cNvPr id="10" name="Text 7"/>
          <p:cNvSpPr txBox="1"/>
          <p:nvPr/>
        </p:nvSpPr>
        <p:spPr>
          <a:xfrm>
            <a:off x="777240" y="3264408"/>
            <a:ext cx="5029200" cy="548640"/>
          </a:xfrm>
          <a:prstGeom prst="rect">
            <a:avLst/>
          </a:prstGeom>
          <a:noFill/>
          <a:ln/>
        </p:spPr>
        <p:txBody>
          <a:bodyPr wrap="square" lIns="0" tIns="0" rIns="0" bIns="0" rtlCol="0" anchor="t"/>
          <a:lstStyle/>
          <a:p>
            <a:pPr marL="0" indent="0">
              <a:buNone/>
            </a:pPr>
            <a:r>
              <a:rPr lang="en-US" sz="1050" dirty="0">
                <a:solidFill>
                  <a:schemeClr val="tx1"/>
                </a:solidFill>
              </a:rPr>
              <a:t>Market 0.6, Taylor 0.2, odds 0.1, base rates 0.1, the floor and the lean cap were set by reasoning and logged, never fitted.</a:t>
            </a:r>
            <a:endParaRPr lang="en-US" sz="1050" dirty="0"/>
          </a:p>
        </p:txBody>
      </p:sp>
      <p:sp>
        <p:nvSpPr>
          <p:cNvPr id="11" name="Shape 8"/>
          <p:cNvSpPr/>
          <p:nvPr/>
        </p:nvSpPr>
        <p:spPr>
          <a:xfrm>
            <a:off x="548640" y="3931920"/>
            <a:ext cx="548640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2" name="Text 9"/>
          <p:cNvSpPr txBox="1"/>
          <p:nvPr/>
        </p:nvSpPr>
        <p:spPr>
          <a:xfrm>
            <a:off x="777240" y="4005072"/>
            <a:ext cx="5029200" cy="320040"/>
          </a:xfrm>
          <a:prstGeom prst="rect">
            <a:avLst/>
          </a:prstGeom>
          <a:noFill/>
          <a:ln/>
        </p:spPr>
        <p:txBody>
          <a:bodyPr wrap="square" lIns="0" tIns="0" rIns="0" bIns="0" rtlCol="0" anchor="t"/>
          <a:lstStyle/>
          <a:p>
            <a:pPr marL="0" indent="0">
              <a:buNone/>
            </a:pPr>
            <a:r>
              <a:rPr lang="en-US" sz="1300" b="1" dirty="0">
                <a:solidFill>
                  <a:schemeClr val="tx2"/>
                </a:solidFill>
              </a:rPr>
              <a:t>The fitted model is outside</a:t>
            </a:r>
            <a:endParaRPr lang="en-US" sz="1300" dirty="0"/>
          </a:p>
        </p:txBody>
      </p:sp>
      <p:sp>
        <p:nvSpPr>
          <p:cNvPr id="13" name="Text 10"/>
          <p:cNvSpPr txBox="1"/>
          <p:nvPr/>
        </p:nvSpPr>
        <p:spPr>
          <a:xfrm>
            <a:off x="777240" y="4315968"/>
            <a:ext cx="5029200" cy="548640"/>
          </a:xfrm>
          <a:prstGeom prst="rect">
            <a:avLst/>
          </a:prstGeom>
          <a:noFill/>
          <a:ln/>
        </p:spPr>
        <p:txBody>
          <a:bodyPr wrap="square" lIns="0" tIns="0" rIns="0" bIns="0" rtlCol="0" anchor="t"/>
          <a:lstStyle/>
          <a:p>
            <a:pPr marL="0" indent="0">
              <a:buNone/>
            </a:pPr>
            <a:r>
              <a:rPr lang="en-US" sz="1050" dirty="0">
                <a:solidFill>
                  <a:schemeClr val="tx1"/>
                </a:solidFill>
              </a:rPr>
              <a:t>Probit v1 failed its gate and was reported, not tuned; v2 beats the base rate but carries a contamination caveat, so weight 0. About 130 usable decisions, 68% holds: no gradient-boosted anything.</a:t>
            </a:r>
            <a:endParaRPr lang="en-US" sz="1050" dirty="0"/>
          </a:p>
        </p:txBody>
      </p:sp>
      <p:sp>
        <p:nvSpPr>
          <p:cNvPr id="14" name="Shape 11"/>
          <p:cNvSpPr/>
          <p:nvPr/>
        </p:nvSpPr>
        <p:spPr>
          <a:xfrm>
            <a:off x="548640" y="4983480"/>
            <a:ext cx="5486400" cy="960120"/>
          </a:xfrm>
          <a:prstGeom prst="roundRect">
            <a:avLst>
              <a:gd name="adj" fmla="val 1142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5" name="Text 12"/>
          <p:cNvSpPr txBox="1"/>
          <p:nvPr/>
        </p:nvSpPr>
        <p:spPr>
          <a:xfrm>
            <a:off x="777240" y="5056632"/>
            <a:ext cx="5029200" cy="320040"/>
          </a:xfrm>
          <a:prstGeom prst="rect">
            <a:avLst/>
          </a:prstGeom>
          <a:noFill/>
          <a:ln/>
        </p:spPr>
        <p:txBody>
          <a:bodyPr wrap="square" lIns="0" tIns="0" rIns="0" bIns="0" rtlCol="0" anchor="t"/>
          <a:lstStyle/>
          <a:p>
            <a:pPr marL="0" indent="0">
              <a:buNone/>
            </a:pPr>
            <a:r>
              <a:rPr lang="en-US" sz="1300" b="1" dirty="0">
                <a:solidFill>
                  <a:schemeClr val="tx2"/>
                </a:solidFill>
              </a:rPr>
              <a:t>The market is the anchor</a:t>
            </a:r>
            <a:endParaRPr lang="en-US" sz="1300" dirty="0"/>
          </a:p>
        </p:txBody>
      </p:sp>
      <p:sp>
        <p:nvSpPr>
          <p:cNvPr id="16" name="Text 13"/>
          <p:cNvSpPr txBox="1"/>
          <p:nvPr/>
        </p:nvSpPr>
        <p:spPr>
          <a:xfrm>
            <a:off x="777240" y="5367528"/>
            <a:ext cx="5029200" cy="548640"/>
          </a:xfrm>
          <a:prstGeom prst="rect">
            <a:avLst/>
          </a:prstGeom>
          <a:noFill/>
          <a:ln/>
        </p:spPr>
        <p:txBody>
          <a:bodyPr wrap="square" lIns="0" tIns="0" rIns="0" bIns="0" rtlCol="0" anchor="t"/>
          <a:lstStyle/>
          <a:p>
            <a:pPr marL="0" indent="0">
              <a:buNone/>
            </a:pPr>
            <a:r>
              <a:rPr lang="en-US" sz="1050" dirty="0">
                <a:solidFill>
                  <a:schemeClr val="tx1"/>
                </a:solidFill>
              </a:rPr>
              <a:t>At five weeks futures call most decisions. The claim is auditability and discipline, not a better hit rate.</a:t>
            </a:r>
            <a:endParaRPr lang="en-US" sz="1050" dirty="0"/>
          </a:p>
        </p:txBody>
      </p:sp>
      <p:sp>
        <p:nvSpPr>
          <p:cNvPr id="17" name="Text 14"/>
          <p:cNvSpPr txBox="1"/>
          <p:nvPr/>
        </p:nvSpPr>
        <p:spPr>
          <a:xfrm>
            <a:off x="6355080" y="1371600"/>
            <a:ext cx="5486400" cy="365760"/>
          </a:xfrm>
          <a:prstGeom prst="rect">
            <a:avLst/>
          </a:prstGeom>
          <a:noFill/>
          <a:ln/>
        </p:spPr>
        <p:txBody>
          <a:bodyPr wrap="square" lIns="0" tIns="0" rIns="0" bIns="0" rtlCol="0" anchor="t"/>
          <a:lstStyle/>
          <a:p>
            <a:pPr marL="0" indent="0">
              <a:buNone/>
            </a:pPr>
            <a:r>
              <a:rPr lang="en-US" sz="1600" b="1" dirty="0">
                <a:solidFill>
                  <a:schemeClr val="tx2"/>
                </a:solidFill>
              </a:rPr>
              <a:t>What comes next, in order of value</a:t>
            </a:r>
            <a:endParaRPr lang="en-US" sz="1600" dirty="0"/>
          </a:p>
        </p:txBody>
      </p:sp>
      <p:sp>
        <p:nvSpPr>
          <p:cNvPr id="18" name="Shape 15"/>
          <p:cNvSpPr/>
          <p:nvPr/>
        </p:nvSpPr>
        <p:spPr>
          <a:xfrm>
            <a:off x="6355080" y="1920240"/>
            <a:ext cx="384048" cy="384048"/>
          </a:xfrm>
          <a:prstGeom prst="ellipse">
            <a:avLst/>
          </a:prstGeom>
          <a:solidFill>
            <a:srgbClr val="1E2761"/>
          </a:solidFill>
          <a:ln w="12700">
            <a:solidFill>
              <a:srgbClr val="1E2761"/>
            </a:solidFill>
            <a:prstDash val="solid"/>
          </a:ln>
        </p:spPr>
      </p:sp>
      <p:sp>
        <p:nvSpPr>
          <p:cNvPr id="19" name="Text 16"/>
          <p:cNvSpPr txBox="1"/>
          <p:nvPr/>
        </p:nvSpPr>
        <p:spPr>
          <a:xfrm>
            <a:off x="6355080" y="192024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20" name="Text 17"/>
          <p:cNvSpPr txBox="1"/>
          <p:nvPr/>
        </p:nvSpPr>
        <p:spPr>
          <a:xfrm>
            <a:off x="6858000" y="1828800"/>
            <a:ext cx="4800600" cy="365760"/>
          </a:xfrm>
          <a:prstGeom prst="rect">
            <a:avLst/>
          </a:prstGeom>
          <a:noFill/>
          <a:ln/>
        </p:spPr>
        <p:txBody>
          <a:bodyPr wrap="square" lIns="0" tIns="0" rIns="0" bIns="0" rtlCol="0" anchor="ctr"/>
          <a:lstStyle/>
          <a:p>
            <a:pPr marL="0" indent="0">
              <a:buNone/>
            </a:pPr>
            <a:r>
              <a:rPr lang="en-US" sz="1300" b="1" dirty="0">
                <a:solidFill>
                  <a:schemeClr val="tx2"/>
                </a:solidFill>
              </a:rPr>
              <a:t>The December window, same chain: running now</a:t>
            </a:r>
            <a:endParaRPr lang="en-US" sz="1300" dirty="0"/>
          </a:p>
        </p:txBody>
      </p:sp>
      <p:sp>
        <p:nvSpPr>
          <p:cNvPr id="21" name="Text 18"/>
          <p:cNvSpPr txBox="1"/>
          <p:nvPr/>
        </p:nvSpPr>
        <p:spPr>
          <a:xfrm>
            <a:off x="6858000" y="2194560"/>
            <a:ext cx="4800600" cy="640080"/>
          </a:xfrm>
          <a:prstGeom prst="rect">
            <a:avLst/>
          </a:prstGeom>
          <a:noFill/>
          <a:ln/>
        </p:spPr>
        <p:txBody>
          <a:bodyPr wrap="square" lIns="0" tIns="0" rIns="0" bIns="0" rtlCol="0" anchor="t"/>
          <a:lstStyle/>
          <a:p>
            <a:pPr marL="0" indent="0">
              <a:buNone/>
            </a:pPr>
            <a:r>
              <a:rPr lang="en-US" sz="1050" dirty="0">
                <a:solidFill>
                  <a:schemeClr val="tx1"/>
                </a:solidFill>
              </a:rPr>
              <a:t>The 9 December meeting is less certain (the market prices a hike at about three in four), so reading the evidence has more to add. The chain needed only a new target.</a:t>
            </a:r>
            <a:endParaRPr lang="en-US" sz="1050" dirty="0"/>
          </a:p>
        </p:txBody>
      </p:sp>
      <p:sp>
        <p:nvSpPr>
          <p:cNvPr id="22" name="Shape 19"/>
          <p:cNvSpPr/>
          <p:nvPr/>
        </p:nvSpPr>
        <p:spPr>
          <a:xfrm>
            <a:off x="6355080" y="2971800"/>
            <a:ext cx="384048" cy="384048"/>
          </a:xfrm>
          <a:prstGeom prst="ellipse">
            <a:avLst/>
          </a:prstGeom>
          <a:solidFill>
            <a:srgbClr val="1E2761"/>
          </a:solidFill>
          <a:ln w="12700">
            <a:solidFill>
              <a:srgbClr val="1E2761"/>
            </a:solidFill>
            <a:prstDash val="solid"/>
          </a:ln>
        </p:spPr>
      </p:sp>
      <p:sp>
        <p:nvSpPr>
          <p:cNvPr id="23" name="Text 20"/>
          <p:cNvSpPr txBox="1"/>
          <p:nvPr/>
        </p:nvSpPr>
        <p:spPr>
          <a:xfrm>
            <a:off x="6355080" y="29718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4" name="Text 21"/>
          <p:cNvSpPr txBox="1"/>
          <p:nvPr/>
        </p:nvSpPr>
        <p:spPr>
          <a:xfrm>
            <a:off x="6858000" y="2880360"/>
            <a:ext cx="4800600" cy="365760"/>
          </a:xfrm>
          <a:prstGeom prst="rect">
            <a:avLst/>
          </a:prstGeom>
          <a:noFill/>
          <a:ln/>
        </p:spPr>
        <p:txBody>
          <a:bodyPr wrap="square" lIns="0" tIns="0" rIns="0" bIns="0" rtlCol="0" anchor="ctr"/>
          <a:lstStyle/>
          <a:p>
            <a:pPr marL="0" indent="0">
              <a:buNone/>
            </a:pPr>
            <a:r>
              <a:rPr lang="en-US" sz="1300" b="1" dirty="0">
                <a:solidFill>
                  <a:schemeClr val="tx2"/>
                </a:solidFill>
              </a:rPr>
              <a:t>Pre-registered weight sets, scored live</a:t>
            </a:r>
            <a:endParaRPr lang="en-US" sz="1300" dirty="0"/>
          </a:p>
        </p:txBody>
      </p:sp>
      <p:sp>
        <p:nvSpPr>
          <p:cNvPr id="25" name="Text 22"/>
          <p:cNvSpPr txBox="1"/>
          <p:nvPr/>
        </p:nvSpPr>
        <p:spPr>
          <a:xfrm>
            <a:off x="6858000" y="3246120"/>
            <a:ext cx="4800600" cy="640080"/>
          </a:xfrm>
          <a:prstGeom prst="rect">
            <a:avLst/>
          </a:prstGeom>
          <a:noFill/>
          <a:ln/>
        </p:spPr>
        <p:txBody>
          <a:bodyPr wrap="square" lIns="0" tIns="0" rIns="0" bIns="0" rtlCol="0" anchor="t"/>
          <a:lstStyle/>
          <a:p>
            <a:pPr marL="0" indent="0">
              <a:buNone/>
            </a:pPr>
            <a:r>
              <a:rPr lang="en-US" sz="1050" dirty="0">
                <a:solidFill>
                  <a:schemeClr val="tx1"/>
                </a:solidFill>
              </a:rPr>
              <a:t>Three or four candidate sets written down now, all scored on every live decision; the live set changes only by amendment on that record.</a:t>
            </a:r>
            <a:endParaRPr lang="en-US" sz="1050" dirty="0"/>
          </a:p>
        </p:txBody>
      </p:sp>
      <p:sp>
        <p:nvSpPr>
          <p:cNvPr id="26" name="Shape 23"/>
          <p:cNvSpPr/>
          <p:nvPr/>
        </p:nvSpPr>
        <p:spPr>
          <a:xfrm>
            <a:off x="6355080" y="4023360"/>
            <a:ext cx="384048" cy="384048"/>
          </a:xfrm>
          <a:prstGeom prst="ellipse">
            <a:avLst/>
          </a:prstGeom>
          <a:solidFill>
            <a:srgbClr val="1E2761"/>
          </a:solidFill>
          <a:ln w="12700">
            <a:solidFill>
              <a:srgbClr val="1E2761"/>
            </a:solidFill>
            <a:prstDash val="solid"/>
          </a:ln>
        </p:spPr>
      </p:sp>
      <p:sp>
        <p:nvSpPr>
          <p:cNvPr id="27" name="Text 24"/>
          <p:cNvSpPr txBox="1"/>
          <p:nvPr/>
        </p:nvSpPr>
        <p:spPr>
          <a:xfrm>
            <a:off x="6355080" y="402336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8" name="Text 25"/>
          <p:cNvSpPr txBox="1"/>
          <p:nvPr/>
        </p:nvSpPr>
        <p:spPr>
          <a:xfrm>
            <a:off x="6858000" y="3931920"/>
            <a:ext cx="4800600" cy="365760"/>
          </a:xfrm>
          <a:prstGeom prst="rect">
            <a:avLst/>
          </a:prstGeom>
          <a:noFill/>
          <a:ln/>
        </p:spPr>
        <p:txBody>
          <a:bodyPr wrap="square" lIns="0" tIns="0" rIns="0" bIns="0" rtlCol="0" anchor="ctr"/>
          <a:lstStyle/>
          <a:p>
            <a:pPr marL="0" indent="0">
              <a:buNone/>
            </a:pPr>
            <a:r>
              <a:rPr lang="en-US" sz="1300" b="1" dirty="0">
                <a:solidFill>
                  <a:schemeClr val="tx2"/>
                </a:solidFill>
              </a:rPr>
              <a:t>An events agent for regime shifts</a:t>
            </a:r>
            <a:endParaRPr lang="en-US" sz="1300" dirty="0"/>
          </a:p>
        </p:txBody>
      </p:sp>
      <p:sp>
        <p:nvSpPr>
          <p:cNvPr id="29" name="Text 26"/>
          <p:cNvSpPr txBox="1"/>
          <p:nvPr/>
        </p:nvSpPr>
        <p:spPr>
          <a:xfrm>
            <a:off x="6858000" y="4297680"/>
            <a:ext cx="4800600" cy="640080"/>
          </a:xfrm>
          <a:prstGeom prst="rect">
            <a:avLst/>
          </a:prstGeom>
          <a:noFill/>
          <a:ln/>
        </p:spPr>
        <p:txBody>
          <a:bodyPr wrap="square" lIns="0" tIns="0" rIns="0" bIns="0" rtlCol="0" anchor="t"/>
          <a:lstStyle/>
          <a:p>
            <a:pPr marL="0" indent="0">
              <a:buNone/>
            </a:pPr>
            <a:r>
              <a:rPr lang="en-US" sz="1050" dirty="0">
                <a:solidFill>
                  <a:schemeClr val="tx1"/>
                </a:solidFill>
              </a:rPr>
              <a:t>1987, 1998, 2008, 2020: the Fed cut on financial stress, not the data the models read. A watch-out agent that scans for bank failures, funding stress and dislocations, and raises a watch-out every analyst must answer.</a:t>
            </a:r>
            <a:endParaRPr lang="en-US" sz="1050" dirty="0"/>
          </a:p>
        </p:txBody>
      </p:sp>
      <p:sp>
        <p:nvSpPr>
          <p:cNvPr id="30" name="Shape 27"/>
          <p:cNvSpPr/>
          <p:nvPr/>
        </p:nvSpPr>
        <p:spPr>
          <a:xfrm>
            <a:off x="6355080" y="5074920"/>
            <a:ext cx="384048" cy="384048"/>
          </a:xfrm>
          <a:prstGeom prst="ellipse">
            <a:avLst/>
          </a:prstGeom>
          <a:solidFill>
            <a:srgbClr val="1E2761"/>
          </a:solidFill>
          <a:ln w="12700">
            <a:solidFill>
              <a:srgbClr val="1E2761"/>
            </a:solidFill>
            <a:prstDash val="solid"/>
          </a:ln>
        </p:spPr>
      </p:sp>
      <p:sp>
        <p:nvSpPr>
          <p:cNvPr id="31" name="Text 28"/>
          <p:cNvSpPr txBox="1"/>
          <p:nvPr/>
        </p:nvSpPr>
        <p:spPr>
          <a:xfrm>
            <a:off x="6355080" y="507492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32" name="Text 29"/>
          <p:cNvSpPr txBox="1"/>
          <p:nvPr/>
        </p:nvSpPr>
        <p:spPr>
          <a:xfrm>
            <a:off x="6858000" y="4983480"/>
            <a:ext cx="4800600" cy="365760"/>
          </a:xfrm>
          <a:prstGeom prst="rect">
            <a:avLst/>
          </a:prstGeom>
          <a:noFill/>
          <a:ln/>
        </p:spPr>
        <p:txBody>
          <a:bodyPr wrap="square" lIns="0" tIns="0" rIns="0" bIns="0" rtlCol="0" anchor="ctr"/>
          <a:lstStyle/>
          <a:p>
            <a:pPr marL="0" indent="0">
              <a:buNone/>
            </a:pPr>
            <a:r>
              <a:rPr lang="en-US" sz="1300" b="1" dirty="0">
                <a:solidFill>
                  <a:schemeClr val="tx2"/>
                </a:solidFill>
              </a:rPr>
              <a:t>Reasoning quality and a second model family</a:t>
            </a:r>
            <a:endParaRPr lang="en-US" sz="1300" dirty="0"/>
          </a:p>
        </p:txBody>
      </p:sp>
      <p:sp>
        <p:nvSpPr>
          <p:cNvPr id="33" name="Text 30"/>
          <p:cNvSpPr txBox="1"/>
          <p:nvPr/>
        </p:nvSpPr>
        <p:spPr>
          <a:xfrm>
            <a:off x="6858000" y="5349240"/>
            <a:ext cx="4800600" cy="640080"/>
          </a:xfrm>
          <a:prstGeom prst="rect">
            <a:avLst/>
          </a:prstGeom>
          <a:noFill/>
          <a:ln/>
        </p:spPr>
        <p:txBody>
          <a:bodyPr wrap="square" lIns="0" tIns="0" rIns="0" bIns="0" rtlCol="0" anchor="t"/>
          <a:lstStyle/>
          <a:p>
            <a:pPr marL="0" indent="0">
              <a:buNone/>
            </a:pPr>
            <a:r>
              <a:rPr lang="en-US" sz="1050" dirty="0">
                <a:solidFill>
                  <a:schemeClr val="tx1"/>
                </a:solidFill>
              </a:rPr>
              <a:t>Twenty traces hand-graded, a model grader trusted only once it agrees; a second model family to show the harness, not the model, does the work.</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Three things to take away</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342900" indent="-342900" algn="l">
              <a:spcAft>
                <a:spcPts val="800"/>
              </a:spcAft>
              <a:buSzPct val="100000"/>
              <a:buChar char="•"/>
            </a:pPr>
            <a:r>
              <a:rPr lang="en-US" sz="2000" dirty="0">
                <a:solidFill>
                  <a:srgbClr val="CADCFC"/>
                </a:solidFill>
              </a:rPr>
              <a:t>The harness is the product. Same model, same evidence, same day: naive it wobbles and leaks; harnessed it is stable, quoted and checked.</a:t>
            </a:r>
            <a:endParaRPr lang="en-US" sz="2000" dirty="0"/>
          </a:p>
          <a:p>
            <a:pPr marL="342900" indent="-342900" algn="l">
              <a:spcAft>
                <a:spcPts val="800"/>
              </a:spcAft>
              <a:buSzPct val="100000"/>
              <a:buChar char="•"/>
            </a:pPr>
            <a:r>
              <a:rPr lang="en-US" sz="2000" dirty="0">
                <a:solidFill>
                  <a:srgbClr val="CADCFC"/>
                </a:solidFill>
              </a:rPr>
              <a:t>Judge the process. Eight decisions a year cannot prove skill; a pre-registered scorecard measured on every snapshot can show discipline and catch drift.</a:t>
            </a:r>
            <a:endParaRPr lang="en-US" sz="2000" dirty="0"/>
          </a:p>
          <a:p>
            <a:pPr marL="342900" indent="-342900" algn="l">
              <a:buSzPct val="100000"/>
              <a:buChar char="•"/>
            </a:pPr>
            <a:r>
              <a:rPr lang="en-US" sz="2000" dirty="0">
                <a:solidFill>
                  <a:srgbClr val="CADCFC"/>
                </a:solidFill>
              </a:rPr>
              <a:t>The ask: scrutinise the scorecard, challenge a quote, and tell us which other decisions deserve the same chain. The 28 October call is on file; December is already running.</a:t>
            </a:r>
            <a:endParaRPr lang="en-US" sz="2000" dirty="0"/>
          </a:p>
        </p:txBody>
      </p:sp>
    </p:spTree>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5552</Words>
  <Application>Microsoft Office PowerPoint</Application>
  <PresentationFormat>Widescreen</PresentationFormat>
  <Paragraphs>479</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Cambria</vt:lpstr>
      <vt:lpstr>Courier New</vt:lpstr>
      <vt:lpstr>FedCast</vt:lpstr>
      <vt:lpstr>FedCast</vt:lpstr>
      <vt:lpstr>About me</vt:lpstr>
      <vt:lpstr>The question, the answer, and what happened</vt:lpstr>
      <vt:lpstr>Live demo 1: the forecast</vt:lpstr>
      <vt:lpstr>Why build this</vt:lpstr>
      <vt:lpstr>What others do, and what each lacks</vt:lpstr>
      <vt:lpstr>Four families, one pool, one number</vt:lpstr>
      <vt:lpstr>The arithmetic: from five models to one number</vt:lpstr>
      <vt:lpstr>Live demo 2: the evidence graph and the pool</vt:lpstr>
      <vt:lpstr>Eight analysts, one model, one ladder</vt:lpstr>
      <vt:lpstr>What the harness enforces around every analyst</vt:lpstr>
      <vt:lpstr>Live demo 3: what each analyst is asked and given</vt:lpstr>
      <vt:lpstr>The ladder, four snapshots, five runs each</vt:lpstr>
      <vt:lpstr>How good is the harness: what each step bought</vt:lpstr>
      <vt:lpstr>What the specialists said on 26 October</vt:lpstr>
      <vt:lpstr>Live demo 4: what the analysts concluded</vt:lpstr>
      <vt:lpstr>The scorecard: eight of ten dimensions measured by code</vt:lpstr>
      <vt:lpstr>Live demo 5: the scorecard and the drift table</vt:lpstr>
      <vt:lpstr>Live demo 6: the ledger and replay</vt:lpstr>
      <vt:lpstr>What this does not claim, and what comes next</vt:lpstr>
      <vt:lpstr>Three things to take away</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Kahming Tan</cp:lastModifiedBy>
  <cp:revision>1</cp:revision>
  <dcterms:created xsi:type="dcterms:W3CDTF">2026-10-29T04:53:13Z</dcterms:created>
  <dcterms:modified xsi:type="dcterms:W3CDTF">2026-10-29T04:53:16Z</dcterms:modified>
</cp:coreProperties>
</file>