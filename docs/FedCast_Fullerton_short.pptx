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rief" id="{CCE3A166-3062-B012-ACBA-5B1B5710B73F}">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9015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a language model inside an engineered harness gives forecasts that are measurably more repeatable and more faithful to evidence than the same model asked naively, and we prove it by measuring the process, not by waiting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it is, in one line, the diagram, and four things it does. Right: the three reasons we built it. Spend the time on the right-hand side; the diagram is there so the room can see the four families and that code, not a model, combines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marL="0" indent="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marL="0" indent="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marL="0" indent="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marL="0" indent="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marL="0" indent="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07618" y="277682"/>
            <a:ext cx="1232199" cy="123219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FedCast is, and why we built it</a:t>
            </a:r>
            <a:endParaRPr lang="en-US" sz="3200" dirty="0"/>
          </a:p>
        </p:txBody>
      </p:sp>
      <p:sp>
        <p:nvSpPr>
          <p:cNvPr id="4" name="Text 1"/>
          <p:cNvSpPr txBox="1"/>
          <p:nvPr/>
        </p:nvSpPr>
        <p:spPr>
          <a:xfrm>
            <a:off x="548640" y="1234440"/>
            <a:ext cx="11091672" cy="548640"/>
          </a:xfrm>
          <a:prstGeom prst="rect">
            <a:avLst/>
          </a:prstGeom>
          <a:noFill/>
          <a:ln/>
        </p:spPr>
        <p:txBody>
          <a:bodyPr wrap="square" lIns="0" tIns="0" rIns="0" bIns="0" rtlCol="0" anchor="t"/>
          <a:lstStyle/>
          <a:p>
            <a:pPr marL="0" indent="0">
              <a:buNone/>
            </a:pPr>
            <a:r>
              <a:rPr lang="en-US" sz="1350" dirty="0">
                <a:solidFill>
                  <a:schemeClr val="tx1"/>
                </a:solidFill>
              </a:rPr>
              <a:t>A forecast of the next FOMC decision as probabilities over five outcomes, from one frozen snapshot of evidence. </a:t>
            </a:r>
          </a:p>
          <a:p>
            <a:pPr marL="0" indent="0">
              <a:buNone/>
            </a:pPr>
            <a:r>
              <a:rPr lang="en-US" sz="1350" dirty="0"/>
              <a:t>As of 27 October, for </a:t>
            </a:r>
            <a:r>
              <a:rPr lang="en-US" sz="1350" dirty="0">
                <a:solidFill>
                  <a:schemeClr val="tx1"/>
                </a:solidFill>
              </a:rPr>
              <a:t>28 October 2026: no change 71%, +25 bps 23%.</a:t>
            </a:r>
            <a:endParaRPr lang="en-US" sz="1350" dirty="0"/>
          </a:p>
        </p:txBody>
      </p:sp>
      <p:sp>
        <p:nvSpPr>
          <p:cNvPr id="5" name="Shape 2"/>
          <p:cNvSpPr/>
          <p:nvPr/>
        </p:nvSpPr>
        <p:spPr>
          <a:xfrm>
            <a:off x="548640" y="1874520"/>
            <a:ext cx="2514600" cy="676656"/>
          </a:xfrm>
          <a:prstGeom prst="roundRect">
            <a:avLst>
              <a:gd name="adj" fmla="val 10811"/>
            </a:avLst>
          </a:prstGeom>
          <a:solidFill>
            <a:srgbClr val="1E2761"/>
          </a:solidFill>
          <a:ln w="12700">
            <a:solidFill>
              <a:srgbClr val="1E2761"/>
            </a:solidFill>
            <a:prstDash val="solid"/>
          </a:ln>
        </p:spPr>
      </p:sp>
      <p:sp>
        <p:nvSpPr>
          <p:cNvPr id="6" name="Text 3"/>
          <p:cNvSpPr txBox="1"/>
          <p:nvPr/>
        </p:nvSpPr>
        <p:spPr>
          <a:xfrm>
            <a:off x="676656" y="1929384"/>
            <a:ext cx="2258568" cy="274320"/>
          </a:xfrm>
          <a:prstGeom prst="rect">
            <a:avLst/>
          </a:prstGeom>
          <a:noFill/>
          <a:ln/>
        </p:spPr>
        <p:txBody>
          <a:bodyPr wrap="square" lIns="0" tIns="0" rIns="0" bIns="0" rtlCol="0" anchor="t"/>
          <a:lstStyle/>
          <a:p>
            <a:pPr marL="0" indent="0">
              <a:buNone/>
            </a:pPr>
            <a:r>
              <a:rPr lang="en-US" sz="1200" b="1" dirty="0">
                <a:solidFill>
                  <a:schemeClr val="bg1"/>
                </a:solidFill>
              </a:rPr>
              <a:t>Economic predictors</a:t>
            </a:r>
            <a:endParaRPr lang="en-US" sz="1200" dirty="0"/>
          </a:p>
        </p:txBody>
      </p:sp>
      <p:sp>
        <p:nvSpPr>
          <p:cNvPr id="7" name="Text 4"/>
          <p:cNvSpPr txBox="1"/>
          <p:nvPr/>
        </p:nvSpPr>
        <p:spPr>
          <a:xfrm>
            <a:off x="676656" y="2176272"/>
            <a:ext cx="2258568" cy="365760"/>
          </a:xfrm>
          <a:prstGeom prst="rect">
            <a:avLst/>
          </a:prstGeom>
          <a:noFill/>
          <a:ln/>
        </p:spPr>
        <p:txBody>
          <a:bodyPr wrap="square" lIns="0" tIns="0" rIns="0" bIns="0" rtlCol="0" anchor="t"/>
          <a:lstStyle/>
          <a:p>
            <a:pPr marL="0" indent="0">
              <a:buNone/>
            </a:pPr>
            <a:r>
              <a:rPr lang="en-US" sz="850" dirty="0">
                <a:solidFill>
                  <a:schemeClr val="bg1"/>
                </a:solidFill>
              </a:rPr>
              <a:t>Fed funds futures, the Fed's own Taylor rules, Polymarket odds</a:t>
            </a:r>
            <a:endParaRPr lang="en-US" sz="850" dirty="0"/>
          </a:p>
        </p:txBody>
      </p:sp>
      <p:sp>
        <p:nvSpPr>
          <p:cNvPr id="8" name="Shape 5"/>
          <p:cNvSpPr/>
          <p:nvPr/>
        </p:nvSpPr>
        <p:spPr>
          <a:xfrm>
            <a:off x="3136392" y="2212848"/>
            <a:ext cx="365760" cy="0"/>
          </a:xfrm>
          <a:prstGeom prst="line">
            <a:avLst/>
          </a:prstGeom>
          <a:noFill/>
          <a:ln w="19050">
            <a:solidFill>
              <a:srgbClr val="6B7280"/>
            </a:solidFill>
            <a:prstDash val="solid"/>
            <a:tailEnd type="triangle"/>
          </a:ln>
        </p:spPr>
      </p:sp>
      <p:sp>
        <p:nvSpPr>
          <p:cNvPr id="9" name="Shape 6"/>
          <p:cNvSpPr/>
          <p:nvPr/>
        </p:nvSpPr>
        <p:spPr>
          <a:xfrm>
            <a:off x="548640" y="2624328"/>
            <a:ext cx="2514600" cy="676656"/>
          </a:xfrm>
          <a:prstGeom prst="roundRect">
            <a:avLst>
              <a:gd name="adj" fmla="val 10811"/>
            </a:avLst>
          </a:prstGeom>
          <a:solidFill>
            <a:srgbClr val="1E2761"/>
          </a:solidFill>
          <a:ln w="12700">
            <a:solidFill>
              <a:srgbClr val="1E2761"/>
            </a:solidFill>
            <a:prstDash val="solid"/>
          </a:ln>
        </p:spPr>
      </p:sp>
      <p:sp>
        <p:nvSpPr>
          <p:cNvPr id="10" name="Text 7"/>
          <p:cNvSpPr txBox="1"/>
          <p:nvPr/>
        </p:nvSpPr>
        <p:spPr>
          <a:xfrm>
            <a:off x="676656" y="2679192"/>
            <a:ext cx="2258568" cy="274320"/>
          </a:xfrm>
          <a:prstGeom prst="rect">
            <a:avLst/>
          </a:prstGeom>
          <a:noFill/>
          <a:ln/>
        </p:spPr>
        <p:txBody>
          <a:bodyPr wrap="square" lIns="0" tIns="0" rIns="0" bIns="0" rtlCol="0" anchor="t"/>
          <a:lstStyle/>
          <a:p>
            <a:pPr marL="0" indent="0">
              <a:buNone/>
            </a:pPr>
            <a:r>
              <a:rPr lang="en-US" sz="1200" b="1" dirty="0">
                <a:solidFill>
                  <a:schemeClr val="bg1"/>
                </a:solidFill>
              </a:rPr>
              <a:t>Empirical data</a:t>
            </a:r>
            <a:endParaRPr lang="en-US" sz="1200" dirty="0"/>
          </a:p>
        </p:txBody>
      </p:sp>
      <p:sp>
        <p:nvSpPr>
          <p:cNvPr id="11" name="Text 8"/>
          <p:cNvSpPr txBox="1"/>
          <p:nvPr/>
        </p:nvSpPr>
        <p:spPr>
          <a:xfrm>
            <a:off x="676656" y="2926080"/>
            <a:ext cx="2258568" cy="365760"/>
          </a:xfrm>
          <a:prstGeom prst="rect">
            <a:avLst/>
          </a:prstGeom>
          <a:noFill/>
          <a:ln/>
        </p:spPr>
        <p:txBody>
          <a:bodyPr wrap="square" lIns="0" tIns="0" rIns="0" bIns="0" rtlCol="0" anchor="t"/>
          <a:lstStyle/>
          <a:p>
            <a:pPr marL="0" indent="0">
              <a:buNone/>
            </a:pPr>
            <a:r>
              <a:rPr lang="en-US" sz="850" dirty="0">
                <a:solidFill>
                  <a:schemeClr val="bg1"/>
                </a:solidFill>
              </a:rPr>
              <a:t>What followed each kind of decision over 32 years of FOMC history</a:t>
            </a:r>
            <a:r>
              <a:rPr lang="en-US" sz="850" dirty="0" err="1">
                <a:solidFill>
                  <a:schemeClr val="bg1"/>
                </a:solidFill>
              </a:rPr>
              <a:t/>
            </a:r>
            <a:r>
              <a:rPr lang="en-US" sz="850" dirty="0">
                <a:solidFill>
                  <a:schemeClr val="bg1"/>
                </a:solidFill>
              </a:rPr>
              <a:t/>
            </a:r>
            <a:endParaRPr lang="en-US" sz="850" dirty="0"/>
          </a:p>
        </p:txBody>
      </p:sp>
      <p:sp>
        <p:nvSpPr>
          <p:cNvPr id="12" name="Shape 9"/>
          <p:cNvSpPr/>
          <p:nvPr/>
        </p:nvSpPr>
        <p:spPr>
          <a:xfrm>
            <a:off x="3136392" y="2962656"/>
            <a:ext cx="365760" cy="0"/>
          </a:xfrm>
          <a:prstGeom prst="line">
            <a:avLst/>
          </a:prstGeom>
          <a:noFill/>
          <a:ln w="19050">
            <a:solidFill>
              <a:srgbClr val="6B7280"/>
            </a:solidFill>
            <a:prstDash val="solid"/>
            <a:tailEnd type="triangle"/>
          </a:ln>
        </p:spPr>
      </p:sp>
      <p:sp>
        <p:nvSpPr>
          <p:cNvPr id="13" name="Shape 10"/>
          <p:cNvSpPr/>
          <p:nvPr/>
        </p:nvSpPr>
        <p:spPr>
          <a:xfrm>
            <a:off x="548640" y="3374136"/>
            <a:ext cx="2514600" cy="676656"/>
          </a:xfrm>
          <a:prstGeom prst="roundRect">
            <a:avLst>
              <a:gd name="adj" fmla="val 10811"/>
            </a:avLst>
          </a:prstGeom>
          <a:solidFill>
            <a:srgbClr val="6B7280"/>
          </a:solidFill>
          <a:ln w="12700">
            <a:solidFill>
              <a:srgbClr val="6B7280"/>
            </a:solidFill>
            <a:prstDash val="solid"/>
          </a:ln>
        </p:spPr>
      </p:sp>
      <p:sp>
        <p:nvSpPr>
          <p:cNvPr id="14" name="Text 11"/>
          <p:cNvSpPr txBox="1"/>
          <p:nvPr/>
        </p:nvSpPr>
        <p:spPr>
          <a:xfrm>
            <a:off x="676656" y="3429000"/>
            <a:ext cx="2258568" cy="274320"/>
          </a:xfrm>
          <a:prstGeom prst="rect">
            <a:avLst/>
          </a:prstGeom>
          <a:noFill/>
          <a:ln/>
        </p:spPr>
        <p:txBody>
          <a:bodyPr wrap="square" lIns="0" tIns="0" rIns="0" bIns="0" rtlCol="0" anchor="t"/>
          <a:lstStyle/>
          <a:p>
            <a:pPr marL="0" indent="0">
              <a:buNone/>
            </a:pPr>
            <a:r>
              <a:rPr lang="en-US" sz="1200" b="1" dirty="0">
                <a:solidFill>
                  <a:schemeClr val="bg1"/>
                </a:solidFill>
              </a:rPr>
              <a:t>Classic ML</a:t>
            </a:r>
            <a:endParaRPr lang="en-US" sz="1200" dirty="0"/>
          </a:p>
        </p:txBody>
      </p:sp>
      <p:sp>
        <p:nvSpPr>
          <p:cNvPr id="15" name="Text 12"/>
          <p:cNvSpPr txBox="1"/>
          <p:nvPr/>
        </p:nvSpPr>
        <p:spPr>
          <a:xfrm>
            <a:off x="676656" y="3675888"/>
            <a:ext cx="2258568" cy="365760"/>
          </a:xfrm>
          <a:prstGeom prst="rect">
            <a:avLst/>
          </a:prstGeom>
          <a:noFill/>
          <a:ln/>
        </p:spPr>
        <p:txBody>
          <a:bodyPr wrap="square" lIns="0" tIns="0" rIns="0" bIns="0" rtlCol="0" anchor="t"/>
          <a:lstStyle/>
          <a:p>
            <a:pPr marL="0" indent="0">
              <a:buNone/>
            </a:pPr>
            <a:r>
              <a:rPr lang="en-US" sz="850" dirty="0">
                <a:solidFill>
                  <a:schemeClr val="bg1"/>
                </a:solidFill>
              </a:rPr>
              <a:t>An ordered probit fitted on data as first published; shown, not yet in the number</a:t>
            </a:r>
            <a:endParaRPr lang="en-US" sz="850" dirty="0"/>
          </a:p>
        </p:txBody>
      </p:sp>
      <p:sp>
        <p:nvSpPr>
          <p:cNvPr id="16" name="Shape 13"/>
          <p:cNvSpPr/>
          <p:nvPr/>
        </p:nvSpPr>
        <p:spPr>
          <a:xfrm>
            <a:off x="3136392" y="3712464"/>
            <a:ext cx="365760" cy="0"/>
          </a:xfrm>
          <a:prstGeom prst="line">
            <a:avLst/>
          </a:prstGeom>
          <a:noFill/>
          <a:ln w="19050">
            <a:solidFill>
              <a:srgbClr val="6B7280"/>
            </a:solidFill>
            <a:prstDash val="solid"/>
            <a:tailEnd type="triangle"/>
          </a:ln>
        </p:spPr>
      </p:sp>
      <p:sp>
        <p:nvSpPr>
          <p:cNvPr id="17" name="Shape 14"/>
          <p:cNvSpPr/>
          <p:nvPr/>
        </p:nvSpPr>
        <p:spPr>
          <a:xfrm>
            <a:off x="548640" y="4123944"/>
            <a:ext cx="2514600" cy="676656"/>
          </a:xfrm>
          <a:prstGeom prst="roundRect">
            <a:avLst>
              <a:gd name="adj" fmla="val 10811"/>
            </a:avLst>
          </a:prstGeom>
          <a:solidFill>
            <a:srgbClr val="C8553D"/>
          </a:solidFill>
          <a:ln w="12700">
            <a:solidFill>
              <a:srgbClr val="C8553D"/>
            </a:solidFill>
            <a:prstDash val="solid"/>
          </a:ln>
        </p:spPr>
      </p:sp>
      <p:sp>
        <p:nvSpPr>
          <p:cNvPr id="18" name="Text 15"/>
          <p:cNvSpPr txBox="1"/>
          <p:nvPr/>
        </p:nvSpPr>
        <p:spPr>
          <a:xfrm>
            <a:off x="676656" y="4178808"/>
            <a:ext cx="2258568" cy="274320"/>
          </a:xfrm>
          <a:prstGeom prst="rect">
            <a:avLst/>
          </a:prstGeom>
          <a:noFill/>
          <a:ln/>
        </p:spPr>
        <p:txBody>
          <a:bodyPr wrap="square" lIns="0" tIns="0" rIns="0" bIns="0" rtlCol="0" anchor="t"/>
          <a:lstStyle/>
          <a:p>
            <a:pPr marL="0" indent="0">
              <a:buNone/>
            </a:pPr>
            <a:r>
              <a:rPr lang="en-US" sz="1200" b="1" dirty="0">
                <a:solidFill>
                  <a:schemeClr val="bg1"/>
                </a:solidFill>
              </a:rPr>
              <a:t>LLM-derived</a:t>
            </a:r>
            <a:endParaRPr lang="en-US" sz="1200" dirty="0"/>
          </a:p>
        </p:txBody>
      </p:sp>
      <p:sp>
        <p:nvSpPr>
          <p:cNvPr id="19" name="Text 16"/>
          <p:cNvSpPr txBox="1"/>
          <p:nvPr/>
        </p:nvSpPr>
        <p:spPr>
          <a:xfrm>
            <a:off x="676656" y="4425696"/>
            <a:ext cx="2258568" cy="365760"/>
          </a:xfrm>
          <a:prstGeom prst="rect">
            <a:avLst/>
          </a:prstGeom>
          <a:noFill/>
          <a:ln/>
        </p:spPr>
        <p:txBody>
          <a:bodyPr wrap="square" lIns="0" tIns="0" rIns="0" bIns="0" rtlCol="0" anchor="t"/>
          <a:lstStyle/>
          <a:p>
            <a:pPr marL="0" indent="0">
              <a:buNone/>
            </a:pPr>
            <a:r>
              <a:rPr lang="en-US" sz="850" dirty="0">
                <a:solidFill>
                  <a:schemeClr val="bg1"/>
                </a:solidFill>
              </a:rPr>
              <a:t>Five specialist analysts reading the Fed's own words; every claim quoted and verified by code</a:t>
            </a:r>
            <a:endParaRPr lang="en-US" sz="850" dirty="0"/>
          </a:p>
        </p:txBody>
      </p:sp>
      <p:sp>
        <p:nvSpPr>
          <p:cNvPr id="20" name="Shape 17"/>
          <p:cNvSpPr/>
          <p:nvPr/>
        </p:nvSpPr>
        <p:spPr>
          <a:xfrm>
            <a:off x="3136392" y="4462272"/>
            <a:ext cx="365760" cy="0"/>
          </a:xfrm>
          <a:prstGeom prst="line">
            <a:avLst/>
          </a:prstGeom>
          <a:noFill/>
          <a:ln w="19050">
            <a:solidFill>
              <a:srgbClr val="6B7280"/>
            </a:solidFill>
            <a:prstDash val="solid"/>
            <a:tailEnd type="triangle"/>
          </a:ln>
        </p:spPr>
      </p:sp>
      <p:sp>
        <p:nvSpPr>
          <p:cNvPr id="21" name="Shape 18"/>
          <p:cNvSpPr/>
          <p:nvPr/>
        </p:nvSpPr>
        <p:spPr>
          <a:xfrm>
            <a:off x="3566160" y="1874520"/>
            <a:ext cx="1234440" cy="2926080"/>
          </a:xfrm>
          <a:prstGeom prst="roundRect">
            <a:avLst>
              <a:gd name="adj" fmla="val 7407"/>
            </a:avLst>
          </a:prstGeom>
          <a:solidFill>
            <a:srgbClr val="EEF2F7"/>
          </a:solidFill>
          <a:ln w="12700">
            <a:solidFill>
              <a:srgbClr val="CADCFC"/>
            </a:solidFill>
            <a:prstDash val="solid"/>
          </a:ln>
        </p:spPr>
      </p:sp>
      <p:sp>
        <p:nvSpPr>
          <p:cNvPr id="22" name="Text 19"/>
          <p:cNvSpPr txBox="1"/>
          <p:nvPr/>
        </p:nvSpPr>
        <p:spPr>
          <a:xfrm>
            <a:off x="3566160" y="2103120"/>
            <a:ext cx="1234440" cy="365760"/>
          </a:xfrm>
          <a:prstGeom prst="rect">
            <a:avLst/>
          </a:prstGeom>
          <a:noFill/>
          <a:ln/>
        </p:spPr>
        <p:txBody>
          <a:bodyPr wrap="square" lIns="0" tIns="0" rIns="0" bIns="0" rtlCol="0" anchor="t"/>
          <a:lstStyle/>
          <a:p>
            <a:pPr marL="0" indent="0" algn="ctr">
              <a:buNone/>
            </a:pPr>
            <a:r>
              <a:rPr lang="en-US" sz="1400" b="1" dirty="0">
                <a:solidFill>
                  <a:schemeClr val="tx2"/>
                </a:solidFill>
              </a:rPr>
              <a:t>Pool</a:t>
            </a:r>
            <a:endParaRPr lang="en-US" sz="1400" dirty="0"/>
          </a:p>
        </p:txBody>
      </p:sp>
      <p:sp>
        <p:nvSpPr>
          <p:cNvPr id="23" name="Text 20"/>
          <p:cNvSpPr txBox="1"/>
          <p:nvPr/>
        </p:nvSpPr>
        <p:spPr>
          <a:xfrm>
            <a:off x="3657600" y="2560320"/>
            <a:ext cx="1051560" cy="2560320"/>
          </a:xfrm>
          <a:prstGeom prst="rect">
            <a:avLst/>
          </a:prstGeom>
          <a:noFill/>
          <a:ln/>
        </p:spPr>
        <p:txBody>
          <a:bodyPr wrap="square" lIns="0" tIns="0" rIns="0" bIns="0" rtlCol="0" anchor="t"/>
          <a:lstStyle/>
          <a:p>
            <a:pPr marL="0" indent="0" algn="ctr">
              <a:buNone/>
            </a:pPr>
            <a:r>
              <a:rPr lang="en-US" sz="900" dirty="0">
                <a:solidFill>
                  <a:schemeClr val="tx1"/>
                </a:solidFill>
              </a:rPr>
              <a:t>Combined by code with fixed, published weights. No model writes the number.</a:t>
            </a:r>
            <a:endParaRPr lang="en-US" sz="900" dirty="0"/>
          </a:p>
        </p:txBody>
      </p:sp>
      <p:sp>
        <p:nvSpPr>
          <p:cNvPr id="24" name="Shape 21"/>
          <p:cNvSpPr/>
          <p:nvPr/>
        </p:nvSpPr>
        <p:spPr>
          <a:xfrm>
            <a:off x="4864608" y="3337560"/>
            <a:ext cx="365760" cy="0"/>
          </a:xfrm>
          <a:prstGeom prst="line">
            <a:avLst/>
          </a:prstGeom>
          <a:noFill/>
          <a:ln w="19050">
            <a:solidFill>
              <a:srgbClr val="6B7280"/>
            </a:solidFill>
            <a:prstDash val="solid"/>
            <a:tailEnd type="triangle"/>
          </a:ln>
        </p:spPr>
      </p:sp>
      <p:sp>
        <p:nvSpPr>
          <p:cNvPr id="25" name="Shape 22"/>
          <p:cNvSpPr/>
          <p:nvPr/>
        </p:nvSpPr>
        <p:spPr>
          <a:xfrm>
            <a:off x="5303520" y="2697480"/>
            <a:ext cx="1280160" cy="1280160"/>
          </a:xfrm>
          <a:prstGeom prst="roundRect">
            <a:avLst>
              <a:gd name="adj" fmla="val 7143"/>
            </a:avLst>
          </a:prstGeom>
          <a:solidFill>
            <a:srgbClr val="1E2761"/>
          </a:solidFill>
          <a:ln w="12700">
            <a:solidFill>
              <a:srgbClr val="1E2761"/>
            </a:solidFill>
            <a:prstDash val="solid"/>
          </a:ln>
        </p:spPr>
      </p:sp>
      <p:sp>
        <p:nvSpPr>
          <p:cNvPr id="26" name="Text 23"/>
          <p:cNvSpPr txBox="1"/>
          <p:nvPr/>
        </p:nvSpPr>
        <p:spPr>
          <a:xfrm>
            <a:off x="5303520" y="2788920"/>
            <a:ext cx="1280160" cy="365760"/>
          </a:xfrm>
          <a:prstGeom prst="rect">
            <a:avLst/>
          </a:prstGeom>
          <a:noFill/>
          <a:ln/>
        </p:spPr>
        <p:txBody>
          <a:bodyPr wrap="square" lIns="0" tIns="0" rIns="0" bIns="0" rtlCol="0" anchor="t"/>
          <a:lstStyle/>
          <a:p>
            <a:pPr marL="0" indent="0" algn="ctr">
              <a:buNone/>
            </a:pPr>
            <a:r>
              <a:rPr lang="en-US" sz="1300" b="1" dirty="0">
                <a:solidFill>
                  <a:schemeClr val="bg1"/>
                </a:solidFill>
              </a:rPr>
              <a:t>Forecast, as of 27 October</a:t>
            </a:r>
            <a:endParaRPr lang="en-US" sz="1300" dirty="0"/>
          </a:p>
        </p:txBody>
      </p:sp>
      <p:sp>
        <p:nvSpPr>
          <p:cNvPr id="27" name="Text 24"/>
          <p:cNvSpPr txBox="1"/>
          <p:nvPr/>
        </p:nvSpPr>
        <p:spPr>
          <a:xfrm>
            <a:off x="5303520" y="3200400"/>
            <a:ext cx="1280160" cy="731520"/>
          </a:xfrm>
          <a:prstGeom prst="rect">
            <a:avLst/>
          </a:prstGeom>
          <a:noFill/>
          <a:ln/>
        </p:spPr>
        <p:txBody>
          <a:bodyPr wrap="square" lIns="0" tIns="0" rIns="0" bIns="0" rtlCol="0" anchor="t"/>
          <a:lstStyle/>
          <a:p>
            <a:pPr marL="0" indent="0" algn="ctr">
              <a:buNone/>
            </a:pPr>
            <a:r>
              <a:rPr lang="en-US" sz="1050" dirty="0">
                <a:solidFill>
                  <a:schemeClr val="bg1"/>
                </a:solidFill>
              </a:rPr>
              <a:t>no change 71%</a:t>
            </a:r>
            <a:endParaRPr lang="en-US" sz="1050" dirty="0"/>
          </a:p>
          <a:p>
            <a:pPr marL="0" indent="0" algn="ctr">
              <a:buNone/>
            </a:pPr>
            <a:r>
              <a:rPr lang="en-US" sz="1050" dirty="0">
                <a:solidFill>
                  <a:schemeClr val="bg1"/>
                </a:solidFill>
              </a:rPr>
              <a:t>+25 bps 23%</a:t>
            </a:r>
            <a:endParaRPr lang="en-US" sz="1050" dirty="0"/>
          </a:p>
        </p:txBody>
      </p:sp>
      <p:sp>
        <p:nvSpPr>
          <p:cNvPr id="28" name="Text 25"/>
          <p:cNvSpPr txBox="1"/>
          <p:nvPr/>
        </p:nvSpPr>
        <p:spPr>
          <a:xfrm>
            <a:off x="548640" y="4846320"/>
            <a:ext cx="6400800" cy="274320"/>
          </a:xfrm>
          <a:prstGeom prst="rect">
            <a:avLst/>
          </a:prstGeom>
          <a:noFill/>
          <a:ln/>
        </p:spPr>
        <p:txBody>
          <a:bodyPr wrap="square" lIns="0" tIns="0" rIns="0" bIns="0" rtlCol="0" anchor="t"/>
          <a:lstStyle/>
          <a:p>
            <a:pPr marL="0" indent="0">
              <a:buNone/>
            </a:pPr>
            <a:r>
              <a:rPr lang="en-US" sz="1200" b="1" dirty="0">
                <a:solidFill>
                  <a:schemeClr val="tx2"/>
                </a:solidFill>
              </a:rPr>
              <a:t>What it does</a:t>
            </a:r>
            <a:endParaRPr lang="en-US" sz="1200" dirty="0"/>
          </a:p>
        </p:txBody>
      </p:sp>
      <p:sp>
        <p:nvSpPr>
          <p:cNvPr id="29" name="Text 26"/>
          <p:cNvSpPr txBox="1"/>
          <p:nvPr/>
        </p:nvSpPr>
        <p:spPr>
          <a:xfrm>
            <a:off x="548640" y="5074920"/>
            <a:ext cx="6492240" cy="1280160"/>
          </a:xfrm>
          <a:prstGeom prst="rect">
            <a:avLst/>
          </a:prstGeom>
          <a:noFill/>
          <a:ln/>
        </p:spPr>
        <p:txBody>
          <a:bodyPr wrap="square" lIns="0" tIns="0" rIns="0" bIns="0" rtlCol="0" anchor="t"/>
          <a:lstStyle/>
          <a:p>
            <a:pPr marL="228600" indent="-228600">
              <a:spcAft>
                <a:spcPts val="200"/>
              </a:spcAft>
              <a:buSzPct val="100000"/>
              <a:buChar char="•"/>
            </a:pPr>
            <a:r>
              <a:rPr lang="en-US" sz="950" b="1" dirty="0">
                <a:solidFill>
                  <a:schemeClr val="tx1"/>
                </a:solidFill>
              </a:rPr>
              <a:t>Auditable by construction. </a:t>
            </a:r>
            <a:r>
              <a:rPr lang="en-US" sz="950" dirty="0">
                <a:solidFill>
                  <a:schemeClr val="tx1"/>
                </a:solidFill>
              </a:rPr>
              <a:t>Every analyst claim carries a verbatim quote and its source item; code matches the quote and flags any number not in the evidence. Every forecast is frozen with its snapshot in a hash-chained ledger and recomputes exactly.</a:t>
            </a:r>
          </a:p>
          <a:p>
            <a:pPr marL="228600" indent="-228600">
              <a:spcAft>
                <a:spcPts val="200"/>
              </a:spcAft>
              <a:buSzPct val="100000"/>
              <a:buChar char="•"/>
            </a:pPr>
            <a:r>
              <a:rPr lang="en-US" sz="950" b="1" dirty="0">
                <a:solidFill>
                  <a:schemeClr val="tx1"/>
                </a:solidFill>
              </a:rPr>
              <a:t>The LLM is harnessed, then laddered. </a:t>
            </a:r>
            <a:r>
              <a:rPr lang="en-US" sz="950" dirty="0">
                <a:solidFill>
                  <a:schemeClr val="tx1"/>
                </a:solidFill>
              </a:rPr>
              <a:t>Tools off, one slice of evidence, a fixed answer shape, five identical runs. The same model also runs with no harness, with evidence only and with structure only, so each technique's value is measured on a pre-registered scorecard.</a:t>
            </a:r>
          </a:p>
          <a:p>
            <a:pPr marL="228600" indent="-228600">
              <a:spcAft>
                <a:spcPts val="200"/>
              </a:spcAft>
              <a:buSzPct val="100000"/>
              <a:buChar char="•"/>
            </a:pPr>
            <a:r>
              <a:rPr lang="en-US" sz="950" b="1" dirty="0">
                <a:solidFill>
                  <a:schemeClr val="tx1"/>
                </a:solidFill>
              </a:rPr>
              <a:t>Human judgement through typed channels. </a:t>
            </a:r>
            <a:r>
              <a:rPr lang="en-US" sz="950" dirty="0">
                <a:solidFill>
                  <a:schemeClr val="tx1"/>
                </a:solidFill>
              </a:rPr>
              <a:t>Views tilt the number by a capped amount and expire; watch-outs must be answered by every analyst; documents and odds enter as evidence. All recorded and scored afterwards. None active today.</a:t>
            </a:r>
          </a:p>
          <a:p>
            <a:pPr marL="228600" indent="-228600">
              <a:spcAft>
                <a:spcPts val="200"/>
              </a:spcAft>
              <a:buSzPct val="100000"/>
              <a:buChar char="•"/>
            </a:pPr>
            <a:r>
              <a:rPr lang="en-US" sz="950" b="1" dirty="0">
                <a:solidFill>
                  <a:schemeClr val="tx1"/>
                </a:solidFill>
              </a:rPr>
              <a:t>A working tool. </a:t>
            </a:r>
            <a:r>
              <a:rPr lang="en-US" sz="950" dirty="0">
                <a:solidFill>
                  <a:schemeClr val="tx1"/>
                </a:solidFill>
              </a:rPr>
              <a:t>A local app: pull evidence, run the forecast, read each analyst's claims, check the scorecard, score the decision once known. Runs anywhere from the repository.</a:t>
            </a:r>
          </a:p>
        </p:txBody>
      </p:sp>
      <p:sp>
        <p:nvSpPr>
          <p:cNvPr id="30" name="Text 27"/>
          <p:cNvSpPr txBox="1"/>
          <p:nvPr/>
        </p:nvSpPr>
        <p:spPr>
          <a:xfrm>
            <a:off x="7315200" y="1828800"/>
            <a:ext cx="4325112" cy="365760"/>
          </a:xfrm>
          <a:prstGeom prst="rect">
            <a:avLst/>
          </a:prstGeom>
          <a:noFill/>
          <a:ln/>
        </p:spPr>
        <p:txBody>
          <a:bodyPr wrap="square" lIns="0" tIns="0" rIns="0" bIns="0" rtlCol="0" anchor="t"/>
          <a:lstStyle/>
          <a:p>
            <a:pPr marL="0" indent="0">
              <a:buNone/>
            </a:pPr>
            <a:r>
              <a:rPr lang="en-US" sz="1700" b="1" dirty="0">
                <a:solidFill>
                  <a:schemeClr val="tx2"/>
                </a:solidFill>
              </a:rPr>
              <a:t>Why we built it</a:t>
            </a:r>
            <a:endParaRPr lang="en-US" sz="1700" dirty="0"/>
          </a:p>
        </p:txBody>
      </p:sp>
      <p:sp>
        <p:nvSpPr>
          <p:cNvPr id="31" name="Shape 28"/>
          <p:cNvSpPr/>
          <p:nvPr/>
        </p:nvSpPr>
        <p:spPr>
          <a:xfrm>
            <a:off x="7315200" y="2304288"/>
            <a:ext cx="384048" cy="384048"/>
          </a:xfrm>
          <a:prstGeom prst="ellipse">
            <a:avLst/>
          </a:prstGeom>
          <a:solidFill>
            <a:srgbClr val="1E2761"/>
          </a:solidFill>
          <a:ln w="12700">
            <a:solidFill>
              <a:srgbClr val="1E2761"/>
            </a:solidFill>
            <a:prstDash val="solid"/>
          </a:ln>
        </p:spPr>
      </p:sp>
      <p:sp>
        <p:nvSpPr>
          <p:cNvPr id="32" name="Text 29"/>
          <p:cNvSpPr txBox="1"/>
          <p:nvPr/>
        </p:nvSpPr>
        <p:spPr>
          <a:xfrm>
            <a:off x="7315200" y="23042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33" name="Text 30"/>
          <p:cNvSpPr txBox="1"/>
          <p:nvPr/>
        </p:nvSpPr>
        <p:spPr>
          <a:xfrm>
            <a:off x="7818120" y="22677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Fed prediction tools are judged on outcomes, which cannot be repeated</a:t>
            </a:r>
            <a:endParaRPr lang="en-US" sz="1200" dirty="0"/>
          </a:p>
        </p:txBody>
      </p:sp>
      <p:sp>
        <p:nvSpPr>
          <p:cNvPr id="34" name="Text 31"/>
          <p:cNvSpPr txBox="1"/>
          <p:nvPr/>
        </p:nvSpPr>
        <p:spPr>
          <a:xfrm>
            <a:off x="7818120" y="2670048"/>
            <a:ext cx="3822192" cy="960120"/>
          </a:xfrm>
          <a:prstGeom prst="rect">
            <a:avLst/>
          </a:prstGeom>
          <a:noFill/>
          <a:ln/>
        </p:spPr>
        <p:txBody>
          <a:bodyPr wrap="square" lIns="0" tIns="0" rIns="0" bIns="0" rtlCol="0" anchor="t"/>
          <a:lstStyle/>
          <a:p>
            <a:r>
              <a:rPr lang="en-US" sz="950" dirty="0">
                <a:solidFill>
                  <a:schemeClr val="tx1"/>
                </a:solidFill>
              </a:rPr>
              <a:t>Many Fed tools exist. With only eight decisions a year, </a:t>
            </a:r>
            <a:r>
              <a:rPr lang="en-US" sz="950" dirty="0"/>
              <a:t>a hit rate cannot separate luck from skill, and next year is a different draw. </a:t>
            </a:r>
            <a:r>
              <a:rPr lang="en-US" sz="950" b="1" dirty="0"/>
              <a:t>We believe a robust process requires repeatability.</a:t>
            </a:r>
          </a:p>
          <a:p>
            <a:pPr marL="0" indent="0">
              <a:buNone/>
            </a:pPr>
            <a:r>
              <a:rPr lang="en-US" sz="950" dirty="0">
                <a:solidFill>
                  <a:schemeClr val="tx1"/>
                </a:solidFill>
              </a:rPr>
              <a:t>So we judge ours on a pre-registered process: does the same evidence give the same answer, can every claim be traced, does a shock move the number the right way.</a:t>
            </a:r>
            <a:endParaRPr lang="en-US" sz="950" dirty="0"/>
          </a:p>
        </p:txBody>
      </p:sp>
      <p:sp>
        <p:nvSpPr>
          <p:cNvPr id="35" name="Shape 32"/>
          <p:cNvSpPr/>
          <p:nvPr/>
        </p:nvSpPr>
        <p:spPr>
          <a:xfrm>
            <a:off x="7315200" y="3675888"/>
            <a:ext cx="384048" cy="384048"/>
          </a:xfrm>
          <a:prstGeom prst="ellipse">
            <a:avLst/>
          </a:prstGeom>
          <a:solidFill>
            <a:srgbClr val="1E2761"/>
          </a:solidFill>
          <a:ln w="12700">
            <a:solidFill>
              <a:srgbClr val="1E2761"/>
            </a:solidFill>
            <a:prstDash val="solid"/>
          </a:ln>
        </p:spPr>
      </p:sp>
      <p:sp>
        <p:nvSpPr>
          <p:cNvPr id="36" name="Text 33"/>
          <p:cNvSpPr txBox="1"/>
          <p:nvPr/>
        </p:nvSpPr>
        <p:spPr>
          <a:xfrm>
            <a:off x="7315200" y="36758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37" name="Text 34"/>
          <p:cNvSpPr txBox="1"/>
          <p:nvPr/>
        </p:nvSpPr>
        <p:spPr>
          <a:xfrm>
            <a:off x="7818120" y="36393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Most lean too far one way</a:t>
            </a:r>
            <a:endParaRPr lang="en-US" sz="1200" dirty="0"/>
          </a:p>
        </p:txBody>
      </p:sp>
      <p:sp>
        <p:nvSpPr>
          <p:cNvPr id="38" name="Text 35"/>
          <p:cNvSpPr txBox="1"/>
          <p:nvPr/>
        </p:nvSpPr>
        <p:spPr>
          <a:xfrm>
            <a:off x="7818120" y="4041648"/>
            <a:ext cx="3822192" cy="960120"/>
          </a:xfrm>
          <a:prstGeom prst="rect">
            <a:avLst/>
          </a:prstGeom>
          <a:noFill/>
          <a:ln/>
        </p:spPr>
        <p:txBody>
          <a:bodyPr wrap="square" lIns="0" tIns="0" rIns="0" bIns="0" rtlCol="0" anchor="t"/>
          <a:lstStyle/>
          <a:p>
            <a:pPr marL="0" indent="0">
              <a:buNone/>
            </a:pPr>
            <a:r>
              <a:rPr lang="en-US" sz="950" dirty="0">
                <a:solidFill>
                  <a:schemeClr val="tx1"/>
                </a:solidFill>
              </a:rPr>
              <a:t>Either empirical formulas and market prices alone, or everything thrown at a language model. Ours combines the three: </a:t>
            </a:r>
            <a:r>
              <a:rPr lang="en-US" sz="950" b="1" dirty="0">
                <a:solidFill>
                  <a:schemeClr val="tx1"/>
                </a:solidFill>
              </a:rPr>
              <a:t>empirical data</a:t>
            </a:r>
            <a:r>
              <a:rPr lang="en-US" sz="950" dirty="0">
                <a:solidFill>
                  <a:schemeClr val="tx1"/>
                </a:solidFill>
              </a:rPr>
              <a:t>, </a:t>
            </a:r>
            <a:r>
              <a:rPr lang="en-US" sz="950" b="1" dirty="0">
                <a:solidFill>
                  <a:schemeClr val="tx1"/>
                </a:solidFill>
              </a:rPr>
              <a:t>classic ML</a:t>
            </a:r>
            <a:r>
              <a:rPr lang="en-US" sz="950" dirty="0">
                <a:solidFill>
                  <a:schemeClr val="tx1"/>
                </a:solidFill>
              </a:rPr>
              <a:t> and a </a:t>
            </a:r>
            <a:r>
              <a:rPr lang="en-US" sz="950" b="1" dirty="0">
                <a:solidFill>
                  <a:schemeClr val="tx1"/>
                </a:solidFill>
              </a:rPr>
              <a:t>harnessed LLM</a:t>
            </a:r>
            <a:r>
              <a:rPr lang="en-US" sz="950" dirty="0">
                <a:solidFill>
                  <a:schemeClr val="tx1"/>
                </a:solidFill>
              </a:rPr>
              <a:t>, each with a stated role and a stated weight, combined by code.</a:t>
            </a:r>
            <a:endParaRPr lang="en-US" sz="950" dirty="0"/>
          </a:p>
        </p:txBody>
      </p:sp>
      <p:sp>
        <p:nvSpPr>
          <p:cNvPr id="39" name="Shape 36"/>
          <p:cNvSpPr/>
          <p:nvPr/>
        </p:nvSpPr>
        <p:spPr>
          <a:xfrm>
            <a:off x="7315200" y="5047488"/>
            <a:ext cx="384048" cy="384048"/>
          </a:xfrm>
          <a:prstGeom prst="ellipse">
            <a:avLst/>
          </a:prstGeom>
          <a:solidFill>
            <a:srgbClr val="1E2761"/>
          </a:solidFill>
          <a:ln w="12700">
            <a:solidFill>
              <a:srgbClr val="1E2761"/>
            </a:solidFill>
            <a:prstDash val="solid"/>
          </a:ln>
        </p:spPr>
      </p:sp>
      <p:sp>
        <p:nvSpPr>
          <p:cNvPr id="40" name="Text 37"/>
          <p:cNvSpPr txBox="1"/>
          <p:nvPr/>
        </p:nvSpPr>
        <p:spPr>
          <a:xfrm>
            <a:off x="7315200" y="504748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41" name="Text 38"/>
          <p:cNvSpPr txBox="1"/>
          <p:nvPr/>
        </p:nvSpPr>
        <p:spPr>
          <a:xfrm>
            <a:off x="7818120" y="5010912"/>
            <a:ext cx="3822192" cy="365760"/>
          </a:xfrm>
          <a:prstGeom prst="rect">
            <a:avLst/>
          </a:prstGeom>
          <a:noFill/>
          <a:ln/>
        </p:spPr>
        <p:txBody>
          <a:bodyPr wrap="square" lIns="0" tIns="0" rIns="0" bIns="0" rtlCol="0" anchor="t"/>
          <a:lstStyle/>
          <a:p>
            <a:pPr marL="0" indent="0">
              <a:buNone/>
            </a:pPr>
            <a:r>
              <a:rPr lang="en-US" sz="1200" b="1" dirty="0">
                <a:solidFill>
                  <a:schemeClr val="tx2"/>
                </a:solidFill>
              </a:rPr>
              <a:t>What that gives you</a:t>
            </a:r>
            <a:endParaRPr lang="en-US" sz="1200" dirty="0"/>
          </a:p>
        </p:txBody>
      </p:sp>
      <p:sp>
        <p:nvSpPr>
          <p:cNvPr id="42" name="Text 39"/>
          <p:cNvSpPr txBox="1"/>
          <p:nvPr/>
        </p:nvSpPr>
        <p:spPr>
          <a:xfrm>
            <a:off x="7818119" y="5413248"/>
            <a:ext cx="3934609" cy="960120"/>
          </a:xfrm>
          <a:prstGeom prst="rect">
            <a:avLst/>
          </a:prstGeom>
          <a:noFill/>
          <a:ln/>
        </p:spPr>
        <p:txBody>
          <a:bodyPr wrap="square" lIns="0" tIns="0" rIns="0" bIns="0" rtlCol="0" anchor="t"/>
          <a:lstStyle/>
          <a:p>
            <a:pPr marL="0" indent="0">
              <a:buNone/>
            </a:pPr>
            <a:r>
              <a:rPr lang="en-US" sz="950" b="1" dirty="0">
                <a:solidFill>
                  <a:schemeClr val="tx1"/>
                </a:solidFill>
              </a:rPr>
              <a:t>A number you can challenge: </a:t>
            </a:r>
            <a:r>
              <a:rPr lang="en-US" sz="950" dirty="0">
                <a:solidFill>
                  <a:schemeClr val="tx1"/>
                </a:solidFill>
              </a:rPr>
              <a:t>when it moves, you can see which input moved it, and by how much.</a:t>
            </a:r>
          </a:p>
          <a:p>
            <a:pPr marL="0" indent="0">
              <a:buNone/>
            </a:pPr>
            <a:r>
              <a:rPr lang="en-US" sz="950" b="1" dirty="0">
                <a:solidFill>
                  <a:schemeClr val="tx1"/>
                </a:solidFill>
              </a:rPr>
              <a:t>Nothing from memory: </a:t>
            </a:r>
            <a:r>
              <a:rPr lang="en-US" sz="950" dirty="0">
                <a:solidFill>
                  <a:schemeClr val="tx1"/>
                </a:solidFill>
              </a:rPr>
              <a:t>every claim traces to frozen evidence.</a:t>
            </a:r>
          </a:p>
          <a:p>
            <a:pPr marL="0" indent="0">
              <a:buNone/>
            </a:pPr>
            <a:r>
              <a:rPr lang="en-US" sz="950" b="1" dirty="0">
                <a:solidFill>
                  <a:schemeClr val="tx1"/>
                </a:solidFill>
              </a:rPr>
              <a:t>Proof of what the harness adds, </a:t>
            </a:r>
            <a:r>
              <a:rPr lang="en-US" sz="950" dirty="0">
                <a:solidFill>
                  <a:schemeClr val="tx1"/>
                </a:solidFill>
              </a:rPr>
              <a:t>from the naive control.</a:t>
            </a:r>
          </a:p>
          <a:p>
            <a:pPr marL="0" indent="0">
              <a:buNone/>
            </a:pPr>
            <a:r>
              <a:rPr lang="en-US" sz="950" b="1" dirty="0">
                <a:solidFill>
                  <a:schemeClr val="tx1"/>
                </a:solidFill>
              </a:rPr>
              <a:t>A model that can be scrutinised and improved, </a:t>
            </a:r>
            <a:r>
              <a:rPr lang="en-US" sz="950" dirty="0">
                <a:solidFill>
                  <a:schemeClr val="tx1"/>
                </a:solidFill>
              </a:rPr>
              <a:t>instead of hoping the LLM works.</a:t>
            </a:r>
          </a:p>
          <a:p>
            <a:pPr marL="0" indent="0">
              <a:buNone/>
            </a:pPr>
            <a:r>
              <a:rPr lang="en-US" sz="950" b="1" dirty="0">
                <a:solidFill>
                  <a:schemeClr val="tx1"/>
                </a:solidFill>
              </a:rPr>
              <a:t>A record that starts this week: </a:t>
            </a:r>
            <a:r>
              <a:rPr lang="en-US" sz="950" dirty="0">
                <a:solidFill>
                  <a:schemeClr val="tx1"/>
                </a:solidFill>
              </a:rPr>
              <a:t>the first live decision is scored.</a:t>
            </a:r>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951</Words>
  <Application>Microsoft Office PowerPoint</Application>
  <PresentationFormat>Widescreen</PresentationFormat>
  <Paragraphs>66</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Cambria</vt:lpstr>
      <vt:lpstr>FedCast</vt:lpstr>
      <vt:lpstr>FedCast</vt:lpstr>
      <vt:lpstr>About me</vt:lpstr>
      <vt:lpstr>What FedCast is, and why we built it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short brief</dc:title>
  <dc:subject>PptxGenJS Presentation</dc:subject>
  <dc:creator>FedCast</dc:creator>
  <cp:lastModifiedBy>Kahming Tan</cp:lastModifiedBy>
  <cp:revision>1</cp:revision>
  <dcterms:created xsi:type="dcterms:W3CDTF">2026-10-27T17:26:35Z</dcterms:created>
  <dcterms:modified xsi:type="dcterms:W3CDTF">2026-10-27T17:35:00Z</dcterms:modified>
</cp:coreProperties>
</file>