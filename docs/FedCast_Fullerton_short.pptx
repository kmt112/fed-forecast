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 id="{d0666e98-9957-50a5-37c3-4adf743b8f7b}">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a language model inside an engineered harness gives forecasts that are measurably more repeatable and more faithful to evidence than the same model asked naively, and we prove it by measuring the process, not by waiting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the top line, then the diagram: four families of input, pooled by code with fixed weights, into one number. Then the three panels: how repeatability is enforced, why human judgement has a typed channel even though none is active today, and that every piece of evidence is frozen so the number's path over time can be read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indent="0" marL="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indent="0" marL="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indent="0" marL="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indent="0" marL="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indent="0" marL="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indent="0" marL="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indent="0" marL="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indent="0" marL="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indent="0" marL="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indent="0" marL="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indent="0" marL="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indent="0" marL="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indent="0" marL="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FedCast is, and why we built it</a:t>
            </a:r>
            <a:endParaRPr lang="en-US" sz="3200" dirty="0"/>
          </a:p>
        </p:txBody>
      </p:sp>
      <p:sp>
        <p:nvSpPr>
          <p:cNvPr id="4" name="Text 1"/>
          <p:cNvSpPr txBox="1"/>
          <p:nvPr/>
        </p:nvSpPr>
        <p:spPr>
          <a:xfrm>
            <a:off x="548640" y="1280160"/>
            <a:ext cx="11091672" cy="548640"/>
          </a:xfrm>
          <a:prstGeom prst="rect">
            <a:avLst/>
          </a:prstGeom>
          <a:noFill/>
          <a:ln/>
        </p:spPr>
        <p:txBody>
          <a:bodyPr wrap="square" lIns="0" tIns="0" rIns="0" bIns="0" rtlCol="0" anchor="t"/>
          <a:lstStyle/>
          <a:p>
            <a:pPr indent="0" marL="0">
              <a:buNone/>
            </a:pPr>
            <a:r>
              <a:rPr lang="en-US" sz="1400" dirty="0">
                <a:solidFill>
                  <a:schemeClr val="tx1"/>
                </a:solidFill>
              </a:rPr>
              <a:t>A forecast of the next FOMC decision as probabilities over five outcomes, from one frozen snapshot of evidence. Today, for 28 October 2026: no change 71%, +25 bps 23%.</a:t>
            </a:r>
            <a:endParaRPr lang="en-US" sz="1400" dirty="0"/>
          </a:p>
        </p:txBody>
      </p:sp>
      <p:sp>
        <p:nvSpPr>
          <p:cNvPr id="5" name="Shape 2"/>
          <p:cNvSpPr/>
          <p:nvPr/>
        </p:nvSpPr>
        <p:spPr>
          <a:xfrm>
            <a:off x="548640" y="2011680"/>
            <a:ext cx="2103120" cy="960120"/>
          </a:xfrm>
          <a:prstGeom prst="roundRect">
            <a:avLst>
              <a:gd name="adj" fmla="val 9524"/>
            </a:avLst>
          </a:prstGeom>
          <a:solidFill>
            <a:srgbClr val="1E2761"/>
          </a:solidFill>
          <a:ln w="12700">
            <a:solidFill>
              <a:srgbClr val="1E2761"/>
            </a:solidFill>
            <a:prstDash val="solid"/>
          </a:ln>
        </p:spPr>
      </p:sp>
      <p:sp>
        <p:nvSpPr>
          <p:cNvPr id="6" name="Text 3"/>
          <p:cNvSpPr txBox="1"/>
          <p:nvPr/>
        </p:nvSpPr>
        <p:spPr>
          <a:xfrm>
            <a:off x="685800" y="2084832"/>
            <a:ext cx="1828800" cy="292608"/>
          </a:xfrm>
          <a:prstGeom prst="rect">
            <a:avLst/>
          </a:prstGeom>
          <a:noFill/>
          <a:ln/>
        </p:spPr>
        <p:txBody>
          <a:bodyPr wrap="square" lIns="0" tIns="0" rIns="0" bIns="0" rtlCol="0" anchor="t"/>
          <a:lstStyle/>
          <a:p>
            <a:pPr indent="0" marL="0">
              <a:buNone/>
            </a:pPr>
            <a:r>
              <a:rPr lang="en-US" sz="1300" b="1" dirty="0">
                <a:solidFill>
                  <a:schemeClr val="bg1"/>
                </a:solidFill>
              </a:rPr>
              <a:t>Economic predictors</a:t>
            </a:r>
            <a:endParaRPr lang="en-US" sz="1300" dirty="0"/>
          </a:p>
        </p:txBody>
      </p:sp>
      <p:sp>
        <p:nvSpPr>
          <p:cNvPr id="7" name="Text 4"/>
          <p:cNvSpPr txBox="1"/>
          <p:nvPr/>
        </p:nvSpPr>
        <p:spPr>
          <a:xfrm>
            <a:off x="685800" y="2377440"/>
            <a:ext cx="1828800" cy="566928"/>
          </a:xfrm>
          <a:prstGeom prst="rect">
            <a:avLst/>
          </a:prstGeom>
          <a:noFill/>
          <a:ln/>
        </p:spPr>
        <p:txBody>
          <a:bodyPr wrap="square" lIns="0" tIns="0" rIns="0" bIns="0" rtlCol="0" anchor="t"/>
          <a:lstStyle/>
          <a:p>
            <a:pPr indent="0" marL="0">
              <a:buNone/>
            </a:pPr>
            <a:r>
              <a:rPr lang="en-US" sz="950" dirty="0">
                <a:solidFill>
                  <a:schemeClr val="bg1"/>
                </a:solidFill>
              </a:rPr>
              <a:t>Fed funds futures, the Fed's Taylor rules, prediction-market odds</a:t>
            </a:r>
            <a:endParaRPr lang="en-US" sz="950" dirty="0"/>
          </a:p>
        </p:txBody>
      </p:sp>
      <p:sp>
        <p:nvSpPr>
          <p:cNvPr id="8" name="Text 5"/>
          <p:cNvSpPr txBox="1"/>
          <p:nvPr/>
        </p:nvSpPr>
        <p:spPr>
          <a:xfrm>
            <a:off x="2761488" y="2240280"/>
            <a:ext cx="1325880" cy="548640"/>
          </a:xfrm>
          <a:prstGeom prst="rect">
            <a:avLst/>
          </a:prstGeom>
          <a:noFill/>
          <a:ln/>
        </p:spPr>
        <p:txBody>
          <a:bodyPr wrap="square" lIns="0" tIns="0" rIns="0" bIns="0" rtlCol="0" anchor="ctr"/>
          <a:lstStyle/>
          <a:p>
            <a:pPr indent="0" marL="0">
              <a:buNone/>
            </a:pPr>
            <a:r>
              <a:rPr lang="en-US" sz="900" dirty="0">
                <a:solidFill>
                  <a:schemeClr val="accent4"/>
                </a:solidFill>
              </a:rPr>
              <a:t>weights 0.6 · 0.2 · 0.1</a:t>
            </a:r>
            <a:endParaRPr lang="en-US" sz="900" dirty="0"/>
          </a:p>
        </p:txBody>
      </p:sp>
      <p:sp>
        <p:nvSpPr>
          <p:cNvPr id="9" name="Shape 6"/>
          <p:cNvSpPr/>
          <p:nvPr/>
        </p:nvSpPr>
        <p:spPr>
          <a:xfrm>
            <a:off x="4114800" y="2491740"/>
            <a:ext cx="411480" cy="0"/>
          </a:xfrm>
          <a:prstGeom prst="line">
            <a:avLst/>
          </a:prstGeom>
          <a:noFill/>
          <a:ln w="19050">
            <a:solidFill>
              <a:srgbClr val="6B7280"/>
            </a:solidFill>
            <a:prstDash val="solid"/>
            <a:tailEnd type="triangle"/>
          </a:ln>
        </p:spPr>
      </p:sp>
      <p:sp>
        <p:nvSpPr>
          <p:cNvPr id="10" name="Shape 7"/>
          <p:cNvSpPr/>
          <p:nvPr/>
        </p:nvSpPr>
        <p:spPr>
          <a:xfrm>
            <a:off x="548640" y="3081528"/>
            <a:ext cx="2103120" cy="960120"/>
          </a:xfrm>
          <a:prstGeom prst="roundRect">
            <a:avLst>
              <a:gd name="adj" fmla="val 9524"/>
            </a:avLst>
          </a:prstGeom>
          <a:solidFill>
            <a:srgbClr val="1E2761"/>
          </a:solidFill>
          <a:ln w="12700">
            <a:solidFill>
              <a:srgbClr val="1E2761"/>
            </a:solidFill>
            <a:prstDash val="solid"/>
          </a:ln>
        </p:spPr>
      </p:sp>
      <p:sp>
        <p:nvSpPr>
          <p:cNvPr id="11" name="Text 8"/>
          <p:cNvSpPr txBox="1"/>
          <p:nvPr/>
        </p:nvSpPr>
        <p:spPr>
          <a:xfrm>
            <a:off x="685800" y="3154680"/>
            <a:ext cx="1828800" cy="292608"/>
          </a:xfrm>
          <a:prstGeom prst="rect">
            <a:avLst/>
          </a:prstGeom>
          <a:noFill/>
          <a:ln/>
        </p:spPr>
        <p:txBody>
          <a:bodyPr wrap="square" lIns="0" tIns="0" rIns="0" bIns="0" rtlCol="0" anchor="t"/>
          <a:lstStyle/>
          <a:p>
            <a:pPr indent="0" marL="0">
              <a:buNone/>
            </a:pPr>
            <a:r>
              <a:rPr lang="en-US" sz="1300" b="1" dirty="0">
                <a:solidFill>
                  <a:schemeClr val="bg1"/>
                </a:solidFill>
              </a:rPr>
              <a:t>Empirical data</a:t>
            </a:r>
            <a:endParaRPr lang="en-US" sz="1300" dirty="0"/>
          </a:p>
        </p:txBody>
      </p:sp>
      <p:sp>
        <p:nvSpPr>
          <p:cNvPr id="12" name="Text 9"/>
          <p:cNvSpPr txBox="1"/>
          <p:nvPr/>
        </p:nvSpPr>
        <p:spPr>
          <a:xfrm>
            <a:off x="685800" y="3447288"/>
            <a:ext cx="1828800" cy="566928"/>
          </a:xfrm>
          <a:prstGeom prst="rect">
            <a:avLst/>
          </a:prstGeom>
          <a:noFill/>
          <a:ln/>
        </p:spPr>
        <p:txBody>
          <a:bodyPr wrap="square" lIns="0" tIns="0" rIns="0" bIns="0" rtlCol="0" anchor="t"/>
          <a:lstStyle/>
          <a:p>
            <a:pPr indent="0" marL="0">
              <a:buNone/>
            </a:pPr>
            <a:r>
              <a:rPr lang="en-US" sz="950" dirty="0">
                <a:solidFill>
                  <a:schemeClr val="bg1"/>
                </a:solidFill>
              </a:rPr>
              <a:t>What followed each kind of decision over 32 years of FOMC history</a:t>
            </a:r>
            <a:endParaRPr lang="en-US" sz="950" dirty="0"/>
          </a:p>
        </p:txBody>
      </p:sp>
      <p:sp>
        <p:nvSpPr>
          <p:cNvPr id="13" name="Text 10"/>
          <p:cNvSpPr txBox="1"/>
          <p:nvPr/>
        </p:nvSpPr>
        <p:spPr>
          <a:xfrm>
            <a:off x="2761488" y="3310128"/>
            <a:ext cx="1325880" cy="548640"/>
          </a:xfrm>
          <a:prstGeom prst="rect">
            <a:avLst/>
          </a:prstGeom>
          <a:noFill/>
          <a:ln/>
        </p:spPr>
        <p:txBody>
          <a:bodyPr wrap="square" lIns="0" tIns="0" rIns="0" bIns="0" rtlCol="0" anchor="ctr"/>
          <a:lstStyle/>
          <a:p>
            <a:pPr indent="0" marL="0">
              <a:buNone/>
            </a:pPr>
            <a:r>
              <a:rPr lang="en-US" sz="900" dirty="0">
                <a:solidFill>
                  <a:schemeClr val="accent4"/>
                </a:solidFill>
              </a:rPr>
              <a:t>weight 0.1</a:t>
            </a:r>
            <a:endParaRPr lang="en-US" sz="900" dirty="0"/>
          </a:p>
        </p:txBody>
      </p:sp>
      <p:sp>
        <p:nvSpPr>
          <p:cNvPr id="14" name="Shape 11"/>
          <p:cNvSpPr/>
          <p:nvPr/>
        </p:nvSpPr>
        <p:spPr>
          <a:xfrm>
            <a:off x="4114800" y="3561588"/>
            <a:ext cx="411480" cy="0"/>
          </a:xfrm>
          <a:prstGeom prst="line">
            <a:avLst/>
          </a:prstGeom>
          <a:noFill/>
          <a:ln w="19050">
            <a:solidFill>
              <a:srgbClr val="6B7280"/>
            </a:solidFill>
            <a:prstDash val="solid"/>
            <a:tailEnd type="triangle"/>
          </a:ln>
        </p:spPr>
      </p:sp>
      <p:sp>
        <p:nvSpPr>
          <p:cNvPr id="15" name="Shape 12"/>
          <p:cNvSpPr/>
          <p:nvPr/>
        </p:nvSpPr>
        <p:spPr>
          <a:xfrm>
            <a:off x="548640" y="4151376"/>
            <a:ext cx="2103120" cy="960120"/>
          </a:xfrm>
          <a:prstGeom prst="roundRect">
            <a:avLst>
              <a:gd name="adj" fmla="val 9524"/>
            </a:avLst>
          </a:prstGeom>
          <a:solidFill>
            <a:srgbClr val="6B7280"/>
          </a:solidFill>
          <a:ln w="12700">
            <a:solidFill>
              <a:srgbClr val="6B7280"/>
            </a:solidFill>
            <a:prstDash val="solid"/>
          </a:ln>
        </p:spPr>
      </p:sp>
      <p:sp>
        <p:nvSpPr>
          <p:cNvPr id="16" name="Text 13"/>
          <p:cNvSpPr txBox="1"/>
          <p:nvPr/>
        </p:nvSpPr>
        <p:spPr>
          <a:xfrm>
            <a:off x="685800" y="4224528"/>
            <a:ext cx="1828800" cy="292608"/>
          </a:xfrm>
          <a:prstGeom prst="rect">
            <a:avLst/>
          </a:prstGeom>
          <a:noFill/>
          <a:ln/>
        </p:spPr>
        <p:txBody>
          <a:bodyPr wrap="square" lIns="0" tIns="0" rIns="0" bIns="0" rtlCol="0" anchor="t"/>
          <a:lstStyle/>
          <a:p>
            <a:pPr indent="0" marL="0">
              <a:buNone/>
            </a:pPr>
            <a:r>
              <a:rPr lang="en-US" sz="1300" b="1" dirty="0">
                <a:solidFill>
                  <a:schemeClr val="bg1"/>
                </a:solidFill>
              </a:rPr>
              <a:t>Classic ML</a:t>
            </a:r>
            <a:endParaRPr lang="en-US" sz="1300" dirty="0"/>
          </a:p>
        </p:txBody>
      </p:sp>
      <p:sp>
        <p:nvSpPr>
          <p:cNvPr id="17" name="Text 14"/>
          <p:cNvSpPr txBox="1"/>
          <p:nvPr/>
        </p:nvSpPr>
        <p:spPr>
          <a:xfrm>
            <a:off x="685800" y="4517136"/>
            <a:ext cx="1828800" cy="566928"/>
          </a:xfrm>
          <a:prstGeom prst="rect">
            <a:avLst/>
          </a:prstGeom>
          <a:noFill/>
          <a:ln/>
        </p:spPr>
        <p:txBody>
          <a:bodyPr wrap="square" lIns="0" tIns="0" rIns="0" bIns="0" rtlCol="0" anchor="t"/>
          <a:lstStyle/>
          <a:p>
            <a:pPr indent="0" marL="0">
              <a:buNone/>
            </a:pPr>
            <a:r>
              <a:rPr lang="en-US" sz="950" dirty="0">
                <a:solidFill>
                  <a:schemeClr val="bg1"/>
                </a:solidFill>
              </a:rPr>
              <a:t>An ordered probit fitted on data as first published</a:t>
            </a:r>
            <a:endParaRPr lang="en-US" sz="950" dirty="0"/>
          </a:p>
        </p:txBody>
      </p:sp>
      <p:sp>
        <p:nvSpPr>
          <p:cNvPr id="18" name="Text 15"/>
          <p:cNvSpPr txBox="1"/>
          <p:nvPr/>
        </p:nvSpPr>
        <p:spPr>
          <a:xfrm>
            <a:off x="2761488" y="4379976"/>
            <a:ext cx="1325880" cy="548640"/>
          </a:xfrm>
          <a:prstGeom prst="rect">
            <a:avLst/>
          </a:prstGeom>
          <a:noFill/>
          <a:ln/>
        </p:spPr>
        <p:txBody>
          <a:bodyPr wrap="square" lIns="0" tIns="0" rIns="0" bIns="0" rtlCol="0" anchor="ctr"/>
          <a:lstStyle/>
          <a:p>
            <a:pPr indent="0" marL="0">
              <a:buNone/>
            </a:pPr>
            <a:r>
              <a:rPr lang="en-US" sz="900" dirty="0">
                <a:solidFill>
                  <a:schemeClr val="accent4"/>
                </a:solidFill>
              </a:rPr>
              <a:t>computed, weight 0 until it has a live record</a:t>
            </a:r>
            <a:endParaRPr lang="en-US" sz="900" dirty="0"/>
          </a:p>
        </p:txBody>
      </p:sp>
      <p:sp>
        <p:nvSpPr>
          <p:cNvPr id="19" name="Shape 16"/>
          <p:cNvSpPr/>
          <p:nvPr/>
        </p:nvSpPr>
        <p:spPr>
          <a:xfrm>
            <a:off x="4114800" y="4631436"/>
            <a:ext cx="411480" cy="0"/>
          </a:xfrm>
          <a:prstGeom prst="line">
            <a:avLst/>
          </a:prstGeom>
          <a:noFill/>
          <a:ln w="19050">
            <a:solidFill>
              <a:srgbClr val="6B7280"/>
            </a:solidFill>
            <a:prstDash val="solid"/>
            <a:tailEnd type="triangle"/>
          </a:ln>
        </p:spPr>
      </p:sp>
      <p:sp>
        <p:nvSpPr>
          <p:cNvPr id="20" name="Shape 17"/>
          <p:cNvSpPr/>
          <p:nvPr/>
        </p:nvSpPr>
        <p:spPr>
          <a:xfrm>
            <a:off x="548640" y="5221224"/>
            <a:ext cx="2103120" cy="960120"/>
          </a:xfrm>
          <a:prstGeom prst="roundRect">
            <a:avLst>
              <a:gd name="adj" fmla="val 9524"/>
            </a:avLst>
          </a:prstGeom>
          <a:solidFill>
            <a:srgbClr val="C8553D"/>
          </a:solidFill>
          <a:ln w="12700">
            <a:solidFill>
              <a:srgbClr val="C8553D"/>
            </a:solidFill>
            <a:prstDash val="solid"/>
          </a:ln>
        </p:spPr>
      </p:sp>
      <p:sp>
        <p:nvSpPr>
          <p:cNvPr id="21" name="Text 18"/>
          <p:cNvSpPr txBox="1"/>
          <p:nvPr/>
        </p:nvSpPr>
        <p:spPr>
          <a:xfrm>
            <a:off x="685800" y="5294376"/>
            <a:ext cx="1828800" cy="292608"/>
          </a:xfrm>
          <a:prstGeom prst="rect">
            <a:avLst/>
          </a:prstGeom>
          <a:noFill/>
          <a:ln/>
        </p:spPr>
        <p:txBody>
          <a:bodyPr wrap="square" lIns="0" tIns="0" rIns="0" bIns="0" rtlCol="0" anchor="t"/>
          <a:lstStyle/>
          <a:p>
            <a:pPr indent="0" marL="0">
              <a:buNone/>
            </a:pPr>
            <a:r>
              <a:rPr lang="en-US" sz="1300" b="1" dirty="0">
                <a:solidFill>
                  <a:schemeClr val="bg1"/>
                </a:solidFill>
              </a:rPr>
              <a:t>LLM-derived</a:t>
            </a:r>
            <a:endParaRPr lang="en-US" sz="1300" dirty="0"/>
          </a:p>
        </p:txBody>
      </p:sp>
      <p:sp>
        <p:nvSpPr>
          <p:cNvPr id="22" name="Text 19"/>
          <p:cNvSpPr txBox="1"/>
          <p:nvPr/>
        </p:nvSpPr>
        <p:spPr>
          <a:xfrm>
            <a:off x="685800" y="5586984"/>
            <a:ext cx="1828800" cy="566928"/>
          </a:xfrm>
          <a:prstGeom prst="rect">
            <a:avLst/>
          </a:prstGeom>
          <a:noFill/>
          <a:ln/>
        </p:spPr>
        <p:txBody>
          <a:bodyPr wrap="square" lIns="0" tIns="0" rIns="0" bIns="0" rtlCol="0" anchor="t"/>
          <a:lstStyle/>
          <a:p>
            <a:pPr indent="0" marL="0">
              <a:buNone/>
            </a:pPr>
            <a:r>
              <a:rPr lang="en-US" sz="950" dirty="0">
                <a:solidFill>
                  <a:schemeClr val="bg1"/>
                </a:solidFill>
              </a:rPr>
              <a:t>Five specialist analysts reading the Fed's own words, every claim quoted and verified by code</a:t>
            </a:r>
            <a:endParaRPr lang="en-US" sz="950" dirty="0"/>
          </a:p>
        </p:txBody>
      </p:sp>
      <p:sp>
        <p:nvSpPr>
          <p:cNvPr id="23" name="Text 20"/>
          <p:cNvSpPr txBox="1"/>
          <p:nvPr/>
        </p:nvSpPr>
        <p:spPr>
          <a:xfrm>
            <a:off x="2761488" y="5449824"/>
            <a:ext cx="1325880" cy="548640"/>
          </a:xfrm>
          <a:prstGeom prst="rect">
            <a:avLst/>
          </a:prstGeom>
          <a:noFill/>
          <a:ln/>
        </p:spPr>
        <p:txBody>
          <a:bodyPr wrap="square" lIns="0" tIns="0" rIns="0" bIns="0" rtlCol="0" anchor="ctr"/>
          <a:lstStyle/>
          <a:p>
            <a:pPr indent="0" marL="0">
              <a:buNone/>
            </a:pPr>
            <a:r>
              <a:rPr lang="en-US" sz="900" dirty="0">
                <a:solidFill>
                  <a:schemeClr val="accent4"/>
                </a:solidFill>
              </a:rPr>
              <a:t>a lean of at most 10 points</a:t>
            </a:r>
            <a:endParaRPr lang="en-US" sz="900" dirty="0"/>
          </a:p>
        </p:txBody>
      </p:sp>
      <p:sp>
        <p:nvSpPr>
          <p:cNvPr id="24" name="Shape 21"/>
          <p:cNvSpPr/>
          <p:nvPr/>
        </p:nvSpPr>
        <p:spPr>
          <a:xfrm>
            <a:off x="4114800" y="5701284"/>
            <a:ext cx="411480" cy="0"/>
          </a:xfrm>
          <a:prstGeom prst="line">
            <a:avLst/>
          </a:prstGeom>
          <a:noFill/>
          <a:ln w="19050">
            <a:solidFill>
              <a:srgbClr val="6B7280"/>
            </a:solidFill>
            <a:prstDash val="solid"/>
            <a:tailEnd type="triangle"/>
          </a:ln>
        </p:spPr>
      </p:sp>
      <p:sp>
        <p:nvSpPr>
          <p:cNvPr id="25" name="Shape 22"/>
          <p:cNvSpPr/>
          <p:nvPr/>
        </p:nvSpPr>
        <p:spPr>
          <a:xfrm>
            <a:off x="4572000" y="2011680"/>
            <a:ext cx="1188720" cy="4169664"/>
          </a:xfrm>
          <a:prstGeom prst="roundRect">
            <a:avLst>
              <a:gd name="adj" fmla="val 7692"/>
            </a:avLst>
          </a:prstGeom>
          <a:solidFill>
            <a:srgbClr val="EEF2F7"/>
          </a:solidFill>
          <a:ln w="12700">
            <a:solidFill>
              <a:srgbClr val="CADCFC"/>
            </a:solidFill>
            <a:prstDash val="solid"/>
          </a:ln>
        </p:spPr>
      </p:sp>
      <p:sp>
        <p:nvSpPr>
          <p:cNvPr id="26" name="Text 23"/>
          <p:cNvSpPr txBox="1"/>
          <p:nvPr/>
        </p:nvSpPr>
        <p:spPr>
          <a:xfrm>
            <a:off x="4572000" y="2286000"/>
            <a:ext cx="1188720" cy="365760"/>
          </a:xfrm>
          <a:prstGeom prst="rect">
            <a:avLst/>
          </a:prstGeom>
          <a:noFill/>
          <a:ln/>
        </p:spPr>
        <p:txBody>
          <a:bodyPr wrap="square" lIns="0" tIns="0" rIns="0" bIns="0" rtlCol="0" anchor="t"/>
          <a:lstStyle/>
          <a:p>
            <a:pPr algn="ctr" indent="0" marL="0">
              <a:buNone/>
            </a:pPr>
            <a:r>
              <a:rPr lang="en-US" sz="1500" b="1" dirty="0">
                <a:solidFill>
                  <a:schemeClr val="tx2"/>
                </a:solidFill>
              </a:rPr>
              <a:t>Pool</a:t>
            </a:r>
            <a:endParaRPr lang="en-US" sz="1500" dirty="0"/>
          </a:p>
        </p:txBody>
      </p:sp>
      <p:sp>
        <p:nvSpPr>
          <p:cNvPr id="27" name="Text 24"/>
          <p:cNvSpPr txBox="1"/>
          <p:nvPr/>
        </p:nvSpPr>
        <p:spPr>
          <a:xfrm>
            <a:off x="4663440" y="2743200"/>
            <a:ext cx="1005840" cy="3200400"/>
          </a:xfrm>
          <a:prstGeom prst="rect">
            <a:avLst/>
          </a:prstGeom>
          <a:noFill/>
          <a:ln/>
        </p:spPr>
        <p:txBody>
          <a:bodyPr wrap="square" lIns="0" tIns="0" rIns="0" bIns="0" rtlCol="0" anchor="t"/>
          <a:lstStyle/>
          <a:p>
            <a:pPr algn="ctr" indent="0" marL="0">
              <a:buNone/>
            </a:pPr>
            <a:r>
              <a:rPr lang="en-US" sz="900" dirty="0">
                <a:solidFill>
                  <a:schemeClr val="tx1"/>
                </a:solidFill>
              </a:rPr>
              <a:t>Fixed, recorded weights. A floor of 1.5% on every outcome. Then the analysts' lean. Code does this; no model writes the number.</a:t>
            </a:r>
            <a:endParaRPr lang="en-US" sz="900" dirty="0"/>
          </a:p>
        </p:txBody>
      </p:sp>
      <p:sp>
        <p:nvSpPr>
          <p:cNvPr id="28" name="Shape 25"/>
          <p:cNvSpPr/>
          <p:nvPr/>
        </p:nvSpPr>
        <p:spPr>
          <a:xfrm>
            <a:off x="5806440" y="4096512"/>
            <a:ext cx="365760" cy="0"/>
          </a:xfrm>
          <a:prstGeom prst="line">
            <a:avLst/>
          </a:prstGeom>
          <a:noFill/>
          <a:ln w="19050">
            <a:solidFill>
              <a:srgbClr val="6B7280"/>
            </a:solidFill>
            <a:prstDash val="solid"/>
            <a:tailEnd type="triangle"/>
          </a:ln>
        </p:spPr>
      </p:sp>
      <p:sp>
        <p:nvSpPr>
          <p:cNvPr id="29" name="Shape 26"/>
          <p:cNvSpPr/>
          <p:nvPr/>
        </p:nvSpPr>
        <p:spPr>
          <a:xfrm>
            <a:off x="6263640" y="3410712"/>
            <a:ext cx="1234440" cy="1371600"/>
          </a:xfrm>
          <a:prstGeom prst="roundRect">
            <a:avLst>
              <a:gd name="adj" fmla="val 7407"/>
            </a:avLst>
          </a:prstGeom>
          <a:solidFill>
            <a:srgbClr val="1E2761"/>
          </a:solidFill>
          <a:ln w="12700">
            <a:solidFill>
              <a:srgbClr val="1E2761"/>
            </a:solidFill>
            <a:prstDash val="solid"/>
          </a:ln>
        </p:spPr>
      </p:sp>
      <p:sp>
        <p:nvSpPr>
          <p:cNvPr id="30" name="Text 27"/>
          <p:cNvSpPr txBox="1"/>
          <p:nvPr/>
        </p:nvSpPr>
        <p:spPr>
          <a:xfrm>
            <a:off x="6263640" y="3502152"/>
            <a:ext cx="1234440" cy="365760"/>
          </a:xfrm>
          <a:prstGeom prst="rect">
            <a:avLst/>
          </a:prstGeom>
          <a:noFill/>
          <a:ln/>
        </p:spPr>
        <p:txBody>
          <a:bodyPr wrap="square" lIns="0" tIns="0" rIns="0" bIns="0" rtlCol="0" anchor="t"/>
          <a:lstStyle/>
          <a:p>
            <a:pPr algn="ctr" indent="0" marL="0">
              <a:buNone/>
            </a:pPr>
            <a:r>
              <a:rPr lang="en-US" sz="1400" b="1" dirty="0">
                <a:solidFill>
                  <a:schemeClr val="bg1"/>
                </a:solidFill>
              </a:rPr>
              <a:t>Forecast</a:t>
            </a:r>
            <a:endParaRPr lang="en-US" sz="1400" dirty="0"/>
          </a:p>
        </p:txBody>
      </p:sp>
      <p:sp>
        <p:nvSpPr>
          <p:cNvPr id="31" name="Text 28"/>
          <p:cNvSpPr txBox="1"/>
          <p:nvPr/>
        </p:nvSpPr>
        <p:spPr>
          <a:xfrm>
            <a:off x="6263640" y="3913632"/>
            <a:ext cx="1234440" cy="822960"/>
          </a:xfrm>
          <a:prstGeom prst="rect">
            <a:avLst/>
          </a:prstGeom>
          <a:noFill/>
          <a:ln/>
        </p:spPr>
        <p:txBody>
          <a:bodyPr wrap="square" lIns="0" tIns="0" rIns="0" bIns="0" rtlCol="0" anchor="t"/>
          <a:lstStyle/>
          <a:p>
            <a:pPr algn="ctr" indent="0" marL="0">
              <a:buNone/>
            </a:pPr>
            <a:r>
              <a:rPr lang="en-US" sz="1100" dirty="0">
                <a:solidFill>
                  <a:schemeClr val="bg1"/>
                </a:solidFill>
              </a:rPr>
              <a:t>no change 71%</a:t>
            </a:r>
            <a:endParaRPr lang="en-US" sz="1100" dirty="0"/>
          </a:p>
          <a:p>
            <a:pPr algn="ctr" indent="0" marL="0">
              <a:buNone/>
            </a:pPr>
            <a:r>
              <a:rPr lang="en-US" sz="1100" dirty="0">
                <a:solidFill>
                  <a:schemeClr val="bg1"/>
                </a:solidFill>
              </a:rPr>
              <a:t>+25 bps 23%</a:t>
            </a:r>
            <a:endParaRPr lang="en-US" sz="1100" dirty="0"/>
          </a:p>
        </p:txBody>
      </p:sp>
      <p:sp>
        <p:nvSpPr>
          <p:cNvPr id="32" name="Shape 29"/>
          <p:cNvSpPr/>
          <p:nvPr/>
        </p:nvSpPr>
        <p:spPr>
          <a:xfrm>
            <a:off x="7909560" y="2011680"/>
            <a:ext cx="3730752" cy="1353312"/>
          </a:xfrm>
          <a:prstGeom prst="roundRect">
            <a:avLst>
              <a:gd name="adj" fmla="val 810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3" name="Text 30"/>
          <p:cNvSpPr txBox="1"/>
          <p:nvPr/>
        </p:nvSpPr>
        <p:spPr>
          <a:xfrm>
            <a:off x="8110728" y="2121408"/>
            <a:ext cx="3328416" cy="320040"/>
          </a:xfrm>
          <a:prstGeom prst="rect">
            <a:avLst/>
          </a:prstGeom>
          <a:noFill/>
          <a:ln/>
        </p:spPr>
        <p:txBody>
          <a:bodyPr wrap="square" lIns="0" tIns="0" rIns="0" bIns="0" rtlCol="0" anchor="t"/>
          <a:lstStyle/>
          <a:p>
            <a:pPr indent="0" marL="0">
              <a:buNone/>
            </a:pPr>
            <a:r>
              <a:rPr lang="en-US" sz="1200" b="1" dirty="0">
                <a:solidFill>
                  <a:schemeClr val="tx2"/>
                </a:solidFill>
              </a:rPr>
              <a:t>Repeatability is enforced, then measured</a:t>
            </a:r>
            <a:endParaRPr lang="en-US" sz="1200" dirty="0"/>
          </a:p>
        </p:txBody>
      </p:sp>
      <p:sp>
        <p:nvSpPr>
          <p:cNvPr id="34" name="Text 31"/>
          <p:cNvSpPr txBox="1"/>
          <p:nvPr/>
        </p:nvSpPr>
        <p:spPr>
          <a:xfrm>
            <a:off x="8110728" y="2441448"/>
            <a:ext cx="3328416" cy="914400"/>
          </a:xfrm>
          <a:prstGeom prst="rect">
            <a:avLst/>
          </a:prstGeom>
          <a:noFill/>
          <a:ln/>
        </p:spPr>
        <p:txBody>
          <a:bodyPr wrap="square" lIns="0" tIns="0" rIns="0" bIns="0" rtlCol="0" anchor="t"/>
          <a:lstStyle/>
          <a:p>
            <a:pPr indent="0" marL="0">
              <a:buNone/>
            </a:pPr>
            <a:r>
              <a:rPr lang="en-US" sz="950" dirty="0">
                <a:solidFill>
                  <a:schemeClr val="tx1"/>
                </a:solidFill>
              </a:rPr>
              <a:t>One frozen, fingerprinted snapshot per forecast; code pools the models; each analyst is run five times on identical inputs with every tool off and every quote checked by code. A ten-dimension scorecard, fixed before any code existed, is measured on every snapshot, so drift shows as a red cell.</a:t>
            </a:r>
            <a:endParaRPr lang="en-US" sz="950" dirty="0"/>
          </a:p>
        </p:txBody>
      </p:sp>
      <p:sp>
        <p:nvSpPr>
          <p:cNvPr id="35" name="Shape 32"/>
          <p:cNvSpPr/>
          <p:nvPr/>
        </p:nvSpPr>
        <p:spPr>
          <a:xfrm>
            <a:off x="7909560" y="3474720"/>
            <a:ext cx="3730752" cy="1353312"/>
          </a:xfrm>
          <a:prstGeom prst="roundRect">
            <a:avLst>
              <a:gd name="adj" fmla="val 810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6" name="Text 33"/>
          <p:cNvSpPr txBox="1"/>
          <p:nvPr/>
        </p:nvSpPr>
        <p:spPr>
          <a:xfrm>
            <a:off x="8110728" y="3584448"/>
            <a:ext cx="3328416" cy="320040"/>
          </a:xfrm>
          <a:prstGeom prst="rect">
            <a:avLst/>
          </a:prstGeom>
          <a:noFill/>
          <a:ln/>
        </p:spPr>
        <p:txBody>
          <a:bodyPr wrap="square" lIns="0" tIns="0" rIns="0" bIns="0" rtlCol="0" anchor="t"/>
          <a:lstStyle/>
          <a:p>
            <a:pPr indent="0" marL="0">
              <a:buNone/>
            </a:pPr>
            <a:r>
              <a:rPr lang="en-US" sz="1200" b="1" dirty="0">
                <a:solidFill>
                  <a:schemeClr val="tx2"/>
                </a:solidFill>
              </a:rPr>
              <a:t>Human judgement has a typed channel</a:t>
            </a:r>
            <a:endParaRPr lang="en-US" sz="1200" dirty="0"/>
          </a:p>
        </p:txBody>
      </p:sp>
      <p:sp>
        <p:nvSpPr>
          <p:cNvPr id="37" name="Text 34"/>
          <p:cNvSpPr txBox="1"/>
          <p:nvPr/>
        </p:nvSpPr>
        <p:spPr>
          <a:xfrm>
            <a:off x="8110728" y="3904488"/>
            <a:ext cx="3328416" cy="914400"/>
          </a:xfrm>
          <a:prstGeom prst="rect">
            <a:avLst/>
          </a:prstGeom>
          <a:noFill/>
          <a:ln/>
        </p:spPr>
        <p:txBody>
          <a:bodyPr wrap="square" lIns="0" tIns="0" rIns="0" bIns="0" rtlCol="0" anchor="t"/>
          <a:lstStyle/>
          <a:p>
            <a:pPr indent="0" marL="0">
              <a:buNone/>
            </a:pPr>
            <a:r>
              <a:rPr lang="en-US" sz="950" dirty="0">
                <a:solidFill>
                  <a:schemeClr val="tx1"/>
                </a:solidFill>
              </a:rPr>
              <a:t>None is active today. The channel exists because a desk's judgement belongs in the number, but only where it can be seen, bounded and scored afterwards: a view tilts the number by at most 10 points and expires; a watch-out must be answered by every analyst; a document or an odds entry becomes evidence.</a:t>
            </a:r>
            <a:endParaRPr lang="en-US" sz="950" dirty="0"/>
          </a:p>
        </p:txBody>
      </p:sp>
      <p:sp>
        <p:nvSpPr>
          <p:cNvPr id="38" name="Shape 35"/>
          <p:cNvSpPr/>
          <p:nvPr/>
        </p:nvSpPr>
        <p:spPr>
          <a:xfrm>
            <a:off x="7909560" y="4937760"/>
            <a:ext cx="3730752" cy="1353312"/>
          </a:xfrm>
          <a:prstGeom prst="roundRect">
            <a:avLst>
              <a:gd name="adj" fmla="val 810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9" name="Text 36"/>
          <p:cNvSpPr txBox="1"/>
          <p:nvPr/>
        </p:nvSpPr>
        <p:spPr>
          <a:xfrm>
            <a:off x="8110728" y="5047488"/>
            <a:ext cx="3328416" cy="320040"/>
          </a:xfrm>
          <a:prstGeom prst="rect">
            <a:avLst/>
          </a:prstGeom>
          <a:noFill/>
          <a:ln/>
        </p:spPr>
        <p:txBody>
          <a:bodyPr wrap="square" lIns="0" tIns="0" rIns="0" bIns="0" rtlCol="0" anchor="t"/>
          <a:lstStyle/>
          <a:p>
            <a:pPr indent="0" marL="0">
              <a:buNone/>
            </a:pPr>
            <a:r>
              <a:rPr lang="en-US" sz="1200" b="1" dirty="0">
                <a:solidFill>
                  <a:schemeClr val="tx2"/>
                </a:solidFill>
              </a:rPr>
              <a:t>All evidence is kept, so the path can be read back</a:t>
            </a:r>
            <a:endParaRPr lang="en-US" sz="1200" dirty="0"/>
          </a:p>
        </p:txBody>
      </p:sp>
      <p:sp>
        <p:nvSpPr>
          <p:cNvPr id="40" name="Text 37"/>
          <p:cNvSpPr txBox="1"/>
          <p:nvPr/>
        </p:nvSpPr>
        <p:spPr>
          <a:xfrm>
            <a:off x="8110728" y="5367528"/>
            <a:ext cx="3328416" cy="914400"/>
          </a:xfrm>
          <a:prstGeom prst="rect">
            <a:avLst/>
          </a:prstGeom>
          <a:noFill/>
          <a:ln/>
        </p:spPr>
        <p:txBody>
          <a:bodyPr wrap="square" lIns="0" tIns="0" rIns="0" bIns="0" rtlCol="0" anchor="t"/>
          <a:lstStyle/>
          <a:p>
            <a:pPr indent="0" marL="0">
              <a:buNone/>
            </a:pPr>
            <a:r>
              <a:rPr lang="en-US" sz="950" dirty="0">
                <a:solidFill>
                  <a:schemeClr val="tx1"/>
                </a:solidFill>
              </a:rPr>
              <a:t>Each pull is frozen and hash-chained to the forecast it produced. As new information arrives, the number and each model's contribution move, and the ledger shows exactly which input moved it: 62/33 on 15 October, 65/30 on 24 October, 71/23 on 26 October after the market odds were refreshed.</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short brief</dc:title>
  <dc:subject>PptxGenJS Presentation</dc:subject>
  <dc:creator>FedCast</dc:creator>
  <cp:lastModifiedBy>FedCast</cp:lastModifiedBy>
  <cp:revision>1</cp:revision>
  <dcterms:created xsi:type="dcterms:W3CDTF">2026-10-27T16:59:41Z</dcterms:created>
  <dcterms:modified xsi:type="dcterms:W3CDTF">2026-10-27T16:59:41Z</dcterms:modified>
</cp:coreProperties>
</file>