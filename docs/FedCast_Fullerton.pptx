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2" r:id="rId4"/>
    <p:sldId id="284" r:id="rId5"/>
    <p:sldId id="259" r:id="rId6"/>
    <p:sldId id="261" r:id="rId7"/>
    <p:sldId id="260" r:id="rId8"/>
    <p:sldId id="281" r:id="rId9"/>
    <p:sldId id="263" r:id="rId10"/>
    <p:sldId id="264" r:id="rId11"/>
    <p:sldId id="283" r:id="rId12"/>
    <p:sldId id="266" r:id="rId13"/>
    <p:sldId id="268" r:id="rId14"/>
    <p:sldId id="269" r:id="rId15"/>
    <p:sldId id="267" r:id="rId16"/>
    <p:sldId id="271" r:id="rId17"/>
    <p:sldId id="273" r:id="rId18"/>
    <p:sldId id="274" r:id="rId19"/>
    <p:sldId id="275" r:id="rId20"/>
    <p:sldId id="276" r:id="rId21"/>
    <p:sldId id="277" r:id="rId22"/>
    <p:sldId id="278" r:id="rId23"/>
    <p:sldId id="279"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60"/>
            <p14:sldId id="281"/>
          </p14:sldIdLst>
        </p14:section>
        <p14:section name="How it works" id="{51E39E62-D42A-5461-E95E-6B45ACE96CC0}">
          <p14:sldIdLst>
            <p14:sldId id="263"/>
            <p14:sldId id="264"/>
            <p14:sldId id="283"/>
          </p14:sldIdLst>
        </p14:section>
        <p14:section name="The harness" id="{92928B70-AC41-17EA-8015-68E5296D82D9}">
          <p14:sldIdLst>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one to land is point 1: eight decisions a year cannot tell skill from luck, so we judge the process, with questions fixed before any code: same evidence same answer, every claim quoted, no number from memory, shocks move the number the right way. Outcomes logged, never used to tune.</a:t>
            </a:r>
          </a:p>
          <a:p>
            <a:r>
              <a:rPr lang="en-US"/>
              <a:t>Point 2, concrete: an analyst that says inflation is elevated must quote the line, and code checks it. Point 3: because everything is quotable and repeatable, a wrong call is traceable and a fix stays fixed: audit, fix, re-measure.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Taylor rules, odds), empirical history, classic ML (probit, weight 0), LLM-derived (bounded opinion, not a weight). Pooled by code; no model writes the number.</a:t>
            </a:r>
          </a:p>
          <a:p>
            <a:r>
              <a:rPr lang="en-US"/>
              <a:t>Right, the chain in order: evidence, signals, pool, analysts (only 4 to 8 enter; 1 to 3 are controls), you (bounded, typed channels), ledger. Say: 'every line here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the table top to bottom: what each model reads, its distribution, its weight. Pooled line: weighted average then the 1.5% floor (no outcome below 1.5%, so nothing is ever called impossible). The tinted row: the specialists' opinion, +4.0, moves 4 points toward a hike, after the pool, capped at 10. Machine forecast: 67.6 / 22.4 / 7.7.</a:t>
            </a:r>
          </a:p>
          <a:p>
            <a:r>
              <a:rPr lang="en-US"/>
              <a:t>Red box: weights are judgement, logged, never fitted; the backtest decides who is in the pool, live scores will decide the weights, by amendment.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things a language model cannot be made to stop doing. Memory: instruction, quote per claim, every number checked, sent back once. Variance: fixed schema, five identical runs, the spread measured, pass mark 2 points. Invented support: every quote matched by code character for character, bounds, one repair round. Say: 'none is removed; each is designed around, and measured.' The proof comes two slides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51336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three controls, grey and dashed: they never enter the number. 1 naive: the question only. 2: evidence shown, free text. 3: same evidence, fixed shape, verifier. Right, the five specialists that do enter: one slice each, the same shape and verifier. Each is asked a question about its slice, never a probability; it returns quoted claims and an opinion from -10 to +10. Bottom: every analyst runs five times; 1 to 3 build the benchmark 4 to 8 are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3, 2 MIN. Analyst prompts view. Open analyst 1: 195 characters, no evidence. Open analyst 6: the system prompt, the schema (claims with quote and item id; the opinion bounded -10 to +10), the inflation pre-read, the item ids. Say: 'if it is not on this page, the analyst does not get it; the only difference between analyst 1 and analyst 6 is this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4, 2 MIN. Analyst results. Analyst 1 card: a cut, numbers from memory flagged. Analyst 4 card: opinion, grounded, leaked, watch-out badges; one claim with its quote and the verified mark. If asked where a quote comes from, open the statement claim on analyst 4: the statement's own line, found by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5, 2 MIN. Scorecard view. Pick 24 October, then 28 October in the dropdown; expand 'what was checked' under Shock direction (seven shocks, each with its delta); scroll to the over-time table. Say: 'red in the control columns is expected; red on the right would be a defect. Two red cells have already pointed at defects, both fixed.' If short on time,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pre-registered weight sets scored on every live decision;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Close on the three lines, then the ask: scrutinise the scorecard, challenge a quote, name the next decision that deserves the same chain.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We are at early stages of model building hence </a:t>
            </a:r>
            <a:r>
              <a:rPr lang="en-US" sz="1300" b="1" dirty="0">
                <a:solidFill>
                  <a:schemeClr val="tx1"/>
                </a:solidFill>
              </a:rPr>
              <a:t>process takes precedence over results</a:t>
            </a:r>
            <a:r>
              <a:rPr lang="en-US" sz="1300" dirty="0">
                <a:solidFill>
                  <a:schemeClr val="tx1"/>
                </a:solidFill>
              </a:rPr>
              <a:t>.</a:t>
            </a:r>
            <a:endParaRPr lang="en-US" sz="1300" dirty="0"/>
          </a:p>
          <a:p>
            <a:pPr marL="342900" indent="-342900">
              <a:spcAft>
                <a:spcPts val="800"/>
              </a:spcAft>
              <a:buSzPct val="100000"/>
              <a:buChar char="•"/>
            </a:pPr>
            <a:r>
              <a:rPr lang="en-US" sz="1300">
                <a:solidFill>
                  <a:schemeClr val="tx1"/>
                </a:solidFill>
              </a:rPr>
              <a:t>A good process is a repeatable one: </a:t>
            </a:r>
            <a:endParaRPr lang="en-US" sz="1300" dirty="0">
              <a:solidFill>
                <a:schemeClr val="tx1"/>
              </a:solidFill>
            </a:endParaRPr>
          </a:p>
          <a:p>
            <a:pPr marL="800100" lvl="1" indent="-342900">
              <a:spcAft>
                <a:spcPts val="800"/>
              </a:spcAft>
              <a:buSzPct val="100000"/>
              <a:buChar char="•"/>
            </a:pPr>
            <a:r>
              <a:rPr lang="en-US" sz="1300" dirty="0"/>
              <a:t>S</a:t>
            </a:r>
            <a:r>
              <a:rPr lang="en-US" sz="1300" dirty="0">
                <a:solidFill>
                  <a:schemeClr val="tx1"/>
                </a:solidFill>
              </a:rPr>
              <a:t>ame evidence, same answer?</a:t>
            </a:r>
          </a:p>
          <a:p>
            <a:pPr marL="800100" lvl="1" indent="-342900">
              <a:spcAft>
                <a:spcPts val="800"/>
              </a:spcAft>
              <a:buSzPct val="100000"/>
              <a:buChar char="•"/>
            </a:pPr>
            <a:r>
              <a:rPr lang="en-US" sz="1300" dirty="0"/>
              <a:t>Is </a:t>
            </a:r>
            <a:r>
              <a:rPr lang="en-US" sz="1300" dirty="0">
                <a:solidFill>
                  <a:schemeClr val="tx1"/>
                </a:solidFill>
              </a:rPr>
              <a:t>every claim quoted? </a:t>
            </a:r>
          </a:p>
          <a:p>
            <a:pPr marL="800100" lvl="1" indent="-342900">
              <a:spcAft>
                <a:spcPts val="800"/>
              </a:spcAft>
              <a:buSzPct val="100000"/>
              <a:buChar char="•"/>
            </a:pPr>
            <a:r>
              <a:rPr lang="en-US" sz="1300" dirty="0">
                <a:solidFill>
                  <a:schemeClr val="tx1"/>
                </a:solidFill>
              </a:rPr>
              <a:t>any number from memory? </a:t>
            </a:r>
          </a:p>
          <a:p>
            <a:pPr marL="800100" lvl="1" indent="-342900">
              <a:spcAft>
                <a:spcPts val="800"/>
              </a:spcAft>
              <a:buSzPct val="100000"/>
              <a:buChar char="•"/>
            </a:pPr>
            <a:r>
              <a:rPr lang="en-US" sz="1300"/>
              <a:t>Does a shock move the number</a:t>
            </a:r>
            <a:r>
              <a:rPr lang="en-US" sz="1300">
                <a:solidFill>
                  <a:schemeClr val="tx1"/>
                </a:solidFill>
              </a:rPr>
              <a:t> </a:t>
            </a:r>
            <a:r>
              <a:rPr lang="en-US" sz="1300" dirty="0">
                <a:solidFill>
                  <a:schemeClr val="tx1"/>
                </a:solidFill>
              </a:rPr>
              <a:t>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build every step to be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a:t>
            </a:r>
            <a:r>
              <a:rPr lang="en-US" sz="1300" b="1" dirty="0">
                <a:solidFill>
                  <a:schemeClr val="tx1"/>
                </a:solidFill>
              </a:rPr>
              <a:t>it is flagged as from memory</a:t>
            </a:r>
            <a:endParaRPr lang="en-US" sz="1300" b="1"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p>
          <a:p>
            <a:pPr marL="342900" indent="-342900">
              <a:spcAft>
                <a:spcPts val="800"/>
              </a:spcAft>
              <a:buSzPct val="100000"/>
              <a:buChar char="•"/>
            </a:pPr>
            <a:r>
              <a:rPr lang="en-US" sz="1300" dirty="0"/>
              <a:t>We believe that this method allows us to </a:t>
            </a:r>
            <a:r>
              <a:rPr lang="en-US" sz="1300" b="1" dirty="0"/>
              <a:t>use less expensive models </a:t>
            </a:r>
            <a:r>
              <a:rPr lang="en-US" sz="1300" dirty="0"/>
              <a:t>as well</a:t>
            </a:r>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a:solidFill>
                  <a:schemeClr val="tx1"/>
                </a:solidFill>
              </a:rPr>
              <a:t>Since everything is quotable and the LLM analysts can read only the evidence, </a:t>
            </a:r>
            <a:r>
              <a:rPr lang="en-US" sz="1300" dirty="0">
                <a:solidFill>
                  <a:schemeClr val="tx1"/>
                </a:solidFill>
              </a:rPr>
              <a:t>so a wrong call is a traceable wrong call: we </a:t>
            </a:r>
            <a:r>
              <a:rPr lang="en-US" sz="1300">
                <a:solidFill>
                  <a:schemeClr val="tx1"/>
                </a:solidFill>
              </a:rPr>
              <a:t>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63022806"/>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45920"/>
            <a:ext cx="3593592" cy="1051560"/>
          </a:xfrm>
          <a:prstGeom prst="roundRect">
            <a:avLst>
              <a:gd name="adj" fmla="val 8696"/>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14600"/>
            <a:ext cx="3593592"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3152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3152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Memory cannot be switched off</a:t>
            </a:r>
            <a:endParaRPr lang="en-US" sz="1500" dirty="0"/>
          </a:p>
        </p:txBody>
      </p:sp>
      <p:sp>
        <p:nvSpPr>
          <p:cNvPr id="9" name="Text 6"/>
          <p:cNvSpPr txBox="1"/>
          <p:nvPr/>
        </p:nvSpPr>
        <p:spPr>
          <a:xfrm>
            <a:off x="73152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a:t>
            </a:r>
            <a:endParaRPr lang="en-US" sz="1100" dirty="0"/>
          </a:p>
        </p:txBody>
      </p:sp>
      <p:sp>
        <p:nvSpPr>
          <p:cNvPr id="10" name="Shape 7"/>
          <p:cNvSpPr/>
          <p:nvPr/>
        </p:nvSpPr>
        <p:spPr>
          <a:xfrm>
            <a:off x="548640" y="2697480"/>
            <a:ext cx="3593592" cy="274320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3152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3152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Instruction: </a:t>
            </a:r>
            <a:r>
              <a:rPr lang="en-US" sz="1300" dirty="0">
                <a:solidFill>
                  <a:schemeClr val="tx1"/>
                </a:solidFill>
              </a:rPr>
              <a:t>use only the evidence; nothing remembered about the economy, the Fed or markets.</a:t>
            </a:r>
            <a:endParaRPr lang="en-US" sz="1300" dirty="0"/>
          </a:p>
          <a:p>
            <a:pPr marL="342900" indent="-342900">
              <a:buSzPct val="100000"/>
              <a:buChar char="•"/>
            </a:pPr>
            <a:r>
              <a:rPr lang="en-US" sz="1300" b="1" dirty="0">
                <a:solidFill>
                  <a:srgbClr val="1B1F2A"/>
                </a:solidFill>
              </a:rPr>
              <a:t>Answer shape: </a:t>
            </a:r>
            <a:r>
              <a:rPr lang="en-US" sz="1300" dirty="0">
                <a:solidFill>
                  <a:schemeClr val="tx1"/>
                </a:solidFill>
              </a:rPr>
              <a:t>every claim carries a verbatim quote from a named item, so a remembered fact has nowhere to stand.</a:t>
            </a:r>
            <a:endParaRPr lang="en-US" sz="1300" dirty="0"/>
          </a:p>
          <a:p>
            <a:pPr marL="342900" indent="-342900">
              <a:buSzPct val="100000"/>
              <a:buChar char="•"/>
            </a:pPr>
            <a:r>
              <a:rPr lang="en-US" sz="1300" b="1" dirty="0">
                <a:solidFill>
                  <a:srgbClr val="1B1F2A"/>
                </a:solidFill>
              </a:rPr>
              <a:t>Check: </a:t>
            </a:r>
            <a:r>
              <a:rPr lang="en-US" sz="1300" dirty="0">
                <a:solidFill>
                  <a:schemeClr val="tx1"/>
                </a:solidFill>
              </a:rPr>
              <a:t>every number is matched to the snapshot by code; one not found is flagged as from memory and sent back once.</a:t>
            </a:r>
            <a:endParaRPr lang="en-US" sz="1300" dirty="0"/>
          </a:p>
        </p:txBody>
      </p:sp>
      <p:sp>
        <p:nvSpPr>
          <p:cNvPr id="13" name="Shape 10"/>
          <p:cNvSpPr/>
          <p:nvPr/>
        </p:nvSpPr>
        <p:spPr>
          <a:xfrm>
            <a:off x="4297680" y="1645920"/>
            <a:ext cx="3593592" cy="1051560"/>
          </a:xfrm>
          <a:prstGeom prst="roundRect">
            <a:avLst>
              <a:gd name="adj" fmla="val 8696"/>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4297680" y="2514600"/>
            <a:ext cx="3593592"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448056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448056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Answers vary between runs</a:t>
            </a:r>
            <a:endParaRPr lang="en-US" sz="1500" dirty="0"/>
          </a:p>
        </p:txBody>
      </p:sp>
      <p:sp>
        <p:nvSpPr>
          <p:cNvPr id="17" name="Text 14"/>
          <p:cNvSpPr txBox="1"/>
          <p:nvPr/>
        </p:nvSpPr>
        <p:spPr>
          <a:xfrm>
            <a:off x="448056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Ask twice and the number moves.</a:t>
            </a:r>
            <a:endParaRPr lang="en-US" sz="1100" dirty="0"/>
          </a:p>
        </p:txBody>
      </p:sp>
      <p:sp>
        <p:nvSpPr>
          <p:cNvPr id="18" name="Shape 15"/>
          <p:cNvSpPr/>
          <p:nvPr/>
        </p:nvSpPr>
        <p:spPr>
          <a:xfrm>
            <a:off x="4297680" y="2697480"/>
            <a:ext cx="3593592" cy="274320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448056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448056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Answer shape: </a:t>
            </a:r>
            <a:r>
              <a:rPr lang="en-US" sz="1300" dirty="0">
                <a:solidFill>
                  <a:schemeClr val="tx1"/>
                </a:solidFill>
              </a:rPr>
              <a:t>a fixed JSON schema; anything else is rejected unread.</a:t>
            </a:r>
            <a:endParaRPr lang="en-US" sz="1300" dirty="0"/>
          </a:p>
          <a:p>
            <a:pPr marL="342900" indent="-342900">
              <a:buSzPct val="100000"/>
              <a:buChar char="•"/>
            </a:pPr>
            <a:r>
              <a:rPr lang="en-US" sz="1300" b="1" dirty="0">
                <a:solidFill>
                  <a:srgbClr val="1B1F2A"/>
                </a:solidFill>
              </a:rPr>
              <a:t>Five identical runs </a:t>
            </a:r>
            <a:r>
              <a:rPr lang="en-US" sz="1300" dirty="0">
                <a:solidFill>
                  <a:schemeClr val="tx1"/>
                </a:solidFill>
              </a:rPr>
              <a:t>per analyst per snapshot, each stored under its prompt hash.</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the spread of the five answers. Pass mark: 2 points.</a:t>
            </a:r>
            <a:endParaRPr lang="en-US" sz="1300" dirty="0"/>
          </a:p>
        </p:txBody>
      </p:sp>
      <p:sp>
        <p:nvSpPr>
          <p:cNvPr id="21" name="Shape 18"/>
          <p:cNvSpPr/>
          <p:nvPr/>
        </p:nvSpPr>
        <p:spPr>
          <a:xfrm>
            <a:off x="8046720" y="1645920"/>
            <a:ext cx="3593592" cy="1051560"/>
          </a:xfrm>
          <a:prstGeom prst="roundRect">
            <a:avLst>
              <a:gd name="adj" fmla="val 8696"/>
            </a:avLst>
          </a:prstGeom>
          <a:solidFill>
            <a:srgbClr val="C8553D"/>
          </a:solidFill>
          <a:ln w="12700">
            <a:solidFill>
              <a:srgbClr val="C8553D"/>
            </a:solidFill>
            <a:prstDash val="solid"/>
          </a:ln>
        </p:spPr>
        <p:txBody>
          <a:bodyPr/>
          <a:lstStyle/>
          <a:p>
            <a:endParaRPr lang="en-US"/>
          </a:p>
        </p:txBody>
      </p:sp>
      <p:sp>
        <p:nvSpPr>
          <p:cNvPr id="22" name="Shape 19"/>
          <p:cNvSpPr/>
          <p:nvPr/>
        </p:nvSpPr>
        <p:spPr>
          <a:xfrm>
            <a:off x="8046720" y="2514600"/>
            <a:ext cx="3593592" cy="182880"/>
          </a:xfrm>
          <a:prstGeom prst="rect">
            <a:avLst/>
          </a:prstGeom>
          <a:solidFill>
            <a:srgbClr val="C8553D"/>
          </a:solidFill>
          <a:ln w="12700">
            <a:solidFill>
              <a:srgbClr val="C8553D"/>
            </a:solidFill>
            <a:prstDash val="solid"/>
          </a:ln>
        </p:spPr>
        <p:txBody>
          <a:bodyPr/>
          <a:lstStyle/>
          <a:p>
            <a:endParaRPr lang="en-US"/>
          </a:p>
        </p:txBody>
      </p:sp>
      <p:sp>
        <p:nvSpPr>
          <p:cNvPr id="23" name="Text 20"/>
          <p:cNvSpPr txBox="1"/>
          <p:nvPr/>
        </p:nvSpPr>
        <p:spPr>
          <a:xfrm>
            <a:off x="822960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4" name="Text 21"/>
          <p:cNvSpPr txBox="1"/>
          <p:nvPr/>
        </p:nvSpPr>
        <p:spPr>
          <a:xfrm>
            <a:off x="822960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It can invent its own support</a:t>
            </a:r>
            <a:endParaRPr lang="en-US" sz="1500" dirty="0"/>
          </a:p>
        </p:txBody>
      </p:sp>
      <p:sp>
        <p:nvSpPr>
          <p:cNvPr id="25" name="Text 22"/>
          <p:cNvSpPr txBox="1"/>
          <p:nvPr/>
        </p:nvSpPr>
        <p:spPr>
          <a:xfrm>
            <a:off x="822960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26" name="Shape 23"/>
          <p:cNvSpPr/>
          <p:nvPr/>
        </p:nvSpPr>
        <p:spPr>
          <a:xfrm>
            <a:off x="8046720" y="2697480"/>
            <a:ext cx="3593592" cy="2743200"/>
          </a:xfrm>
          <a:prstGeom prst="rect">
            <a:avLst/>
          </a:prstGeom>
          <a:solidFill>
            <a:srgbClr val="EEF2F7"/>
          </a:solidFill>
          <a:ln w="12700">
            <a:solidFill>
              <a:srgbClr val="EEF2F7"/>
            </a:solidFill>
            <a:prstDash val="solid"/>
          </a:ln>
        </p:spPr>
        <p:txBody>
          <a:bodyPr/>
          <a:lstStyle/>
          <a:p>
            <a:endParaRPr lang="en-US"/>
          </a:p>
        </p:txBody>
      </p:sp>
      <p:sp>
        <p:nvSpPr>
          <p:cNvPr id="27" name="Text 24"/>
          <p:cNvSpPr txBox="1"/>
          <p:nvPr/>
        </p:nvSpPr>
        <p:spPr>
          <a:xfrm>
            <a:off x="822960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8" name="Text 25"/>
          <p:cNvSpPr txBox="1"/>
          <p:nvPr/>
        </p:nvSpPr>
        <p:spPr>
          <a:xfrm>
            <a:off x="822960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a:t>
            </a:r>
            <a:r>
              <a:rPr lang="en-US" sz="1300" dirty="0">
                <a:solidFill>
                  <a:schemeClr val="tx1"/>
                </a:solidFill>
              </a:rPr>
              <a:t>every quote matched to its item character for character, by code;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a:t>
            </a:r>
            <a:endParaRPr lang="en-US" sz="13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603732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an opinion from -10 to +10: points of probability toward a hike (positive) or a cut (negative). Code averages the five opinions and moves that many points from the hold side to the hike side (or the reverse),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a:solidFill>
                  <a:schemeClr val="bg1"/>
                </a:solidFill>
              </a:rPr>
              <a:t>5 opinions, ±10</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a:t>
            </a:r>
            <a:r>
              <a:rPr lang="en-US" sz="1050">
                <a:solidFill>
                  <a:srgbClr val="CADCFC"/>
                </a:solidFill>
              </a:rPr>
              <a:t>· +3.4</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a:solidFill>
                  <a:schemeClr val="tx1"/>
                </a:solidFill>
              </a:rPr>
              <a:t>Each point of opinion </a:t>
            </a:r>
            <a:r>
              <a:rPr lang="en-US" sz="1050" b="1" dirty="0">
                <a:solidFill>
                  <a:schemeClr val="tx1"/>
                </a:solidFill>
              </a:rPr>
              <a:t>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200" b="1">
                <a:solidFill>
                  <a:schemeClr val="tx2"/>
                </a:solidFill>
                <a:latin typeface="Cambria" pitchFamily="34" charset="0"/>
                <a:ea typeface="Cambria" pitchFamily="34" charset="-122"/>
                <a:cs typeface="Cambria" pitchFamily="34" charset="-120"/>
              </a:rPr>
              <a:t>+25 bps: 20.2% </a:t>
            </a:r>
            <a:r>
              <a:rPr lang="en-US" sz="1200" b="1" dirty="0">
                <a:solidFill>
                  <a:schemeClr val="tx2"/>
                </a:solidFill>
                <a:latin typeface="Cambria" pitchFamily="34" charset="0"/>
                <a:ea typeface="Cambria" pitchFamily="34" charset="-122"/>
                <a:cs typeface="Cambria" pitchFamily="34" charset="-120"/>
              </a:rPr>
              <a:t>→ 22.4%</a:t>
            </a:r>
            <a:endParaRPr lang="en-US" sz="12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a:solidFill>
                  <a:schemeClr val="accent4"/>
                </a:solidFill>
              </a:rPr>
              <a:t>+50 bps 6.0 </a:t>
            </a:r>
            <a:r>
              <a:rPr lang="en-US" sz="950" dirty="0">
                <a:solidFill>
                  <a:schemeClr val="accent4"/>
                </a:solidFill>
              </a:rPr>
              <a:t>→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15</a:t>
            </a:fld>
            <a:endParaRPr lang="en-US"/>
          </a:p>
        </p:txBody>
      </p:sp>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a:t>
            </a:r>
            <a:r>
              <a:rPr lang="en-US" sz="1300">
                <a:solidFill>
                  <a:srgbClr val="FFFFFF"/>
                </a:solidFill>
              </a:rPr>
              <a:t>: the opinion, grounded, </a:t>
            </a:r>
            <a:r>
              <a:rPr lang="en-US" sz="1300" dirty="0">
                <a:solidFill>
                  <a:srgbClr val="FFFFFF"/>
                </a:solidFill>
              </a:rPr>
              <a:t>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TotalTime>
  <Words>7272</Words>
  <Application>Microsoft Office PowerPoint</Application>
  <PresentationFormat>Widescreen</PresentationFormat>
  <Paragraphs>630</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2026-10-29T18:55:14Z</dcterms:modified>
</cp:coreProperties>
</file>