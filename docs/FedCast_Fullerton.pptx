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1" r:id="rId6"/>
    <p:sldId id="260" r:id="rId7"/>
    <p:sldId id="262" r:id="rId8"/>
    <p:sldId id="263" r:id="rId9"/>
    <p:sldId id="264" r:id="rId10"/>
    <p:sldId id="265" r:id="rId11"/>
    <p:sldId id="266" r:id="rId12"/>
    <p:sldId id="268" r:id="rId13"/>
    <p:sldId id="269" r:id="rId14"/>
    <p:sldId id="267" r:id="rId15"/>
    <p:sldId id="271" r:id="rId16"/>
    <p:sldId id="273" r:id="rId17"/>
    <p:sldId id="274" r:id="rId18"/>
    <p:sldId id="275" r:id="rId19"/>
    <p:sldId id="276" r:id="rId20"/>
    <p:sldId id="277"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Lst>
        </p14:section>
        <p14:section name="Objective" id="{A15A7BD8-DE7C-6B45-BFCB-6F6BC3F0EA31}">
          <p14:sldIdLst>
            <p14:sldId id="258"/>
            <p14:sldId id="259"/>
            <p14:sldId id="261"/>
            <p14:sldId id="260"/>
          </p14:sldIdLst>
        </p14:section>
        <p14:section name="How it works" id="{51E39E62-D42A-5461-E95E-6B45ACE96CC0}">
          <p14:sldIdLst>
            <p14:sldId id="262"/>
            <p14:sldId id="263"/>
            <p14:sldId id="264"/>
          </p14:sldIdLst>
        </p14:section>
        <p14:section name="The harness" id="{92928B70-AC41-17EA-8015-68E5296D82D9}">
          <p14:sldIdLst>
            <p14:sldId id="265"/>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6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The final entry before the meeting said no change at 67.6%, hike at 22.4%, with the specialists leaning hawkish by four basis points. The Fed held, ten votes to two, and both dissents wanted the quarter-point hike the specialists were leaning toward. Say plainly that the market alone was more confident (90/10) and we do not claim to beat it at five weeks; what the system adds is the reasons, and the vote bore the reasons out. Then: one decision proves little, which is why the rest of the talk is about process.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signal exist already; each is good at one thing. Market prices are the best single predictor at thirty days and are the anchor of the pool. Surveys carry judgement; FedCast takes the data the committee reads instead, as history and a fitted model. The rules are the Fed's own benchmarks. The LLM papers show a model can read the Fed, on sixteen meetings. FedCast's claim is not a better guess but the combination: one of each kind, pooled by code at fixed weights, every number traceable to frozen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lean. Right: the chain in order, each line a view in the app. Walk the diagram first, then the chain.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 mean lean of +4.0 basis points becomes 4.0 points of probability moved toward a hike, through the same capped mechanism a human view uses. The lean row is tinted and labelled 'after pooling': it is a modifier on the pooled number, not a model in the pool. Then the footer: the weights are judgement, logged; ideally they would be backtested, but there is no live record yet, so live scores from 28 October onward decide them by amendment.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 language model cannot be made to stop doing: it remembers, it varies between runs, and it can invent support. None is removed. Each is designed around, and the design is measured on every snapshot. Walk the three columns top to bottom: the limit, what we do, the proof. The proof numbers are from the 28 October records and the four-snapshot means.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the same frozen evidence, eight configurations. Left: analysts 1 to 3 are controls, drawn grey and dashed; they never enter the number. Right: the five specialists that do. Every analyst runs five times on the same snapshot; for 1 to 3 those runs build the benchmark 4 to 8 are measured against. Analyst 1 sets the baseline (variance, numbers from memory, nothing quoted); 2 tests what immutable evidence fixes; 3 tests the answer shape and code verification. Each rung adds one thing, so the change in the measurements is the value of that thing.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in their lean, which maps one basis point to one percentage point of probability, so the four bars are comparable.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of method, then the outcome. Each specialist runs five times on the same frozen snapshot; the five answers must sit within the variance pass mark, every claim must carry a quote code finds, and no number may come from memory. Only then does the lean count. The band is the 28 October run; bottom left is what the five said and what it did to the number; bottom right is one claim as recorded, with the quote code found.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a quote comes from, open the statement claim on analyst 4: the quote is the statement's own line, found by code in item fed.statement.2026-09-16.</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follow-ups, in order of value. One: pre-registered weight sets scored on every live decision, so the weights stop being judgement. Two: reasoning quality graded by people in the app, which becomes the tenth measured dimension and a gate. Three: an events agent for the regime shifts the models cannot read. Four: a second model family to show the harness, not the model, does the work. Five: other central banks; the chain needs a calendar, a rate series, the statements and a curve, and the scorecard transfers unchanged. Six: better classical models, judged by the expanding window only.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41732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41732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5856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3063240"/>
            <a:ext cx="5486400"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3" name="Text 10"/>
          <p:cNvSpPr txBox="1"/>
          <p:nvPr/>
        </p:nvSpPr>
        <p:spPr>
          <a:xfrm>
            <a:off x="822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How the number was made</a:t>
            </a:r>
            <a:endParaRPr lang="en-US" sz="1500" dirty="0"/>
          </a:p>
        </p:txBody>
      </p:sp>
      <p:sp>
        <p:nvSpPr>
          <p:cNvPr id="14" name="Text 11"/>
          <p:cNvSpPr txBox="1"/>
          <p:nvPr/>
        </p:nvSpPr>
        <p:spPr>
          <a:xfrm>
            <a:off x="822960" y="3566160"/>
            <a:ext cx="5029200"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One frozen snapshot of 23 evidence items, pulled 28 October: futures, eight FRED series, both statements, minutes, transcript, projections, speeches, 32 years of decisions, the NY Fed natural rate, prediction-market odds</a:t>
            </a:r>
            <a:endParaRPr lang="en-US" sz="1200" dirty="0"/>
          </a:p>
          <a:p>
            <a:pPr marL="342900" indent="-342900">
              <a:spcAft>
                <a:spcPts val="400"/>
              </a:spcAft>
              <a:buSzPct val="100000"/>
              <a:buChar char="•"/>
            </a:pPr>
            <a:r>
              <a:rPr lang="en-US" sz="1200" dirty="0">
                <a:solidFill>
                  <a:schemeClr val="tx1"/>
                </a:solidFill>
              </a:rPr>
              <a:t>Four models pooled by code at fixed weights (market 0.6, Taylor rules 0.2, odds 0.1, base rates 0.1), then a 1.5% floor on every outcome: no change 70.9%, hike 26.2%</a:t>
            </a:r>
            <a:endParaRPr lang="en-US" sz="1200" dirty="0"/>
          </a:p>
          <a:p>
            <a:pPr marL="342900" indent="-342900">
              <a:spcAft>
                <a:spcPts val="400"/>
              </a:spcAft>
              <a:buSzPct val="100000"/>
              <a:buChar char="•"/>
            </a:pPr>
            <a:r>
              <a:rPr lang="en-US" sz="1200" dirty="0">
                <a:solidFill>
                  <a:schemeClr val="tx1"/>
                </a:solidFill>
              </a:rPr>
              <a:t>Five specialist analysts, every claim quoted and verified by code, lean the number +4.0 bp toward a hike: no change 67.6%, +25 bps 22.4%, +50 bps 7.7%</a:t>
            </a:r>
            <a:endParaRPr lang="en-US" sz="1200" dirty="0"/>
          </a:p>
          <a:p>
            <a:pPr marL="342900" indent="-342900">
              <a:spcAft>
                <a:spcPts val="400"/>
              </a:spcAft>
              <a:buSzPct val="100000"/>
              <a:buChar char="•"/>
            </a:pPr>
            <a:r>
              <a:rPr lang="en-US" sz="1200" dirty="0">
                <a:solidFill>
                  <a:schemeClr val="tx1"/>
                </a:solidFill>
              </a:rPr>
              <a:t>Hash-chained ledger entry #18; recomputes exactly from its snapshot and the analyst runs it names</a:t>
            </a:r>
            <a:endParaRPr lang="en-US" sz="1200" dirty="0"/>
          </a:p>
        </p:txBody>
      </p:sp>
      <p:sp>
        <p:nvSpPr>
          <p:cNvPr id="15" name="Shape 12"/>
          <p:cNvSpPr/>
          <p:nvPr/>
        </p:nvSpPr>
        <p:spPr>
          <a:xfrm>
            <a:off x="6263640" y="3063240"/>
            <a:ext cx="5376672"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6" name="Text 13"/>
          <p:cNvSpPr txBox="1"/>
          <p:nvPr/>
        </p:nvSpPr>
        <p:spPr>
          <a:xfrm>
            <a:off x="6537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What the outcome says</a:t>
            </a:r>
            <a:endParaRPr lang="en-US" sz="1500" dirty="0"/>
          </a:p>
        </p:txBody>
      </p:sp>
      <p:sp>
        <p:nvSpPr>
          <p:cNvPr id="17" name="Text 14"/>
          <p:cNvSpPr txBox="1"/>
          <p:nvPr/>
        </p:nvSpPr>
        <p:spPr>
          <a:xfrm>
            <a:off x="6537960" y="3566160"/>
            <a:ext cx="5102352"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most likely outcome was the outcome. The market alone was more confident (90/10); at five weeks we do not claim to beat it</a:t>
            </a:r>
            <a:endParaRPr lang="en-US" sz="1200" dirty="0"/>
          </a:p>
          <a:p>
            <a:pPr marL="342900" indent="-342900">
              <a:spcAft>
                <a:spcPts val="400"/>
              </a:spcAft>
              <a:buSzPct val="100000"/>
              <a:buChar char="•"/>
            </a:pPr>
            <a:r>
              <a:rPr lang="en-US" sz="1200" dirty="0">
                <a:solidFill>
                  <a:schemeClr val="tx1"/>
                </a:solidFill>
              </a:rPr>
              <a:t>What the system added was the reasons: the hawkish lean came from the communications, minutes and inflation readers; the labour reader was the lone dove. Two dissents for a hike is that lean, in the vote</a:t>
            </a:r>
            <a:endParaRPr lang="en-US" sz="1200" dirty="0"/>
          </a:p>
          <a:p>
            <a:pPr marL="342900" indent="-342900">
              <a:spcAft>
                <a:spcPts val="400"/>
              </a:spcAft>
              <a:buSzPct val="100000"/>
              <a:buChar char="•"/>
            </a:pPr>
            <a:r>
              <a:rPr lang="en-US" sz="1200" dirty="0">
                <a:solidFill>
                  <a:schemeClr val="tx1"/>
                </a:solidFill>
              </a:rPr>
              <a:t>Every reason is a quote code found in the frozen evidence, so the call can be taken apart claim by claim, which the rest of this talk does</a:t>
            </a:r>
            <a:endParaRPr lang="en-US" sz="1200" dirty="0"/>
          </a:p>
          <a:p>
            <a:pPr marL="342900" indent="-342900">
              <a:spcAft>
                <a:spcPts val="400"/>
              </a:spcAft>
              <a:buSzPct val="100000"/>
              <a:buChar char="•"/>
            </a:pPr>
            <a:r>
              <a:rPr lang="en-US" sz="1200" dirty="0">
                <a:solidFill>
                  <a:schemeClr val="tx1"/>
                </a:solidFill>
              </a:rPr>
              <a:t>One decision proves little. It is scored formally (log score, Brier, against the market and two naive baselines) the moment the NY Fed's post-meeting rate row lands, and every weight decision waits on that record</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(Polymarket, Kalshi)</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3374136"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1" name="Shape 8"/>
          <p:cNvSpPr/>
          <p:nvPr/>
        </p:nvSpPr>
        <p:spPr>
          <a:xfrm>
            <a:off x="3602736" y="1691640"/>
            <a:ext cx="146304" cy="146304"/>
          </a:xfrm>
          <a:prstGeom prst="rect">
            <a:avLst/>
          </a:prstGeom>
          <a:solidFill>
            <a:srgbClr val="2C6E49"/>
          </a:solidFill>
          <a:ln w="12700">
            <a:solidFill>
              <a:srgbClr val="2C6E49"/>
            </a:solidFill>
            <a:prstDash val="solid"/>
          </a:ln>
        </p:spPr>
      </p:sp>
      <p:sp>
        <p:nvSpPr>
          <p:cNvPr id="12" name="Text 9"/>
          <p:cNvSpPr txBox="1"/>
          <p:nvPr/>
        </p:nvSpPr>
        <p:spPr>
          <a:xfrm>
            <a:off x="3831336"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3602736"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3602736"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3602736"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16" name="Shape 13"/>
          <p:cNvSpPr/>
          <p:nvPr/>
        </p:nvSpPr>
        <p:spPr>
          <a:xfrm>
            <a:off x="6199632"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7" name="Shape 14"/>
          <p:cNvSpPr/>
          <p:nvPr/>
        </p:nvSpPr>
        <p:spPr>
          <a:xfrm>
            <a:off x="6428232" y="1691640"/>
            <a:ext cx="146304" cy="146304"/>
          </a:xfrm>
          <a:prstGeom prst="rect">
            <a:avLst/>
          </a:prstGeom>
          <a:solidFill>
            <a:srgbClr val="E9B44C"/>
          </a:solidFill>
          <a:ln w="12700">
            <a:solidFill>
              <a:srgbClr val="E9B44C"/>
            </a:solidFill>
            <a:prstDash val="solid"/>
          </a:ln>
        </p:spPr>
      </p:sp>
      <p:sp>
        <p:nvSpPr>
          <p:cNvPr id="18" name="Text 15"/>
          <p:cNvSpPr txBox="1"/>
          <p:nvPr/>
        </p:nvSpPr>
        <p:spPr>
          <a:xfrm>
            <a:off x="6656832"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19" name="Text 16"/>
          <p:cNvSpPr txBox="1"/>
          <p:nvPr/>
        </p:nvSpPr>
        <p:spPr>
          <a:xfrm>
            <a:off x="6428232"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20" name="Text 17"/>
          <p:cNvSpPr txBox="1"/>
          <p:nvPr/>
        </p:nvSpPr>
        <p:spPr>
          <a:xfrm>
            <a:off x="6428232"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21" name="Text 18"/>
          <p:cNvSpPr txBox="1"/>
          <p:nvPr/>
        </p:nvSpPr>
        <p:spPr>
          <a:xfrm>
            <a:off x="6428232"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Eight decisions a year: a good year proves nothing</a:t>
            </a:r>
            <a:endParaRPr lang="en-US" sz="1300" dirty="0"/>
          </a:p>
          <a:p>
            <a:pPr marL="342900" indent="-342900">
              <a:spcAft>
                <a:spcPts val="800"/>
              </a:spcAft>
              <a:buSzPct val="100000"/>
              <a:buChar char="•"/>
            </a:pPr>
            <a:r>
              <a:rPr lang="en-US" sz="1300" dirty="0">
                <a:solidFill>
                  <a:schemeClr val="tx1"/>
                </a:solidFill>
              </a:rPr>
              <a:t>The yardstick is a ten-point scorecard, fixed before any code: same evidence, same answer? every claim quoted? any number from memory? 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Every step is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it is flagged as from memory</a:t>
            </a:r>
            <a:endParaRPr lang="en-US" sz="1300"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endParaRPr lang="en-US" sz="1300" dirty="0"/>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Everything is quotable and the analysts can read only the evidence, so a wrong call is a traceable wrong call: we 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lean,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 Then the analysts' lean, capped at 10 points. Code does this; no model writes the number.</a:t>
            </a:r>
            <a:endParaRPr lang="en-US" sz="950" dirty="0"/>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 Nothing outside it may be read.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Computed by code and handed to the analysts as numbers: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the floor, then the specialists' lean.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Only analysts 4 to 8 enter the number. Analysts 1 to 3 are checks and balances on the ladder.</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tilt by at most 10 points and expire; watch-outs must be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 and the runs it names.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3899916"/>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dirty="0">
                          <a:solidFill>
                            <a:srgbClr val="1B1F2A"/>
                          </a:solidFill>
                        </a:rPr>
                        <a:t>Specialists' lean: a modifier on the pooled number, not a model in the pool. </a:t>
                      </a:r>
                      <a:r>
                        <a:rPr lang="en-US" sz="1000" dirty="0">
                          <a:solidFill>
                            <a:srgbClr val="1B1F2A"/>
                          </a:solidFill>
                        </a:rPr>
                        <a:t>Mean of analysts 4 to 8, +4.0 bp hawkish = 4.0 points of probability 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 track. It can tilt, it cannot write.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27632"/>
            <a:ext cx="3593592" cy="960120"/>
          </a:xfrm>
          <a:prstGeom prst="roundRect">
            <a:avLst>
              <a:gd name="adj" fmla="val 9524"/>
            </a:avLst>
          </a:prstGeom>
          <a:solidFill>
            <a:srgbClr val="C8553D"/>
          </a:solidFill>
          <a:ln w="12700">
            <a:solidFill>
              <a:srgbClr val="C8553D"/>
            </a:solidFill>
            <a:prstDash val="solid"/>
          </a:ln>
        </p:spPr>
      </p:sp>
      <p:sp>
        <p:nvSpPr>
          <p:cNvPr id="6" name="Shape 3"/>
          <p:cNvSpPr/>
          <p:nvPr/>
        </p:nvSpPr>
        <p:spPr>
          <a:xfrm>
            <a:off x="548640" y="2404872"/>
            <a:ext cx="3593592" cy="182880"/>
          </a:xfrm>
          <a:prstGeom prst="rect">
            <a:avLst/>
          </a:prstGeom>
          <a:solidFill>
            <a:srgbClr val="C8553D"/>
          </a:solidFill>
          <a:ln w="12700">
            <a:solidFill>
              <a:srgbClr val="C8553D"/>
            </a:solidFill>
            <a:prstDash val="solid"/>
          </a:ln>
        </p:spPr>
      </p:sp>
      <p:sp>
        <p:nvSpPr>
          <p:cNvPr id="7" name="Text 4"/>
          <p:cNvSpPr txBox="1"/>
          <p:nvPr/>
        </p:nvSpPr>
        <p:spPr>
          <a:xfrm>
            <a:off x="70408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0408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Memory cannot be switched off</a:t>
            </a:r>
            <a:endParaRPr lang="en-US" sz="1400" dirty="0"/>
          </a:p>
        </p:txBody>
      </p:sp>
      <p:sp>
        <p:nvSpPr>
          <p:cNvPr id="9" name="Text 6"/>
          <p:cNvSpPr txBox="1"/>
          <p:nvPr/>
        </p:nvSpPr>
        <p:spPr>
          <a:xfrm>
            <a:off x="70408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Everything it knows about the Fed is in its weights, and it will use it unless something stops it.</a:t>
            </a:r>
            <a:endParaRPr lang="en-US" sz="1050" dirty="0"/>
          </a:p>
        </p:txBody>
      </p:sp>
      <p:sp>
        <p:nvSpPr>
          <p:cNvPr id="10" name="Shape 7"/>
          <p:cNvSpPr/>
          <p:nvPr/>
        </p:nvSpPr>
        <p:spPr>
          <a:xfrm>
            <a:off x="548640" y="2587752"/>
            <a:ext cx="3593592" cy="2011680"/>
          </a:xfrm>
          <a:prstGeom prst="rect">
            <a:avLst/>
          </a:prstGeom>
          <a:solidFill>
            <a:srgbClr val="EEF2F7"/>
          </a:solidFill>
          <a:ln w="12700">
            <a:solidFill>
              <a:srgbClr val="EEF2F7"/>
            </a:solidFill>
            <a:prstDash val="solid"/>
          </a:ln>
        </p:spPr>
      </p:sp>
      <p:sp>
        <p:nvSpPr>
          <p:cNvPr id="11" name="Text 8"/>
          <p:cNvSpPr txBox="1"/>
          <p:nvPr/>
        </p:nvSpPr>
        <p:spPr>
          <a:xfrm>
            <a:off x="70408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0408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Prompt engineering: </a:t>
            </a:r>
            <a:r>
              <a:rPr lang="en-US" sz="1050" dirty="0">
                <a:solidFill>
                  <a:schemeClr val="tx1"/>
                </a:solidFill>
              </a:rPr>
              <a:t>use only the evidence; do not use anything you remember about the economy, the Fed or markets.</a:t>
            </a:r>
            <a:endParaRPr lang="en-US" sz="1050" dirty="0"/>
          </a:p>
          <a:p>
            <a:pPr marL="342900" indent="-342900">
              <a:buSzPct val="100000"/>
              <a:buChar char="•"/>
            </a:pPr>
            <a:r>
              <a:rPr lang="en-US" sz="1050" b="1" dirty="0">
                <a:solidFill>
                  <a:srgbClr val="1B1F2A"/>
                </a:solidFill>
              </a:rPr>
              <a:t>Answer shape: </a:t>
            </a:r>
            <a:r>
              <a:rPr lang="en-US" sz="1050" dirty="0">
                <a:solidFill>
                  <a:schemeClr val="tx1"/>
                </a:solidFill>
              </a:rPr>
              <a:t>every claim must carry a verbatim quote from a named item, so a remembered fact has nowhere to stand.</a:t>
            </a:r>
            <a:endParaRPr lang="en-US" sz="1050" dirty="0"/>
          </a:p>
          <a:p>
            <a:pPr marL="342900" indent="-342900">
              <a:buSzPct val="100000"/>
              <a:buChar char="•"/>
            </a:pPr>
            <a:r>
              <a:rPr lang="en-US" sz="1050" b="1" dirty="0">
                <a:solidFill>
                  <a:srgbClr val="1B1F2A"/>
                </a:solidFill>
              </a:rPr>
              <a:t>Harness: </a:t>
            </a:r>
            <a:r>
              <a:rPr lang="en-US" sz="1050" dirty="0">
                <a:solidFill>
                  <a:schemeClr val="tx1"/>
                </a:solidFill>
              </a:rPr>
              <a:t>every number in the answer is matched to the snapshot by code; one that is not found is flagged as from memory and sent back once to be removed.</a:t>
            </a:r>
            <a:endParaRPr lang="en-US" sz="1050" dirty="0"/>
          </a:p>
        </p:txBody>
      </p:sp>
      <p:sp>
        <p:nvSpPr>
          <p:cNvPr id="13" name="Shape 10"/>
          <p:cNvSpPr/>
          <p:nvPr/>
        </p:nvSpPr>
        <p:spPr>
          <a:xfrm>
            <a:off x="548640" y="4599432"/>
            <a:ext cx="3593592" cy="960120"/>
          </a:xfrm>
          <a:prstGeom prst="roundRect">
            <a:avLst>
              <a:gd name="adj" fmla="val 9524"/>
            </a:avLst>
          </a:prstGeom>
          <a:solidFill>
            <a:srgbClr val="FFFFFF"/>
          </a:solidFill>
          <a:ln w="12700">
            <a:solidFill>
              <a:srgbClr val="D5DBE5"/>
            </a:solidFill>
            <a:prstDash val="solid"/>
          </a:ln>
        </p:spPr>
      </p:sp>
      <p:sp>
        <p:nvSpPr>
          <p:cNvPr id="14" name="Text 11"/>
          <p:cNvSpPr txBox="1"/>
          <p:nvPr/>
        </p:nvSpPr>
        <p:spPr>
          <a:xfrm>
            <a:off x="70408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15" name="Text 12"/>
          <p:cNvSpPr txBox="1"/>
          <p:nvPr/>
        </p:nvSpPr>
        <p:spPr>
          <a:xfrm>
            <a:off x="70408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38 → 0</a:t>
            </a:r>
            <a:endParaRPr lang="en-US" sz="2200" dirty="0"/>
          </a:p>
        </p:txBody>
      </p:sp>
      <p:sp>
        <p:nvSpPr>
          <p:cNvPr id="16" name="Text 13"/>
          <p:cNvSpPr txBox="1"/>
          <p:nvPr/>
        </p:nvSpPr>
        <p:spPr>
          <a:xfrm>
            <a:off x="214884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figures in the answer that appear nowhere in the evidence: analyst 1, which sees no evidence, against analysts 2 to 8, five runs each</a:t>
            </a:r>
            <a:endParaRPr lang="en-US" sz="1000" dirty="0"/>
          </a:p>
        </p:txBody>
      </p:sp>
      <p:sp>
        <p:nvSpPr>
          <p:cNvPr id="17" name="Shape 14"/>
          <p:cNvSpPr/>
          <p:nvPr/>
        </p:nvSpPr>
        <p:spPr>
          <a:xfrm>
            <a:off x="4297680" y="1627632"/>
            <a:ext cx="3593592" cy="960120"/>
          </a:xfrm>
          <a:prstGeom prst="roundRect">
            <a:avLst>
              <a:gd name="adj" fmla="val 9524"/>
            </a:avLst>
          </a:prstGeom>
          <a:solidFill>
            <a:srgbClr val="C8553D"/>
          </a:solidFill>
          <a:ln w="12700">
            <a:solidFill>
              <a:srgbClr val="C8553D"/>
            </a:solidFill>
            <a:prstDash val="solid"/>
          </a:ln>
        </p:spPr>
      </p:sp>
      <p:sp>
        <p:nvSpPr>
          <p:cNvPr id="18" name="Shape 15"/>
          <p:cNvSpPr/>
          <p:nvPr/>
        </p:nvSpPr>
        <p:spPr>
          <a:xfrm>
            <a:off x="4297680" y="2404872"/>
            <a:ext cx="3593592" cy="182880"/>
          </a:xfrm>
          <a:prstGeom prst="rect">
            <a:avLst/>
          </a:prstGeom>
          <a:solidFill>
            <a:srgbClr val="C8553D"/>
          </a:solidFill>
          <a:ln w="12700">
            <a:solidFill>
              <a:srgbClr val="C8553D"/>
            </a:solidFill>
            <a:prstDash val="solid"/>
          </a:ln>
        </p:spPr>
      </p:sp>
      <p:sp>
        <p:nvSpPr>
          <p:cNvPr id="19" name="Text 16"/>
          <p:cNvSpPr txBox="1"/>
          <p:nvPr/>
        </p:nvSpPr>
        <p:spPr>
          <a:xfrm>
            <a:off x="445312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20" name="Text 17"/>
          <p:cNvSpPr txBox="1"/>
          <p:nvPr/>
        </p:nvSpPr>
        <p:spPr>
          <a:xfrm>
            <a:off x="445312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The same question gets different answers</a:t>
            </a:r>
            <a:endParaRPr lang="en-US" sz="1400" dirty="0"/>
          </a:p>
        </p:txBody>
      </p:sp>
      <p:sp>
        <p:nvSpPr>
          <p:cNvPr id="21" name="Text 18"/>
          <p:cNvSpPr txBox="1"/>
          <p:nvPr/>
        </p:nvSpPr>
        <p:spPr>
          <a:xfrm>
            <a:off x="445312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Ask twice and the number moves.</a:t>
            </a:r>
            <a:endParaRPr lang="en-US" sz="1050" dirty="0"/>
          </a:p>
        </p:txBody>
      </p:sp>
      <p:sp>
        <p:nvSpPr>
          <p:cNvPr id="22" name="Shape 19"/>
          <p:cNvSpPr/>
          <p:nvPr/>
        </p:nvSpPr>
        <p:spPr>
          <a:xfrm>
            <a:off x="4297680" y="2587752"/>
            <a:ext cx="3593592" cy="2011680"/>
          </a:xfrm>
          <a:prstGeom prst="rect">
            <a:avLst/>
          </a:prstGeom>
          <a:solidFill>
            <a:srgbClr val="EEF2F7"/>
          </a:solidFill>
          <a:ln w="12700">
            <a:solidFill>
              <a:srgbClr val="EEF2F7"/>
            </a:solidFill>
            <a:prstDash val="solid"/>
          </a:ln>
        </p:spPr>
      </p:sp>
      <p:sp>
        <p:nvSpPr>
          <p:cNvPr id="23" name="Text 20"/>
          <p:cNvSpPr txBox="1"/>
          <p:nvPr/>
        </p:nvSpPr>
        <p:spPr>
          <a:xfrm>
            <a:off x="445312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4" name="Text 21"/>
          <p:cNvSpPr txBox="1"/>
          <p:nvPr/>
        </p:nvSpPr>
        <p:spPr>
          <a:xfrm>
            <a:off x="445312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Answer shape: </a:t>
            </a:r>
            <a:r>
              <a:rPr lang="en-US" sz="1050" dirty="0">
                <a:solidFill>
                  <a:schemeClr val="tx1"/>
                </a:solidFill>
              </a:rPr>
              <a:t>a JSON schema fixes the form of the answer; the runtime rejects anything else before anyone reads it.</a:t>
            </a:r>
            <a:endParaRPr lang="en-US" sz="1050" dirty="0"/>
          </a:p>
          <a:p>
            <a:pPr marL="342900" indent="-342900">
              <a:buSzPct val="100000"/>
              <a:buChar char="•"/>
            </a:pPr>
            <a:r>
              <a:rPr lang="en-US" sz="1050" b="1" dirty="0">
                <a:solidFill>
                  <a:srgbClr val="1B1F2A"/>
                </a:solidFill>
              </a:rPr>
              <a:t>Five identical runs </a:t>
            </a:r>
            <a:r>
              <a:rPr lang="en-US" sz="1050" dirty="0">
                <a:solidFill>
                  <a:schemeClr val="tx1"/>
                </a:solidFill>
              </a:rPr>
              <a:t>per analyst per snapshot: the same evidence, the same question, the same schema, only the run number differs. Each is stored and hashed, so it can be audited later.</a:t>
            </a:r>
            <a:endParaRPr lang="en-US" sz="1050" dirty="0"/>
          </a:p>
          <a:p>
            <a:pPr marL="342900" indent="-342900">
              <a:buSzPct val="100000"/>
              <a:buChar char="•"/>
            </a:pPr>
            <a:r>
              <a:rPr lang="en-US" sz="1050" b="1" dirty="0">
                <a:solidFill>
                  <a:srgbClr val="1B1F2A"/>
                </a:solidFill>
              </a:rPr>
              <a:t>Repeatability is measured: </a:t>
            </a:r>
            <a:r>
              <a:rPr lang="en-US" sz="1050" dirty="0">
                <a:solidFill>
                  <a:schemeClr val="tx1"/>
                </a:solidFill>
              </a:rPr>
              <a:t>how far the answer moves between those five runs. Pass mark: 2 points.</a:t>
            </a:r>
            <a:endParaRPr lang="en-US" sz="1050" dirty="0"/>
          </a:p>
        </p:txBody>
      </p:sp>
      <p:sp>
        <p:nvSpPr>
          <p:cNvPr id="25" name="Shape 22"/>
          <p:cNvSpPr/>
          <p:nvPr/>
        </p:nvSpPr>
        <p:spPr>
          <a:xfrm>
            <a:off x="4297680" y="4599432"/>
            <a:ext cx="3593592" cy="960120"/>
          </a:xfrm>
          <a:prstGeom prst="roundRect">
            <a:avLst>
              <a:gd name="adj" fmla="val 9524"/>
            </a:avLst>
          </a:prstGeom>
          <a:solidFill>
            <a:srgbClr val="FFFFFF"/>
          </a:solidFill>
          <a:ln w="12700">
            <a:solidFill>
              <a:srgbClr val="D5DBE5"/>
            </a:solidFill>
            <a:prstDash val="solid"/>
          </a:ln>
        </p:spPr>
      </p:sp>
      <p:sp>
        <p:nvSpPr>
          <p:cNvPr id="26" name="Text 23"/>
          <p:cNvSpPr txBox="1"/>
          <p:nvPr/>
        </p:nvSpPr>
        <p:spPr>
          <a:xfrm>
            <a:off x="445312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FOUR SNAPSHOTS</a:t>
            </a:r>
            <a:endParaRPr lang="en-US" sz="900" dirty="0"/>
          </a:p>
        </p:txBody>
      </p:sp>
      <p:sp>
        <p:nvSpPr>
          <p:cNvPr id="27" name="Text 24"/>
          <p:cNvSpPr txBox="1"/>
          <p:nvPr/>
        </p:nvSpPr>
        <p:spPr>
          <a:xfrm>
            <a:off x="445312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4.2 → 0.8</a:t>
            </a:r>
            <a:endParaRPr lang="en-US" sz="2200" dirty="0"/>
          </a:p>
        </p:txBody>
      </p:sp>
      <p:sp>
        <p:nvSpPr>
          <p:cNvPr id="28" name="Text 25"/>
          <p:cNvSpPr txBox="1"/>
          <p:nvPr/>
        </p:nvSpPr>
        <p:spPr>
          <a:xfrm>
            <a:off x="589788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how far the answer moves between identical runs: naive 4.2 points, specialists 0.8 bp, mean of four snapshots</a:t>
            </a:r>
            <a:endParaRPr lang="en-US" sz="1000" dirty="0"/>
          </a:p>
        </p:txBody>
      </p:sp>
      <p:sp>
        <p:nvSpPr>
          <p:cNvPr id="29" name="Shape 26"/>
          <p:cNvSpPr/>
          <p:nvPr/>
        </p:nvSpPr>
        <p:spPr>
          <a:xfrm>
            <a:off x="8046720" y="1627632"/>
            <a:ext cx="3593592" cy="960120"/>
          </a:xfrm>
          <a:prstGeom prst="roundRect">
            <a:avLst>
              <a:gd name="adj" fmla="val 9524"/>
            </a:avLst>
          </a:prstGeom>
          <a:solidFill>
            <a:srgbClr val="C8553D"/>
          </a:solidFill>
          <a:ln w="12700">
            <a:solidFill>
              <a:srgbClr val="C8553D"/>
            </a:solidFill>
            <a:prstDash val="solid"/>
          </a:ln>
        </p:spPr>
      </p:sp>
      <p:sp>
        <p:nvSpPr>
          <p:cNvPr id="30" name="Shape 27"/>
          <p:cNvSpPr/>
          <p:nvPr/>
        </p:nvSpPr>
        <p:spPr>
          <a:xfrm>
            <a:off x="8046720" y="2404872"/>
            <a:ext cx="3593592" cy="182880"/>
          </a:xfrm>
          <a:prstGeom prst="rect">
            <a:avLst/>
          </a:prstGeom>
          <a:solidFill>
            <a:srgbClr val="C8553D"/>
          </a:solidFill>
          <a:ln w="12700">
            <a:solidFill>
              <a:srgbClr val="C8553D"/>
            </a:solidFill>
            <a:prstDash val="solid"/>
          </a:ln>
        </p:spPr>
      </p:sp>
      <p:sp>
        <p:nvSpPr>
          <p:cNvPr id="31" name="Text 28"/>
          <p:cNvSpPr txBox="1"/>
          <p:nvPr/>
        </p:nvSpPr>
        <p:spPr>
          <a:xfrm>
            <a:off x="820216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32" name="Text 29"/>
          <p:cNvSpPr txBox="1"/>
          <p:nvPr/>
        </p:nvSpPr>
        <p:spPr>
          <a:xfrm>
            <a:off x="820216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It can invent its own “evidence”(hallucinate)</a:t>
            </a:r>
            <a:endParaRPr lang="en-US" sz="1400" dirty="0"/>
          </a:p>
        </p:txBody>
      </p:sp>
      <p:sp>
        <p:nvSpPr>
          <p:cNvPr id="33" name="Text 30"/>
          <p:cNvSpPr txBox="1"/>
          <p:nvPr/>
        </p:nvSpPr>
        <p:spPr>
          <a:xfrm>
            <a:off x="820216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 fluent quote or figure that was never in the document.</a:t>
            </a:r>
            <a:endParaRPr lang="en-US" sz="1050" dirty="0"/>
          </a:p>
        </p:txBody>
      </p:sp>
      <p:sp>
        <p:nvSpPr>
          <p:cNvPr id="34" name="Shape 31"/>
          <p:cNvSpPr/>
          <p:nvPr/>
        </p:nvSpPr>
        <p:spPr>
          <a:xfrm>
            <a:off x="8046720" y="2587752"/>
            <a:ext cx="3593592" cy="2011680"/>
          </a:xfrm>
          <a:prstGeom prst="rect">
            <a:avLst/>
          </a:prstGeom>
          <a:solidFill>
            <a:srgbClr val="EEF2F7"/>
          </a:solidFill>
          <a:ln w="12700">
            <a:solidFill>
              <a:srgbClr val="EEF2F7"/>
            </a:solidFill>
            <a:prstDash val="solid"/>
          </a:ln>
        </p:spPr>
      </p:sp>
      <p:sp>
        <p:nvSpPr>
          <p:cNvPr id="35" name="Text 32"/>
          <p:cNvSpPr txBox="1"/>
          <p:nvPr/>
        </p:nvSpPr>
        <p:spPr>
          <a:xfrm>
            <a:off x="820216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36" name="Text 33"/>
          <p:cNvSpPr txBox="1"/>
          <p:nvPr/>
        </p:nvSpPr>
        <p:spPr>
          <a:xfrm>
            <a:off x="820216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Harness: </a:t>
            </a:r>
            <a:r>
              <a:rPr lang="en-US" sz="1050" dirty="0">
                <a:solidFill>
                  <a:schemeClr val="tx1"/>
                </a:solidFill>
              </a:rPr>
              <a:t>every quote and every number in a claim is verified by code, not by a model. A quote must match its item character for character; a quote stitched from two places fails.</a:t>
            </a:r>
            <a:endParaRPr lang="en-US" sz="1050" dirty="0"/>
          </a:p>
          <a:p>
            <a:pPr marL="342900" indent="-342900">
              <a:buSzPct val="100000"/>
              <a:buChar char="•"/>
            </a:pPr>
            <a:r>
              <a:rPr lang="en-US" sz="1050" b="1" dirty="0">
                <a:solidFill>
                  <a:srgbClr val="1B1F2A"/>
                </a:solidFill>
              </a:rPr>
              <a:t>Bounds: </a:t>
            </a:r>
            <a:r>
              <a:rPr lang="en-US" sz="1050" dirty="0">
                <a:solidFill>
                  <a:schemeClr val="tx1"/>
                </a:solidFill>
              </a:rPr>
              <a:t>every watch-out must be answered by id; the direction call is clipped to ±10 bp.</a:t>
            </a:r>
            <a:endParaRPr lang="en-US" sz="1050" dirty="0"/>
          </a:p>
          <a:p>
            <a:pPr marL="342900" indent="-342900">
              <a:buSzPct val="100000"/>
              <a:buChar char="•"/>
            </a:pPr>
            <a:r>
              <a:rPr lang="en-US" sz="1050" b="1" dirty="0">
                <a:solidFill>
                  <a:srgbClr val="1B1F2A"/>
                </a:solidFill>
              </a:rPr>
              <a:t>One repair round </a:t>
            </a:r>
            <a:r>
              <a:rPr lang="en-US" sz="1050" dirty="0">
                <a:solidFill>
                  <a:schemeClr val="tx1"/>
                </a:solidFill>
              </a:rPr>
              <a:t>with the verifier's report; both answers are kept. What still fails is recorded as unverified, never hidden.</a:t>
            </a:r>
            <a:endParaRPr lang="en-US" sz="1050" dirty="0"/>
          </a:p>
        </p:txBody>
      </p:sp>
      <p:sp>
        <p:nvSpPr>
          <p:cNvPr id="37" name="Shape 34"/>
          <p:cNvSpPr/>
          <p:nvPr/>
        </p:nvSpPr>
        <p:spPr>
          <a:xfrm>
            <a:off x="8046720" y="4599432"/>
            <a:ext cx="3593592" cy="960120"/>
          </a:xfrm>
          <a:prstGeom prst="roundRect">
            <a:avLst>
              <a:gd name="adj" fmla="val 9524"/>
            </a:avLst>
          </a:prstGeom>
          <a:solidFill>
            <a:srgbClr val="FFFFFF"/>
          </a:solidFill>
          <a:ln w="12700">
            <a:solidFill>
              <a:srgbClr val="D5DBE5"/>
            </a:solidFill>
            <a:prstDash val="solid"/>
          </a:ln>
        </p:spPr>
      </p:sp>
      <p:sp>
        <p:nvSpPr>
          <p:cNvPr id="38" name="Text 35"/>
          <p:cNvSpPr txBox="1"/>
          <p:nvPr/>
        </p:nvSpPr>
        <p:spPr>
          <a:xfrm>
            <a:off x="820216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39" name="Text 36"/>
          <p:cNvSpPr txBox="1"/>
          <p:nvPr/>
        </p:nvSpPr>
        <p:spPr>
          <a:xfrm>
            <a:off x="820216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326 / 327</a:t>
            </a:r>
            <a:endParaRPr lang="en-US" sz="2200" dirty="0"/>
          </a:p>
        </p:txBody>
      </p:sp>
      <p:sp>
        <p:nvSpPr>
          <p:cNvPr id="40" name="Text 37"/>
          <p:cNvSpPr txBox="1"/>
          <p:nvPr/>
        </p:nvSpPr>
        <p:spPr>
          <a:xfrm>
            <a:off x="964692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claims whose quote code found verbatim, analysts 3 to 8, 30 runs; the one miss is on the record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a:solidFill>
                  <a:srgbClr val="CADCFC"/>
                </a:solidFill>
              </a:rPr>
              <a:t>Each specialist is asked one question about its own slice (above), never for a probability. It returns claims, each with a verbatim quote and item id, and a lean of at most 10 bp either way: direction and strength, positive toward a hike. Code averages the five leans; each point of lean moves one point of probability,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 </a:t>
            </a:r>
            <a:r>
              <a:rPr lang="en-US" sz="1000" dirty="0">
                <a:solidFill>
                  <a:schemeClr val="tx1"/>
                </a:solidFill>
              </a:rPr>
              <a:t>variance falls under 1 bp; 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 standard deviation of the lean, 1 bp = 1 pp.</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2 +25 bp at 50 to 57%; analyst 3 +5.8 to +7.0 bp hawkish; specialists +4.0 to +4.4 bp, labour 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does the lean count 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dirty="0">
                <a:solidFill>
                  <a:schemeClr val="bg1"/>
                </a:solidFill>
              </a:rPr>
              <a:t>5 leans, ±10 bp</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 +3.4 bp</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04088" y="4315968"/>
          <a:ext cx="210312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+4.0 bp</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dirty="0">
                <a:solidFill>
                  <a:schemeClr val="tx1"/>
                </a:solidFill>
              </a:rPr>
              <a:t>Each point of lean 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+25 bp: 20.2% → 22.4%</a:t>
            </a:r>
            <a:endParaRPr lang="en-US" sz="14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dirty="0">
                <a:solidFill>
                  <a:schemeClr val="accent4"/>
                </a:solidFill>
              </a:rPr>
              <a:t>+50 bp 6.0 →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 lean hawkish ·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extLst>
      <p:ext uri="{BB962C8B-B14F-4D97-AF65-F5344CB8AC3E}">
        <p14:creationId xmlns:p14="http://schemas.microsoft.com/office/powerpoint/2010/main" val="2067537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 specialists +4.0 bp. The 28 October call 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lean.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not the data the models read. A watch-out agent that scans for bank failures, funding stress and market dislocations and raises a typed watch-out every analyst must answer.</a:t>
            </a:r>
            <a:endParaRPr lang="en-US" sz="1000"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 second model family</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probit's successor: features written down before fitting, a regularised ordinal model, a reliability check beside the log score, and the expanding window as the only judge. A regularised boosted model as one pre-registered candidate. About 130 usable decisions, 68% holds: small models, honestly tested, not big ones.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18</a:t>
            </a:fld>
            <a:endParaRPr lang="en-US"/>
          </a:p>
        </p:txBody>
      </p:sp>
    </p:spTree>
    <p:extLst>
      <p:ext uri="{BB962C8B-B14F-4D97-AF65-F5344CB8AC3E}">
        <p14:creationId xmlns:p14="http://schemas.microsoft.com/office/powerpoint/2010/main" val="7522578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 +5.8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 +4.0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repeatability in basis points of their direction call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TotalTime>
  <Words>6126</Words>
  <Application>Microsoft Office PowerPoint</Application>
  <PresentationFormat>Widescreen</PresentationFormat>
  <Paragraphs>478</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Cambria</vt:lpstr>
      <vt:lpstr>Courier New</vt:lpstr>
      <vt:lpstr>FedCast</vt:lpstr>
      <vt:lpstr>FedCast</vt:lpstr>
      <vt:lpstr>About me</vt:lpstr>
      <vt:lpstr>The question, the answer, and what happened</vt:lpstr>
      <vt:lpstr>Live demo 1: the forecast</vt:lpstr>
      <vt:lpstr>Four kinds of signal, and where FedCast sits</vt:lpstr>
      <vt:lpstr>Why this approach ?</vt:lpstr>
      <vt:lpstr>Model Architecture</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2026-10-29T16:29:20Z</dcterms:modified>
</cp:coreProperties>
</file>