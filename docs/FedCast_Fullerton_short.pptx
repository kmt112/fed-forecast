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rief" id="{9dc658d5-145d-479c-b52c-c5ffdaed3965}">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a language model inside an engineered harness gives forecasts that are measurably more repeatable and more faithful to evidence than the same model asked naively, and we prove it by measuring the process, not by waiting for eight decisions a year to come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what it is in five lines and today's number. Right: the four reasons, with the honest framing that at five weeks the market is the anchor and the claim is a checkable number, a reusable harness and a method for deciding when a language model may be trusted inside a process. Close on the last line: the first live decision is scored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rtlCol="0"/>
          <a:lstStyle>
            <a:lvl1pPr algn="l" indent="0" marL="0">
              <a:buNone/>
              <a:defRPr lang="en-US" sz="2000" dirty="0">
                <a:solidFill>
                  <a:srgbClr val="CADCF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FedCast</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indent="0" marL="0">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indent="0" marL="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indent="0" marL="0">
              <a:buNone/>
            </a:pPr>
            <a:r>
              <a:rPr lang="en-US" sz="1250" dirty="0">
                <a:solidFill>
                  <a:schemeClr val="tx1"/>
                </a:solidFill>
              </a:rPr>
              <a:t>Senior AI, Data and Technology Consultant, seconded to Temasek Holdings, Digital Innovation (2023 to now)</a:t>
            </a:r>
            <a:endParaRPr lang="en-US" sz="1250" dirty="0"/>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indent="0" marL="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authored the Air Force's AI strategy,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indent="0" marL="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indent="0" marL="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indent="0" marL="0">
              <a:buNone/>
            </a:pPr>
            <a:r>
              <a:rPr lang="en-US" sz="1600" b="1" dirty="0">
                <a:solidFill>
                  <a:schemeClr val="tx2"/>
                </a:solidFill>
              </a:rPr>
              <a:t>Things I have built that models had to earn trust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indent="0" marL="0">
              <a:buNone/>
            </a:pPr>
            <a:r>
              <a:rPr lang="en-US" sz="1300" b="1" dirty="0">
                <a:solidFill>
                  <a:schemeClr val="tx2"/>
                </a:solidFill>
              </a:rPr>
              <a:t>Investment analytics at Temasek</a:t>
            </a:r>
            <a:endParaRPr lang="en-US" sz="1300" dirty="0"/>
          </a:p>
        </p:txBody>
      </p:sp>
      <p:sp>
        <p:nvSpPr>
          <p:cNvPr id="15" name="Text 12"/>
          <p:cNvSpPr txBox="1"/>
          <p:nvPr/>
        </p:nvSpPr>
        <p:spPr>
          <a:xfrm>
            <a:off x="5897880" y="2286000"/>
            <a:ext cx="5760720" cy="713232"/>
          </a:xfrm>
          <a:prstGeom prst="rect">
            <a:avLst/>
          </a:prstGeom>
          <a:noFill/>
          <a:ln/>
        </p:spPr>
        <p:txBody>
          <a:bodyPr wrap="square" lIns="0" tIns="0" rIns="0" bIns="0" rtlCol="0" anchor="t"/>
          <a:lstStyle/>
          <a:p>
            <a:pPr indent="0" marL="0">
              <a:buNone/>
            </a:pPr>
            <a:r>
              <a:rPr lang="en-US" sz="1050" dirty="0">
                <a:solidFill>
                  <a:schemeClr val="tx1"/>
                </a:solidFill>
              </a:rPr>
              <a:t>An AI-assisted analyst performance and attribution platform for 50+ investment professionals, with an LLM signal tracker for high-conviction ideas; signal cadence moved from monthly to daily, every recommendation logged in real time.</a:t>
            </a:r>
            <a:endParaRPr lang="en-US" sz="1050" dirty="0"/>
          </a:p>
        </p:txBody>
      </p:sp>
      <p:sp>
        <p:nvSpPr>
          <p:cNvPr id="16" name="Shape 13"/>
          <p:cNvSpPr/>
          <p:nvPr/>
        </p:nvSpPr>
        <p:spPr>
          <a:xfrm>
            <a:off x="5394960" y="3035808"/>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394960" y="30358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8" name="Text 15"/>
          <p:cNvSpPr txBox="1"/>
          <p:nvPr/>
        </p:nvSpPr>
        <p:spPr>
          <a:xfrm>
            <a:off x="5897880" y="2990088"/>
            <a:ext cx="5760720" cy="320040"/>
          </a:xfrm>
          <a:prstGeom prst="rect">
            <a:avLst/>
          </a:prstGeom>
          <a:noFill/>
          <a:ln/>
        </p:spPr>
        <p:txBody>
          <a:bodyPr wrap="square" lIns="0" tIns="0" rIns="0" bIns="0" rtlCol="0" anchor="t"/>
          <a:lstStyle/>
          <a:p>
            <a:pPr indent="0" marL="0">
              <a:buNone/>
            </a:pPr>
            <a:r>
              <a:rPr lang="en-US" sz="1300" b="1" dirty="0">
                <a:solidFill>
                  <a:schemeClr val="tx2"/>
                </a:solidFill>
              </a:rPr>
              <a:t>Valuation and execution</a:t>
            </a:r>
            <a:endParaRPr lang="en-US" sz="1300" dirty="0"/>
          </a:p>
        </p:txBody>
      </p:sp>
      <p:sp>
        <p:nvSpPr>
          <p:cNvPr id="19" name="Text 16"/>
          <p:cNvSpPr txBox="1"/>
          <p:nvPr/>
        </p:nvSpPr>
        <p:spPr>
          <a:xfrm>
            <a:off x="5897880" y="3310128"/>
            <a:ext cx="5760720" cy="713232"/>
          </a:xfrm>
          <a:prstGeom prst="rect">
            <a:avLst/>
          </a:prstGeom>
          <a:noFill/>
          <a:ln/>
        </p:spPr>
        <p:txBody>
          <a:bodyPr wrap="square" lIns="0" tIns="0" rIns="0" bIns="0" rtlCol="0" anchor="t"/>
          <a:lstStyle/>
          <a:p>
            <a:pPr indent="0" marL="0">
              <a:buNone/>
            </a:pPr>
            <a:r>
              <a:rPr lang="en-US" sz="1050" dirty="0">
                <a:solidFill>
                  <a:schemeClr val="tx1"/>
                </a:solidFill>
              </a:rPr>
              <a:t>A machine-learning mark-to-market for private holdings, systematic and reproducible; and an AI-driven order management system on AWS processing about S$30m a day, replacing an email-based workflow.</a:t>
            </a:r>
            <a:endParaRPr lang="en-US" sz="1050" dirty="0"/>
          </a:p>
        </p:txBody>
      </p:sp>
      <p:sp>
        <p:nvSpPr>
          <p:cNvPr id="20" name="Shape 17"/>
          <p:cNvSpPr/>
          <p:nvPr/>
        </p:nvSpPr>
        <p:spPr>
          <a:xfrm>
            <a:off x="5394960" y="4059936"/>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40599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5897880" y="4014216"/>
            <a:ext cx="5760720" cy="320040"/>
          </a:xfrm>
          <a:prstGeom prst="rect">
            <a:avLst/>
          </a:prstGeom>
          <a:noFill/>
          <a:ln/>
        </p:spPr>
        <p:txBody>
          <a:bodyPr wrap="square" lIns="0" tIns="0" rIns="0" bIns="0" rtlCol="0" anchor="t"/>
          <a:lstStyle/>
          <a:p>
            <a:pPr indent="0" marL="0">
              <a:buNone/>
            </a:pPr>
            <a:r>
              <a:rPr lang="en-US" sz="1300" b="1" dirty="0">
                <a:solidFill>
                  <a:schemeClr val="tx2"/>
                </a:solidFill>
              </a:rPr>
              <a:t>Forecasting under a scoreboard</a:t>
            </a:r>
            <a:endParaRPr lang="en-US" sz="1300" dirty="0"/>
          </a:p>
        </p:txBody>
      </p:sp>
      <p:sp>
        <p:nvSpPr>
          <p:cNvPr id="23" name="Text 20"/>
          <p:cNvSpPr txBox="1"/>
          <p:nvPr/>
        </p:nvSpPr>
        <p:spPr>
          <a:xfrm>
            <a:off x="5897880" y="4334256"/>
            <a:ext cx="5760720" cy="713232"/>
          </a:xfrm>
          <a:prstGeom prst="rect">
            <a:avLst/>
          </a:prstGeom>
          <a:noFill/>
          <a:ln/>
        </p:spPr>
        <p:txBody>
          <a:bodyPr wrap="square" lIns="0" tIns="0" rIns="0" bIns="0" rtlCol="0" anchor="t"/>
          <a:lstStyle/>
          <a:p>
            <a:pPr indent="0" marL="0">
              <a:buNone/>
            </a:pPr>
            <a:r>
              <a:rPr lang="en-US" sz="1050" dirty="0">
                <a:solidFill>
                  <a:schemeClr val="tx1"/>
                </a:solidFill>
              </a:rPr>
              <a:t>4th of 160+ teams (MIT, DoD, USAF) in the 2023 USAF AI Accelerator, predicting pilot flying difficulty from physiology; an ammunition recommender (quantile LightGBM) that cut wastage with no shortfall, Defence Manpower Committee Innovation Award 2022.</a:t>
            </a:r>
            <a:endParaRPr lang="en-US" sz="1050" dirty="0"/>
          </a:p>
        </p:txBody>
      </p:sp>
      <p:sp>
        <p:nvSpPr>
          <p:cNvPr id="24" name="Shape 21"/>
          <p:cNvSpPr/>
          <p:nvPr/>
        </p:nvSpPr>
        <p:spPr>
          <a:xfrm>
            <a:off x="5394960" y="508406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50840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6" name="Text 23"/>
          <p:cNvSpPr txBox="1"/>
          <p:nvPr/>
        </p:nvSpPr>
        <p:spPr>
          <a:xfrm>
            <a:off x="5897880" y="5038344"/>
            <a:ext cx="5760720" cy="320040"/>
          </a:xfrm>
          <a:prstGeom prst="rect">
            <a:avLst/>
          </a:prstGeom>
          <a:noFill/>
          <a:ln/>
        </p:spPr>
        <p:txBody>
          <a:bodyPr wrap="square" lIns="0" tIns="0" rIns="0" bIns="0" rtlCol="0" anchor="t"/>
          <a:lstStyle/>
          <a:p>
            <a:pPr indent="0" marL="0">
              <a:buNone/>
            </a:pPr>
            <a:r>
              <a:rPr lang="en-US" sz="1300" b="1" dirty="0">
                <a:solidFill>
                  <a:schemeClr val="tx2"/>
                </a:solidFill>
              </a:rPr>
              <a:t>COVID-19, 2021</a:t>
            </a:r>
            <a:endParaRPr lang="en-US" sz="1300" dirty="0"/>
          </a:p>
        </p:txBody>
      </p:sp>
      <p:sp>
        <p:nvSpPr>
          <p:cNvPr id="27" name="Text 24"/>
          <p:cNvSpPr txBox="1"/>
          <p:nvPr/>
        </p:nvSpPr>
        <p:spPr>
          <a:xfrm>
            <a:off x="5897880" y="5358384"/>
            <a:ext cx="5760720" cy="713232"/>
          </a:xfrm>
          <a:prstGeom prst="rect">
            <a:avLst/>
          </a:prstGeom>
          <a:noFill/>
          <a:ln/>
        </p:spPr>
        <p:txBody>
          <a:bodyPr wrap="square" lIns="0" tIns="0" rIns="0" bIns="0" rtlCol="0" anchor="t"/>
          <a:lstStyle/>
          <a:p>
            <a:pPr indent="0" marL="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FedCast is, and why we built it</a:t>
            </a:r>
            <a:endParaRPr lang="en-US" sz="3200" dirty="0"/>
          </a:p>
        </p:txBody>
      </p:sp>
      <p:sp>
        <p:nvSpPr>
          <p:cNvPr id="4" name="Shape 1"/>
          <p:cNvSpPr/>
          <p:nvPr/>
        </p:nvSpPr>
        <p:spPr>
          <a:xfrm>
            <a:off x="548640" y="1371600"/>
            <a:ext cx="5120640" cy="4846320"/>
          </a:xfrm>
          <a:prstGeom prst="roundRect">
            <a:avLst>
              <a:gd name="adj" fmla="val 2264"/>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Text 2"/>
          <p:cNvSpPr txBox="1"/>
          <p:nvPr/>
        </p:nvSpPr>
        <p:spPr>
          <a:xfrm>
            <a:off x="868680" y="1554480"/>
            <a:ext cx="4572000" cy="411480"/>
          </a:xfrm>
          <a:prstGeom prst="rect">
            <a:avLst/>
          </a:prstGeom>
          <a:noFill/>
          <a:ln/>
        </p:spPr>
        <p:txBody>
          <a:bodyPr wrap="square" lIns="0" tIns="0" rIns="0" bIns="0" rtlCol="0" anchor="t"/>
          <a:lstStyle/>
          <a:p>
            <a:pPr indent="0" marL="0">
              <a:buNone/>
            </a:pPr>
            <a:r>
              <a:rPr lang="en-US" sz="1800" b="1" dirty="0">
                <a:solidFill>
                  <a:schemeClr val="tx2"/>
                </a:solidFill>
              </a:rPr>
              <a:t>What it is</a:t>
            </a:r>
            <a:endParaRPr lang="en-US" sz="1800" dirty="0"/>
          </a:p>
        </p:txBody>
      </p:sp>
      <p:sp>
        <p:nvSpPr>
          <p:cNvPr id="6" name="Text 3"/>
          <p:cNvSpPr txBox="1"/>
          <p:nvPr/>
        </p:nvSpPr>
        <p:spPr>
          <a:xfrm>
            <a:off x="868680" y="2011680"/>
            <a:ext cx="4526280" cy="32918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A forecast of the next FOMC decision as probabilities over five outcomes, from one frozen, fingerprinted snapshot of evidence: futures, FRED series as first published, statements, minutes, transcript, projections, speeches, 32 years of decisions, prediction-market odds.</a:t>
            </a:r>
            <a:endParaRPr lang="en-US" sz="1200" dirty="0"/>
          </a:p>
          <a:p>
            <a:pPr marL="342900" indent="-342900">
              <a:spcAft>
                <a:spcPts val="600"/>
              </a:spcAft>
              <a:buSzPct val="100000"/>
              <a:buChar char="•"/>
            </a:pPr>
            <a:r>
              <a:rPr lang="en-US" sz="1200" dirty="0">
                <a:solidFill>
                  <a:schemeClr val="tx1"/>
                </a:solidFill>
              </a:rPr>
              <a:t>Code computes the signals and pools four models with fixed weights: market-implied 0.6, the Fed's own Taylor rules 0.2, prediction-market odds 0.1, historical base rates 0.1.</a:t>
            </a:r>
            <a:endParaRPr lang="en-US" sz="1200" dirty="0"/>
          </a:p>
          <a:p>
            <a:pPr marL="342900" indent="-342900">
              <a:spcAft>
                <a:spcPts val="600"/>
              </a:spcAft>
              <a:buSzPct val="100000"/>
              <a:buChar char="•"/>
            </a:pPr>
            <a:r>
              <a:rPr lang="en-US" sz="1200" dirty="0">
                <a:solidFill>
                  <a:schemeClr val="tx1"/>
                </a:solidFill>
              </a:rPr>
              <a:t>A language model is used only to read text: five specialist analysts, tools off, every claim quoted and verified by code, whose combined lean can tilt the number by at most 10 points and never write it.</a:t>
            </a:r>
            <a:endParaRPr lang="en-US" sz="1200" dirty="0"/>
          </a:p>
          <a:p>
            <a:pPr marL="342900" indent="-342900">
              <a:spcAft>
                <a:spcPts val="600"/>
              </a:spcAft>
              <a:buSzPct val="100000"/>
              <a:buChar char="•"/>
            </a:pPr>
            <a:r>
              <a:rPr lang="en-US" sz="1200" dirty="0">
                <a:solidFill>
                  <a:schemeClr val="tx1"/>
                </a:solidFill>
              </a:rPr>
              <a:t>Human judgement enters only through typed, bounded, recorded channels: views, watch-outs, documents, odds.</a:t>
            </a:r>
            <a:endParaRPr lang="en-US" sz="1200" dirty="0"/>
          </a:p>
          <a:p>
            <a:pPr marL="342900" indent="-342900">
              <a:spcAft>
                <a:spcPts val="600"/>
              </a:spcAft>
              <a:buSzPct val="100000"/>
              <a:buChar char="•"/>
            </a:pPr>
            <a:r>
              <a:rPr lang="en-US" sz="1200" dirty="0">
                <a:solidFill>
                  <a:schemeClr val="tx1"/>
                </a:solidFill>
              </a:rPr>
              <a:t>Every forecast goes into a hash-chained ledger that recomputes exactly from its snapshot.</a:t>
            </a:r>
            <a:endParaRPr lang="en-US" sz="1200" dirty="0"/>
          </a:p>
        </p:txBody>
      </p:sp>
      <p:sp>
        <p:nvSpPr>
          <p:cNvPr id="7" name="Text 4"/>
          <p:cNvSpPr txBox="1"/>
          <p:nvPr/>
        </p:nvSpPr>
        <p:spPr>
          <a:xfrm>
            <a:off x="868680" y="5440680"/>
            <a:ext cx="4526280" cy="640080"/>
          </a:xfrm>
          <a:prstGeom prst="rect">
            <a:avLst/>
          </a:prstGeom>
          <a:noFill/>
          <a:ln/>
        </p:spPr>
        <p:txBody>
          <a:bodyPr wrap="square" lIns="0" tIns="0" rIns="0" bIns="0" rtlCol="0" anchor="t"/>
          <a:lstStyle/>
          <a:p>
            <a:pPr indent="0" marL="0">
              <a:buNone/>
            </a:pPr>
            <a:r>
              <a:rPr lang="en-US" sz="1300" b="1" dirty="0">
                <a:solidFill>
                  <a:schemeClr val="tx2"/>
                </a:solidFill>
              </a:rPr>
              <a:t>Today, for 28 October 2026: no change 71%, +25 bps 23%</a:t>
            </a:r>
            <a:endParaRPr lang="en-US" sz="1300" dirty="0"/>
          </a:p>
        </p:txBody>
      </p:sp>
      <p:sp>
        <p:nvSpPr>
          <p:cNvPr id="8" name="Text 5"/>
          <p:cNvSpPr txBox="1"/>
          <p:nvPr/>
        </p:nvSpPr>
        <p:spPr>
          <a:xfrm>
            <a:off x="6126480" y="1417320"/>
            <a:ext cx="5486400" cy="411480"/>
          </a:xfrm>
          <a:prstGeom prst="rect">
            <a:avLst/>
          </a:prstGeom>
          <a:noFill/>
          <a:ln/>
        </p:spPr>
        <p:txBody>
          <a:bodyPr wrap="square" lIns="0" tIns="0" rIns="0" bIns="0" rtlCol="0" anchor="t"/>
          <a:lstStyle/>
          <a:p>
            <a:pPr indent="0" marL="0">
              <a:buNone/>
            </a:pPr>
            <a:r>
              <a:rPr lang="en-US" sz="1800" b="1" dirty="0">
                <a:solidFill>
                  <a:schemeClr val="tx2"/>
                </a:solidFill>
              </a:rPr>
              <a:t>Why we built it</a:t>
            </a:r>
            <a:endParaRPr lang="en-US" sz="1800" dirty="0"/>
          </a:p>
        </p:txBody>
      </p:sp>
      <p:sp>
        <p:nvSpPr>
          <p:cNvPr id="9" name="Shape 6"/>
          <p:cNvSpPr/>
          <p:nvPr/>
        </p:nvSpPr>
        <p:spPr>
          <a:xfrm>
            <a:off x="6126480" y="1947672"/>
            <a:ext cx="384048" cy="384048"/>
          </a:xfrm>
          <a:prstGeom prst="ellipse">
            <a:avLst/>
          </a:prstGeom>
          <a:solidFill>
            <a:srgbClr val="1E2761"/>
          </a:solidFill>
          <a:ln w="12700">
            <a:solidFill>
              <a:srgbClr val="1E2761"/>
            </a:solidFill>
            <a:prstDash val="solid"/>
          </a:ln>
        </p:spPr>
      </p:sp>
      <p:sp>
        <p:nvSpPr>
          <p:cNvPr id="10" name="Text 7"/>
          <p:cNvSpPr txBox="1"/>
          <p:nvPr/>
        </p:nvSpPr>
        <p:spPr>
          <a:xfrm>
            <a:off x="6126480" y="194767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6629400" y="1920240"/>
            <a:ext cx="5029200" cy="320040"/>
          </a:xfrm>
          <a:prstGeom prst="rect">
            <a:avLst/>
          </a:prstGeom>
          <a:noFill/>
          <a:ln/>
        </p:spPr>
        <p:txBody>
          <a:bodyPr wrap="square" lIns="0" tIns="0" rIns="0" bIns="0" rtlCol="0" anchor="t"/>
          <a:lstStyle/>
          <a:p>
            <a:pPr indent="0" marL="0">
              <a:buNone/>
            </a:pPr>
            <a:r>
              <a:rPr lang="en-US" sz="1300" b="1" dirty="0">
                <a:solidFill>
                  <a:schemeClr val="tx2"/>
                </a:solidFill>
              </a:rPr>
              <a:t>Accuracy is the wrong yardstick at this horizon</a:t>
            </a:r>
            <a:endParaRPr lang="en-US" sz="1300" dirty="0"/>
          </a:p>
        </p:txBody>
      </p:sp>
      <p:sp>
        <p:nvSpPr>
          <p:cNvPr id="12" name="Text 9"/>
          <p:cNvSpPr txBox="1"/>
          <p:nvPr/>
        </p:nvSpPr>
        <p:spPr>
          <a:xfrm>
            <a:off x="6629400" y="2240280"/>
            <a:ext cx="5029200" cy="777240"/>
          </a:xfrm>
          <a:prstGeom prst="rect">
            <a:avLst/>
          </a:prstGeom>
          <a:noFill/>
          <a:ln/>
        </p:spPr>
        <p:txBody>
          <a:bodyPr wrap="square" lIns="0" tIns="0" rIns="0" bIns="0" rtlCol="0" anchor="t"/>
          <a:lstStyle/>
          <a:p>
            <a:pPr indent="0" marL="0">
              <a:buNone/>
            </a:pPr>
            <a:r>
              <a:rPr lang="en-US" sz="1050" dirty="0">
                <a:solidFill>
                  <a:schemeClr val="tx1"/>
                </a:solidFill>
              </a:rPr>
              <a:t>Eight decisions a year, and the futures market already calls about 88% of them a month out. A good year proves nothing. So the system is judged on a ten-dimension process scorecard fixed before any code existed, measured by code on every snapshot, and outcomes are logged but never used to tune.</a:t>
            </a:r>
            <a:endParaRPr lang="en-US" sz="1050" dirty="0"/>
          </a:p>
        </p:txBody>
      </p:sp>
      <p:sp>
        <p:nvSpPr>
          <p:cNvPr id="13" name="Shape 10"/>
          <p:cNvSpPr/>
          <p:nvPr/>
        </p:nvSpPr>
        <p:spPr>
          <a:xfrm>
            <a:off x="6126480" y="3026664"/>
            <a:ext cx="384048" cy="384048"/>
          </a:xfrm>
          <a:prstGeom prst="ellipse">
            <a:avLst/>
          </a:prstGeom>
          <a:solidFill>
            <a:srgbClr val="1E2761"/>
          </a:solidFill>
          <a:ln w="12700">
            <a:solidFill>
              <a:srgbClr val="1E2761"/>
            </a:solidFill>
            <a:prstDash val="solid"/>
          </a:ln>
        </p:spPr>
      </p:sp>
      <p:sp>
        <p:nvSpPr>
          <p:cNvPr id="14" name="Text 11"/>
          <p:cNvSpPr txBox="1"/>
          <p:nvPr/>
        </p:nvSpPr>
        <p:spPr>
          <a:xfrm>
            <a:off x="6126480" y="30266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2"/>
          <p:cNvSpPr txBox="1"/>
          <p:nvPr/>
        </p:nvSpPr>
        <p:spPr>
          <a:xfrm>
            <a:off x="6629400" y="2999232"/>
            <a:ext cx="5029200" cy="320040"/>
          </a:xfrm>
          <a:prstGeom prst="rect">
            <a:avLst/>
          </a:prstGeom>
          <a:noFill/>
          <a:ln/>
        </p:spPr>
        <p:txBody>
          <a:bodyPr wrap="square" lIns="0" tIns="0" rIns="0" bIns="0" rtlCol="0" anchor="t"/>
          <a:lstStyle/>
          <a:p>
            <a:pPr indent="0" marL="0">
              <a:buNone/>
            </a:pPr>
            <a:r>
              <a:rPr lang="en-US" sz="1300" b="1" dirty="0">
                <a:solidFill>
                  <a:schemeClr val="tx2"/>
                </a:solidFill>
              </a:rPr>
              <a:t>A desk needs a number it can challenge</a:t>
            </a:r>
            <a:endParaRPr lang="en-US" sz="1300" dirty="0"/>
          </a:p>
        </p:txBody>
      </p:sp>
      <p:sp>
        <p:nvSpPr>
          <p:cNvPr id="16" name="Text 13"/>
          <p:cNvSpPr txBox="1"/>
          <p:nvPr/>
        </p:nvSpPr>
        <p:spPr>
          <a:xfrm>
            <a:off x="6629400" y="3319272"/>
            <a:ext cx="5029200" cy="777240"/>
          </a:xfrm>
          <a:prstGeom prst="rect">
            <a:avLst/>
          </a:prstGeom>
          <a:noFill/>
          <a:ln/>
        </p:spPr>
        <p:txBody>
          <a:bodyPr wrap="square" lIns="0" tIns="0" rIns="0" bIns="0" rtlCol="0" anchor="t"/>
          <a:lstStyle/>
          <a:p>
            <a:pPr indent="0" marL="0">
              <a:buNone/>
            </a:pPr>
            <a:r>
              <a:rPr lang="en-US" sz="1050" dirty="0">
                <a:solidFill>
                  <a:schemeClr val="tx1"/>
                </a:solidFill>
              </a:rPr>
              <a:t>Every input is visible, every analyst claim carries a quote code has matched, every ledger entry replays. When the number moves, you can see which input moved it and by how much.</a:t>
            </a:r>
            <a:endParaRPr lang="en-US" sz="1050" dirty="0"/>
          </a:p>
        </p:txBody>
      </p:sp>
      <p:sp>
        <p:nvSpPr>
          <p:cNvPr id="17" name="Shape 14"/>
          <p:cNvSpPr/>
          <p:nvPr/>
        </p:nvSpPr>
        <p:spPr>
          <a:xfrm>
            <a:off x="6126480" y="4105656"/>
            <a:ext cx="384048" cy="384048"/>
          </a:xfrm>
          <a:prstGeom prst="ellipse">
            <a:avLst/>
          </a:prstGeom>
          <a:solidFill>
            <a:srgbClr val="1E2761"/>
          </a:solidFill>
          <a:ln w="12700">
            <a:solidFill>
              <a:srgbClr val="1E2761"/>
            </a:solidFill>
            <a:prstDash val="solid"/>
          </a:ln>
        </p:spPr>
      </p:sp>
      <p:sp>
        <p:nvSpPr>
          <p:cNvPr id="18" name="Text 15"/>
          <p:cNvSpPr txBox="1"/>
          <p:nvPr/>
        </p:nvSpPr>
        <p:spPr>
          <a:xfrm>
            <a:off x="6126480" y="41056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6"/>
          <p:cNvSpPr txBox="1"/>
          <p:nvPr/>
        </p:nvSpPr>
        <p:spPr>
          <a:xfrm>
            <a:off x="6629400" y="4078224"/>
            <a:ext cx="5029200" cy="320040"/>
          </a:xfrm>
          <a:prstGeom prst="rect">
            <a:avLst/>
          </a:prstGeom>
          <a:noFill/>
          <a:ln/>
        </p:spPr>
        <p:txBody>
          <a:bodyPr wrap="square" lIns="0" tIns="0" rIns="0" bIns="0" rtlCol="0" anchor="t"/>
          <a:lstStyle/>
          <a:p>
            <a:pPr indent="0" marL="0">
              <a:buNone/>
            </a:pPr>
            <a:r>
              <a:rPr lang="en-US" sz="1300" b="1" dirty="0">
                <a:solidFill>
                  <a:schemeClr val="tx2"/>
                </a:solidFill>
              </a:rPr>
              <a:t>Language models are entering this work unchecked</a:t>
            </a:r>
            <a:endParaRPr lang="en-US" sz="1300" dirty="0"/>
          </a:p>
        </p:txBody>
      </p:sp>
      <p:sp>
        <p:nvSpPr>
          <p:cNvPr id="20" name="Text 17"/>
          <p:cNvSpPr txBox="1"/>
          <p:nvPr/>
        </p:nvSpPr>
        <p:spPr>
          <a:xfrm>
            <a:off x="6629400" y="4398264"/>
            <a:ext cx="5029200" cy="777240"/>
          </a:xfrm>
          <a:prstGeom prst="rect">
            <a:avLst/>
          </a:prstGeom>
          <a:noFill/>
          <a:ln/>
        </p:spPr>
        <p:txBody>
          <a:bodyPr wrap="square" lIns="0" tIns="0" rIns="0" bIns="0" rtlCol="0" anchor="t"/>
          <a:lstStyle/>
          <a:p>
            <a:pPr indent="0" marL="0">
              <a:buNone/>
            </a:pPr>
            <a:r>
              <a:rPr lang="en-US" sz="1050" dirty="0">
                <a:solidFill>
                  <a:schemeClr val="tx1"/>
                </a:solidFill>
              </a:rPr>
              <a:t>Recent papers report 90%+ accuracy from models that read Fed text, on sixteen meetings, with no frozen evidence, no verification and no control. We built the control: the same model with no harness, with evidence only, with structure and verification, with specialisation, so the value of each technique is measured, not asserted.</a:t>
            </a:r>
            <a:endParaRPr lang="en-US" sz="1050" dirty="0"/>
          </a:p>
        </p:txBody>
      </p:sp>
      <p:sp>
        <p:nvSpPr>
          <p:cNvPr id="21" name="Shape 18"/>
          <p:cNvSpPr/>
          <p:nvPr/>
        </p:nvSpPr>
        <p:spPr>
          <a:xfrm>
            <a:off x="6126480" y="5184648"/>
            <a:ext cx="384048" cy="384048"/>
          </a:xfrm>
          <a:prstGeom prst="ellipse">
            <a:avLst/>
          </a:prstGeom>
          <a:solidFill>
            <a:srgbClr val="1E2761"/>
          </a:solidFill>
          <a:ln w="12700">
            <a:solidFill>
              <a:srgbClr val="1E2761"/>
            </a:solidFill>
            <a:prstDash val="solid"/>
          </a:ln>
        </p:spPr>
      </p:sp>
      <p:sp>
        <p:nvSpPr>
          <p:cNvPr id="22" name="Text 19"/>
          <p:cNvSpPr txBox="1"/>
          <p:nvPr/>
        </p:nvSpPr>
        <p:spPr>
          <a:xfrm>
            <a:off x="6126480" y="51846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20"/>
          <p:cNvSpPr txBox="1"/>
          <p:nvPr/>
        </p:nvSpPr>
        <p:spPr>
          <a:xfrm>
            <a:off x="6629400" y="5157216"/>
            <a:ext cx="5029200" cy="320040"/>
          </a:xfrm>
          <a:prstGeom prst="rect">
            <a:avLst/>
          </a:prstGeom>
          <a:noFill/>
          <a:ln/>
        </p:spPr>
        <p:txBody>
          <a:bodyPr wrap="square" lIns="0" tIns="0" rIns="0" bIns="0" rtlCol="0" anchor="t"/>
          <a:lstStyle/>
          <a:p>
            <a:pPr indent="0" marL="0">
              <a:buNone/>
            </a:pPr>
            <a:r>
              <a:rPr lang="en-US" sz="1300" b="1" dirty="0">
                <a:solidFill>
                  <a:schemeClr val="tx2"/>
                </a:solidFill>
              </a:rPr>
              <a:t>The harness is the asset</a:t>
            </a:r>
            <a:endParaRPr lang="en-US" sz="1300" dirty="0"/>
          </a:p>
        </p:txBody>
      </p:sp>
      <p:sp>
        <p:nvSpPr>
          <p:cNvPr id="24" name="Text 21"/>
          <p:cNvSpPr txBox="1"/>
          <p:nvPr/>
        </p:nvSpPr>
        <p:spPr>
          <a:xfrm>
            <a:off x="6629400" y="5477256"/>
            <a:ext cx="5029200" cy="777240"/>
          </a:xfrm>
          <a:prstGeom prst="rect">
            <a:avLst/>
          </a:prstGeom>
          <a:noFill/>
          <a:ln/>
        </p:spPr>
        <p:txBody>
          <a:bodyPr wrap="square" lIns="0" tIns="0" rIns="0" bIns="0" rtlCol="0" anchor="t"/>
          <a:lstStyle/>
          <a:p>
            <a:pPr indent="0" marL="0">
              <a:buNone/>
            </a:pPr>
            <a:r>
              <a:rPr lang="en-US" sz="1050" dirty="0">
                <a:solidFill>
                  <a:schemeClr val="tx1"/>
                </a:solidFill>
              </a:rPr>
              <a:t>The same chain can target the December meeting, the year-end rate or another central bank. The first live decision is scored this week, and the record starts there.</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short brief</dc:title>
  <dc:subject>PptxGenJS Presentation</dc:subject>
  <dc:creator>FedCast</dc:creator>
  <cp:lastModifiedBy>FedCast</cp:lastModifiedBy>
  <cp:revision>1</cp:revision>
  <dcterms:created xsi:type="dcterms:W3CDTF">2026-10-27T16:25:05Z</dcterms:created>
  <dcterms:modified xsi:type="dcterms:W3CDTF">2026-10-27T16:25:05Z</dcterms:modified>
</cp:coreProperties>
</file>