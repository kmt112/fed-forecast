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1" r:id="rId6"/>
    <p:sldId id="260" r:id="rId7"/>
    <p:sldId id="262" r:id="rId8"/>
    <p:sldId id="263" r:id="rId9"/>
    <p:sldId id="264" r:id="rId10"/>
    <p:sldId id="265" r:id="rId11"/>
    <p:sldId id="266" r:id="rId12"/>
    <p:sldId id="268" r:id="rId13"/>
    <p:sldId id="269" r:id="rId14"/>
    <p:sldId id="267"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1"/>
            <p14:sldId id="260"/>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8"/>
          </p14:sldIdLst>
        </p14:section>
        <p14:section name="Evidence" id="{5A3B821E-E9C2-E8B2-83B3-FA9E97777045}">
          <p14:sldIdLst>
            <p14:sldId id="269"/>
            <p14:sldId id="267"/>
            <p14:sldId id="270"/>
            <p14:sldId id="271"/>
            <p14:sldId id="272"/>
            <p14:sldId id="273"/>
            <p14:sldId id="274"/>
          </p14:sldIdLst>
        </p14:section>
        <p14:section name="Limits and next" id="{A86175A9-6A09-739A-6218-CDC852B09B1B}">
          <p14:sldIdLst>
            <p14:sldId id="275"/>
            <p14:sldId id="276"/>
          </p14:sldIdLst>
        </p14:section>
        <p14:section name="Backup" id="{C779AD3C-958E-9E55-6CE0-CB67D10A91C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does the lean count. 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the five leans behind entry #18, and one real claim with the quote code matched. The labour analyst is the one that does not lean hawkish, and because it is a separate reader that dissent is visible rather than averaged away.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limits, said before anyone asks: one scored decision; weights by judgement; the fitted model outside; the market is the anchor. Right, what is next, in order of value: the December window is already running on the same chain; pre-registered weight sets scored live; an events agent for the regime shifts the models cannot read (1987, 1998, 2008, 2020 were financial-stress cuts); the reasoning grader and a second model family.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 +4.0 bp hawkish = 4.0 points of probability 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 specialists 0.8 bp,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“evidence”(hallucinate)</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to ±10 bp.</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lean of at most 10 bp either way: direction and strength, positive toward a hike. Code averages the five leans; each point of lean moves one point of probability,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 </a:t>
            </a:r>
            <a:r>
              <a:rPr lang="en-US" sz="1000" dirty="0">
                <a:solidFill>
                  <a:schemeClr val="tx1"/>
                </a:solidFill>
              </a:rPr>
              <a:t>variance falls under 1 bp; 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2 +25 bp at 50 to 57%; analyst 3 +5.8 to +7.0 bp hawkish; specialists +4.0 to +4.4 bp, labour 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does the lean count 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leans, ±10 bp</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 +3.4 bp</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04088" y="4315968"/>
          <a:ext cx="21031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+4.0 bp</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dirty="0">
                <a:solidFill>
                  <a:schemeClr val="tx1"/>
                </a:solidFill>
              </a:rPr>
              <a:t>Each point of lean 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+25 bp: 20.2% →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dirty="0">
                <a:solidFill>
                  <a:schemeClr val="accent4"/>
                </a:solidFill>
              </a:rPr>
              <a:t>+50 bp 6.0 →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2067537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the specialists said on 28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3017520"/>
        </p:xfrm>
        <a:graphic>
          <a:graphicData uri="http://schemas.openxmlformats.org/drawingml/2006/table">
            <a:tbl>
              <a:tblPr/>
              <a:tblGrid>
                <a:gridCol w="1737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02920">
                <a:tc>
                  <a:txBody>
                    <a:bodyPr/>
                    <a:lstStyle/>
                    <a:p>
                      <a:pPr marL="0" indent="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02920">
                <a:tc>
                  <a:txBody>
                    <a:bodyPr/>
                    <a:lstStyle/>
                    <a:p>
                      <a:pPr marL="0" indent="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+6.2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−1.4 bp, no hike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marL="0" indent="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822960"/>
          </a:xfrm>
          <a:prstGeom prst="rect">
            <a:avLst/>
          </a:prstGeom>
          <a:noFill/>
          <a:ln/>
        </p:spPr>
        <p:txBody>
          <a:bodyPr wrap="square" lIns="0" tIns="0" rIns="0" bIns="0" rtlCol="0" anchor="t"/>
          <a:lstStyle/>
          <a:p>
            <a:pPr marL="0" indent="0">
              <a:buNone/>
            </a:pPr>
            <a:r>
              <a:rPr lang="en-US" sz="1200" dirty="0">
                <a:solidFill>
                  <a:schemeClr val="tx1"/>
                </a:solidFill>
              </a:rPr>
              <a:t>Communications analyst, run 1 of 5: the September statement stressed elevated inflation and a resolve to return to target on a timelier basis.</a:t>
            </a:r>
            <a:endParaRPr lang="en-US" sz="1200" dirty="0"/>
          </a:p>
        </p:txBody>
      </p:sp>
      <p:sp>
        <p:nvSpPr>
          <p:cNvPr id="8" name="Text 4"/>
          <p:cNvSpPr txBox="1"/>
          <p:nvPr/>
        </p:nvSpPr>
        <p:spPr>
          <a:xfrm>
            <a:off x="7955280" y="2834640"/>
            <a:ext cx="3474720" cy="822960"/>
          </a:xfrm>
          <a:prstGeom prst="rect">
            <a:avLst/>
          </a:prstGeom>
          <a:noFill/>
          <a:ln/>
        </p:spPr>
        <p:txBody>
          <a:bodyPr wrap="square" lIns="0" tIns="0" rIns="0" bIns="0" rtlCol="0" anchor="t"/>
          <a:lstStyle/>
          <a:p>
            <a:pPr marL="0" indent="0">
              <a:buNone/>
            </a:pPr>
            <a:r>
              <a:rPr lang="en-US" sz="100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1000" dirty="0"/>
          </a:p>
        </p:txBody>
      </p:sp>
      <p:sp>
        <p:nvSpPr>
          <p:cNvPr id="9" name="Text 5"/>
          <p:cNvSpPr txBox="1"/>
          <p:nvPr/>
        </p:nvSpPr>
        <p:spPr>
          <a:xfrm>
            <a:off x="7955280" y="3703320"/>
            <a:ext cx="3474720" cy="1005840"/>
          </a:xfrm>
          <a:prstGeom prst="rect">
            <a:avLst/>
          </a:prstGeom>
          <a:noFill/>
          <a:ln/>
        </p:spPr>
        <p:txBody>
          <a:bodyPr wrap="square" lIns="0" tIns="0" rIns="0" bIns="0" rtlCol="0" anchor="t"/>
          <a:lstStyle/>
          <a:p>
            <a:pPr marL="0" indent="0">
              <a:buNone/>
            </a:pPr>
            <a:r>
              <a:rPr lang="en-US" sz="1100" dirty="0">
                <a:solidFill>
                  <a:schemeClr val="tx1"/>
                </a:solidFill>
              </a:rPr>
              <a:t>Item fed.statement.2026-09-16 · quote found by code, character for character · 12 of 12 claims in this run verified, none from memory.</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Quotes verified</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Numbers from memory</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Shock direction</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Rewording</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Replay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marL="0" indent="0">
              <a:buNone/>
            </a:pPr>
            <a:r>
              <a:rPr lang="en-US" sz="1400" b="1" dirty="0">
                <a:solidFill>
                  <a:schemeClr val="tx2"/>
                </a:solidFill>
              </a:rPr>
              <a:t>Measured by code on the 28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Shock direction: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Noise: 5 irrelevant changes to the snapshot: 0.0 points moved</a:t>
            </a:r>
            <a:endParaRPr lang="en-US" sz="1200" dirty="0"/>
          </a:p>
          <a:p>
            <a:pPr marL="342900" indent="-342900">
              <a:spcAft>
                <a:spcPts val="600"/>
              </a:spcAft>
              <a:buSzPct val="100000"/>
              <a:buChar char="•"/>
            </a:pPr>
            <a:r>
              <a:rPr lang="en-US" sz="1200" dirty="0">
                <a:solidFill>
                  <a:schemeClr val="tx1"/>
                </a:solidFill>
              </a:rPr>
              <a:t>Coherence: every ledger entry adds up and every difference is attributable</a:t>
            </a:r>
            <a:endParaRPr lang="en-US" sz="1200" dirty="0"/>
          </a:p>
          <a:p>
            <a:pPr marL="342900" indent="-342900">
              <a:spcAft>
                <a:spcPts val="600"/>
              </a:spcAft>
              <a:buSzPct val="100000"/>
              <a:buChar char="•"/>
            </a:pPr>
            <a:r>
              <a:rPr lang="en-US" sz="1200" dirty="0">
                <a:solidFill>
                  <a:schemeClr val="tx1"/>
                </a:solidFill>
              </a:rPr>
              <a:t>Replay: entries under the current spec recompute exactly, from the analyst runs they name</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marL="0" indent="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Four ledger entries stopped replaying after a model rule changed outside the hashed spec; amendment #5 put every rule inside the hash.</a:t>
            </a:r>
            <a:endParaRPr lang="en-US" sz="1100" dirty="0"/>
          </a:p>
          <a:p>
            <a:pPr marL="342900" indent="-342900">
              <a:spcAft>
                <a:spcPts val="600"/>
              </a:spcAft>
              <a:buSzPct val="100000"/>
              <a:buChar char="•"/>
            </a:pPr>
            <a:r>
              <a:rPr lang="en-US" sz="1100" dirty="0">
                <a:solidFill>
                  <a:schemeClr val="tx1"/>
                </a:solidFill>
              </a:rPr>
              <a:t>A shock test was perturbing the wrong odds entry once two were on file; a red cell on the drift table pointed at it.</a:t>
            </a:r>
            <a:endParaRPr lang="en-US" sz="1100" dirty="0"/>
          </a:p>
          <a:p>
            <a:pPr marL="342900" indent="-342900">
              <a:spcAft>
                <a:spcPts val="600"/>
              </a:spcAft>
              <a:buSzPct val="100000"/>
              <a:buChar char="•"/>
            </a:pPr>
            <a:r>
              <a:rPr lang="en-US" sz="1100" dirty="0">
                <a:solidFill>
                  <a:schemeClr val="tx1"/>
                </a:solidFill>
              </a:rPr>
              <a:t>Replay was reading the latest analyst runs instead of the runs the entry used; a rerun would have broken an honest entry. Fixed the same day, with a test.</a:t>
            </a:r>
            <a:endParaRPr lang="en-US" sz="1100" dirty="0"/>
          </a:p>
          <a:p>
            <a:pPr marL="342900" indent="-342900">
              <a:spcAft>
                <a:spcPts val="600"/>
              </a:spcAft>
              <a:buSzPct val="100000"/>
              <a:buChar char="•"/>
            </a:pPr>
            <a:r>
              <a:rPr lang="en-US" sz="1100" dirty="0">
                <a:solidFill>
                  <a:schemeClr val="tx1"/>
                </a:solidFill>
              </a:rPr>
              <a:t>A verifier false positive (a zero written as 0 in the evidence); fixed, records re-scored without calling the model.</a:t>
            </a:r>
            <a:endParaRPr lang="en-US" sz="11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this does not claim, and what comes next</a:t>
            </a:r>
            <a:endParaRPr lang="en-US" sz="3200" dirty="0"/>
          </a:p>
        </p:txBody>
      </p:sp>
      <p:sp>
        <p:nvSpPr>
          <p:cNvPr id="4" name="Text 1"/>
          <p:cNvSpPr txBox="1"/>
          <p:nvPr/>
        </p:nvSpPr>
        <p:spPr>
          <a:xfrm>
            <a:off x="54864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this does not claim</a:t>
            </a:r>
            <a:endParaRPr lang="en-US" sz="1600" dirty="0"/>
          </a:p>
        </p:txBody>
      </p:sp>
      <p:sp>
        <p:nvSpPr>
          <p:cNvPr id="5" name="Shape 2"/>
          <p:cNvSpPr/>
          <p:nvPr/>
        </p:nvSpPr>
        <p:spPr>
          <a:xfrm>
            <a:off x="548640" y="182880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3"/>
          <p:cNvSpPr txBox="1"/>
          <p:nvPr/>
        </p:nvSpPr>
        <p:spPr>
          <a:xfrm>
            <a:off x="777240" y="1901952"/>
            <a:ext cx="5029200" cy="320040"/>
          </a:xfrm>
          <a:prstGeom prst="rect">
            <a:avLst/>
          </a:prstGeom>
          <a:noFill/>
          <a:ln/>
        </p:spPr>
        <p:txBody>
          <a:bodyPr wrap="square" lIns="0" tIns="0" rIns="0" bIns="0" rtlCol="0" anchor="t"/>
          <a:lstStyle/>
          <a:p>
            <a:pPr marL="0" indent="0">
              <a:buNone/>
            </a:pPr>
            <a:r>
              <a:rPr lang="en-US" sz="1300" b="1" dirty="0">
                <a:solidFill>
                  <a:schemeClr val="tx2"/>
                </a:solidFill>
              </a:rPr>
              <a:t>One scored decision</a:t>
            </a:r>
            <a:endParaRPr lang="en-US" sz="1300" dirty="0"/>
          </a:p>
        </p:txBody>
      </p:sp>
      <p:sp>
        <p:nvSpPr>
          <p:cNvPr id="7" name="Text 4"/>
          <p:cNvSpPr txBox="1"/>
          <p:nvPr/>
        </p:nvSpPr>
        <p:spPr>
          <a:xfrm>
            <a:off x="777240" y="2212848"/>
            <a:ext cx="5029200" cy="548640"/>
          </a:xfrm>
          <a:prstGeom prst="rect">
            <a:avLst/>
          </a:prstGeom>
          <a:noFill/>
          <a:ln/>
        </p:spPr>
        <p:txBody>
          <a:bodyPr wrap="square" lIns="0" tIns="0" rIns="0" bIns="0" rtlCol="0" anchor="t"/>
          <a:lstStyle/>
          <a:p>
            <a:pPr marL="0" indent="0">
              <a:buNone/>
            </a:pPr>
            <a:r>
              <a:rPr lang="en-US" sz="1050" dirty="0">
                <a:solidFill>
                  <a:schemeClr val="tx1"/>
                </a:solidFill>
              </a:rPr>
              <a:t>28 October is the first. Everything before it is process evidence, which is the point, but calibration needs a record.</a:t>
            </a:r>
            <a:endParaRPr lang="en-US" sz="1050" dirty="0"/>
          </a:p>
        </p:txBody>
      </p:sp>
      <p:sp>
        <p:nvSpPr>
          <p:cNvPr id="8" name="Shape 5"/>
          <p:cNvSpPr/>
          <p:nvPr/>
        </p:nvSpPr>
        <p:spPr>
          <a:xfrm>
            <a:off x="548640" y="288036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9" name="Text 6"/>
          <p:cNvSpPr txBox="1"/>
          <p:nvPr/>
        </p:nvSpPr>
        <p:spPr>
          <a:xfrm>
            <a:off x="777240" y="2953512"/>
            <a:ext cx="5029200" cy="320040"/>
          </a:xfrm>
          <a:prstGeom prst="rect">
            <a:avLst/>
          </a:prstGeom>
          <a:noFill/>
          <a:ln/>
        </p:spPr>
        <p:txBody>
          <a:bodyPr wrap="square" lIns="0" tIns="0" rIns="0" bIns="0" rtlCol="0" anchor="t"/>
          <a:lstStyle/>
          <a:p>
            <a:pPr marL="0" indent="0">
              <a:buNone/>
            </a:pPr>
            <a:r>
              <a:rPr lang="en-US" sz="1300" b="1" dirty="0">
                <a:solidFill>
                  <a:schemeClr val="tx2"/>
                </a:solidFill>
              </a:rPr>
              <a:t>Weights are judgement</a:t>
            </a:r>
            <a:endParaRPr lang="en-US" sz="1300" dirty="0"/>
          </a:p>
        </p:txBody>
      </p:sp>
      <p:sp>
        <p:nvSpPr>
          <p:cNvPr id="10" name="Text 7"/>
          <p:cNvSpPr txBox="1"/>
          <p:nvPr/>
        </p:nvSpPr>
        <p:spPr>
          <a:xfrm>
            <a:off x="777240" y="3264408"/>
            <a:ext cx="5029200" cy="548640"/>
          </a:xfrm>
          <a:prstGeom prst="rect">
            <a:avLst/>
          </a:prstGeom>
          <a:noFill/>
          <a:ln/>
        </p:spPr>
        <p:txBody>
          <a:bodyPr wrap="square" lIns="0" tIns="0" rIns="0" bIns="0" rtlCol="0" anchor="t"/>
          <a:lstStyle/>
          <a:p>
            <a:pPr marL="0" indent="0">
              <a:buNone/>
            </a:pPr>
            <a:r>
              <a:rPr lang="en-US" sz="1050" dirty="0">
                <a:solidFill>
                  <a:schemeClr val="tx1"/>
                </a:solidFill>
              </a:rPr>
              <a:t>Market 0.6, Taylor 0.2, odds 0.1, base rates 0.1, the floor and the lean cap were set by reasoning and logged, never fitted.</a:t>
            </a:r>
            <a:endParaRPr lang="en-US" sz="1050" dirty="0"/>
          </a:p>
        </p:txBody>
      </p:sp>
      <p:sp>
        <p:nvSpPr>
          <p:cNvPr id="11" name="Shape 8"/>
          <p:cNvSpPr/>
          <p:nvPr/>
        </p:nvSpPr>
        <p:spPr>
          <a:xfrm>
            <a:off x="548640" y="393192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2" name="Text 9"/>
          <p:cNvSpPr txBox="1"/>
          <p:nvPr/>
        </p:nvSpPr>
        <p:spPr>
          <a:xfrm>
            <a:off x="777240" y="400507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fitted model is outside</a:t>
            </a:r>
            <a:endParaRPr lang="en-US" sz="1300" dirty="0"/>
          </a:p>
        </p:txBody>
      </p:sp>
      <p:sp>
        <p:nvSpPr>
          <p:cNvPr id="13" name="Text 10"/>
          <p:cNvSpPr txBox="1"/>
          <p:nvPr/>
        </p:nvSpPr>
        <p:spPr>
          <a:xfrm>
            <a:off x="777240" y="4315968"/>
            <a:ext cx="5029200" cy="548640"/>
          </a:xfrm>
          <a:prstGeom prst="rect">
            <a:avLst/>
          </a:prstGeom>
          <a:noFill/>
          <a:ln/>
        </p:spPr>
        <p:txBody>
          <a:bodyPr wrap="square" lIns="0" tIns="0" rIns="0" bIns="0" rtlCol="0" anchor="t"/>
          <a:lstStyle/>
          <a:p>
            <a:pPr marL="0" indent="0">
              <a:buNone/>
            </a:pPr>
            <a:r>
              <a:rPr lang="en-US" sz="1050" dirty="0">
                <a:solidFill>
                  <a:schemeClr val="tx1"/>
                </a:solidFill>
              </a:rPr>
              <a:t>Probit v1 failed its gate and was reported, not tuned; v2 beats the base rate but carries a contamination caveat, so weight 0. About 130 usable decisions, 68% holds: no gradient-boosted anything.</a:t>
            </a:r>
            <a:endParaRPr lang="en-US" sz="1050" dirty="0"/>
          </a:p>
        </p:txBody>
      </p:sp>
      <p:sp>
        <p:nvSpPr>
          <p:cNvPr id="14" name="Shape 11"/>
          <p:cNvSpPr/>
          <p:nvPr/>
        </p:nvSpPr>
        <p:spPr>
          <a:xfrm>
            <a:off x="548640" y="498348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Text 12"/>
          <p:cNvSpPr txBox="1"/>
          <p:nvPr/>
        </p:nvSpPr>
        <p:spPr>
          <a:xfrm>
            <a:off x="777240" y="505663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market is the anchor</a:t>
            </a:r>
            <a:endParaRPr lang="en-US" sz="1300" dirty="0"/>
          </a:p>
        </p:txBody>
      </p:sp>
      <p:sp>
        <p:nvSpPr>
          <p:cNvPr id="16" name="Text 13"/>
          <p:cNvSpPr txBox="1"/>
          <p:nvPr/>
        </p:nvSpPr>
        <p:spPr>
          <a:xfrm>
            <a:off x="777240" y="5367528"/>
            <a:ext cx="5029200" cy="548640"/>
          </a:xfrm>
          <a:prstGeom prst="rect">
            <a:avLst/>
          </a:prstGeom>
          <a:noFill/>
          <a:ln/>
        </p:spPr>
        <p:txBody>
          <a:bodyPr wrap="square" lIns="0" tIns="0" rIns="0" bIns="0" rtlCol="0" anchor="t"/>
          <a:lstStyle/>
          <a:p>
            <a:pPr marL="0" indent="0">
              <a:buNone/>
            </a:pPr>
            <a:r>
              <a:rPr lang="en-US" sz="1050" dirty="0">
                <a:solidFill>
                  <a:schemeClr val="tx1"/>
                </a:solidFill>
              </a:rPr>
              <a:t>At five weeks futures call most decisions. The claim is auditability and discipline, not a better hit rate.</a:t>
            </a:r>
            <a:endParaRPr lang="en-US" sz="1050" dirty="0"/>
          </a:p>
        </p:txBody>
      </p:sp>
      <p:sp>
        <p:nvSpPr>
          <p:cNvPr id="17" name="Text 14"/>
          <p:cNvSpPr txBox="1"/>
          <p:nvPr/>
        </p:nvSpPr>
        <p:spPr>
          <a:xfrm>
            <a:off x="635508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comes next, in order of value</a:t>
            </a:r>
            <a:endParaRPr lang="en-US" sz="1600" dirty="0"/>
          </a:p>
        </p:txBody>
      </p:sp>
      <p:sp>
        <p:nvSpPr>
          <p:cNvPr id="18" name="Shape 15"/>
          <p:cNvSpPr/>
          <p:nvPr/>
        </p:nvSpPr>
        <p:spPr>
          <a:xfrm>
            <a:off x="6355080" y="1920240"/>
            <a:ext cx="384048" cy="384048"/>
          </a:xfrm>
          <a:prstGeom prst="ellipse">
            <a:avLst/>
          </a:prstGeom>
          <a:solidFill>
            <a:srgbClr val="1E2761"/>
          </a:solidFill>
          <a:ln w="12700">
            <a:solidFill>
              <a:srgbClr val="1E2761"/>
            </a:solidFill>
            <a:prstDash val="solid"/>
          </a:ln>
        </p:spPr>
      </p:sp>
      <p:sp>
        <p:nvSpPr>
          <p:cNvPr id="19" name="Text 16"/>
          <p:cNvSpPr txBox="1"/>
          <p:nvPr/>
        </p:nvSpPr>
        <p:spPr>
          <a:xfrm>
            <a:off x="6355080" y="19202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0" name="Text 17"/>
          <p:cNvSpPr txBox="1"/>
          <p:nvPr/>
        </p:nvSpPr>
        <p:spPr>
          <a:xfrm>
            <a:off x="6858000" y="182880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The December window, same chain: on file</a:t>
            </a:r>
            <a:endParaRPr lang="en-US" sz="1300" dirty="0"/>
          </a:p>
        </p:txBody>
      </p:sp>
      <p:sp>
        <p:nvSpPr>
          <p:cNvPr id="21" name="Text 18"/>
          <p:cNvSpPr txBox="1"/>
          <p:nvPr/>
        </p:nvSpPr>
        <p:spPr>
          <a:xfrm>
            <a:off x="6858000" y="2194560"/>
            <a:ext cx="4800600" cy="640080"/>
          </a:xfrm>
          <a:prstGeom prst="rect">
            <a:avLst/>
          </a:prstGeom>
          <a:noFill/>
          <a:ln/>
        </p:spPr>
        <p:txBody>
          <a:bodyPr wrap="square" lIns="0" tIns="0" rIns="0" bIns="0" rtlCol="0" anchor="t"/>
          <a:lstStyle/>
          <a:p>
            <a:pPr marL="0" indent="0">
              <a:buNone/>
            </a:pPr>
            <a:r>
              <a:rPr lang="en-US" sz="1050" dirty="0">
                <a:solidFill>
                  <a:schemeClr val="tx1"/>
                </a:solidFill>
              </a:rPr>
              <a:t>Entry #23 for the 9 December meeting: +25 bps 73.6%, no change 16.7%, +50 bps 7.8%. Futures 84.5% and Polymarket 77.4% for a hike; the specialists lean +4.0 bp, labour again the lone dove. The chain needed only a new target, and the repair round fired twice on the inflation reader, both fixed.</a:t>
            </a:r>
            <a:endParaRPr lang="en-US" sz="1050" dirty="0"/>
          </a:p>
        </p:txBody>
      </p:sp>
      <p:sp>
        <p:nvSpPr>
          <p:cNvPr id="22" name="Shape 19"/>
          <p:cNvSpPr/>
          <p:nvPr/>
        </p:nvSpPr>
        <p:spPr>
          <a:xfrm>
            <a:off x="6355080" y="2971800"/>
            <a:ext cx="384048" cy="384048"/>
          </a:xfrm>
          <a:prstGeom prst="ellipse">
            <a:avLst/>
          </a:prstGeom>
          <a:solidFill>
            <a:srgbClr val="1E2761"/>
          </a:solidFill>
          <a:ln w="12700">
            <a:solidFill>
              <a:srgbClr val="1E2761"/>
            </a:solidFill>
            <a:prstDash val="solid"/>
          </a:ln>
        </p:spPr>
      </p:sp>
      <p:sp>
        <p:nvSpPr>
          <p:cNvPr id="23" name="Text 20"/>
          <p:cNvSpPr txBox="1"/>
          <p:nvPr/>
        </p:nvSpPr>
        <p:spPr>
          <a:xfrm>
            <a:off x="6355080" y="29718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4" name="Text 21"/>
          <p:cNvSpPr txBox="1"/>
          <p:nvPr/>
        </p:nvSpPr>
        <p:spPr>
          <a:xfrm>
            <a:off x="6858000" y="288036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25" name="Text 22"/>
          <p:cNvSpPr txBox="1"/>
          <p:nvPr/>
        </p:nvSpPr>
        <p:spPr>
          <a:xfrm>
            <a:off x="6858000" y="3246120"/>
            <a:ext cx="4800600" cy="640080"/>
          </a:xfrm>
          <a:prstGeom prst="rect">
            <a:avLst/>
          </a:prstGeom>
          <a:noFill/>
          <a:ln/>
        </p:spPr>
        <p:txBody>
          <a:bodyPr wrap="square" lIns="0" tIns="0" rIns="0" bIns="0" rtlCol="0" anchor="t"/>
          <a:lstStyle/>
          <a:p>
            <a:pPr marL="0" indent="0">
              <a:buNone/>
            </a:pPr>
            <a:r>
              <a:rPr lang="en-US" sz="1050" dirty="0">
                <a:solidFill>
                  <a:schemeClr val="tx1"/>
                </a:solidFill>
              </a:rPr>
              <a:t>Three or four candidate sets written down now, all scored on every live decision; the live set changes only by amendment on that record.</a:t>
            </a:r>
            <a:endParaRPr lang="en-US" sz="1050" dirty="0"/>
          </a:p>
        </p:txBody>
      </p:sp>
      <p:sp>
        <p:nvSpPr>
          <p:cNvPr id="26" name="Shape 23"/>
          <p:cNvSpPr/>
          <p:nvPr/>
        </p:nvSpPr>
        <p:spPr>
          <a:xfrm>
            <a:off x="6355080" y="4023360"/>
            <a:ext cx="384048" cy="384048"/>
          </a:xfrm>
          <a:prstGeom prst="ellipse">
            <a:avLst/>
          </a:prstGeom>
          <a:solidFill>
            <a:srgbClr val="1E2761"/>
          </a:solidFill>
          <a:ln w="12700">
            <a:solidFill>
              <a:srgbClr val="1E2761"/>
            </a:solidFill>
            <a:prstDash val="solid"/>
          </a:ln>
        </p:spPr>
      </p:sp>
      <p:sp>
        <p:nvSpPr>
          <p:cNvPr id="27" name="Text 24"/>
          <p:cNvSpPr txBox="1"/>
          <p:nvPr/>
        </p:nvSpPr>
        <p:spPr>
          <a:xfrm>
            <a:off x="6355080" y="40233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5"/>
          <p:cNvSpPr txBox="1"/>
          <p:nvPr/>
        </p:nvSpPr>
        <p:spPr>
          <a:xfrm>
            <a:off x="6858000" y="393192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29" name="Text 26"/>
          <p:cNvSpPr txBox="1"/>
          <p:nvPr/>
        </p:nvSpPr>
        <p:spPr>
          <a:xfrm>
            <a:off x="6858000" y="4297680"/>
            <a:ext cx="4800600" cy="640080"/>
          </a:xfrm>
          <a:prstGeom prst="rect">
            <a:avLst/>
          </a:prstGeom>
          <a:noFill/>
          <a:ln/>
        </p:spPr>
        <p:txBody>
          <a:bodyPr wrap="square" lIns="0" tIns="0" rIns="0" bIns="0" rtlCol="0" anchor="t"/>
          <a:lstStyle/>
          <a:p>
            <a:pPr marL="0" indent="0">
              <a:buNone/>
            </a:pPr>
            <a:r>
              <a:rPr lang="en-US" sz="1050" dirty="0">
                <a:solidFill>
                  <a:schemeClr val="tx1"/>
                </a:solidFill>
              </a:rPr>
              <a:t>1987, 1998, 2008, 2020: the Fed cut on financial stress, not the data the models read. A watch-out agent that scans for bank failures, funding stress and dislocations, and raises a watch-out every analyst must answer.</a:t>
            </a:r>
            <a:endParaRPr lang="en-US" sz="1050" dirty="0"/>
          </a:p>
        </p:txBody>
      </p:sp>
      <p:sp>
        <p:nvSpPr>
          <p:cNvPr id="30" name="Shape 27"/>
          <p:cNvSpPr/>
          <p:nvPr/>
        </p:nvSpPr>
        <p:spPr>
          <a:xfrm>
            <a:off x="6355080" y="5074920"/>
            <a:ext cx="384048" cy="384048"/>
          </a:xfrm>
          <a:prstGeom prst="ellipse">
            <a:avLst/>
          </a:prstGeom>
          <a:solidFill>
            <a:srgbClr val="1E2761"/>
          </a:solidFill>
          <a:ln w="12700">
            <a:solidFill>
              <a:srgbClr val="1E2761"/>
            </a:solidFill>
            <a:prstDash val="solid"/>
          </a:ln>
        </p:spPr>
      </p:sp>
      <p:sp>
        <p:nvSpPr>
          <p:cNvPr id="31" name="Text 28"/>
          <p:cNvSpPr txBox="1"/>
          <p:nvPr/>
        </p:nvSpPr>
        <p:spPr>
          <a:xfrm>
            <a:off x="6355080" y="50749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2" name="Text 29"/>
          <p:cNvSpPr txBox="1"/>
          <p:nvPr/>
        </p:nvSpPr>
        <p:spPr>
          <a:xfrm>
            <a:off x="6858000" y="498348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and a second model family</a:t>
            </a:r>
            <a:endParaRPr lang="en-US" sz="1300" dirty="0"/>
          </a:p>
        </p:txBody>
      </p:sp>
      <p:sp>
        <p:nvSpPr>
          <p:cNvPr id="33" name="Text 30"/>
          <p:cNvSpPr txBox="1"/>
          <p:nvPr/>
        </p:nvSpPr>
        <p:spPr>
          <a:xfrm>
            <a:off x="6858000" y="5349240"/>
            <a:ext cx="4800600" cy="640080"/>
          </a:xfrm>
          <a:prstGeom prst="rect">
            <a:avLst/>
          </a:prstGeom>
          <a:noFill/>
          <a:ln/>
        </p:spPr>
        <p:txBody>
          <a:bodyPr wrap="square" lIns="0" tIns="0" rIns="0" bIns="0" rtlCol="0" anchor="t"/>
          <a:lstStyle/>
          <a:p>
            <a:pPr marL="0" indent="0">
              <a:buNone/>
            </a:pPr>
            <a:r>
              <a:rPr lang="en-US" sz="1050" dirty="0">
                <a:solidFill>
                  <a:schemeClr val="tx1"/>
                </a:solidFill>
              </a:rPr>
              <a:t>Twenty traces hand-graded, a model grader trusted only once it agrees; a second model family to show the harness, not the model, does the work.</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repeatability in basis points of their direction call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6589</Words>
  <Application>Microsoft Office PowerPoint</Application>
  <PresentationFormat>Widescreen</PresentationFormat>
  <Paragraphs>557</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FedCast</vt:lpstr>
      <vt:lpstr>FedCast</vt:lpstr>
      <vt:lpstr>About me</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What the specialists said on 28 October</vt:lpstr>
      <vt:lpstr>Live demo 4: what the analysts concluded</vt:lpstr>
      <vt:lpstr>The scorecard: eight of ten dimensions measured by code</vt:lpstr>
      <vt:lpstr>Live demo 5: the scorecard and the drift table</vt:lpstr>
      <vt:lpstr>Live demo 6: the ledger and replay</vt:lpstr>
      <vt:lpstr>What this does not claim, and what comes next</vt:lpstr>
      <vt:lpstr>Three things to take away</vt:lpstr>
      <vt:lpstr>Backup: the ladder, four snapshots, five runs 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2026-10-29T16:16:07Z</dcterms:modified>
</cp:coreProperties>
</file>