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82" r:id="rId4"/>
    <p:sldId id="284" r:id="rId5"/>
    <p:sldId id="259" r:id="rId6"/>
    <p:sldId id="261" r:id="rId7"/>
    <p:sldId id="260" r:id="rId8"/>
    <p:sldId id="281" r:id="rId9"/>
    <p:sldId id="263" r:id="rId10"/>
    <p:sldId id="264" r:id="rId11"/>
    <p:sldId id="285" r:id="rId12"/>
    <p:sldId id="266" r:id="rId13"/>
    <p:sldId id="268" r:id="rId14"/>
    <p:sldId id="269" r:id="rId15"/>
    <p:sldId id="267" r:id="rId16"/>
    <p:sldId id="271" r:id="rId17"/>
    <p:sldId id="273" r:id="rId18"/>
    <p:sldId id="274" r:id="rId19"/>
    <p:sldId id="275" r:id="rId20"/>
    <p:sldId id="276" r:id="rId21"/>
    <p:sldId id="277" r:id="rId22"/>
    <p:sldId id="278" r:id="rId23"/>
    <p:sldId id="279" r:id="rId24"/>
    <p:sldId id="286"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one to land is point 1: eight decisions a year cannot tell skill from luck, so we judge the process, with questions fixed before any code: same evidence same answer, every claim quoted, no number from memory, shocks move the number the right way. Outcomes logged, never used to tune.</a:t>
            </a:r>
          </a:p>
          <a:p>
            <a:r>
              <a:rPr lang="en-US"/>
              <a:t>Point 2, concrete: an analyst that says inflation is elevated must quote the line, and code checks it. Point 3: because everything is quotable and repeatable, a wrong call is traceable and a fix stays fixed: audit, fix, re-measure.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3, 2 MIN. Analyst prompts view. Open analyst 1: 195 characters, no evidence. Open analyst 6: the system prompt, the schema (claims with quote and item id; the opinion bounded -10 to +10), the inflation pre-read, the item ids. Say: 'if it is not on this page, the analyst does not get it; the only difference between analyst 1 and analyst 6 is this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4, 2 MIN. Analyst results. Analyst 1 card: a cut, numbers from memory flagged. Analyst 4 card: opinion, grounded, leaked, watch-out badges; one claim with its quote and the verified mark. If asked where a quote comes from, open the statement claim on analyst 4: the statement's own line, found by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pre-registered weight sets scored on every live decision;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Close on the three lines, then the ask: scrutinise the scorecard, challenge a quote, name the next decision that deserves the same chain.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We are at early stages of model building hence </a:t>
            </a:r>
            <a:r>
              <a:rPr lang="en-US" sz="1300" b="1" dirty="0">
                <a:solidFill>
                  <a:schemeClr val="tx1"/>
                </a:solidFill>
              </a:rPr>
              <a:t>process takes precedence over results</a:t>
            </a:r>
            <a:r>
              <a:rPr lang="en-US" sz="1300" dirty="0">
                <a:solidFill>
                  <a:schemeClr val="tx1"/>
                </a:solidFill>
              </a:rPr>
              <a:t>.</a:t>
            </a:r>
            <a:endParaRPr lang="en-US" sz="1300" dirty="0"/>
          </a:p>
          <a:p>
            <a:pPr marL="342900" indent="-342900">
              <a:spcAft>
                <a:spcPts val="800"/>
              </a:spcAft>
              <a:buSzPct val="100000"/>
              <a:buChar char="•"/>
            </a:pPr>
            <a:r>
              <a:rPr lang="en-US" sz="1300">
                <a:solidFill>
                  <a:schemeClr val="tx1"/>
                </a:solidFill>
              </a:rPr>
              <a:t>A good process is a repeatable one: </a:t>
            </a:r>
            <a:endParaRPr lang="en-US" sz="1300" dirty="0">
              <a:solidFill>
                <a:schemeClr val="tx1"/>
              </a:solidFill>
            </a:endParaRPr>
          </a:p>
          <a:p>
            <a:pPr marL="800100" lvl="1" indent="-342900">
              <a:spcAft>
                <a:spcPts val="800"/>
              </a:spcAft>
              <a:buSzPct val="100000"/>
              <a:buChar char="•"/>
            </a:pPr>
            <a:r>
              <a:rPr lang="en-US" sz="1300" dirty="0"/>
              <a:t>S</a:t>
            </a:r>
            <a:r>
              <a:rPr lang="en-US" sz="1300" dirty="0">
                <a:solidFill>
                  <a:schemeClr val="tx1"/>
                </a:solidFill>
              </a:rPr>
              <a:t>ame evidence, same answer?</a:t>
            </a:r>
          </a:p>
          <a:p>
            <a:pPr marL="800100" lvl="1" indent="-342900">
              <a:spcAft>
                <a:spcPts val="800"/>
              </a:spcAft>
              <a:buSzPct val="100000"/>
              <a:buChar char="•"/>
            </a:pPr>
            <a:r>
              <a:rPr lang="en-US" sz="1300" dirty="0"/>
              <a:t>Is </a:t>
            </a:r>
            <a:r>
              <a:rPr lang="en-US" sz="1300" dirty="0">
                <a:solidFill>
                  <a:schemeClr val="tx1"/>
                </a:solidFill>
              </a:rPr>
              <a:t>every claim quoted? </a:t>
            </a:r>
          </a:p>
          <a:p>
            <a:pPr marL="800100" lvl="1" indent="-342900">
              <a:spcAft>
                <a:spcPts val="800"/>
              </a:spcAft>
              <a:buSzPct val="100000"/>
              <a:buChar char="•"/>
            </a:pPr>
            <a:r>
              <a:rPr lang="en-US" sz="1300" dirty="0">
                <a:solidFill>
                  <a:schemeClr val="tx1"/>
                </a:solidFill>
              </a:rPr>
              <a:t>any number from memory? </a:t>
            </a:r>
          </a:p>
          <a:p>
            <a:pPr marL="800100" lvl="1" indent="-342900">
              <a:spcAft>
                <a:spcPts val="800"/>
              </a:spcAft>
              <a:buSzPct val="100000"/>
              <a:buChar char="•"/>
            </a:pPr>
            <a:r>
              <a:rPr lang="en-US" sz="1300"/>
              <a:t>Does a shock move the number</a:t>
            </a:r>
            <a:r>
              <a:rPr lang="en-US" sz="1300">
                <a:solidFill>
                  <a:schemeClr val="tx1"/>
                </a:solidFill>
              </a:rPr>
              <a:t> </a:t>
            </a:r>
            <a:r>
              <a:rPr lang="en-US" sz="1300" dirty="0">
                <a:solidFill>
                  <a:schemeClr val="tx1"/>
                </a:solidFill>
              </a:rPr>
              <a:t>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build every step to be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a:t>
            </a:r>
            <a:r>
              <a:rPr lang="en-US" sz="1300" b="1" dirty="0">
                <a:solidFill>
                  <a:schemeClr val="tx1"/>
                </a:solidFill>
              </a:rPr>
              <a:t>it is flagged as from memory</a:t>
            </a:r>
            <a:endParaRPr lang="en-US" sz="1300" b="1"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p>
          <a:p>
            <a:pPr marL="342900" indent="-342900">
              <a:spcAft>
                <a:spcPts val="800"/>
              </a:spcAft>
              <a:buSzPct val="100000"/>
              <a:buChar char="•"/>
            </a:pPr>
            <a:r>
              <a:rPr lang="en-US" sz="1300" dirty="0"/>
              <a:t>We believe that this method allows us to </a:t>
            </a:r>
            <a:r>
              <a:rPr lang="en-US" sz="1300" b="1" dirty="0"/>
              <a:t>use less expensive models </a:t>
            </a:r>
            <a:r>
              <a:rPr lang="en-US" sz="1300" dirty="0"/>
              <a:t>as well</a:t>
            </a:r>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a:solidFill>
                  <a:schemeClr val="tx1"/>
                </a:solidFill>
              </a:rPr>
              <a:t>Since everything is quotable and the LLM analysts can read only the evidence, </a:t>
            </a:r>
            <a:r>
              <a:rPr lang="en-US" sz="1300" dirty="0">
                <a:solidFill>
                  <a:schemeClr val="tx1"/>
                </a:solidFill>
              </a:rPr>
              <a:t>so a wrong call is a traceable wrong call: we </a:t>
            </a:r>
            <a:r>
              <a:rPr lang="en-US" sz="1300">
                <a:solidFill>
                  <a:schemeClr val="tx1"/>
                </a:solidFill>
              </a:rPr>
              <a:t>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an opinion from -10 to +10: points of probability toward a hike (positive) or a cut (negative). Code averages the five opinions and moves that many points from the hold side to the hike side (or the reverse),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a:solidFill>
                  <a:schemeClr val="bg1"/>
                </a:solidFill>
              </a:rPr>
              <a:t>5 opinions, ±10</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a:t>
            </a:r>
            <a:r>
              <a:rPr lang="en-US" sz="1050">
                <a:solidFill>
                  <a:srgbClr val="CADCFC"/>
                </a:solidFill>
              </a:rPr>
              <a:t>· +3.4</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a:solidFill>
                  <a:schemeClr val="tx1"/>
                </a:solidFill>
              </a:rPr>
              <a:t>Each point of opinion </a:t>
            </a:r>
            <a:r>
              <a:rPr lang="en-US" sz="1050" b="1" dirty="0">
                <a:solidFill>
                  <a:schemeClr val="tx1"/>
                </a:solidFill>
              </a:rPr>
              <a:t>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200" b="1">
                <a:solidFill>
                  <a:schemeClr val="tx2"/>
                </a:solidFill>
                <a:latin typeface="Cambria" pitchFamily="34" charset="0"/>
                <a:ea typeface="Cambria" pitchFamily="34" charset="-122"/>
                <a:cs typeface="Cambria" pitchFamily="34" charset="-120"/>
              </a:rPr>
              <a:t>+25 bps: 20.2% </a:t>
            </a:r>
            <a:r>
              <a:rPr lang="en-US" sz="1200" b="1" dirty="0">
                <a:solidFill>
                  <a:schemeClr val="tx2"/>
                </a:solidFill>
                <a:latin typeface="Cambria" pitchFamily="34" charset="0"/>
                <a:ea typeface="Cambria" pitchFamily="34" charset="-122"/>
                <a:cs typeface="Cambria" pitchFamily="34" charset="-120"/>
              </a:rPr>
              <a:t>→ 22.4%</a:t>
            </a:r>
            <a:endParaRPr lang="en-US" sz="12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a:solidFill>
                  <a:schemeClr val="accent4"/>
                </a:solidFill>
              </a:rPr>
              <a:t>+50 bps 6.0 </a:t>
            </a:r>
            <a:r>
              <a:rPr lang="en-US" sz="950" dirty="0">
                <a:solidFill>
                  <a:schemeClr val="accent4"/>
                </a:solidFill>
              </a:rPr>
              <a:t>→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a:t>
            </a:r>
            <a:r>
              <a:rPr lang="en-US" sz="1300">
                <a:solidFill>
                  <a:srgbClr val="FFFFFF"/>
                </a:solidFill>
              </a:rPr>
              <a:t>: the opinion, grounded, </a:t>
            </a:r>
            <a:r>
              <a:rPr lang="en-US" sz="1300" dirty="0">
                <a:solidFill>
                  <a:srgbClr val="FFFFFF"/>
                </a:solidFill>
              </a:rPr>
              <a:t>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24</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TotalTime>
  <Words>7793</Words>
  <Application>Microsoft Office PowerPoint</Application>
  <PresentationFormat>Widescreen</PresentationFormat>
  <Paragraphs>663</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2026-10-30T03:31:29Z</dcterms:modified>
</cp:coreProperties>
</file>