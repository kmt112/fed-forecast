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1" r:id="rId6"/>
    <p:sldId id="260" r:id="rId7"/>
    <p:sldId id="262" r:id="rId8"/>
    <p:sldId id="263" r:id="rId9"/>
    <p:sldId id="264" r:id="rId10"/>
    <p:sldId id="265" r:id="rId11"/>
    <p:sldId id="266" r:id="rId12"/>
    <p:sldId id="268" r:id="rId13"/>
    <p:sldId id="269" r:id="rId14"/>
    <p:sldId id="267" r:id="rId15"/>
    <p:sldId id="271" r:id="rId16"/>
    <p:sldId id="273" r:id="rId17"/>
    <p:sldId id="274" r:id="rId18"/>
    <p:sldId id="275" r:id="rId19"/>
    <p:sldId id="276" r:id="rId20"/>
    <p:sldId id="277" r:id="rId21"/>
    <p:sldId id="278" r:id="rId22"/>
    <p:sldId id="279"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Lst>
        </p14:section>
        <p14:section name="Objective" id="{A15A7BD8-DE7C-6B45-BFCB-6F6BC3F0EA31}">
          <p14:sldIdLst>
            <p14:sldId id="258"/>
            <p14:sldId id="259"/>
            <p14:sldId id="261"/>
            <p14:sldId id="260"/>
          </p14:sldIdLst>
        </p14:section>
        <p14:section name="How it works" id="{51E39E62-D42A-5461-E95E-6B45ACE96CC0}">
          <p14:sldIdLst>
            <p14:sldId id="262"/>
            <p14:sldId id="263"/>
            <p14:sldId id="264"/>
          </p14:sldIdLst>
        </p14:section>
        <p14:section name="The harness" id="{92928B70-AC41-17EA-8015-68E5296D82D9}">
          <p14:sldIdLst>
            <p14:sldId id="265"/>
            <p14:sldId id="266"/>
            <p14:sldId id="268"/>
          </p14:sldIdLst>
        </p14:section>
        <p14:section name="Evidence" id="{5A3B821E-E9C2-E8B2-83B3-FA9E97777045}">
          <p14:sldIdLst>
            <p14:sldId id="269"/>
            <p14:sldId id="267"/>
            <p14:sldId id="271"/>
            <p14:sldId id="273"/>
            <p14:sldId id="274"/>
            <p14:sldId id="275"/>
          </p14:sldIdLst>
        </p14:section>
        <p14:section name="Limits and next" id="{A86175A9-6A09-739A-6218-CDC852B09B1B}">
          <p14:sldIdLst>
            <p14:sldId id="276"/>
          </p14:sldIdLst>
        </p14:section>
        <p14:section name="Backup" id="{C779AD3C-958E-9E55-6CE0-CB67D10A91C1}">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63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The final entry before the meeting said no change at 67.6%, hike at 22.4%, with the </a:t>
            </a:r>
            <a:r>
              <a:rPr lang="en-US"/>
              <a:t>specialists leaning hawkish by four points. </a:t>
            </a:r>
            <a:r>
              <a:rPr lang="en-US" dirty="0"/>
              <a:t>The Fed held, ten votes to two, and both dissents wanted the quarter-point hike the specialists were leaning toward. Say plainly that the market alone was more confident (90/10) and we do not claim to beat it at five weeks; what the system adds is the reasons, and the vote bore the reasons out. Then: one decision proves little, which is why the rest of the talk is about process.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signal exist already; each is good at one thing. Market prices are the best single predictor at thirty days and are the anchor of the pool. Surveys carry judgement; FedCast takes the data the committee reads instead, as history and a fitted model. The rules are the Fed's own benchmarks. The LLM papers show a model can read the Fed, on sixteen meetings. FedCast's claim is not a better guess but the combination: one of each kind, pooled by code at fixed weights, every number traceable to frozen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the first is the one to land. Eight decisions a year cannot tell skill from luck, so we judge the process with a scorecard fixed before any code. Second, auditable means concrete: an analyst that says inflation is elevated must quote the line it read and code must find it. Third, because everything is quotable and the analysts can read only the evidence, a wrong call is a traceable wrong call, and because the harness is repeatable it goes wrong the same way every time, so a fix can be tested and stays fixed. Details later in the deck: the ladder, the scorecard, the drift table.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diagram from the brief. Four families of input, combined by code with fixed, published weights; no model writes the number. The language-model family enters only as a bounded lean. Right: the chain in order, each line a view in the app. Walk the diagram first, then the chain.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18, the final one before the meeting. The pool is a weighted average, then the floor. The specialists</a:t>
            </a:r>
            <a:r>
              <a:rPr lang="en-US"/>
              <a:t>' mean score of +4.0 is 4.0 points of probability </a:t>
            </a:r>
            <a:r>
              <a:rPr lang="en-US" dirty="0"/>
              <a:t>moved toward a hike, through the same capped mechanism a human view uses. The lean row is tinted and labelled 'after pooling': it is a modifier on the pooled number, not a model in the pool. Then the footer: the weights are judgement, logged; ideally they would be backtested, but there is no live record yet, so live scores from 28 October onward decide them by amendment.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a language model cannot be made to stop doing: it remembers, it varies between runs, and it can invent support. None is removed. Each is designed around, and the design is measured on every snapshot. Walk the three columns top to bottom: the limit, what we do, the proof. The proof numbers are from the 28 October records and the four-snapshot means.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the same frozen evidence, eight configurations. Left: analysts 1 to 3 are controls, drawn grey and dashed; they never enter the number. Right: the five specialists that do. Every analyst runs five times on the same snapshot; for 1 to 3 those runs build the benchmark 4 to 8 are measured against. Analyst 1 sets the baseline (variance, numbers from memory, nothing quoted); 2 tests what immutable evidence fixes; 3 tests the answer shape and code verification. Each rung adds one thing, so the change in the measurements is the value of that thing.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one per dimension, averaged over the four snapshots. Left: how much the answer moves between identical runs. The step that matters is analyst 2 to analyst 3: the answer shape and the verifier take the wobble from three and a half points to under one. Middle: numbers from memory, gone as soon as the evidence is shown. Right: share of claims whose quote code found verbatim; analyst 2 cannot be measured because it quotes nothing. The specialists keep what analyst 3 achieved. For analysts 3 to 8 the wobble is in their lean</a:t>
            </a:r>
            <a:r>
              <a:rPr lang="en-US"/>
              <a:t>, which is already in points of probability, </a:t>
            </a:r>
            <a:r>
              <a:rPr lang="en-US" dirty="0"/>
              <a:t>so the four bars are comparable.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of method, then the outcome. Each specialist runs five times on the same frozen snapshot; the five answers must sit within the variance pass mark, every claim must carry a quote code finds, and no number may come from memory. Only then does the lean count. The band is the 28 October run; bottom left is what the five said and what it did to the number; bottom right is one claim as recorded, with the quote code found.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a quote comes from, open the statement claim on analyst 4: the quote is the statement's own line, found by code in item fed.statement.2026-09-16.</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follow-ups, in order of value. One: pre-registered weight sets scored on every live decision, so the weights stop being judgement. Two: reasoning quality graded by people in the app, which becomes the tenth measured dimension and a gate. Three: an events agent for the regime shifts the models cannot read. Four: a second model family to show the harness, not the model, does the work. Five: other central banks; the chain needs a calendar, a rate series, the statements and a curve, and the scorecard transfers unchanged. Six: better classical models, judged by the expanding window only.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The score and why it stops at 10: it is already in points of probability, and 10 is the most any single input may move the number, the same cap as a human view; a wider range would let the analysts write the number, which the design forbids. The average: one vote each. The spread: the points leave every bucket on the hold-or-cut side and land on both hike buckets, in proportion to size and distance from the middle, so the shape of the distribution is kept and nothing goes to zero.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50020755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quant side's own test. A first ordered probit, spec frozen before fitting, failed its out-of-sample gate and was reported, not tuned. A second version beats the base rate on the expanding window but was specified after seeing the first fail, so it carries a contamination caveat and waits for live decisions. The base rates, which need no fitting, beat the fitted model and are the yardstick. Below: why no gradient-boosted anything.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9494271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41732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41732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5856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3063240"/>
            <a:ext cx="5486400"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822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How the number was made</a:t>
            </a:r>
            <a:endParaRPr lang="en-US" sz="1500" dirty="0"/>
          </a:p>
        </p:txBody>
      </p:sp>
      <p:sp>
        <p:nvSpPr>
          <p:cNvPr id="14" name="Text 11"/>
          <p:cNvSpPr txBox="1"/>
          <p:nvPr/>
        </p:nvSpPr>
        <p:spPr>
          <a:xfrm>
            <a:off x="822960" y="3566160"/>
            <a:ext cx="5029200"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One frozen snapshot of 23 evidence items, pulled 28 October: futures, eight FRED series, both statements, minutes, transcript, projections, speeches, 32 years of decisions, the NY Fed natural rate, prediction-market odds</a:t>
            </a:r>
            <a:endParaRPr lang="en-US" sz="1200" dirty="0"/>
          </a:p>
          <a:p>
            <a:pPr marL="342900" indent="-342900">
              <a:spcAft>
                <a:spcPts val="400"/>
              </a:spcAft>
              <a:buSzPct val="100000"/>
              <a:buChar char="•"/>
            </a:pPr>
            <a:r>
              <a:rPr lang="en-US" sz="1200" dirty="0">
                <a:solidFill>
                  <a:schemeClr val="tx1"/>
                </a:solidFill>
              </a:rPr>
              <a:t>Four models pooled by code at fixed weights (market 0.6, Taylor rules 0.2, odds 0.1, base rates 0.1), then a 1.5% floor on every outcome: no change 70.9%, hike 26.2%</a:t>
            </a:r>
            <a:endParaRPr lang="en-US" sz="1200" dirty="0"/>
          </a:p>
          <a:p>
            <a:pPr marL="342900" indent="-342900">
              <a:spcAft>
                <a:spcPts val="400"/>
              </a:spcAft>
              <a:buSzPct val="100000"/>
              <a:buChar char="•"/>
            </a:pPr>
            <a:r>
              <a:rPr lang="en-US" sz="1200" dirty="0">
                <a:solidFill>
                  <a:schemeClr val="tx1"/>
                </a:solidFill>
              </a:rPr>
              <a:t>Five specialist analysts, every claim quoted and verified by code</a:t>
            </a:r>
            <a:r>
              <a:rPr lang="en-US" sz="1200">
                <a:solidFill>
                  <a:schemeClr val="tx1"/>
                </a:solidFill>
              </a:rPr>
              <a:t>, move the number 4.0 points toward a hike: </a:t>
            </a:r>
            <a:r>
              <a:rPr lang="en-US" sz="1200" dirty="0">
                <a:solidFill>
                  <a:schemeClr val="tx1"/>
                </a:solidFill>
              </a:rPr>
              <a:t>no change 67.6%, +25 bps 22.4%, +50 bps 7.7%</a:t>
            </a:r>
            <a:endParaRPr lang="en-US" sz="1200" dirty="0"/>
          </a:p>
          <a:p>
            <a:pPr marL="342900" indent="-342900">
              <a:spcAft>
                <a:spcPts val="400"/>
              </a:spcAft>
              <a:buSzPct val="100000"/>
              <a:buChar char="•"/>
            </a:pPr>
            <a:r>
              <a:rPr lang="en-US" sz="1200" dirty="0">
                <a:solidFill>
                  <a:schemeClr val="tx1"/>
                </a:solidFill>
              </a:rPr>
              <a:t>Hash-chained ledger entry #18; recomputes exactly from its snapshot and the analyst runs it names</a:t>
            </a:r>
            <a:endParaRPr lang="en-US" sz="1200" dirty="0"/>
          </a:p>
        </p:txBody>
      </p:sp>
      <p:sp>
        <p:nvSpPr>
          <p:cNvPr id="15" name="Shape 12"/>
          <p:cNvSpPr/>
          <p:nvPr/>
        </p:nvSpPr>
        <p:spPr>
          <a:xfrm>
            <a:off x="6263640" y="3063240"/>
            <a:ext cx="5376672"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Text 13"/>
          <p:cNvSpPr txBox="1"/>
          <p:nvPr/>
        </p:nvSpPr>
        <p:spPr>
          <a:xfrm>
            <a:off x="6537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What the outcome says</a:t>
            </a:r>
            <a:endParaRPr lang="en-US" sz="1500" dirty="0"/>
          </a:p>
        </p:txBody>
      </p:sp>
      <p:sp>
        <p:nvSpPr>
          <p:cNvPr id="17" name="Text 14"/>
          <p:cNvSpPr txBox="1"/>
          <p:nvPr/>
        </p:nvSpPr>
        <p:spPr>
          <a:xfrm>
            <a:off x="6537960" y="3566160"/>
            <a:ext cx="5102352"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The most likely outcome was the outcome. The market alone was more confident (90/10); at five weeks we do not claim to beat it</a:t>
            </a:r>
            <a:endParaRPr lang="en-US" sz="1200" dirty="0"/>
          </a:p>
          <a:p>
            <a:pPr marL="342900" indent="-342900">
              <a:spcAft>
                <a:spcPts val="400"/>
              </a:spcAft>
              <a:buSzPct val="100000"/>
              <a:buChar char="•"/>
            </a:pPr>
            <a:r>
              <a:rPr lang="en-US" sz="1200" dirty="0">
                <a:solidFill>
                  <a:schemeClr val="tx1"/>
                </a:solidFill>
              </a:rPr>
              <a:t>What the system added was the reasons: the hawkish lean came from the communications, minutes and inflation readers; the labour reader was the lone dove. Two dissents for a hike is that lean, in the vote</a:t>
            </a:r>
            <a:endParaRPr lang="en-US" sz="1200" dirty="0"/>
          </a:p>
          <a:p>
            <a:pPr marL="342900" indent="-342900">
              <a:spcAft>
                <a:spcPts val="400"/>
              </a:spcAft>
              <a:buSzPct val="100000"/>
              <a:buChar char="•"/>
            </a:pPr>
            <a:r>
              <a:rPr lang="en-US" sz="1200" dirty="0">
                <a:solidFill>
                  <a:schemeClr val="tx1"/>
                </a:solidFill>
              </a:rPr>
              <a:t>Every reason is a quote code found in the frozen evidence, so the call can be taken apart claim by claim, which the rest of this talk does</a:t>
            </a:r>
            <a:endParaRPr lang="en-US" sz="1200" dirty="0"/>
          </a:p>
          <a:p>
            <a:pPr marL="342900" indent="-342900">
              <a:spcAft>
                <a:spcPts val="400"/>
              </a:spcAft>
              <a:buSzPct val="100000"/>
              <a:buChar char="•"/>
            </a:pPr>
            <a:r>
              <a:rPr lang="en-US" sz="1200" dirty="0">
                <a:solidFill>
                  <a:schemeClr val="tx1"/>
                </a:solidFill>
              </a:rPr>
              <a:t>One decision proves little. It is scored formally (log score, Brier, against the market and two naive baselines) the moment the NY Fed's post-meeting rate row lands, and every weight decision waits on that record</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(Polymarket, Kalshi)</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3374136"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3602736"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3831336"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3602736"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3602736"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3602736"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16" name="Shape 13"/>
          <p:cNvSpPr/>
          <p:nvPr/>
        </p:nvSpPr>
        <p:spPr>
          <a:xfrm>
            <a:off x="6199632"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7" name="Shape 14"/>
          <p:cNvSpPr/>
          <p:nvPr/>
        </p:nvSpPr>
        <p:spPr>
          <a:xfrm>
            <a:off x="6428232" y="1691640"/>
            <a:ext cx="146304" cy="146304"/>
          </a:xfrm>
          <a:prstGeom prst="rect">
            <a:avLst/>
          </a:prstGeom>
          <a:solidFill>
            <a:srgbClr val="E9B44C"/>
          </a:solidFill>
          <a:ln w="12700">
            <a:solidFill>
              <a:srgbClr val="E9B44C"/>
            </a:solidFill>
            <a:prstDash val="solid"/>
          </a:ln>
        </p:spPr>
        <p:txBody>
          <a:bodyPr/>
          <a:lstStyle/>
          <a:p>
            <a:endParaRPr lang="en-US"/>
          </a:p>
        </p:txBody>
      </p:sp>
      <p:sp>
        <p:nvSpPr>
          <p:cNvPr id="18" name="Text 15"/>
          <p:cNvSpPr txBox="1"/>
          <p:nvPr/>
        </p:nvSpPr>
        <p:spPr>
          <a:xfrm>
            <a:off x="6656832"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19" name="Text 16"/>
          <p:cNvSpPr txBox="1"/>
          <p:nvPr/>
        </p:nvSpPr>
        <p:spPr>
          <a:xfrm>
            <a:off x="6428232"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20" name="Text 17"/>
          <p:cNvSpPr txBox="1"/>
          <p:nvPr/>
        </p:nvSpPr>
        <p:spPr>
          <a:xfrm>
            <a:off x="6428232"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21" name="Text 18"/>
          <p:cNvSpPr txBox="1"/>
          <p:nvPr/>
        </p:nvSpPr>
        <p:spPr>
          <a:xfrm>
            <a:off x="6428232"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Eight decisions a year: a good year proves nothing</a:t>
            </a:r>
            <a:endParaRPr lang="en-US" sz="1300" dirty="0"/>
          </a:p>
          <a:p>
            <a:pPr marL="342900" indent="-342900">
              <a:spcAft>
                <a:spcPts val="800"/>
              </a:spcAft>
              <a:buSzPct val="100000"/>
              <a:buChar char="•"/>
            </a:pPr>
            <a:r>
              <a:rPr lang="en-US" sz="1300" dirty="0">
                <a:solidFill>
                  <a:schemeClr val="tx1"/>
                </a:solidFill>
              </a:rPr>
              <a:t>The yardstick is a ten-point scorecard, fixed before any code: same evidence, same answer? every claim quoted? any number from memory? a shock moves the number 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Every step is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it is flagged as from memory</a:t>
            </a:r>
            <a:endParaRPr lang="en-US" sz="1300"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endParaRPr lang="en-US" sz="1300" dirty="0"/>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Everything is quotable and the analysts can read only the evidence, so a wrong call is a traceable wrong call: we 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dirty="0">
                <a:solidFill>
                  <a:schemeClr val="bg1"/>
                </a:solidFill>
              </a:rPr>
              <a:t>What followed each kind of decision over 32 years of FOMC history, conditioned on the last move</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lean,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 Then the analysts' lean, capped at 10 points. Code does this; no model writes the number.</a:t>
            </a:r>
            <a:endParaRPr lang="en-US" sz="950" dirty="0"/>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 Nothing outside it may be read.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Computed by code and handed to the analysts as numbers: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the floor, then the specialists' lean.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Only analysts 4 to 8 enter the number. Analysts 1 to 3 are checks and balances on the ladder.</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tilt by at most 10 points and expire; watch-outs must be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 and the runs it names.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142723790"/>
              </p:ext>
            </p:extLst>
          </p:nvPr>
        </p:nvGraphicFramePr>
        <p:xfrm>
          <a:off x="548640" y="1325880"/>
          <a:ext cx="11091672" cy="3899916"/>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November fed-funds future against the overnight rate: +2.5 bp expected, split between the two nearest outcomes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12-month core PCE 3.0%, unemployment 4.2%, r* from the NY Fed DSGE model (0.65 / 1.86 / 3.06%); three level rules × nine r*/u* pairs plus the first-difference rule × three u*: 30 prescriptions, mean +22.5 bp</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Polymarket, 26 Oct, $67m traded: 94.5% no change at the mid price, 94.9% once the five prices are renormalised</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What followed a hike at the 49 scheduled meetings since 1994 that came after one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Nine features on first-published data; failed v1, caveated v2</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dirty="0">
                          <a:solidFill>
                            <a:srgbClr val="1B1F2A"/>
                          </a:solidFill>
                        </a:rPr>
                        <a:t>Specialists' lean: 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 track. It can tilt, it cannot write.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Three things a language model cannot be made to stop doing. None is removed; each is designed around, and the design is measured on every snapshot.</a:t>
            </a:r>
            <a:endParaRPr lang="en-US" sz="1200" dirty="0"/>
          </a:p>
        </p:txBody>
      </p:sp>
      <p:sp>
        <p:nvSpPr>
          <p:cNvPr id="5" name="Shape 2"/>
          <p:cNvSpPr/>
          <p:nvPr/>
        </p:nvSpPr>
        <p:spPr>
          <a:xfrm>
            <a:off x="548640" y="1627632"/>
            <a:ext cx="3593592" cy="960120"/>
          </a:xfrm>
          <a:prstGeom prst="roundRect">
            <a:avLst>
              <a:gd name="adj" fmla="val 9524"/>
            </a:avLst>
          </a:prstGeom>
          <a:solidFill>
            <a:srgbClr val="C8553D"/>
          </a:solidFill>
          <a:ln w="12700">
            <a:solidFill>
              <a:srgbClr val="C8553D"/>
            </a:solidFill>
            <a:prstDash val="solid"/>
          </a:ln>
        </p:spPr>
        <p:txBody>
          <a:bodyPr/>
          <a:lstStyle/>
          <a:p>
            <a:endParaRPr lang="en-US"/>
          </a:p>
        </p:txBody>
      </p:sp>
      <p:sp>
        <p:nvSpPr>
          <p:cNvPr id="6" name="Shape 3"/>
          <p:cNvSpPr/>
          <p:nvPr/>
        </p:nvSpPr>
        <p:spPr>
          <a:xfrm>
            <a:off x="548640" y="2404872"/>
            <a:ext cx="3593592" cy="182880"/>
          </a:xfrm>
          <a:prstGeom prst="rect">
            <a:avLst/>
          </a:prstGeom>
          <a:solidFill>
            <a:srgbClr val="C8553D"/>
          </a:solidFill>
          <a:ln w="12700">
            <a:solidFill>
              <a:srgbClr val="C8553D"/>
            </a:solidFill>
            <a:prstDash val="solid"/>
          </a:ln>
        </p:spPr>
        <p:txBody>
          <a:bodyPr/>
          <a:lstStyle/>
          <a:p>
            <a:endParaRPr lang="en-US"/>
          </a:p>
        </p:txBody>
      </p:sp>
      <p:sp>
        <p:nvSpPr>
          <p:cNvPr id="7" name="Text 4"/>
          <p:cNvSpPr txBox="1"/>
          <p:nvPr/>
        </p:nvSpPr>
        <p:spPr>
          <a:xfrm>
            <a:off x="70408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0408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Memory cannot be switched off</a:t>
            </a:r>
            <a:endParaRPr lang="en-US" sz="1400" dirty="0"/>
          </a:p>
        </p:txBody>
      </p:sp>
      <p:sp>
        <p:nvSpPr>
          <p:cNvPr id="9" name="Text 6"/>
          <p:cNvSpPr txBox="1"/>
          <p:nvPr/>
        </p:nvSpPr>
        <p:spPr>
          <a:xfrm>
            <a:off x="70408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Everything it knows about the Fed is in its weights, and it will use it unless something stops it.</a:t>
            </a:r>
            <a:endParaRPr lang="en-US" sz="1050" dirty="0"/>
          </a:p>
        </p:txBody>
      </p:sp>
      <p:sp>
        <p:nvSpPr>
          <p:cNvPr id="10" name="Shape 7"/>
          <p:cNvSpPr/>
          <p:nvPr/>
        </p:nvSpPr>
        <p:spPr>
          <a:xfrm>
            <a:off x="548640" y="2587752"/>
            <a:ext cx="3593592" cy="2011680"/>
          </a:xfrm>
          <a:prstGeom prst="rect">
            <a:avLst/>
          </a:prstGeom>
          <a:solidFill>
            <a:srgbClr val="EEF2F7"/>
          </a:solidFill>
          <a:ln w="12700">
            <a:solidFill>
              <a:srgbClr val="EEF2F7"/>
            </a:solidFill>
            <a:prstDash val="solid"/>
          </a:ln>
        </p:spPr>
        <p:txBody>
          <a:bodyPr/>
          <a:lstStyle/>
          <a:p>
            <a:endParaRPr lang="en-US"/>
          </a:p>
        </p:txBody>
      </p:sp>
      <p:sp>
        <p:nvSpPr>
          <p:cNvPr id="11" name="Text 8"/>
          <p:cNvSpPr txBox="1"/>
          <p:nvPr/>
        </p:nvSpPr>
        <p:spPr>
          <a:xfrm>
            <a:off x="70408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0408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Prompt engineering: </a:t>
            </a:r>
            <a:r>
              <a:rPr lang="en-US" sz="1050" dirty="0">
                <a:solidFill>
                  <a:schemeClr val="tx1"/>
                </a:solidFill>
              </a:rPr>
              <a:t>use only the evidence; do not use anything you remember about the economy, the Fed or markets.</a:t>
            </a:r>
            <a:endParaRPr lang="en-US" sz="1050" dirty="0"/>
          </a:p>
          <a:p>
            <a:pPr marL="342900" indent="-342900">
              <a:buSzPct val="100000"/>
              <a:buChar char="•"/>
            </a:pPr>
            <a:r>
              <a:rPr lang="en-US" sz="1050" b="1" dirty="0">
                <a:solidFill>
                  <a:srgbClr val="1B1F2A"/>
                </a:solidFill>
              </a:rPr>
              <a:t>Answer shape: </a:t>
            </a:r>
            <a:r>
              <a:rPr lang="en-US" sz="1050" dirty="0">
                <a:solidFill>
                  <a:schemeClr val="tx1"/>
                </a:solidFill>
              </a:rPr>
              <a:t>every claim must carry a verbatim quote from a named item, so a remembered fact has nowhere to stand.</a:t>
            </a:r>
            <a:endParaRPr lang="en-US" sz="1050" dirty="0"/>
          </a:p>
          <a:p>
            <a:pPr marL="342900" indent="-342900">
              <a:buSzPct val="100000"/>
              <a:buChar char="•"/>
            </a:pPr>
            <a:r>
              <a:rPr lang="en-US" sz="1050" b="1" dirty="0">
                <a:solidFill>
                  <a:srgbClr val="1B1F2A"/>
                </a:solidFill>
              </a:rPr>
              <a:t>Harness: </a:t>
            </a:r>
            <a:r>
              <a:rPr lang="en-US" sz="1050" dirty="0">
                <a:solidFill>
                  <a:schemeClr val="tx1"/>
                </a:solidFill>
              </a:rPr>
              <a:t>every number in the answer is matched to the snapshot by code; one that is not found is flagged as from memory and sent back once to be removed.</a:t>
            </a:r>
            <a:endParaRPr lang="en-US" sz="1050" dirty="0"/>
          </a:p>
        </p:txBody>
      </p:sp>
      <p:sp>
        <p:nvSpPr>
          <p:cNvPr id="13" name="Shape 10"/>
          <p:cNvSpPr/>
          <p:nvPr/>
        </p:nvSpPr>
        <p:spPr>
          <a:xfrm>
            <a:off x="548640" y="4599432"/>
            <a:ext cx="3593592" cy="960120"/>
          </a:xfrm>
          <a:prstGeom prst="roundRect">
            <a:avLst>
              <a:gd name="adj" fmla="val 9524"/>
            </a:avLst>
          </a:prstGeom>
          <a:solidFill>
            <a:srgbClr val="FFFFFF"/>
          </a:solidFill>
          <a:ln w="12700">
            <a:solidFill>
              <a:srgbClr val="D5DBE5"/>
            </a:solidFill>
            <a:prstDash val="solid"/>
          </a:ln>
        </p:spPr>
        <p:txBody>
          <a:bodyPr/>
          <a:lstStyle/>
          <a:p>
            <a:endParaRPr lang="en-US"/>
          </a:p>
        </p:txBody>
      </p:sp>
      <p:sp>
        <p:nvSpPr>
          <p:cNvPr id="14" name="Text 11"/>
          <p:cNvSpPr txBox="1"/>
          <p:nvPr/>
        </p:nvSpPr>
        <p:spPr>
          <a:xfrm>
            <a:off x="70408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15" name="Text 12"/>
          <p:cNvSpPr txBox="1"/>
          <p:nvPr/>
        </p:nvSpPr>
        <p:spPr>
          <a:xfrm>
            <a:off x="70408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38 → 0</a:t>
            </a:r>
            <a:endParaRPr lang="en-US" sz="2200" dirty="0"/>
          </a:p>
        </p:txBody>
      </p:sp>
      <p:sp>
        <p:nvSpPr>
          <p:cNvPr id="16" name="Text 13"/>
          <p:cNvSpPr txBox="1"/>
          <p:nvPr/>
        </p:nvSpPr>
        <p:spPr>
          <a:xfrm>
            <a:off x="214884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figures in the answer that appear nowhere in the evidence: analyst 1, which sees no evidence, against analysts 2 to 8, five runs each</a:t>
            </a:r>
            <a:endParaRPr lang="en-US" sz="1000" dirty="0"/>
          </a:p>
        </p:txBody>
      </p:sp>
      <p:sp>
        <p:nvSpPr>
          <p:cNvPr id="17" name="Shape 14"/>
          <p:cNvSpPr/>
          <p:nvPr/>
        </p:nvSpPr>
        <p:spPr>
          <a:xfrm>
            <a:off x="4297680" y="1627632"/>
            <a:ext cx="3593592" cy="960120"/>
          </a:xfrm>
          <a:prstGeom prst="roundRect">
            <a:avLst>
              <a:gd name="adj" fmla="val 9524"/>
            </a:avLst>
          </a:prstGeom>
          <a:solidFill>
            <a:srgbClr val="C8553D"/>
          </a:solidFill>
          <a:ln w="12700">
            <a:solidFill>
              <a:srgbClr val="C8553D"/>
            </a:solidFill>
            <a:prstDash val="solid"/>
          </a:ln>
        </p:spPr>
        <p:txBody>
          <a:bodyPr/>
          <a:lstStyle/>
          <a:p>
            <a:endParaRPr lang="en-US"/>
          </a:p>
        </p:txBody>
      </p:sp>
      <p:sp>
        <p:nvSpPr>
          <p:cNvPr id="18" name="Shape 15"/>
          <p:cNvSpPr/>
          <p:nvPr/>
        </p:nvSpPr>
        <p:spPr>
          <a:xfrm>
            <a:off x="4297680" y="2404872"/>
            <a:ext cx="3593592" cy="182880"/>
          </a:xfrm>
          <a:prstGeom prst="rect">
            <a:avLst/>
          </a:prstGeom>
          <a:solidFill>
            <a:srgbClr val="C8553D"/>
          </a:solidFill>
          <a:ln w="12700">
            <a:solidFill>
              <a:srgbClr val="C8553D"/>
            </a:solidFill>
            <a:prstDash val="solid"/>
          </a:ln>
        </p:spPr>
        <p:txBody>
          <a:bodyPr/>
          <a:lstStyle/>
          <a:p>
            <a:endParaRPr lang="en-US"/>
          </a:p>
        </p:txBody>
      </p:sp>
      <p:sp>
        <p:nvSpPr>
          <p:cNvPr id="19" name="Text 16"/>
          <p:cNvSpPr txBox="1"/>
          <p:nvPr/>
        </p:nvSpPr>
        <p:spPr>
          <a:xfrm>
            <a:off x="445312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20" name="Text 17"/>
          <p:cNvSpPr txBox="1"/>
          <p:nvPr/>
        </p:nvSpPr>
        <p:spPr>
          <a:xfrm>
            <a:off x="445312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The same question gets different answers</a:t>
            </a:r>
            <a:endParaRPr lang="en-US" sz="1400" dirty="0"/>
          </a:p>
        </p:txBody>
      </p:sp>
      <p:sp>
        <p:nvSpPr>
          <p:cNvPr id="21" name="Text 18"/>
          <p:cNvSpPr txBox="1"/>
          <p:nvPr/>
        </p:nvSpPr>
        <p:spPr>
          <a:xfrm>
            <a:off x="445312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Ask twice and the number moves.</a:t>
            </a:r>
            <a:endParaRPr lang="en-US" sz="1050" dirty="0"/>
          </a:p>
        </p:txBody>
      </p:sp>
      <p:sp>
        <p:nvSpPr>
          <p:cNvPr id="22" name="Shape 19"/>
          <p:cNvSpPr/>
          <p:nvPr/>
        </p:nvSpPr>
        <p:spPr>
          <a:xfrm>
            <a:off x="4297680" y="2587752"/>
            <a:ext cx="3593592" cy="2011680"/>
          </a:xfrm>
          <a:prstGeom prst="rect">
            <a:avLst/>
          </a:prstGeom>
          <a:solidFill>
            <a:srgbClr val="EEF2F7"/>
          </a:solidFill>
          <a:ln w="12700">
            <a:solidFill>
              <a:srgbClr val="EEF2F7"/>
            </a:solidFill>
            <a:prstDash val="solid"/>
          </a:ln>
        </p:spPr>
        <p:txBody>
          <a:bodyPr/>
          <a:lstStyle/>
          <a:p>
            <a:endParaRPr lang="en-US"/>
          </a:p>
        </p:txBody>
      </p:sp>
      <p:sp>
        <p:nvSpPr>
          <p:cNvPr id="23" name="Text 20"/>
          <p:cNvSpPr txBox="1"/>
          <p:nvPr/>
        </p:nvSpPr>
        <p:spPr>
          <a:xfrm>
            <a:off x="445312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4" name="Text 21"/>
          <p:cNvSpPr txBox="1"/>
          <p:nvPr/>
        </p:nvSpPr>
        <p:spPr>
          <a:xfrm>
            <a:off x="445312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Answer shape: </a:t>
            </a:r>
            <a:r>
              <a:rPr lang="en-US" sz="1050" dirty="0">
                <a:solidFill>
                  <a:schemeClr val="tx1"/>
                </a:solidFill>
              </a:rPr>
              <a:t>a JSON schema fixes the form of the answer; the runtime rejects anything else before anyone reads it.</a:t>
            </a:r>
            <a:endParaRPr lang="en-US" sz="1050" dirty="0"/>
          </a:p>
          <a:p>
            <a:pPr marL="342900" indent="-342900">
              <a:buSzPct val="100000"/>
              <a:buChar char="•"/>
            </a:pPr>
            <a:r>
              <a:rPr lang="en-US" sz="1050" b="1" dirty="0">
                <a:solidFill>
                  <a:srgbClr val="1B1F2A"/>
                </a:solidFill>
              </a:rPr>
              <a:t>Five identical runs </a:t>
            </a:r>
            <a:r>
              <a:rPr lang="en-US" sz="1050" dirty="0">
                <a:solidFill>
                  <a:schemeClr val="tx1"/>
                </a:solidFill>
              </a:rPr>
              <a:t>per analyst per snapshot: the same evidence, the same question, the same schema, only the run number differs. Each is stored and hashed, so it can be audited later.</a:t>
            </a:r>
            <a:endParaRPr lang="en-US" sz="1050" dirty="0"/>
          </a:p>
          <a:p>
            <a:pPr marL="342900" indent="-342900">
              <a:buSzPct val="100000"/>
              <a:buChar char="•"/>
            </a:pPr>
            <a:r>
              <a:rPr lang="en-US" sz="1050" b="1" dirty="0">
                <a:solidFill>
                  <a:srgbClr val="1B1F2A"/>
                </a:solidFill>
              </a:rPr>
              <a:t>Repeatability is measured: </a:t>
            </a:r>
            <a:r>
              <a:rPr lang="en-US" sz="1050" dirty="0">
                <a:solidFill>
                  <a:schemeClr val="tx1"/>
                </a:solidFill>
              </a:rPr>
              <a:t>how far the answer moves between those five runs. Pass mark: 2 points.</a:t>
            </a:r>
            <a:endParaRPr lang="en-US" sz="1050" dirty="0"/>
          </a:p>
        </p:txBody>
      </p:sp>
      <p:sp>
        <p:nvSpPr>
          <p:cNvPr id="25" name="Shape 22"/>
          <p:cNvSpPr/>
          <p:nvPr/>
        </p:nvSpPr>
        <p:spPr>
          <a:xfrm>
            <a:off x="4297680" y="4599432"/>
            <a:ext cx="3593592" cy="960120"/>
          </a:xfrm>
          <a:prstGeom prst="roundRect">
            <a:avLst>
              <a:gd name="adj" fmla="val 9524"/>
            </a:avLst>
          </a:prstGeom>
          <a:solidFill>
            <a:srgbClr val="FFFFFF"/>
          </a:solidFill>
          <a:ln w="12700">
            <a:solidFill>
              <a:srgbClr val="D5DBE5"/>
            </a:solidFill>
            <a:prstDash val="solid"/>
          </a:ln>
        </p:spPr>
        <p:txBody>
          <a:bodyPr/>
          <a:lstStyle/>
          <a:p>
            <a:endParaRPr lang="en-US"/>
          </a:p>
        </p:txBody>
      </p:sp>
      <p:sp>
        <p:nvSpPr>
          <p:cNvPr id="26" name="Text 23"/>
          <p:cNvSpPr txBox="1"/>
          <p:nvPr/>
        </p:nvSpPr>
        <p:spPr>
          <a:xfrm>
            <a:off x="445312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FOUR SNAPSHOTS</a:t>
            </a:r>
            <a:endParaRPr lang="en-US" sz="900" dirty="0"/>
          </a:p>
        </p:txBody>
      </p:sp>
      <p:sp>
        <p:nvSpPr>
          <p:cNvPr id="27" name="Text 24"/>
          <p:cNvSpPr txBox="1"/>
          <p:nvPr/>
        </p:nvSpPr>
        <p:spPr>
          <a:xfrm>
            <a:off x="445312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4.2 → 0.8</a:t>
            </a:r>
            <a:endParaRPr lang="en-US" sz="2200" dirty="0"/>
          </a:p>
        </p:txBody>
      </p:sp>
      <p:sp>
        <p:nvSpPr>
          <p:cNvPr id="28" name="Text 25"/>
          <p:cNvSpPr txBox="1"/>
          <p:nvPr/>
        </p:nvSpPr>
        <p:spPr>
          <a:xfrm>
            <a:off x="589788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how far the answer moves between identical runs: naive 4.2 points</a:t>
            </a:r>
            <a:r>
              <a:rPr lang="en-US" sz="1000">
                <a:solidFill>
                  <a:schemeClr val="tx1"/>
                </a:solidFill>
              </a:rPr>
              <a:t>, specialists 0.8 points, mean of four snapshots</a:t>
            </a:r>
            <a:endParaRPr lang="en-US" sz="1000" dirty="0"/>
          </a:p>
        </p:txBody>
      </p:sp>
      <p:sp>
        <p:nvSpPr>
          <p:cNvPr id="29" name="Shape 26"/>
          <p:cNvSpPr/>
          <p:nvPr/>
        </p:nvSpPr>
        <p:spPr>
          <a:xfrm>
            <a:off x="8046720" y="1627632"/>
            <a:ext cx="3593592" cy="960120"/>
          </a:xfrm>
          <a:prstGeom prst="roundRect">
            <a:avLst>
              <a:gd name="adj" fmla="val 9524"/>
            </a:avLst>
          </a:prstGeom>
          <a:solidFill>
            <a:srgbClr val="C8553D"/>
          </a:solidFill>
          <a:ln w="12700">
            <a:solidFill>
              <a:srgbClr val="C8553D"/>
            </a:solidFill>
            <a:prstDash val="solid"/>
          </a:ln>
        </p:spPr>
        <p:txBody>
          <a:bodyPr/>
          <a:lstStyle/>
          <a:p>
            <a:endParaRPr lang="en-US"/>
          </a:p>
        </p:txBody>
      </p:sp>
      <p:sp>
        <p:nvSpPr>
          <p:cNvPr id="30" name="Shape 27"/>
          <p:cNvSpPr/>
          <p:nvPr/>
        </p:nvSpPr>
        <p:spPr>
          <a:xfrm>
            <a:off x="8046720" y="2404872"/>
            <a:ext cx="3593592" cy="182880"/>
          </a:xfrm>
          <a:prstGeom prst="rect">
            <a:avLst/>
          </a:prstGeom>
          <a:solidFill>
            <a:srgbClr val="C8553D"/>
          </a:solidFill>
          <a:ln w="12700">
            <a:solidFill>
              <a:srgbClr val="C8553D"/>
            </a:solidFill>
            <a:prstDash val="solid"/>
          </a:ln>
        </p:spPr>
        <p:txBody>
          <a:bodyPr/>
          <a:lstStyle/>
          <a:p>
            <a:endParaRPr lang="en-US"/>
          </a:p>
        </p:txBody>
      </p:sp>
      <p:sp>
        <p:nvSpPr>
          <p:cNvPr id="31" name="Text 28"/>
          <p:cNvSpPr txBox="1"/>
          <p:nvPr/>
        </p:nvSpPr>
        <p:spPr>
          <a:xfrm>
            <a:off x="820216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32" name="Text 29"/>
          <p:cNvSpPr txBox="1"/>
          <p:nvPr/>
        </p:nvSpPr>
        <p:spPr>
          <a:xfrm>
            <a:off x="820216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It can invent its own “evidence”(hallucinate)</a:t>
            </a:r>
            <a:endParaRPr lang="en-US" sz="1400" dirty="0"/>
          </a:p>
        </p:txBody>
      </p:sp>
      <p:sp>
        <p:nvSpPr>
          <p:cNvPr id="33" name="Text 30"/>
          <p:cNvSpPr txBox="1"/>
          <p:nvPr/>
        </p:nvSpPr>
        <p:spPr>
          <a:xfrm>
            <a:off x="820216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 fluent quote or figure that was never in the document.</a:t>
            </a:r>
            <a:endParaRPr lang="en-US" sz="1050" dirty="0"/>
          </a:p>
        </p:txBody>
      </p:sp>
      <p:sp>
        <p:nvSpPr>
          <p:cNvPr id="34" name="Shape 31"/>
          <p:cNvSpPr/>
          <p:nvPr/>
        </p:nvSpPr>
        <p:spPr>
          <a:xfrm>
            <a:off x="8046720" y="2587752"/>
            <a:ext cx="3593592" cy="2011680"/>
          </a:xfrm>
          <a:prstGeom prst="rect">
            <a:avLst/>
          </a:prstGeom>
          <a:solidFill>
            <a:srgbClr val="EEF2F7"/>
          </a:solidFill>
          <a:ln w="12700">
            <a:solidFill>
              <a:srgbClr val="EEF2F7"/>
            </a:solidFill>
            <a:prstDash val="solid"/>
          </a:ln>
        </p:spPr>
        <p:txBody>
          <a:bodyPr/>
          <a:lstStyle/>
          <a:p>
            <a:endParaRPr lang="en-US"/>
          </a:p>
        </p:txBody>
      </p:sp>
      <p:sp>
        <p:nvSpPr>
          <p:cNvPr id="35" name="Text 32"/>
          <p:cNvSpPr txBox="1"/>
          <p:nvPr/>
        </p:nvSpPr>
        <p:spPr>
          <a:xfrm>
            <a:off x="820216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36" name="Text 33"/>
          <p:cNvSpPr txBox="1"/>
          <p:nvPr/>
        </p:nvSpPr>
        <p:spPr>
          <a:xfrm>
            <a:off x="820216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Harness: </a:t>
            </a:r>
            <a:r>
              <a:rPr lang="en-US" sz="1050" dirty="0">
                <a:solidFill>
                  <a:schemeClr val="tx1"/>
                </a:solidFill>
              </a:rPr>
              <a:t>every quote and every number in a claim is verified by code, not by a model. A quote must match its item character for character; a quote stitched from two places fails.</a:t>
            </a:r>
            <a:endParaRPr lang="en-US" sz="1050" dirty="0"/>
          </a:p>
          <a:p>
            <a:pPr marL="342900" indent="-342900">
              <a:buSzPct val="100000"/>
              <a:buChar char="•"/>
            </a:pPr>
            <a:r>
              <a:rPr lang="en-US" sz="1050" b="1" dirty="0">
                <a:solidFill>
                  <a:srgbClr val="1B1F2A"/>
                </a:solidFill>
              </a:rPr>
              <a:t>Bounds: </a:t>
            </a:r>
            <a:r>
              <a:rPr lang="en-US" sz="1050" dirty="0">
                <a:solidFill>
                  <a:schemeClr val="tx1"/>
                </a:solidFill>
              </a:rPr>
              <a:t>every watch-out must be answered by id; the direction call is clipped </a:t>
            </a:r>
            <a:r>
              <a:rPr lang="en-US" sz="1050">
                <a:solidFill>
                  <a:schemeClr val="tx1"/>
                </a:solidFill>
              </a:rPr>
              <a:t>to ±10.</a:t>
            </a:r>
            <a:endParaRPr lang="en-US" sz="1050" dirty="0"/>
          </a:p>
          <a:p>
            <a:pPr marL="342900" indent="-342900">
              <a:buSzPct val="100000"/>
              <a:buChar char="•"/>
            </a:pPr>
            <a:r>
              <a:rPr lang="en-US" sz="1050" b="1" dirty="0">
                <a:solidFill>
                  <a:srgbClr val="1B1F2A"/>
                </a:solidFill>
              </a:rPr>
              <a:t>One repair round </a:t>
            </a:r>
            <a:r>
              <a:rPr lang="en-US" sz="1050" dirty="0">
                <a:solidFill>
                  <a:schemeClr val="tx1"/>
                </a:solidFill>
              </a:rPr>
              <a:t>with the verifier's report; both answers are kept. What still fails is recorded as unverified, never hidden.</a:t>
            </a:r>
            <a:endParaRPr lang="en-US" sz="1050" dirty="0"/>
          </a:p>
        </p:txBody>
      </p:sp>
      <p:sp>
        <p:nvSpPr>
          <p:cNvPr id="37" name="Shape 34"/>
          <p:cNvSpPr/>
          <p:nvPr/>
        </p:nvSpPr>
        <p:spPr>
          <a:xfrm>
            <a:off x="8046720" y="4599432"/>
            <a:ext cx="3593592" cy="960120"/>
          </a:xfrm>
          <a:prstGeom prst="roundRect">
            <a:avLst>
              <a:gd name="adj" fmla="val 9524"/>
            </a:avLst>
          </a:prstGeom>
          <a:solidFill>
            <a:srgbClr val="FFFFFF"/>
          </a:solidFill>
          <a:ln w="12700">
            <a:solidFill>
              <a:srgbClr val="D5DBE5"/>
            </a:solidFill>
            <a:prstDash val="solid"/>
          </a:ln>
        </p:spPr>
        <p:txBody>
          <a:bodyPr/>
          <a:lstStyle/>
          <a:p>
            <a:endParaRPr lang="en-US"/>
          </a:p>
        </p:txBody>
      </p:sp>
      <p:sp>
        <p:nvSpPr>
          <p:cNvPr id="38" name="Text 35"/>
          <p:cNvSpPr txBox="1"/>
          <p:nvPr/>
        </p:nvSpPr>
        <p:spPr>
          <a:xfrm>
            <a:off x="820216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39" name="Text 36"/>
          <p:cNvSpPr txBox="1"/>
          <p:nvPr/>
        </p:nvSpPr>
        <p:spPr>
          <a:xfrm>
            <a:off x="820216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326 / 327</a:t>
            </a:r>
            <a:endParaRPr lang="en-US" sz="2200" dirty="0"/>
          </a:p>
        </p:txBody>
      </p:sp>
      <p:sp>
        <p:nvSpPr>
          <p:cNvPr id="40" name="Text 37"/>
          <p:cNvSpPr txBox="1"/>
          <p:nvPr/>
        </p:nvSpPr>
        <p:spPr>
          <a:xfrm>
            <a:off x="964692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claims whose quote code found verbatim, analysts 3 to 8, 30 runs; the one miss is on the record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a:solidFill>
                  <a:srgbClr val="CADCFC"/>
                </a:solidFill>
              </a:rPr>
              <a:t>Each specialist is asked one question about its own slice (above), never for a probability. It returns claims, each with a verbatim quote and item id, and a score from . Code averages the five scores and moves that many points of probability from the hold side to the hike side (or the reverse),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does the lean count 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a:solidFill>
                  <a:schemeClr val="bg1"/>
                </a:solidFill>
              </a:rPr>
              <a:t>5 scores, ±10</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r>
              <a:rPr lang="en-US" sz="1050" dirty="0">
                <a:solidFill>
                  <a:srgbClr val="CADCFC"/>
                </a:solidFill>
              </a:rPr>
              <a:t>+6.0 · +6.2 · +5.8 · −1.4 </a:t>
            </a:r>
            <a:r>
              <a:rPr lang="en-US" sz="1050">
                <a:solidFill>
                  <a:srgbClr val="CADCFC"/>
                </a:solidFill>
              </a:rPr>
              <a:t>· +3.4</a:t>
            </a:r>
            <a:endParaRPr lang="en-US" sz="1050" dirty="0"/>
          </a:p>
        </p:txBody>
      </p:sp>
      <p:sp>
        <p:nvSpPr>
          <p:cNvPr id="21" name="Shape 18"/>
          <p:cNvSpPr/>
          <p:nvPr/>
        </p:nvSpPr>
        <p:spPr>
          <a:xfrm>
            <a:off x="548640" y="3931920"/>
            <a:ext cx="4434840" cy="237744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1965960" cy="1188720"/>
          </a:xfrm>
          <a:prstGeom prst="rect">
            <a:avLst/>
          </a:prstGeom>
          <a:noFill/>
          <a:ln/>
        </p:spPr>
        <p:txBody>
          <a:bodyPr wrap="square" lIns="0" tIns="0" rIns="0" bIns="0" rtlCol="0" anchor="t"/>
          <a:lstStyle/>
          <a:p>
            <a:pPr marL="0" indent="0">
              <a:buNone/>
            </a:pPr>
            <a:r>
              <a:rPr lang="en-US" sz="1050" b="1" dirty="0">
                <a:solidFill>
                  <a:schemeClr val="tx1"/>
                </a:solidFill>
              </a:rPr>
              <a:t>Four say hike, one says hold back. </a:t>
            </a:r>
            <a:r>
              <a:rPr lang="en-US" sz="1050" dirty="0">
                <a:solidFill>
                  <a:schemeClr val="tx1"/>
                </a:solidFill>
              </a:rPr>
              <a:t>Plain average, one vote each: +4.0.</a:t>
            </a:r>
            <a:endParaRPr lang="en-US" sz="1050" dirty="0"/>
          </a:p>
          <a:p>
            <a:pPr marL="0" indent="0">
              <a:buNone/>
            </a:pPr>
            <a:r>
              <a:rPr lang="en-US" sz="1050" b="1" dirty="0">
                <a:solidFill>
                  <a:schemeClr val="tx1"/>
                </a:solidFill>
              </a:rPr>
              <a:t>Each point of lean moves one point of probability </a:t>
            </a:r>
            <a:r>
              <a:rPr lang="en-US" sz="1050" dirty="0">
                <a:solidFill>
                  <a:schemeClr val="tx1"/>
                </a:solidFill>
              </a:rPr>
              <a:t>from the hold side to the hike side, by rule, capped at 10. So +4.0 moves 4.0 points, after the pool:</a:t>
            </a:r>
            <a:endParaRPr lang="en-US" sz="1050" dirty="0"/>
          </a:p>
        </p:txBody>
      </p:sp>
      <p:sp>
        <p:nvSpPr>
          <p:cNvPr id="25" name="Text 21"/>
          <p:cNvSpPr txBox="1"/>
          <p:nvPr/>
        </p:nvSpPr>
        <p:spPr>
          <a:xfrm>
            <a:off x="2880360" y="5559552"/>
            <a:ext cx="2011680" cy="329184"/>
          </a:xfrm>
          <a:prstGeom prst="rect">
            <a:avLst/>
          </a:prstGeom>
          <a:noFill/>
          <a:ln/>
        </p:spPr>
        <p:txBody>
          <a:bodyPr wrap="square" lIns="0" tIns="0" rIns="0" bIns="0" rtlCol="0" anchor="t"/>
          <a:lstStyle/>
          <a:p>
            <a:pPr marL="0" indent="0">
              <a:buNone/>
            </a:pPr>
            <a:r>
              <a:rPr lang="en-US" sz="1400" b="1">
                <a:solidFill>
                  <a:schemeClr val="tx2"/>
                </a:solidFill>
                <a:latin typeface="Cambria" pitchFamily="34" charset="0"/>
                <a:ea typeface="Cambria" pitchFamily="34" charset="-122"/>
                <a:cs typeface="Cambria" pitchFamily="34" charset="-120"/>
              </a:rPr>
              <a:t>+25 bps: 20.2% </a:t>
            </a:r>
            <a:r>
              <a:rPr lang="en-US" sz="1400" b="1" dirty="0">
                <a:solidFill>
                  <a:schemeClr val="tx2"/>
                </a:solidFill>
                <a:latin typeface="Cambria" pitchFamily="34" charset="0"/>
                <a:ea typeface="Cambria" pitchFamily="34" charset="-122"/>
                <a:cs typeface="Cambria" pitchFamily="34" charset="-120"/>
              </a:rPr>
              <a:t>→ 22.4%</a:t>
            </a:r>
            <a:endParaRPr lang="en-US" sz="1400" dirty="0"/>
          </a:p>
        </p:txBody>
      </p:sp>
      <p:sp>
        <p:nvSpPr>
          <p:cNvPr id="26" name="Text 22"/>
          <p:cNvSpPr txBox="1"/>
          <p:nvPr/>
        </p:nvSpPr>
        <p:spPr>
          <a:xfrm>
            <a:off x="2880360" y="5897880"/>
            <a:ext cx="2011680" cy="365760"/>
          </a:xfrm>
          <a:prstGeom prst="rect">
            <a:avLst/>
          </a:prstGeom>
          <a:noFill/>
          <a:ln/>
        </p:spPr>
        <p:txBody>
          <a:bodyPr wrap="square" lIns="0" tIns="0" rIns="0" bIns="0" rtlCol="0" anchor="t"/>
          <a:lstStyle/>
          <a:p>
            <a:pPr marL="0" indent="0">
              <a:buNone/>
            </a:pPr>
            <a:r>
              <a:rPr lang="en-US" sz="950">
                <a:solidFill>
                  <a:schemeClr val="accent4"/>
                </a:solidFill>
              </a:rPr>
              <a:t>+50 bps 6.0 </a:t>
            </a:r>
            <a:r>
              <a:rPr lang="en-US" sz="950" dirty="0">
                <a:solidFill>
                  <a:schemeClr val="accent4"/>
                </a:solidFill>
              </a:rPr>
              <a:t>→ 7.7; no change 70.9 → 67.6; cuts 3.0 → 2.3</a:t>
            </a:r>
            <a:endParaRPr lang="en-US" sz="95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 lean hawkish ·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extLst>
      <p:ext uri="{BB962C8B-B14F-4D97-AF65-F5344CB8AC3E}">
        <p14:creationId xmlns:p14="http://schemas.microsoft.com/office/powerpoint/2010/main" val="20675373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Write down three or four candidate weight sets now (for example market 0.6 / 0.5 / 0.7 with the rest redistributed). Score every set on every live decision with the same log score and Brier. The live set changes only by amendment, on that record. Weights stop being judgement without ever being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lean.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not the data the models read. A watch-out agent that scans for bank failures, funding stress and market dislocations and raises a typed watch-out every analyst must answer.</a:t>
            </a:r>
            <a:endParaRPr lang="en-US" sz="1000"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 second model family</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probit's successor: features written down before fitting, a regularised ordinal model, a reliability check beside the log score, and the expanding window as the only judge. A regularised boosted model as one pre-registered candidate. About 130 usable decisions, 68% holds: small models, honestly tested, not big ones.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18</a:t>
            </a:fld>
            <a:endParaRPr lang="en-US"/>
          </a:p>
        </p:txBody>
      </p:sp>
    </p:spTree>
    <p:extLst>
      <p:ext uri="{BB962C8B-B14F-4D97-AF65-F5344CB8AC3E}">
        <p14:creationId xmlns:p14="http://schemas.microsoft.com/office/powerpoint/2010/main" val="7522578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score because they output a score,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the analysts' score moves 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1. The score</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Why it stops at 10: ten points is the most any single input may move the number, the same cap a human view has. A range of −100 to +100 would let the analysts write the number; the design lets them shift it, never write it.</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Five scores, one vote each, 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the mean score's 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 mean score +4.0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468112"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bucket number) ÷ 1.0486, the rescaling total. Exactly 4.00 points crossed; the after column is the machine forecast recorded as entry #18. The cruder alternative, taking all 4 points from no change and giving them to +25, is easier to say and would be amendment #9 if preferred.</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extLst>
      <p:ext uri="{BB962C8B-B14F-4D97-AF65-F5344CB8AC3E}">
        <p14:creationId xmlns:p14="http://schemas.microsoft.com/office/powerpoint/2010/main" val="22728624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46811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dirty="0">
                <a:solidFill>
                  <a:schemeClr val="tx1"/>
                </a:solidFill>
              </a:rPr>
              <a:t>About 130 scheduled decisions with full features, roughly 250 in all; 68% are holds and the cuts cluster in three short episodes. On a sample that small and that unbalanced a boosted tree or a random forest memorises the episodes and a calibration curve on a few dozen non-hold cases is noise. The route is a better-specified small model: features written down before fitting, heavy regularisation, a reliability check beside the log score, the expanding window as the only judge. A regularised boosted model can be one pre-registered candidate, judged the same way.</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742894264"/>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TotalTime>
  <Words>7155</Words>
  <Application>Microsoft Office PowerPoint</Application>
  <PresentationFormat>Widescreen</PresentationFormat>
  <Paragraphs>568</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Cambria</vt:lpstr>
      <vt:lpstr>Courier New</vt:lpstr>
      <vt:lpstr>FedCast</vt:lpstr>
      <vt:lpstr>FedCast</vt:lpstr>
      <vt:lpstr>About me</vt:lpstr>
      <vt:lpstr>The question, the answer, and what happened</vt:lpstr>
      <vt:lpstr>Live demo 1: the forecast</vt:lpstr>
      <vt:lpstr>Four kinds of signal, and where FedCast sits</vt:lpstr>
      <vt:lpstr>Why this approach ?</vt:lpstr>
      <vt:lpstr>Model Architecture</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score moves the number</vt:lpstr>
      <vt:lpstr>Appendix: the ordered probit, and why it sits at weight 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2026-10-29T16:56:51Z</dcterms:modified>
</cp:coreProperties>
</file>