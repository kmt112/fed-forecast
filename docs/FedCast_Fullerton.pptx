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82" r:id="rId4"/>
    <p:sldId id="284" r:id="rId5"/>
    <p:sldId id="259" r:id="rId6"/>
    <p:sldId id="261" r:id="rId7"/>
    <p:sldId id="260" r:id="rId8"/>
    <p:sldId id="281" r:id="rId9"/>
    <p:sldId id="263" r:id="rId10"/>
    <p:sldId id="264" r:id="rId11"/>
    <p:sldId id="283" r:id="rId12"/>
    <p:sldId id="266" r:id="rId13"/>
    <p:sldId id="268" r:id="rId14"/>
    <p:sldId id="269" r:id="rId15"/>
    <p:sldId id="267" r:id="rId16"/>
    <p:sldId id="271" r:id="rId17"/>
    <p:sldId id="273" r:id="rId18"/>
    <p:sldId id="274" r:id="rId19"/>
    <p:sldId id="275" r:id="rId20"/>
    <p:sldId id="276" r:id="rId21"/>
    <p:sldId id="277" r:id="rId22"/>
    <p:sldId id="278" r:id="rId23"/>
    <p:sldId id="279"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 id="282"/>
            <p14:sldId id="284"/>
          </p14:sldIdLst>
        </p14:section>
        <p14:section name="Objective" id="{A15A7BD8-DE7C-6B45-BFCB-6F6BC3F0EA31}">
          <p14:sldIdLst>
            <p14:sldId id="259"/>
            <p14:sldId id="261"/>
            <p14:sldId id="260"/>
            <p14:sldId id="281"/>
          </p14:sldIdLst>
        </p14:section>
        <p14:section name="How it works" id="{51E39E62-D42A-5461-E95E-6B45ACE96CC0}">
          <p14:sldIdLst>
            <p14:sldId id="263"/>
            <p14:sldId id="264"/>
            <p14:sldId id="283"/>
          </p14:sldIdLst>
        </p14:section>
        <p14:section name="The harness" id="{92928B70-AC41-17EA-8015-68E5296D82D9}">
          <p14:sldIdLst>
            <p14:sldId id="266"/>
            <p14:sldId id="268"/>
          </p14:sldIdLst>
        </p14:section>
        <p14:section name="Evidence" id="{5A3B821E-E9C2-E8B2-83B3-FA9E97777045}">
          <p14:sldIdLst>
            <p14:sldId id="269"/>
            <p14:sldId id="267"/>
            <p14:sldId id="271"/>
            <p14:sldId id="273"/>
            <p14:sldId id="274"/>
            <p14:sldId id="275"/>
          </p14:sldIdLst>
        </p14:section>
        <p14:section name="Limits and next" id="{A86175A9-6A09-739A-6218-CDC852B09B1B}">
          <p14:sldIdLst>
            <p14:sldId id="276"/>
          </p14:sldIdLst>
        </p14:section>
        <p14:section name="Backup" id="{C779AD3C-958E-9E55-6CE0-CB67D10A91C1}">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2615" autoAdjust="0"/>
  </p:normalViewPr>
  <p:slideViewPr>
    <p:cSldViewPr snapToGrid="0" snapToObjects="1">
      <p:cViewPr varScale="1">
        <p:scale>
          <a:sx n="99" d="100"/>
          <a:sy n="99"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a decision was made, here is how we called it, why we built the tool this way, how the number is put together, what the language model is allowed to do and how we prove it behaves, and what comes next. Six stops, with the app opened between them.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91336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three points: where the numbers come from, the pool of classic models, the LLM analysts on top. Right, three points: we hit the target but so did the market and the odds, and we do not claim to beat them at five weeks; the LLM analysts got the direction right, and the table shows each one's opinion against the vote; every reason is a quote found in the evidence, and one decision proves little, so the scoring is formal and the rest of the talk is about process.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94709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signal exist already; each is good at one thing. Market prices are the best single predictor at thirty days and are the anchor of the pool. Surveys carry judgement; FedCast takes the data the committee reads instead, as history and a fitted model. The rules are the Fed's own benchmarks. The LLM papers show a model can read the Fed, on sixteen meetings. FedCast's claim is not a better guess but the combination: one of each kind, pooled by code at fixed weights, every number traceable to frozen evidence.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the first is the one to land. Eight decisions a year cannot tell skill from luck, so we judge the process with a scorecard fixed before any code. Second, auditable means concrete: an analyst that says inflation is elevated must quote the line it read and code must find it. Third, because everything is quotable and the analysts can read only the evidence, a wrong call is a traceable wrong call, and because the harness is repeatable it goes wrong the same way every time, so a fix can be tested and stays fixed. Details later in the deck: the ladder, the scorecard, the drift table.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diagram from the brief. Four families of input, combined by code with fixed, published weights; no model writes the number. The language-model family enters only as a bounded opinion. Right: the chain in order, each line a view in the app. Walk the diagram first, then the chain.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03683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Entry 18, the final one before the meeting. The pool is a weighted average, then the floor. The specialists</a:t>
            </a:r>
            <a:r>
              <a:rPr lang="en-US"/>
              <a:t>' mean score of +4.0 is 4.0 points of probability </a:t>
            </a:r>
            <a:r>
              <a:rPr lang="en-US" dirty="0"/>
              <a:t>moved toward a hike, through the same capped mechanism a human view uses</a:t>
            </a:r>
            <a:r>
              <a:rPr lang="en-US"/>
              <a:t>. The opinion </a:t>
            </a:r>
            <a:r>
              <a:rPr lang="en-US" dirty="0"/>
              <a:t>row is tinted and labelled 'after pooling': it is a modifier on the pooled number, not a model in the pool. Then the footer: the weights are judgement, logged; ideally they would be backtested, but there is no live record yet, so live scores from 28 October onward decide them by amendment.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a language model cannot be made to stop doing: it remembers, it varies between runs, and it can invent support. None is removed; each is designed around. The proof is on the harness slide later.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513366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the same frozen evidence, eight configurations. Left: analysts 1 to 3 are controls, drawn grey and dashed; they never enter the number. Right: the five specialists that do. Every analyst runs five times on the same snapshot; for 1 to 3 those runs build the benchmark 4 to 8 are measured against. Analyst 1 sets the baseline (variance, numbers from memory, nothing quoted); 2 tests what immutable evidence fixes; 3 tests the answer shape and code verification. Each rung adds one thing, so the change in the measurements is the value of that thing.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charts, one per dimension, averaged over the four snapshots. Left: how much the answer moves between identical runs. The step that matters is analyst 2 to analyst 3: the answer shape and the verifier take the wobble from three and a half points to under one. Middle: numbers from memory, gone as soon as the evidence is shown. Right: share of claims whose quote code found verbatim; analyst 2 cannot be measured because it quotes nothing. The specialists keep what analyst 3 achieved. For analysts 3 to 8 the wobble is </a:t>
            </a:r>
            <a:r>
              <a:rPr lang="en-US"/>
              <a:t>in their opinion, which is already in points of probability, </a:t>
            </a:r>
            <a:r>
              <a:rPr lang="en-US" dirty="0"/>
              <a:t>so the four bars are comparable.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of method, then the outcome. Each specialist runs five times on the same frozen snapshot; the five answers must sit within the variance pass mark, every claim must carry a quote code finds, and no number may come from memory. Only then </a:t>
            </a:r>
            <a:r>
              <a:rPr lang="en-US"/>
              <a:t>does the opinion count. </a:t>
            </a:r>
            <a:r>
              <a:rPr lang="en-US" dirty="0"/>
              <a:t>The band is the 28 October run; bottom left is what the five said and what it did to the number; bottom right is one claim as recorded, with the quote code found.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a quote comes from, open the statement claim on analyst 4: the quote is the statement's own line, found by code in item fed.statement.2026-09-16.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follow-ups, in order of value. One: pre-registered weight sets scored on every live decision, so the weights stop being judgement. Two: reasoning quality graded by people in the app, which becomes the tenth measured dimension and a gate. Three: an events agent for the regime shifts the models cannot read. Four: a second model family to show the harness, not the model, does the work. Five: other central banks; the chain needs a calendar, a rate series, the statements and a curve, and the scorecard transfers unchanged. Six: better classical models, judged by the expanding window only.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an evolution. Analyst 1 wobbles by three to five points between identical runs, cites nothing, and leaks three dozen numbers from memory; it still thinks the Fed is cutting. Adding the evidence (analyst 2) removes the leaks but not the wobble, and nothing can be checked. Adding the answer shape and the verifier (analyst 3) is the step that makes the output stable and fully verifiable. Specialists (4 to 8) keep that and add attribution. Same model, same day; the difference at each step is the one thing added.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The score: already in points of probability, capped at 10 like a human view. The average: one vote each. The spread: the points leave every bucket on the hold-or-cut side and land on both hike buckets, in proportion to size and distance from the middle, so the shape of the distribution is kept and nothing goes to zero.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717277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quant side's own test. A first ordered probit, spec frozen before fitting, failed its out-of-sample gate and was reported, not tuned. A second version beats the base rate on the expanding window but was specified after seeing the first fail, so it carries a contamination caveat and waits for live decisions. The base rates, which need no fitting, beat the fitted model and are the yardstick. Below: why no gradient-boosted anything.</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9494271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we will cover</a:t>
            </a:r>
            <a:endParaRPr lang="en-US" sz="3200" dirty="0"/>
          </a:p>
        </p:txBody>
      </p:sp>
      <p:sp>
        <p:nvSpPr>
          <p:cNvPr id="4" name="Shape 1"/>
          <p:cNvSpPr/>
          <p:nvPr/>
        </p:nvSpPr>
        <p:spPr>
          <a:xfrm>
            <a:off x="1014984" y="1600200"/>
            <a:ext cx="0" cy="4343400"/>
          </a:xfrm>
          <a:prstGeom prst="line">
            <a:avLst/>
          </a:prstGeom>
          <a:noFill/>
          <a:ln w="38100">
            <a:solidFill>
              <a:srgbClr val="CADCFC"/>
            </a:solidFill>
            <a:prstDash val="solid"/>
          </a:ln>
        </p:spPr>
        <p:txBody>
          <a:bodyPr/>
          <a:lstStyle/>
          <a:p>
            <a:endParaRPr lang="en-US"/>
          </a:p>
        </p:txBody>
      </p:sp>
      <p:sp>
        <p:nvSpPr>
          <p:cNvPr id="5" name="Shape 2"/>
          <p:cNvSpPr/>
          <p:nvPr/>
        </p:nvSpPr>
        <p:spPr>
          <a:xfrm>
            <a:off x="822960" y="1490472"/>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463040" y="14173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question, and what happened</a:t>
            </a:r>
            <a:endParaRPr lang="en-US" sz="1600" dirty="0"/>
          </a:p>
        </p:txBody>
      </p:sp>
      <p:sp>
        <p:nvSpPr>
          <p:cNvPr id="8" name="Text 5"/>
          <p:cNvSpPr txBox="1"/>
          <p:nvPr/>
        </p:nvSpPr>
        <p:spPr>
          <a:xfrm>
            <a:off x="5120640" y="1435608"/>
            <a:ext cx="6519672" cy="777240"/>
          </a:xfrm>
          <a:prstGeom prst="rect">
            <a:avLst/>
          </a:prstGeom>
          <a:noFill/>
          <a:ln/>
        </p:spPr>
        <p:txBody>
          <a:bodyPr wrap="square" lIns="0" tIns="0" rIns="0" bIns="0" rtlCol="0" anchor="ctr"/>
          <a:lstStyle/>
          <a:p>
            <a:pPr marL="0" indent="0">
              <a:buNone/>
            </a:pPr>
            <a:r>
              <a:rPr lang="en-US" sz="1150" dirty="0">
                <a:solidFill>
                  <a:schemeClr val="tx1"/>
                </a:solidFill>
              </a:rPr>
              <a:t>The 28 October decision, our final number before it, and what the outcome says. The app: the forecast as it stands today.</a:t>
            </a:r>
            <a:endParaRPr lang="en-US" sz="1150" dirty="0"/>
          </a:p>
        </p:txBody>
      </p:sp>
      <p:sp>
        <p:nvSpPr>
          <p:cNvPr id="9" name="Shape 6"/>
          <p:cNvSpPr/>
          <p:nvPr/>
        </p:nvSpPr>
        <p:spPr>
          <a:xfrm>
            <a:off x="822960" y="2359152"/>
            <a:ext cx="384048" cy="384048"/>
          </a:xfrm>
          <a:prstGeom prst="ellipse">
            <a:avLst/>
          </a:prstGeom>
          <a:solidFill>
            <a:srgbClr val="1E2761"/>
          </a:solidFill>
          <a:ln w="12700">
            <a:solidFill>
              <a:srgbClr val="1E2761"/>
            </a:solidFill>
            <a:prstDash val="solid"/>
          </a:ln>
        </p:spPr>
        <p:txBody>
          <a:bodyPr/>
          <a:lstStyle/>
          <a:p>
            <a:endParaRPr lang="en-US"/>
          </a:p>
        </p:txBody>
      </p:sp>
      <p:sp>
        <p:nvSpPr>
          <p:cNvPr id="10" name="Text 7"/>
          <p:cNvSpPr txBox="1"/>
          <p:nvPr/>
        </p:nvSpPr>
        <p:spPr>
          <a:xfrm>
            <a:off x="822960" y="23591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 8"/>
          <p:cNvSpPr txBox="1"/>
          <p:nvPr/>
        </p:nvSpPr>
        <p:spPr>
          <a:xfrm>
            <a:off x="1463040" y="228600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Why this approach</a:t>
            </a:r>
            <a:endParaRPr lang="en-US" sz="1600" dirty="0"/>
          </a:p>
        </p:txBody>
      </p:sp>
      <p:sp>
        <p:nvSpPr>
          <p:cNvPr id="12" name="Text 9"/>
          <p:cNvSpPr txBox="1"/>
          <p:nvPr/>
        </p:nvSpPr>
        <p:spPr>
          <a:xfrm>
            <a:off x="5120640" y="2304288"/>
            <a:ext cx="6519672" cy="777240"/>
          </a:xfrm>
          <a:prstGeom prst="rect">
            <a:avLst/>
          </a:prstGeom>
          <a:noFill/>
          <a:ln/>
        </p:spPr>
        <p:txBody>
          <a:bodyPr wrap="square" lIns="0" tIns="0" rIns="0" bIns="0" rtlCol="0" anchor="ctr"/>
          <a:lstStyle/>
          <a:p>
            <a:pPr marL="0" indent="0">
              <a:buNone/>
            </a:pPr>
            <a:r>
              <a:rPr lang="en-US" sz="1150" dirty="0">
                <a:solidFill>
                  <a:schemeClr val="tx1"/>
                </a:solidFill>
              </a:rPr>
              <a:t>Four kinds of signal already exist; where FedCast sits among them, and the three reasons we built it this way.</a:t>
            </a:r>
            <a:endParaRPr lang="en-US" sz="1150" dirty="0"/>
          </a:p>
        </p:txBody>
      </p:sp>
      <p:sp>
        <p:nvSpPr>
          <p:cNvPr id="13" name="Shape 10"/>
          <p:cNvSpPr/>
          <p:nvPr/>
        </p:nvSpPr>
        <p:spPr>
          <a:xfrm>
            <a:off x="822960" y="3227832"/>
            <a:ext cx="384048" cy="384048"/>
          </a:xfrm>
          <a:prstGeom prst="ellipse">
            <a:avLst/>
          </a:prstGeom>
          <a:solidFill>
            <a:srgbClr val="1E2761"/>
          </a:solidFill>
          <a:ln w="12700">
            <a:solidFill>
              <a:srgbClr val="1E2761"/>
            </a:solidFill>
            <a:prstDash val="solid"/>
          </a:ln>
        </p:spPr>
        <p:txBody>
          <a:bodyPr/>
          <a:lstStyle/>
          <a:p>
            <a:endParaRPr lang="en-US"/>
          </a:p>
        </p:txBody>
      </p:sp>
      <p:sp>
        <p:nvSpPr>
          <p:cNvPr id="14" name="Text 11"/>
          <p:cNvSpPr txBox="1"/>
          <p:nvPr/>
        </p:nvSpPr>
        <p:spPr>
          <a:xfrm>
            <a:off x="822960" y="322783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2"/>
          <p:cNvSpPr txBox="1"/>
          <p:nvPr/>
        </p:nvSpPr>
        <p:spPr>
          <a:xfrm>
            <a:off x="1463040" y="315468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the number is built</a:t>
            </a:r>
            <a:endParaRPr lang="en-US" sz="1600" dirty="0"/>
          </a:p>
        </p:txBody>
      </p:sp>
      <p:sp>
        <p:nvSpPr>
          <p:cNvPr id="16" name="Text 13"/>
          <p:cNvSpPr txBox="1"/>
          <p:nvPr/>
        </p:nvSpPr>
        <p:spPr>
          <a:xfrm>
            <a:off x="5120640" y="3172968"/>
            <a:ext cx="6519672" cy="777240"/>
          </a:xfrm>
          <a:prstGeom prst="rect">
            <a:avLst/>
          </a:prstGeom>
          <a:noFill/>
          <a:ln/>
        </p:spPr>
        <p:txBody>
          <a:bodyPr wrap="square" lIns="0" tIns="0" rIns="0" bIns="0" rtlCol="0" anchor="ctr"/>
          <a:lstStyle/>
          <a:p>
            <a:pPr marL="0" indent="0">
              <a:buNone/>
            </a:pPr>
            <a:r>
              <a:rPr lang="en-US" sz="1150" dirty="0">
                <a:solidFill>
                  <a:schemeClr val="tx1"/>
                </a:solidFill>
              </a:rPr>
              <a:t>Four families of input pooled by code at fixed weights, and the arithmetic from five models to one number. The app: the evidence graph and the pool.</a:t>
            </a:r>
            <a:endParaRPr lang="en-US" sz="1150" dirty="0"/>
          </a:p>
        </p:txBody>
      </p:sp>
      <p:sp>
        <p:nvSpPr>
          <p:cNvPr id="17" name="Shape 14"/>
          <p:cNvSpPr/>
          <p:nvPr/>
        </p:nvSpPr>
        <p:spPr>
          <a:xfrm>
            <a:off x="822960" y="40965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8" name="Text 15"/>
          <p:cNvSpPr txBox="1"/>
          <p:nvPr/>
        </p:nvSpPr>
        <p:spPr>
          <a:xfrm>
            <a:off x="822960" y="40965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9" name="Text 16"/>
          <p:cNvSpPr txBox="1"/>
          <p:nvPr/>
        </p:nvSpPr>
        <p:spPr>
          <a:xfrm>
            <a:off x="1463040" y="402336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LLM analysts</a:t>
            </a:r>
            <a:endParaRPr lang="en-US" sz="1600" dirty="0"/>
          </a:p>
        </p:txBody>
      </p:sp>
      <p:sp>
        <p:nvSpPr>
          <p:cNvPr id="20" name="Text 17"/>
          <p:cNvSpPr txBox="1"/>
          <p:nvPr/>
        </p:nvSpPr>
        <p:spPr>
          <a:xfrm>
            <a:off x="5120640" y="4041648"/>
            <a:ext cx="6519672" cy="777240"/>
          </a:xfrm>
          <a:prstGeom prst="rect">
            <a:avLst/>
          </a:prstGeom>
          <a:noFill/>
          <a:ln/>
        </p:spPr>
        <p:txBody>
          <a:bodyPr wrap="square" lIns="0" tIns="0" rIns="0" bIns="0" rtlCol="0" anchor="ctr"/>
          <a:lstStyle/>
          <a:p>
            <a:pPr marL="0" indent="0">
              <a:buNone/>
            </a:pPr>
            <a:r>
              <a:rPr lang="en-US" sz="1150" dirty="0">
                <a:solidFill>
                  <a:schemeClr val="tx1"/>
                </a:solidFill>
              </a:rPr>
              <a:t>What a language model cannot stop doing and how the harness works around it; the eight analysts; what each is asked and what it returned. The app: the prompts and the results.</a:t>
            </a:r>
            <a:endParaRPr lang="en-US" sz="1150" dirty="0"/>
          </a:p>
        </p:txBody>
      </p:sp>
      <p:sp>
        <p:nvSpPr>
          <p:cNvPr id="21" name="Shape 18"/>
          <p:cNvSpPr/>
          <p:nvPr/>
        </p:nvSpPr>
        <p:spPr>
          <a:xfrm>
            <a:off x="822960" y="496519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822960" y="496519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3" name="Text 20"/>
          <p:cNvSpPr txBox="1"/>
          <p:nvPr/>
        </p:nvSpPr>
        <p:spPr>
          <a:xfrm>
            <a:off x="1463040" y="489204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good is the harness</a:t>
            </a:r>
            <a:endParaRPr lang="en-US" sz="1600" dirty="0"/>
          </a:p>
        </p:txBody>
      </p:sp>
      <p:sp>
        <p:nvSpPr>
          <p:cNvPr id="24" name="Text 21"/>
          <p:cNvSpPr txBox="1"/>
          <p:nvPr/>
        </p:nvSpPr>
        <p:spPr>
          <a:xfrm>
            <a:off x="5120640" y="4910328"/>
            <a:ext cx="6519672" cy="777240"/>
          </a:xfrm>
          <a:prstGeom prst="rect">
            <a:avLst/>
          </a:prstGeom>
          <a:noFill/>
          <a:ln/>
        </p:spPr>
        <p:txBody>
          <a:bodyPr wrap="square" lIns="0" tIns="0" rIns="0" bIns="0" rtlCol="0" anchor="ctr"/>
          <a:lstStyle/>
          <a:p>
            <a:pPr marL="0" indent="0">
              <a:buNone/>
            </a:pPr>
            <a:r>
              <a:rPr lang="en-US" sz="1150" dirty="0">
                <a:solidFill>
                  <a:schemeClr val="tx1"/>
                </a:solidFill>
              </a:rPr>
              <a:t>What each step of the harness bought, measured on four snapshots. The app: the scorecard, the drift table, the ledger and replay.</a:t>
            </a:r>
            <a:endParaRPr lang="en-US" sz="1150" dirty="0"/>
          </a:p>
        </p:txBody>
      </p:sp>
      <p:sp>
        <p:nvSpPr>
          <p:cNvPr id="25" name="Shape 22"/>
          <p:cNvSpPr/>
          <p:nvPr/>
        </p:nvSpPr>
        <p:spPr>
          <a:xfrm>
            <a:off x="822960" y="5833872"/>
            <a:ext cx="384048" cy="384048"/>
          </a:xfrm>
          <a:prstGeom prst="ellipse">
            <a:avLst/>
          </a:prstGeom>
          <a:solidFill>
            <a:srgbClr val="1E2761"/>
          </a:solidFill>
          <a:ln w="12700">
            <a:solidFill>
              <a:srgbClr val="1E2761"/>
            </a:solidFill>
            <a:prstDash val="solid"/>
          </a:ln>
        </p:spPr>
        <p:txBody>
          <a:bodyPr/>
          <a:lstStyle/>
          <a:p>
            <a:endParaRPr lang="en-US"/>
          </a:p>
        </p:txBody>
      </p:sp>
      <p:sp>
        <p:nvSpPr>
          <p:cNvPr id="26" name="Text 23"/>
          <p:cNvSpPr txBox="1"/>
          <p:nvPr/>
        </p:nvSpPr>
        <p:spPr>
          <a:xfrm>
            <a:off x="822960" y="58338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27" name="Text 24"/>
          <p:cNvSpPr txBox="1"/>
          <p:nvPr/>
        </p:nvSpPr>
        <p:spPr>
          <a:xfrm>
            <a:off x="1463040" y="57607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What comes next</a:t>
            </a:r>
            <a:endParaRPr lang="en-US" sz="1600" dirty="0"/>
          </a:p>
        </p:txBody>
      </p:sp>
      <p:sp>
        <p:nvSpPr>
          <p:cNvPr id="28" name="Text 25"/>
          <p:cNvSpPr txBox="1"/>
          <p:nvPr/>
        </p:nvSpPr>
        <p:spPr>
          <a:xfrm>
            <a:off x="5120640" y="5779008"/>
            <a:ext cx="6519672" cy="777240"/>
          </a:xfrm>
          <a:prstGeom prst="rect">
            <a:avLst/>
          </a:prstGeom>
          <a:noFill/>
          <a:ln/>
        </p:spPr>
        <p:txBody>
          <a:bodyPr wrap="square" lIns="0" tIns="0" rIns="0" bIns="0" rtlCol="0" anchor="ctr"/>
          <a:lstStyle/>
          <a:p>
            <a:pPr marL="0" indent="0">
              <a:buNone/>
            </a:pPr>
            <a:r>
              <a:rPr lang="en-US" sz="1150" dirty="0">
                <a:solidFill>
                  <a:schemeClr val="tx1"/>
                </a:solidFill>
              </a:rPr>
              <a:t>Six follow-ups in order of value. Appendix: how the analysts' opinion moves the number; the probit.</a:t>
            </a:r>
            <a:endParaRPr lang="en-US" sz="11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3836837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37160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37160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1284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2926080"/>
            <a:ext cx="5394960"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3" name="Text 10"/>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400" b="1" dirty="0">
                <a:solidFill>
                  <a:schemeClr val="tx2"/>
                </a:solidFill>
              </a:rPr>
              <a:t>How the number was made</a:t>
            </a:r>
            <a:endParaRPr lang="en-US" sz="1400" dirty="0"/>
          </a:p>
        </p:txBody>
      </p:sp>
      <p:sp>
        <p:nvSpPr>
          <p:cNvPr id="14" name="Text 11"/>
          <p:cNvSpPr txBox="1"/>
          <p:nvPr/>
        </p:nvSpPr>
        <p:spPr>
          <a:xfrm>
            <a:off x="777240" y="34015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Evidence</a:t>
            </a:r>
            <a:endParaRPr lang="en-US" sz="1150" dirty="0"/>
          </a:p>
        </p:txBody>
      </p:sp>
      <p:sp>
        <p:nvSpPr>
          <p:cNvPr id="15" name="Text 12"/>
          <p:cNvSpPr txBox="1"/>
          <p:nvPr/>
        </p:nvSpPr>
        <p:spPr>
          <a:xfrm>
            <a:off x="777240" y="3657600"/>
            <a:ext cx="4937760" cy="658368"/>
          </a:xfrm>
          <a:prstGeom prst="rect">
            <a:avLst/>
          </a:prstGeom>
          <a:noFill/>
          <a:ln/>
        </p:spPr>
        <p:txBody>
          <a:bodyPr wrap="square" lIns="0" tIns="0" rIns="0" bIns="0" rtlCol="0" anchor="t"/>
          <a:lstStyle/>
          <a:p>
            <a:pPr marL="0" indent="0">
              <a:buNone/>
            </a:pPr>
            <a:r>
              <a:rPr lang="en-US" sz="1000" dirty="0">
                <a:solidFill>
                  <a:schemeClr val="tx1"/>
                </a:solidFill>
              </a:rPr>
              <a:t>23 items frozen on 28 October: futures, eight FRED series as first published, both statements, minutes, transcript, projections, speeches, 32 years of decisions, the NY Fed natural rate, prediction-market odds.</a:t>
            </a:r>
            <a:endParaRPr lang="en-US" sz="1000" dirty="0"/>
          </a:p>
        </p:txBody>
      </p:sp>
      <p:sp>
        <p:nvSpPr>
          <p:cNvPr id="16" name="Text 13"/>
          <p:cNvSpPr txBox="1"/>
          <p:nvPr/>
        </p:nvSpPr>
        <p:spPr>
          <a:xfrm>
            <a:off x="777240" y="43159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Classic models, pooled by code</a:t>
            </a:r>
            <a:endParaRPr lang="en-US" sz="1150" dirty="0"/>
          </a:p>
        </p:txBody>
      </p:sp>
      <p:sp>
        <p:nvSpPr>
          <p:cNvPr id="17" name="Text 14"/>
          <p:cNvSpPr txBox="1"/>
          <p:nvPr/>
        </p:nvSpPr>
        <p:spPr>
          <a:xfrm>
            <a:off x="777240" y="4572000"/>
            <a:ext cx="4937760" cy="658368"/>
          </a:xfrm>
          <a:prstGeom prst="rect">
            <a:avLst/>
          </a:prstGeom>
          <a:noFill/>
          <a:ln/>
        </p:spPr>
        <p:txBody>
          <a:bodyPr wrap="square" lIns="0" tIns="0" rIns="0" bIns="0" rtlCol="0" anchor="t"/>
          <a:lstStyle/>
          <a:p>
            <a:pPr marL="0" indent="0">
              <a:buNone/>
            </a:pPr>
            <a:r>
              <a:rPr lang="en-US" sz="1000" dirty="0">
                <a:solidFill>
                  <a:schemeClr val="tx1"/>
                </a:solidFill>
              </a:rPr>
              <a:t>Futures-implied 0.6, the Fed's Taylor rules 0.2, prediction-market odds 0.1, historical base rates 0.1; a 1.5% floor on every outcome. Pooled: no change 70.9%, hike 26.2%.</a:t>
            </a:r>
            <a:endParaRPr lang="en-US" sz="1000" dirty="0"/>
          </a:p>
        </p:txBody>
      </p:sp>
      <p:sp>
        <p:nvSpPr>
          <p:cNvPr id="18" name="Text 15"/>
          <p:cNvSpPr txBox="1"/>
          <p:nvPr/>
        </p:nvSpPr>
        <p:spPr>
          <a:xfrm>
            <a:off x="777240" y="52303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LLM analysts on top</a:t>
            </a:r>
            <a:endParaRPr lang="en-US" sz="1150" dirty="0"/>
          </a:p>
        </p:txBody>
      </p:sp>
      <p:sp>
        <p:nvSpPr>
          <p:cNvPr id="19" name="Text 16"/>
          <p:cNvSpPr txBox="1"/>
          <p:nvPr/>
        </p:nvSpPr>
        <p:spPr>
          <a:xfrm>
            <a:off x="777240" y="5486400"/>
            <a:ext cx="4937760" cy="658368"/>
          </a:xfrm>
          <a:prstGeom prst="rect">
            <a:avLst/>
          </a:prstGeom>
          <a:noFill/>
          <a:ln/>
        </p:spPr>
        <p:txBody>
          <a:bodyPr wrap="square" lIns="0" tIns="0" rIns="0" bIns="0" rtlCol="0" anchor="t"/>
          <a:lstStyle/>
          <a:p>
            <a:pPr marL="0" indent="0">
              <a:buNone/>
            </a:pPr>
            <a:r>
              <a:rPr lang="en-US" sz="1000" dirty="0">
                <a:solidFill>
                  <a:schemeClr val="tx1"/>
                </a:solidFill>
              </a:rPr>
              <a:t>Five specialists read the Fed's words; every claim quoted and verified by code. Their mean opinion, +4.0, moves 4 points toward a hike: no change 67.6%, +25 bps 22.4%, +50 bps 7.7%.</a:t>
            </a:r>
            <a:endParaRPr lang="en-US" sz="1000" dirty="0"/>
          </a:p>
        </p:txBody>
      </p:sp>
      <p:sp>
        <p:nvSpPr>
          <p:cNvPr id="20" name="Shape 17"/>
          <p:cNvSpPr/>
          <p:nvPr/>
        </p:nvSpPr>
        <p:spPr>
          <a:xfrm>
            <a:off x="6172200" y="2926080"/>
            <a:ext cx="5468112"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1" name="Text 18"/>
          <p:cNvSpPr txBox="1"/>
          <p:nvPr/>
        </p:nvSpPr>
        <p:spPr>
          <a:xfrm>
            <a:off x="6400800" y="3035808"/>
            <a:ext cx="5010912" cy="320040"/>
          </a:xfrm>
          <a:prstGeom prst="rect">
            <a:avLst/>
          </a:prstGeom>
          <a:noFill/>
          <a:ln/>
        </p:spPr>
        <p:txBody>
          <a:bodyPr wrap="square" lIns="0" tIns="0" rIns="0" bIns="0" rtlCol="0" anchor="t"/>
          <a:lstStyle/>
          <a:p>
            <a:pPr marL="0" indent="0">
              <a:buNone/>
            </a:pPr>
            <a:r>
              <a:rPr lang="en-US" sz="1400" b="1" dirty="0">
                <a:solidFill>
                  <a:schemeClr val="tx2"/>
                </a:solidFill>
              </a:rPr>
              <a:t>What the outcome says</a:t>
            </a:r>
            <a:endParaRPr lang="en-US" sz="1400" dirty="0"/>
          </a:p>
        </p:txBody>
      </p:sp>
      <p:sp>
        <p:nvSpPr>
          <p:cNvPr id="22" name="Text 19"/>
          <p:cNvSpPr txBox="1"/>
          <p:nvPr/>
        </p:nvSpPr>
        <p:spPr>
          <a:xfrm>
            <a:off x="6400800" y="3401568"/>
            <a:ext cx="5010912" cy="457200"/>
          </a:xfrm>
          <a:prstGeom prst="rect">
            <a:avLst/>
          </a:prstGeom>
          <a:noFill/>
          <a:ln/>
        </p:spPr>
        <p:txBody>
          <a:bodyPr wrap="square" lIns="0" tIns="0" rIns="0" bIns="0" rtlCol="0" anchor="t"/>
          <a:lstStyle/>
          <a:p>
            <a:pPr marL="0" indent="0">
              <a:buNone/>
            </a:pPr>
            <a:r>
              <a:rPr lang="en-US" sz="1000" dirty="0">
                <a:solidFill>
                  <a:schemeClr val="tx1"/>
                </a:solidFill>
              </a:rPr>
              <a:t>1. We hit the target. So did the market (90/10) and the odds (95/5); at five weeks we do not claim to beat them.</a:t>
            </a:r>
            <a:endParaRPr lang="en-US" sz="1000" dirty="0"/>
          </a:p>
        </p:txBody>
      </p:sp>
      <p:sp>
        <p:nvSpPr>
          <p:cNvPr id="23" name="Text 20"/>
          <p:cNvSpPr txBox="1"/>
          <p:nvPr/>
        </p:nvSpPr>
        <p:spPr>
          <a:xfrm>
            <a:off x="6400800" y="3840480"/>
            <a:ext cx="5010912" cy="256032"/>
          </a:xfrm>
          <a:prstGeom prst="rect">
            <a:avLst/>
          </a:prstGeom>
          <a:noFill/>
          <a:ln/>
        </p:spPr>
        <p:txBody>
          <a:bodyPr wrap="square" lIns="0" tIns="0" rIns="0" bIns="0" rtlCol="0" anchor="t"/>
          <a:lstStyle/>
          <a:p>
            <a:pPr marL="0" indent="0">
              <a:buNone/>
            </a:pPr>
            <a:r>
              <a:rPr lang="en-US" sz="1000" dirty="0">
                <a:solidFill>
                  <a:schemeClr val="tx1"/>
                </a:solidFill>
              </a:rPr>
              <a:t>2. The LLM analysts got the direction right, and the vote agreed:</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0" y="4114800"/>
          <a:ext cx="5010912" cy="914400"/>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19456">
                <a:tc>
                  <a:txBody>
                    <a:bodyPr/>
                    <a:lstStyle/>
                    <a:p>
                      <a:pPr marL="0" indent="0">
                        <a:buNone/>
                      </a:pPr>
                      <a:r>
                        <a:rPr lang="en-US" sz="900" b="1" dirty="0">
                          <a:solidFill>
                            <a:srgbClr val="FFFFFF"/>
                          </a:solidFill>
                        </a:rPr>
                        <a:t>Analyst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Opinion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Reads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19456">
                <a:tc>
                  <a:txBody>
                    <a:bodyPr/>
                    <a:lstStyle/>
                    <a:p>
                      <a:pPr marL="0" indent="0">
                        <a:buNone/>
                      </a:pPr>
                      <a:r>
                        <a:rPr lang="en-US" sz="900" dirty="0">
                          <a:solidFill>
                            <a:srgbClr val="1B1F2A"/>
                          </a:solidFill>
                        </a:rPr>
                        <a:t>4 Communications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statements, minutes, transcript, speeches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900" dirty="0">
                          <a:solidFill>
                            <a:srgbClr val="1B1F2A"/>
                          </a:solidFill>
                        </a:rPr>
                        <a:t>5 Minutes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+6.2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the minutes only</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900" dirty="0">
                          <a:solidFill>
                            <a:srgbClr val="1B1F2A"/>
                          </a:solidFill>
                        </a:rPr>
                        <a:t>6 Inflation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+5.8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inflation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900" dirty="0">
                          <a:solidFill>
                            <a:srgbClr val="1B1F2A"/>
                          </a:solidFill>
                        </a:rPr>
                        <a:t>8 Financial conditions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+3.4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2-year gap, breakevens, NFCI</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900" dirty="0">
                          <a:solidFill>
                            <a:srgbClr val="1B1F2A"/>
                          </a:solidFill>
                        </a:rPr>
                        <a:t>7 Labour market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2C6E49"/>
                          </a:solidFill>
                        </a:rPr>
                        <a:t>−1.4 hold</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labour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900" b="1" dirty="0">
                          <a:solidFill>
                            <a:srgbClr val="1B1F2A"/>
                          </a:solidFill>
                        </a:rPr>
                        <a:t>Mean, one vote each</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1E2761"/>
                          </a:solidFill>
                        </a:rPr>
                        <a:t>+4.0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E2761"/>
                          </a:solidFill>
                        </a:rPr>
                        <a:t>two dissents for a hike in a 10 to 2 vote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Text 21"/>
          <p:cNvSpPr txBox="1"/>
          <p:nvPr/>
        </p:nvSpPr>
        <p:spPr>
          <a:xfrm>
            <a:off x="6400800" y="5669280"/>
            <a:ext cx="5010912" cy="457200"/>
          </a:xfrm>
          <a:prstGeom prst="rect">
            <a:avLst/>
          </a:prstGeom>
          <a:noFill/>
          <a:ln/>
        </p:spPr>
        <p:txBody>
          <a:bodyPr wrap="square" lIns="0" tIns="0" rIns="0" bIns="0" rtlCol="0" anchor="t"/>
          <a:lstStyle/>
          <a:p>
            <a:pPr marL="0" indent="0">
              <a:buNone/>
            </a:pPr>
            <a:r>
              <a:rPr lang="en-US" sz="1000" dirty="0">
                <a:solidFill>
                  <a:schemeClr val="tx1"/>
                </a:solidFill>
              </a:rPr>
              <a:t>3. Every reason is a quote code found in the frozen evidence. One decision proves little: it is scored formally (log score, Brier, against the market and two naive baselines) when the post-meeting rate row lands.</a:t>
            </a:r>
            <a:endParaRPr lang="en-US" sz="1000" dirty="0"/>
          </a:p>
        </p:txBody>
      </p:sp>
      <p:sp>
        <p:nvSpPr>
          <p:cNvPr id="2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726031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a:t>
            </a:r>
            <a:r>
              <a:rPr lang="en-US" sz="1200" b="1" dirty="0" err="1">
                <a:solidFill>
                  <a:schemeClr val="tx1"/>
                </a:solidFill>
              </a:rPr>
              <a:t>Polymarket</a:t>
            </a:r>
            <a:r>
              <a:rPr lang="en-US" sz="1200" b="1" dirty="0">
                <a:solidFill>
                  <a:schemeClr val="tx1"/>
                </a:solidFill>
              </a:rPr>
              <a:t>)</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623398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62588"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669118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646258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646258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646258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6</a:t>
            </a:fld>
            <a:endParaRPr lang="en-US"/>
          </a:p>
        </p:txBody>
      </p:sp>
      <p:grpSp>
        <p:nvGrpSpPr>
          <p:cNvPr id="58" name="Group 57">
            <a:extLst>
              <a:ext uri="{FF2B5EF4-FFF2-40B4-BE49-F238E27FC236}">
                <a16:creationId xmlns:a16="http://schemas.microsoft.com/office/drawing/2014/main" id="{A802D491-A62F-1162-BFE9-FD3D35327ADB}"/>
              </a:ext>
            </a:extLst>
          </p:cNvPr>
          <p:cNvGrpSpPr/>
          <p:nvPr/>
        </p:nvGrpSpPr>
        <p:grpSpPr>
          <a:xfrm>
            <a:off x="3391314" y="1435608"/>
            <a:ext cx="2615184" cy="2331720"/>
            <a:chOff x="13899460" y="984504"/>
            <a:chExt cx="2615184" cy="2331720"/>
          </a:xfrm>
        </p:grpSpPr>
        <p:sp>
          <p:nvSpPr>
            <p:cNvPr id="47" name="Shape 13">
              <a:extLst>
                <a:ext uri="{FF2B5EF4-FFF2-40B4-BE49-F238E27FC236}">
                  <a16:creationId xmlns:a16="http://schemas.microsoft.com/office/drawing/2014/main" id="{DA25A6FE-F77D-E8A6-20B9-411A7FD3D117}"/>
                </a:ext>
              </a:extLst>
            </p:cNvPr>
            <p:cNvSpPr/>
            <p:nvPr/>
          </p:nvSpPr>
          <p:spPr>
            <a:xfrm>
              <a:off x="13899460" y="984504"/>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49" name="Shape 14">
              <a:extLst>
                <a:ext uri="{FF2B5EF4-FFF2-40B4-BE49-F238E27FC236}">
                  <a16:creationId xmlns:a16="http://schemas.microsoft.com/office/drawing/2014/main" id="{D3AFCF19-9FC3-1193-08FC-A28D668436ED}"/>
                </a:ext>
              </a:extLst>
            </p:cNvPr>
            <p:cNvSpPr/>
            <p:nvPr/>
          </p:nvSpPr>
          <p:spPr>
            <a:xfrm>
              <a:off x="14128060" y="1258824"/>
              <a:ext cx="146304" cy="146304"/>
            </a:xfrm>
            <a:prstGeom prst="rect">
              <a:avLst/>
            </a:prstGeom>
            <a:solidFill>
              <a:srgbClr val="E9B44C"/>
            </a:solidFill>
            <a:ln w="12700">
              <a:solidFill>
                <a:srgbClr val="E9B44C"/>
              </a:solidFill>
              <a:prstDash val="solid"/>
            </a:ln>
          </p:spPr>
          <p:txBody>
            <a:bodyPr/>
            <a:lstStyle/>
            <a:p>
              <a:endParaRPr lang="en-US"/>
            </a:p>
          </p:txBody>
        </p:sp>
        <p:sp>
          <p:nvSpPr>
            <p:cNvPr id="51" name="Text 15">
              <a:extLst>
                <a:ext uri="{FF2B5EF4-FFF2-40B4-BE49-F238E27FC236}">
                  <a16:creationId xmlns:a16="http://schemas.microsoft.com/office/drawing/2014/main" id="{FB0A3ABB-64C9-2CF9-6F24-84DF14C5024C}"/>
                </a:ext>
              </a:extLst>
            </p:cNvPr>
            <p:cNvSpPr txBox="1"/>
            <p:nvPr/>
          </p:nvSpPr>
          <p:spPr>
            <a:xfrm>
              <a:off x="14356660" y="1149096"/>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53" name="Text 16">
              <a:extLst>
                <a:ext uri="{FF2B5EF4-FFF2-40B4-BE49-F238E27FC236}">
                  <a16:creationId xmlns:a16="http://schemas.microsoft.com/office/drawing/2014/main" id="{E1D2F99F-D5EE-908F-CDDA-4E9EC9CA47D7}"/>
                </a:ext>
              </a:extLst>
            </p:cNvPr>
            <p:cNvSpPr txBox="1"/>
            <p:nvPr/>
          </p:nvSpPr>
          <p:spPr>
            <a:xfrm>
              <a:off x="14128060" y="1606296"/>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55" name="Text 17">
              <a:extLst>
                <a:ext uri="{FF2B5EF4-FFF2-40B4-BE49-F238E27FC236}">
                  <a16:creationId xmlns:a16="http://schemas.microsoft.com/office/drawing/2014/main" id="{90EEBB27-F1D1-537C-DB2F-09A602414014}"/>
                </a:ext>
              </a:extLst>
            </p:cNvPr>
            <p:cNvSpPr txBox="1"/>
            <p:nvPr/>
          </p:nvSpPr>
          <p:spPr>
            <a:xfrm>
              <a:off x="14128060" y="2191512"/>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57" name="Text 18">
              <a:extLst>
                <a:ext uri="{FF2B5EF4-FFF2-40B4-BE49-F238E27FC236}">
                  <a16:creationId xmlns:a16="http://schemas.microsoft.com/office/drawing/2014/main" id="{B2779653-131A-CB7F-E507-2EED87363D23}"/>
                </a:ext>
              </a:extLst>
            </p:cNvPr>
            <p:cNvSpPr txBox="1"/>
            <p:nvPr/>
          </p:nvSpPr>
          <p:spPr>
            <a:xfrm>
              <a:off x="14128060" y="2758440"/>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Eight decisions a year: a good year proves nothing</a:t>
            </a:r>
            <a:endParaRPr lang="en-US" sz="1300" dirty="0"/>
          </a:p>
          <a:p>
            <a:pPr marL="342900" indent="-342900">
              <a:spcAft>
                <a:spcPts val="800"/>
              </a:spcAft>
              <a:buSzPct val="100000"/>
              <a:buChar char="•"/>
            </a:pPr>
            <a:r>
              <a:rPr lang="en-US" sz="1300" dirty="0">
                <a:solidFill>
                  <a:schemeClr val="tx1"/>
                </a:solidFill>
              </a:rPr>
              <a:t>The yardstick is a ten-point scorecard, fixed before any code: same evidence, same answer? every claim quoted? any number from memory? a shock moves the number 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Every step is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it is flagged as from memory</a:t>
            </a:r>
            <a:endParaRPr lang="en-US" sz="1300"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endParaRPr lang="en-US" sz="1300" dirty="0"/>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Everything is quotable and the analysts can read only the evidence, so a wrong call is a traceable wrong call: we 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dirty="0">
                <a:solidFill>
                  <a:schemeClr val="bg1"/>
                </a:solidFill>
              </a:rPr>
              <a:t>What followed each kind of decision over 32 years of FOMC history, conditioned on the last move</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opinion,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 Then the analysts' opinion, capped at 10 points. Code does this; no model writes the number.</a:t>
            </a:r>
            <a:endParaRPr lang="en-US" sz="950" dirty="0"/>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Numbers computed by code: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a 1.5% floor; then the specialists' opinion.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Analysts 4 to 8 enter the number. Analysts 1 to 3 are controls.</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move the number by at most 10 points and expire; watch-outs are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575907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3165394686"/>
              </p:ext>
            </p:extLst>
          </p:nvPr>
        </p:nvGraphicFramePr>
        <p:xfrm>
          <a:off x="548640" y="1325880"/>
          <a:ext cx="11091672" cy="3899916"/>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November fed-funds future against the overnight rate: +2.5 bp expected, split between the two nearest outcomes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12-month core PCE 3.0%, unemployment 4.2%, r* from the NY Fed DSGE model (0.65 / 1.86 / 3.06%); three level rules × nine r*/u* pairs plus the first-difference rule × three u*: 30 prescriptions, mean +22.5 bp</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Polymarket, 26 Oct, $67m traded: 94.5% no change at the mid price, 94.9% once the five prices are renormalised</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What followed a hike at the 49 scheduled meetings since 1994 that came after one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Nine features on first-published data; failed v1, caveated v2</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a:solidFill>
                            <a:srgbClr val="1B1F2A"/>
                          </a:solidFill>
                        </a:rPr>
                        <a:t>specialists' opinion: </a:t>
                      </a:r>
                      <a:r>
                        <a:rPr lang="en-US" sz="1000" b="1" dirty="0">
                          <a:solidFill>
                            <a:srgbClr val="1B1F2A"/>
                          </a:solidFill>
                        </a:rPr>
                        <a:t>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a:solidFill>
                  <a:srgbClr val="FFFFFF"/>
                </a:solidFill>
              </a:rPr>
              <a:t>The language model's opinion </a:t>
            </a:r>
            <a:r>
              <a:rPr lang="en-US" sz="1300" dirty="0">
                <a:solidFill>
                  <a:srgbClr val="FFFFFF"/>
                </a:solidFill>
              </a:rPr>
              <a:t>is the one line between Pooled and Machine track.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Three things a language model cannot be made to stop doing. None is removed; each is designed around, and the design is measured on every snapshot.</a:t>
            </a:r>
            <a:endParaRPr lang="en-US" sz="1200" dirty="0"/>
          </a:p>
        </p:txBody>
      </p:sp>
      <p:sp>
        <p:nvSpPr>
          <p:cNvPr id="5" name="Shape 2"/>
          <p:cNvSpPr/>
          <p:nvPr/>
        </p:nvSpPr>
        <p:spPr>
          <a:xfrm>
            <a:off x="548640" y="1645920"/>
            <a:ext cx="3593592" cy="1051560"/>
          </a:xfrm>
          <a:prstGeom prst="roundRect">
            <a:avLst>
              <a:gd name="adj" fmla="val 8696"/>
            </a:avLst>
          </a:prstGeom>
          <a:solidFill>
            <a:srgbClr val="C8553D"/>
          </a:solidFill>
          <a:ln w="12700">
            <a:solidFill>
              <a:srgbClr val="C8553D"/>
            </a:solidFill>
            <a:prstDash val="solid"/>
          </a:ln>
        </p:spPr>
      </p:sp>
      <p:sp>
        <p:nvSpPr>
          <p:cNvPr id="6" name="Shape 3"/>
          <p:cNvSpPr/>
          <p:nvPr/>
        </p:nvSpPr>
        <p:spPr>
          <a:xfrm>
            <a:off x="548640" y="2514600"/>
            <a:ext cx="3593592" cy="182880"/>
          </a:xfrm>
          <a:prstGeom prst="rect">
            <a:avLst/>
          </a:prstGeom>
          <a:solidFill>
            <a:srgbClr val="C8553D"/>
          </a:solidFill>
          <a:ln w="12700">
            <a:solidFill>
              <a:srgbClr val="C8553D"/>
            </a:solidFill>
            <a:prstDash val="solid"/>
          </a:ln>
        </p:spPr>
      </p:sp>
      <p:sp>
        <p:nvSpPr>
          <p:cNvPr id="7" name="Text 4"/>
          <p:cNvSpPr txBox="1"/>
          <p:nvPr/>
        </p:nvSpPr>
        <p:spPr>
          <a:xfrm>
            <a:off x="731520" y="1755648"/>
            <a:ext cx="322783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31520" y="1956816"/>
            <a:ext cx="3227832" cy="329184"/>
          </a:xfrm>
          <a:prstGeom prst="rect">
            <a:avLst/>
          </a:prstGeom>
          <a:noFill/>
          <a:ln/>
        </p:spPr>
        <p:txBody>
          <a:bodyPr wrap="square" lIns="0" tIns="0" rIns="0" bIns="0" rtlCol="0" anchor="t"/>
          <a:lstStyle/>
          <a:p>
            <a:pPr marL="0" indent="0">
              <a:buNone/>
            </a:pPr>
            <a:r>
              <a:rPr lang="en-US" sz="1500" b="1" dirty="0">
                <a:solidFill>
                  <a:schemeClr val="bg1"/>
                </a:solidFill>
              </a:rPr>
              <a:t>Memory cannot be switched off</a:t>
            </a:r>
            <a:endParaRPr lang="en-US" sz="1500" dirty="0"/>
          </a:p>
        </p:txBody>
      </p:sp>
      <p:sp>
        <p:nvSpPr>
          <p:cNvPr id="9" name="Text 6"/>
          <p:cNvSpPr txBox="1"/>
          <p:nvPr/>
        </p:nvSpPr>
        <p:spPr>
          <a:xfrm>
            <a:off x="731520" y="2286000"/>
            <a:ext cx="3227832" cy="384048"/>
          </a:xfrm>
          <a:prstGeom prst="rect">
            <a:avLst/>
          </a:prstGeom>
          <a:noFill/>
          <a:ln/>
        </p:spPr>
        <p:txBody>
          <a:bodyPr wrap="square" lIns="0" tIns="0" rIns="0" bIns="0" rtlCol="0" anchor="t"/>
          <a:lstStyle/>
          <a:p>
            <a:pPr marL="0" indent="0">
              <a:buNone/>
            </a:pPr>
            <a:r>
              <a:rPr lang="en-US" sz="1100" dirty="0">
                <a:solidFill>
                  <a:srgbClr val="F8D7CE"/>
                </a:solidFill>
              </a:rPr>
              <a:t>It knows the Fed from its training and will use that unless stopped.</a:t>
            </a:r>
            <a:endParaRPr lang="en-US" sz="1100" dirty="0"/>
          </a:p>
        </p:txBody>
      </p:sp>
      <p:sp>
        <p:nvSpPr>
          <p:cNvPr id="10" name="Shape 7"/>
          <p:cNvSpPr/>
          <p:nvPr/>
        </p:nvSpPr>
        <p:spPr>
          <a:xfrm>
            <a:off x="548640" y="2697480"/>
            <a:ext cx="3593592" cy="2743200"/>
          </a:xfrm>
          <a:prstGeom prst="rect">
            <a:avLst/>
          </a:prstGeom>
          <a:solidFill>
            <a:srgbClr val="EEF2F7"/>
          </a:solidFill>
          <a:ln w="12700">
            <a:solidFill>
              <a:srgbClr val="EEF2F7"/>
            </a:solidFill>
            <a:prstDash val="solid"/>
          </a:ln>
        </p:spPr>
      </p:sp>
      <p:sp>
        <p:nvSpPr>
          <p:cNvPr id="11" name="Text 8"/>
          <p:cNvSpPr txBox="1"/>
          <p:nvPr/>
        </p:nvSpPr>
        <p:spPr>
          <a:xfrm>
            <a:off x="731520" y="2834640"/>
            <a:ext cx="322783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31520" y="3108960"/>
            <a:ext cx="3227832" cy="224028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Instruction: </a:t>
            </a:r>
            <a:r>
              <a:rPr lang="en-US" sz="1300" dirty="0">
                <a:solidFill>
                  <a:schemeClr val="tx1"/>
                </a:solidFill>
              </a:rPr>
              <a:t>use only the evidence; nothing remembered about the economy, the Fed or markets.</a:t>
            </a:r>
            <a:endParaRPr lang="en-US" sz="1300" dirty="0"/>
          </a:p>
          <a:p>
            <a:pPr marL="342900" indent="-342900">
              <a:buSzPct val="100000"/>
              <a:buChar char="•"/>
            </a:pPr>
            <a:r>
              <a:rPr lang="en-US" sz="1300" b="1" dirty="0">
                <a:solidFill>
                  <a:srgbClr val="1B1F2A"/>
                </a:solidFill>
              </a:rPr>
              <a:t>Answer shape: </a:t>
            </a:r>
            <a:r>
              <a:rPr lang="en-US" sz="1300" dirty="0">
                <a:solidFill>
                  <a:schemeClr val="tx1"/>
                </a:solidFill>
              </a:rPr>
              <a:t>every claim carries a verbatim quote from a named item, so a remembered fact has nowhere to stand.</a:t>
            </a:r>
            <a:endParaRPr lang="en-US" sz="1300" dirty="0"/>
          </a:p>
          <a:p>
            <a:pPr marL="342900" indent="-342900">
              <a:buSzPct val="100000"/>
              <a:buChar char="•"/>
            </a:pPr>
            <a:r>
              <a:rPr lang="en-US" sz="1300" b="1" dirty="0">
                <a:solidFill>
                  <a:srgbClr val="1B1F2A"/>
                </a:solidFill>
              </a:rPr>
              <a:t>Check: </a:t>
            </a:r>
            <a:r>
              <a:rPr lang="en-US" sz="1300" dirty="0">
                <a:solidFill>
                  <a:schemeClr val="tx1"/>
                </a:solidFill>
              </a:rPr>
              <a:t>every number is matched to the snapshot by code; one not found is flagged as from memory and sent back once.</a:t>
            </a:r>
            <a:endParaRPr lang="en-US" sz="1300" dirty="0"/>
          </a:p>
        </p:txBody>
      </p:sp>
      <p:sp>
        <p:nvSpPr>
          <p:cNvPr id="13" name="Shape 10"/>
          <p:cNvSpPr/>
          <p:nvPr/>
        </p:nvSpPr>
        <p:spPr>
          <a:xfrm>
            <a:off x="4297680" y="1645920"/>
            <a:ext cx="3593592" cy="1051560"/>
          </a:xfrm>
          <a:prstGeom prst="roundRect">
            <a:avLst>
              <a:gd name="adj" fmla="val 8696"/>
            </a:avLst>
          </a:prstGeom>
          <a:solidFill>
            <a:srgbClr val="C8553D"/>
          </a:solidFill>
          <a:ln w="12700">
            <a:solidFill>
              <a:srgbClr val="C8553D"/>
            </a:solidFill>
            <a:prstDash val="solid"/>
          </a:ln>
        </p:spPr>
      </p:sp>
      <p:sp>
        <p:nvSpPr>
          <p:cNvPr id="14" name="Shape 11"/>
          <p:cNvSpPr/>
          <p:nvPr/>
        </p:nvSpPr>
        <p:spPr>
          <a:xfrm>
            <a:off x="4297680" y="2514600"/>
            <a:ext cx="3593592" cy="182880"/>
          </a:xfrm>
          <a:prstGeom prst="rect">
            <a:avLst/>
          </a:prstGeom>
          <a:solidFill>
            <a:srgbClr val="C8553D"/>
          </a:solidFill>
          <a:ln w="12700">
            <a:solidFill>
              <a:srgbClr val="C8553D"/>
            </a:solidFill>
            <a:prstDash val="solid"/>
          </a:ln>
        </p:spPr>
      </p:sp>
      <p:sp>
        <p:nvSpPr>
          <p:cNvPr id="15" name="Text 12"/>
          <p:cNvSpPr txBox="1"/>
          <p:nvPr/>
        </p:nvSpPr>
        <p:spPr>
          <a:xfrm>
            <a:off x="4480560" y="1755648"/>
            <a:ext cx="322783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16" name="Text 13"/>
          <p:cNvSpPr txBox="1"/>
          <p:nvPr/>
        </p:nvSpPr>
        <p:spPr>
          <a:xfrm>
            <a:off x="4480560" y="1956816"/>
            <a:ext cx="3227832" cy="329184"/>
          </a:xfrm>
          <a:prstGeom prst="rect">
            <a:avLst/>
          </a:prstGeom>
          <a:noFill/>
          <a:ln/>
        </p:spPr>
        <p:txBody>
          <a:bodyPr wrap="square" lIns="0" tIns="0" rIns="0" bIns="0" rtlCol="0" anchor="t"/>
          <a:lstStyle/>
          <a:p>
            <a:pPr marL="0" indent="0">
              <a:buNone/>
            </a:pPr>
            <a:r>
              <a:rPr lang="en-US" sz="1500" b="1" dirty="0">
                <a:solidFill>
                  <a:schemeClr val="bg1"/>
                </a:solidFill>
              </a:rPr>
              <a:t>Answers vary between runs</a:t>
            </a:r>
            <a:endParaRPr lang="en-US" sz="1500" dirty="0"/>
          </a:p>
        </p:txBody>
      </p:sp>
      <p:sp>
        <p:nvSpPr>
          <p:cNvPr id="17" name="Text 14"/>
          <p:cNvSpPr txBox="1"/>
          <p:nvPr/>
        </p:nvSpPr>
        <p:spPr>
          <a:xfrm>
            <a:off x="4480560" y="2286000"/>
            <a:ext cx="3227832" cy="384048"/>
          </a:xfrm>
          <a:prstGeom prst="rect">
            <a:avLst/>
          </a:prstGeom>
          <a:noFill/>
          <a:ln/>
        </p:spPr>
        <p:txBody>
          <a:bodyPr wrap="square" lIns="0" tIns="0" rIns="0" bIns="0" rtlCol="0" anchor="t"/>
          <a:lstStyle/>
          <a:p>
            <a:pPr marL="0" indent="0">
              <a:buNone/>
            </a:pPr>
            <a:r>
              <a:rPr lang="en-US" sz="1100" dirty="0">
                <a:solidFill>
                  <a:srgbClr val="F8D7CE"/>
                </a:solidFill>
              </a:rPr>
              <a:t>Ask twice and the number moves.</a:t>
            </a:r>
            <a:endParaRPr lang="en-US" sz="1100" dirty="0"/>
          </a:p>
        </p:txBody>
      </p:sp>
      <p:sp>
        <p:nvSpPr>
          <p:cNvPr id="18" name="Shape 15"/>
          <p:cNvSpPr/>
          <p:nvPr/>
        </p:nvSpPr>
        <p:spPr>
          <a:xfrm>
            <a:off x="4297680" y="2697480"/>
            <a:ext cx="3593592" cy="2743200"/>
          </a:xfrm>
          <a:prstGeom prst="rect">
            <a:avLst/>
          </a:prstGeom>
          <a:solidFill>
            <a:srgbClr val="EEF2F7"/>
          </a:solidFill>
          <a:ln w="12700">
            <a:solidFill>
              <a:srgbClr val="EEF2F7"/>
            </a:solidFill>
            <a:prstDash val="solid"/>
          </a:ln>
        </p:spPr>
      </p:sp>
      <p:sp>
        <p:nvSpPr>
          <p:cNvPr id="19" name="Text 16"/>
          <p:cNvSpPr txBox="1"/>
          <p:nvPr/>
        </p:nvSpPr>
        <p:spPr>
          <a:xfrm>
            <a:off x="4480560" y="2834640"/>
            <a:ext cx="322783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0" name="Text 17"/>
          <p:cNvSpPr txBox="1"/>
          <p:nvPr/>
        </p:nvSpPr>
        <p:spPr>
          <a:xfrm>
            <a:off x="4480560" y="3108960"/>
            <a:ext cx="3227832" cy="224028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Answer shape: </a:t>
            </a:r>
            <a:r>
              <a:rPr lang="en-US" sz="1300" dirty="0">
                <a:solidFill>
                  <a:schemeClr val="tx1"/>
                </a:solidFill>
              </a:rPr>
              <a:t>a fixed JSON schema; anything else is rejected unread.</a:t>
            </a:r>
            <a:endParaRPr lang="en-US" sz="1300" dirty="0"/>
          </a:p>
          <a:p>
            <a:pPr marL="342900" indent="-342900">
              <a:buSzPct val="100000"/>
              <a:buChar char="•"/>
            </a:pPr>
            <a:r>
              <a:rPr lang="en-US" sz="1300" b="1" dirty="0">
                <a:solidFill>
                  <a:srgbClr val="1B1F2A"/>
                </a:solidFill>
              </a:rPr>
              <a:t>Five identical runs </a:t>
            </a:r>
            <a:r>
              <a:rPr lang="en-US" sz="1300" dirty="0">
                <a:solidFill>
                  <a:schemeClr val="tx1"/>
                </a:solidFill>
              </a:rPr>
              <a:t>per analyst per snapshot, each stored under its prompt hash.</a:t>
            </a:r>
            <a:endParaRPr lang="en-US" sz="1300" dirty="0"/>
          </a:p>
          <a:p>
            <a:pPr marL="342900" indent="-342900">
              <a:buSzPct val="100000"/>
              <a:buChar char="•"/>
            </a:pPr>
            <a:r>
              <a:rPr lang="en-US" sz="1300" b="1" dirty="0">
                <a:solidFill>
                  <a:srgbClr val="1B1F2A"/>
                </a:solidFill>
              </a:rPr>
              <a:t>Measured: </a:t>
            </a:r>
            <a:r>
              <a:rPr lang="en-US" sz="1300" dirty="0">
                <a:solidFill>
                  <a:schemeClr val="tx1"/>
                </a:solidFill>
              </a:rPr>
              <a:t>the spread of the five answers. Pass mark: 2 points.</a:t>
            </a:r>
            <a:endParaRPr lang="en-US" sz="1300" dirty="0"/>
          </a:p>
        </p:txBody>
      </p:sp>
      <p:sp>
        <p:nvSpPr>
          <p:cNvPr id="21" name="Shape 18"/>
          <p:cNvSpPr/>
          <p:nvPr/>
        </p:nvSpPr>
        <p:spPr>
          <a:xfrm>
            <a:off x="8046720" y="1645920"/>
            <a:ext cx="3593592" cy="1051560"/>
          </a:xfrm>
          <a:prstGeom prst="roundRect">
            <a:avLst>
              <a:gd name="adj" fmla="val 8696"/>
            </a:avLst>
          </a:prstGeom>
          <a:solidFill>
            <a:srgbClr val="C8553D"/>
          </a:solidFill>
          <a:ln w="12700">
            <a:solidFill>
              <a:srgbClr val="C8553D"/>
            </a:solidFill>
            <a:prstDash val="solid"/>
          </a:ln>
        </p:spPr>
      </p:sp>
      <p:sp>
        <p:nvSpPr>
          <p:cNvPr id="22" name="Shape 19"/>
          <p:cNvSpPr/>
          <p:nvPr/>
        </p:nvSpPr>
        <p:spPr>
          <a:xfrm>
            <a:off x="8046720" y="2514600"/>
            <a:ext cx="3593592" cy="182880"/>
          </a:xfrm>
          <a:prstGeom prst="rect">
            <a:avLst/>
          </a:prstGeom>
          <a:solidFill>
            <a:srgbClr val="C8553D"/>
          </a:solidFill>
          <a:ln w="12700">
            <a:solidFill>
              <a:srgbClr val="C8553D"/>
            </a:solidFill>
            <a:prstDash val="solid"/>
          </a:ln>
        </p:spPr>
      </p:sp>
      <p:sp>
        <p:nvSpPr>
          <p:cNvPr id="23" name="Text 20"/>
          <p:cNvSpPr txBox="1"/>
          <p:nvPr/>
        </p:nvSpPr>
        <p:spPr>
          <a:xfrm>
            <a:off x="8229600" y="1755648"/>
            <a:ext cx="322783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24" name="Text 21"/>
          <p:cNvSpPr txBox="1"/>
          <p:nvPr/>
        </p:nvSpPr>
        <p:spPr>
          <a:xfrm>
            <a:off x="8229600" y="1956816"/>
            <a:ext cx="3227832" cy="329184"/>
          </a:xfrm>
          <a:prstGeom prst="rect">
            <a:avLst/>
          </a:prstGeom>
          <a:noFill/>
          <a:ln/>
        </p:spPr>
        <p:txBody>
          <a:bodyPr wrap="square" lIns="0" tIns="0" rIns="0" bIns="0" rtlCol="0" anchor="t"/>
          <a:lstStyle/>
          <a:p>
            <a:pPr marL="0" indent="0">
              <a:buNone/>
            </a:pPr>
            <a:r>
              <a:rPr lang="en-US" sz="1500" b="1" dirty="0">
                <a:solidFill>
                  <a:schemeClr val="bg1"/>
                </a:solidFill>
              </a:rPr>
              <a:t>It can invent its own support</a:t>
            </a:r>
            <a:endParaRPr lang="en-US" sz="1500" dirty="0"/>
          </a:p>
        </p:txBody>
      </p:sp>
      <p:sp>
        <p:nvSpPr>
          <p:cNvPr id="25" name="Text 22"/>
          <p:cNvSpPr txBox="1"/>
          <p:nvPr/>
        </p:nvSpPr>
        <p:spPr>
          <a:xfrm>
            <a:off x="8229600" y="2286000"/>
            <a:ext cx="3227832" cy="384048"/>
          </a:xfrm>
          <a:prstGeom prst="rect">
            <a:avLst/>
          </a:prstGeom>
          <a:noFill/>
          <a:ln/>
        </p:spPr>
        <p:txBody>
          <a:bodyPr wrap="square" lIns="0" tIns="0" rIns="0" bIns="0" rtlCol="0" anchor="t"/>
          <a:lstStyle/>
          <a:p>
            <a:pPr marL="0" indent="0">
              <a:buNone/>
            </a:pPr>
            <a:r>
              <a:rPr lang="en-US" sz="1100" dirty="0">
                <a:solidFill>
                  <a:srgbClr val="F8D7CE"/>
                </a:solidFill>
              </a:rPr>
              <a:t>A fluent quote or figure that was never in the document.</a:t>
            </a:r>
            <a:endParaRPr lang="en-US" sz="1100" dirty="0"/>
          </a:p>
        </p:txBody>
      </p:sp>
      <p:sp>
        <p:nvSpPr>
          <p:cNvPr id="26" name="Shape 23"/>
          <p:cNvSpPr/>
          <p:nvPr/>
        </p:nvSpPr>
        <p:spPr>
          <a:xfrm>
            <a:off x="8046720" y="2697480"/>
            <a:ext cx="3593592" cy="2743200"/>
          </a:xfrm>
          <a:prstGeom prst="rect">
            <a:avLst/>
          </a:prstGeom>
          <a:solidFill>
            <a:srgbClr val="EEF2F7"/>
          </a:solidFill>
          <a:ln w="12700">
            <a:solidFill>
              <a:srgbClr val="EEF2F7"/>
            </a:solidFill>
            <a:prstDash val="solid"/>
          </a:ln>
        </p:spPr>
      </p:sp>
      <p:sp>
        <p:nvSpPr>
          <p:cNvPr id="27" name="Text 24"/>
          <p:cNvSpPr txBox="1"/>
          <p:nvPr/>
        </p:nvSpPr>
        <p:spPr>
          <a:xfrm>
            <a:off x="8229600" y="2834640"/>
            <a:ext cx="322783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8" name="Text 25"/>
          <p:cNvSpPr txBox="1"/>
          <p:nvPr/>
        </p:nvSpPr>
        <p:spPr>
          <a:xfrm>
            <a:off x="8229600" y="3108960"/>
            <a:ext cx="3227832" cy="224028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Check: </a:t>
            </a:r>
            <a:r>
              <a:rPr lang="en-US" sz="1300" dirty="0">
                <a:solidFill>
                  <a:schemeClr val="tx1"/>
                </a:solidFill>
              </a:rPr>
              <a:t>every quote matched to its item character for character, by code; a quote stitched from two places fails.</a:t>
            </a:r>
            <a:endParaRPr lang="en-US" sz="1300" dirty="0"/>
          </a:p>
          <a:p>
            <a:pPr marL="342900" indent="-342900">
              <a:buSzPct val="100000"/>
              <a:buChar char="•"/>
            </a:pPr>
            <a:r>
              <a:rPr lang="en-US" sz="1300" b="1" dirty="0">
                <a:solidFill>
                  <a:srgbClr val="1B1F2A"/>
                </a:solidFill>
              </a:rPr>
              <a:t>Bounds: </a:t>
            </a:r>
            <a:r>
              <a:rPr lang="en-US" sz="1300" dirty="0">
                <a:solidFill>
                  <a:schemeClr val="tx1"/>
                </a:solidFill>
              </a:rPr>
              <a:t>every watch-out answered by id; the opinion clipped to −10 to +10.</a:t>
            </a:r>
            <a:endParaRPr lang="en-US" sz="1300" dirty="0"/>
          </a:p>
          <a:p>
            <a:pPr marL="342900" indent="-342900">
              <a:buSzPct val="100000"/>
              <a:buChar char="•"/>
            </a:pPr>
            <a:r>
              <a:rPr lang="en-US" sz="1300" b="1" dirty="0">
                <a:solidFill>
                  <a:srgbClr val="1B1F2A"/>
                </a:solidFill>
              </a:rPr>
              <a:t>One repair round: </a:t>
            </a:r>
            <a:r>
              <a:rPr lang="en-US" sz="1300" dirty="0">
                <a:solidFill>
                  <a:schemeClr val="tx1"/>
                </a:solidFill>
              </a:rPr>
              <a:t>the verifier's report goes back once; both answers are kept; what still fails stays unverified.</a:t>
            </a:r>
            <a:endParaRPr lang="en-US" sz="13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extLst>
      <p:ext uri="{BB962C8B-B14F-4D97-AF65-F5344CB8AC3E}">
        <p14:creationId xmlns:p14="http://schemas.microsoft.com/office/powerpoint/2010/main" val="6037320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a:solidFill>
                  <a:srgbClr val="CADCFC"/>
                </a:solidFill>
              </a:rPr>
              <a:t>Each specialist is asked one question about its own slice (above), never for a probability. It returns claims, each with a verbatim quote and item id, and a score from . Code averages the five scores and moves that many points of probability from the hold side to the hike side (or the reverse),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a:t>
            </a:r>
            <a:r>
              <a:rPr lang="en-US" sz="1000" b="1">
                <a:solidFill>
                  <a:schemeClr val="tx1"/>
                </a:solidFill>
              </a:rPr>
              <a:t>: </a:t>
            </a:r>
            <a:r>
              <a:rPr lang="en-US" sz="1000">
                <a:solidFill>
                  <a:schemeClr val="tx1"/>
                </a:solidFill>
              </a:rPr>
              <a:t>variance falls under 1 point; </a:t>
            </a:r>
            <a:r>
              <a:rPr lang="en-US" sz="1000" dirty="0">
                <a:solidFill>
                  <a:schemeClr val="tx1"/>
                </a:solidFill>
              </a:rPr>
              <a:t>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a:t>
            </a:r>
            <a:r>
              <a:rPr lang="en-US" sz="950">
                <a:solidFill>
                  <a:schemeClr val="accent4"/>
                </a:solidFill>
              </a:rPr>
              <a:t>: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a:t>
            </a:r>
            <a:r>
              <a:rPr lang="en-US" sz="1050" i="1">
                <a:solidFill>
                  <a:schemeClr val="accent2"/>
                </a:solidFill>
              </a:rPr>
              <a:t>2 +25 bps at 50 to 57%; analyst 3 +5.8 to +7.0 hawkish; specialists +4.0 to +4.4, labour </a:t>
            </a:r>
            <a:r>
              <a:rPr lang="en-US" sz="1050" i="1" dirty="0">
                <a:solidFill>
                  <a:schemeClr val="accent2"/>
                </a:solidFill>
              </a:rPr>
              <a:t>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a:t>
            </a:r>
            <a:r>
              <a:rPr lang="en-US" sz="1250">
                <a:solidFill>
                  <a:schemeClr val="tx1"/>
                </a:solidFill>
              </a:rPr>
              <a:t>does the opinion count </a:t>
            </a:r>
            <a:r>
              <a:rPr lang="en-US" sz="1250" dirty="0">
                <a:solidFill>
                  <a:schemeClr val="tx1"/>
                </a:solidFill>
              </a:rPr>
              <a:t>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a:solidFill>
                  <a:schemeClr val="bg1"/>
                </a:solidFill>
              </a:rPr>
              <a:t>5 scores, ±10</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r>
              <a:rPr lang="en-US" sz="1050" dirty="0">
                <a:solidFill>
                  <a:srgbClr val="CADCFC"/>
                </a:solidFill>
              </a:rPr>
              <a:t>+6.0 · +6.2 · +5.8 · −1.4 </a:t>
            </a:r>
            <a:r>
              <a:rPr lang="en-US" sz="1050">
                <a:solidFill>
                  <a:srgbClr val="CADCFC"/>
                </a:solidFill>
              </a:rPr>
              <a:t>· +3.4</a:t>
            </a:r>
            <a:endParaRPr lang="en-US" sz="1050" dirty="0"/>
          </a:p>
        </p:txBody>
      </p:sp>
      <p:sp>
        <p:nvSpPr>
          <p:cNvPr id="21" name="Shape 18"/>
          <p:cNvSpPr/>
          <p:nvPr/>
        </p:nvSpPr>
        <p:spPr>
          <a:xfrm>
            <a:off x="548640" y="3931920"/>
            <a:ext cx="4434840" cy="237744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164592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1965960" cy="1188720"/>
          </a:xfrm>
          <a:prstGeom prst="rect">
            <a:avLst/>
          </a:prstGeom>
          <a:noFill/>
          <a:ln/>
        </p:spPr>
        <p:txBody>
          <a:bodyPr wrap="square" lIns="0" tIns="0" rIns="0" bIns="0" rtlCol="0" anchor="t"/>
          <a:lstStyle/>
          <a:p>
            <a:pPr marL="0" indent="0">
              <a:buNone/>
            </a:pPr>
            <a:r>
              <a:rPr lang="en-US" sz="1050" b="1" dirty="0">
                <a:solidFill>
                  <a:schemeClr val="tx1"/>
                </a:solidFill>
              </a:rPr>
              <a:t>Four say hike, one says hold back. </a:t>
            </a:r>
            <a:r>
              <a:rPr lang="en-US" sz="1050" dirty="0">
                <a:solidFill>
                  <a:schemeClr val="tx1"/>
                </a:solidFill>
              </a:rPr>
              <a:t>Plain average, one vote each: +4.0.</a:t>
            </a:r>
            <a:endParaRPr lang="en-US" sz="1050" dirty="0"/>
          </a:p>
          <a:p>
            <a:pPr marL="0" indent="0">
              <a:buNone/>
            </a:pPr>
            <a:r>
              <a:rPr lang="en-US" sz="1050" b="1">
                <a:solidFill>
                  <a:schemeClr val="tx1"/>
                </a:solidFill>
              </a:rPr>
              <a:t>Each point of opinion </a:t>
            </a:r>
            <a:r>
              <a:rPr lang="en-US" sz="1050" b="1" dirty="0">
                <a:solidFill>
                  <a:schemeClr val="tx1"/>
                </a:solidFill>
              </a:rPr>
              <a:t>moves one point of probability </a:t>
            </a:r>
            <a:r>
              <a:rPr lang="en-US" sz="1050" dirty="0">
                <a:solidFill>
                  <a:schemeClr val="tx1"/>
                </a:solidFill>
              </a:rPr>
              <a:t>from the hold side to the hike side, by rule, capped at 10. So +4.0 moves 4.0 points, after the pool:</a:t>
            </a:r>
            <a:endParaRPr lang="en-US" sz="1050" dirty="0"/>
          </a:p>
        </p:txBody>
      </p:sp>
      <p:sp>
        <p:nvSpPr>
          <p:cNvPr id="25" name="Text 21"/>
          <p:cNvSpPr txBox="1"/>
          <p:nvPr/>
        </p:nvSpPr>
        <p:spPr>
          <a:xfrm>
            <a:off x="2880360" y="5559552"/>
            <a:ext cx="2011680" cy="329184"/>
          </a:xfrm>
          <a:prstGeom prst="rect">
            <a:avLst/>
          </a:prstGeom>
          <a:noFill/>
          <a:ln/>
        </p:spPr>
        <p:txBody>
          <a:bodyPr wrap="square" lIns="0" tIns="0" rIns="0" bIns="0" rtlCol="0" anchor="t"/>
          <a:lstStyle/>
          <a:p>
            <a:pPr marL="0" indent="0">
              <a:buNone/>
            </a:pPr>
            <a:r>
              <a:rPr lang="en-US" sz="1400" b="1">
                <a:solidFill>
                  <a:schemeClr val="tx2"/>
                </a:solidFill>
                <a:latin typeface="Cambria" pitchFamily="34" charset="0"/>
                <a:ea typeface="Cambria" pitchFamily="34" charset="-122"/>
                <a:cs typeface="Cambria" pitchFamily="34" charset="-120"/>
              </a:rPr>
              <a:t>+25 bps: 20.2% </a:t>
            </a:r>
            <a:r>
              <a:rPr lang="en-US" sz="1400" b="1" dirty="0">
                <a:solidFill>
                  <a:schemeClr val="tx2"/>
                </a:solidFill>
                <a:latin typeface="Cambria" pitchFamily="34" charset="0"/>
                <a:ea typeface="Cambria" pitchFamily="34" charset="-122"/>
                <a:cs typeface="Cambria" pitchFamily="34" charset="-120"/>
              </a:rPr>
              <a:t>→ 22.4%</a:t>
            </a:r>
            <a:endParaRPr lang="en-US" sz="1400" dirty="0"/>
          </a:p>
        </p:txBody>
      </p:sp>
      <p:sp>
        <p:nvSpPr>
          <p:cNvPr id="26" name="Text 22"/>
          <p:cNvSpPr txBox="1"/>
          <p:nvPr/>
        </p:nvSpPr>
        <p:spPr>
          <a:xfrm>
            <a:off x="2880360" y="5897880"/>
            <a:ext cx="2011680" cy="365760"/>
          </a:xfrm>
          <a:prstGeom prst="rect">
            <a:avLst/>
          </a:prstGeom>
          <a:noFill/>
          <a:ln/>
        </p:spPr>
        <p:txBody>
          <a:bodyPr wrap="square" lIns="0" tIns="0" rIns="0" bIns="0" rtlCol="0" anchor="t"/>
          <a:lstStyle/>
          <a:p>
            <a:pPr marL="0" indent="0">
              <a:buNone/>
            </a:pPr>
            <a:r>
              <a:rPr lang="en-US" sz="950">
                <a:solidFill>
                  <a:schemeClr val="accent4"/>
                </a:solidFill>
              </a:rPr>
              <a:t>+50 bps 6.0 </a:t>
            </a:r>
            <a:r>
              <a:rPr lang="en-US" sz="950" dirty="0">
                <a:solidFill>
                  <a:schemeClr val="accent4"/>
                </a:solidFill>
              </a:rPr>
              <a:t>→ 7.7; no change 70.9 → 67.6; cuts 3.0 → 2.3</a:t>
            </a:r>
            <a:endParaRPr lang="en-US" sz="95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a:t>
            </a:r>
            <a:r>
              <a:rPr lang="en-US" sz="1000">
                <a:solidFill>
                  <a:schemeClr val="accent4"/>
                </a:solidFill>
              </a:rPr>
              <a:t>· opinion hawkish </a:t>
            </a:r>
            <a:r>
              <a:rPr lang="en-US" sz="1000" dirty="0">
                <a:solidFill>
                  <a:schemeClr val="accent4"/>
                </a:solidFill>
              </a:rPr>
              <a:t>·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15</a:t>
            </a:fld>
            <a:endParaRPr lang="en-US"/>
          </a:p>
        </p:txBody>
      </p:sp>
    </p:spTree>
    <p:extLst>
      <p:ext uri="{BB962C8B-B14F-4D97-AF65-F5344CB8AC3E}">
        <p14:creationId xmlns:p14="http://schemas.microsoft.com/office/powerpoint/2010/main" val="2067537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a:t>
            </a:r>
            <a:r>
              <a:rPr lang="en-US" sz="1300">
                <a:solidFill>
                  <a:srgbClr val="FFFFFF"/>
                </a:solidFill>
              </a:rPr>
              <a:t>: the opinion, grounded, </a:t>
            </a:r>
            <a:r>
              <a:rPr lang="en-US" sz="1300" dirty="0">
                <a:solidFill>
                  <a:srgbClr val="FFFFFF"/>
                </a:solidFill>
              </a:rPr>
              <a:t>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Write down three or four candidate weight sets now (for example market 0.6 / 0.5 / 0.7 with the rest redistributed). Score every set on every live decision with the same log score and Brier. The live set changes only by amendment, on that record. Weights stop being judgement without ever being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a:t>
            </a:r>
            <a:r>
              <a:rPr lang="en-US" sz="1000">
                <a:solidFill>
                  <a:schemeClr val="tx1"/>
                </a:solidFill>
              </a:rPr>
              <a:t>gate on the opinion.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not the data the models read. A watch-out agent that scans for bank failures, funding stress and market dislocations and raises a typed watch-out every analyst must answer.</a:t>
            </a:r>
            <a:endParaRPr lang="en-US" sz="1000"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 second model family</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probit's successor: features written down before fitting, a regularised ordinal model, a reliability check beside the log score, and the expanding window as the only judge. A regularised boosted model as one pre-registered candidate. About 130 usable decisions, 68% holds: small models, honestly tested, not big ones.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19</a:t>
            </a:fld>
            <a:endParaRPr lang="en-US"/>
          </a:p>
        </p:txBody>
      </p:sp>
    </p:spTree>
    <p:extLst>
      <p:ext uri="{BB962C8B-B14F-4D97-AF65-F5344CB8AC3E}">
        <p14:creationId xmlns:p14="http://schemas.microsoft.com/office/powerpoint/2010/main" val="7522578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score because they output a score,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the analysts' score moves 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1. The score</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Ten is the cap any single input has on the number, the same as a human view.</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Five scores, one vote each, 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the mean score's 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 mean score +4.0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468112"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position) ÷ 1.0486, where position is −2, −1, 0, +1, +2 and 1.0486 is what the five re-weighted buckets add up to before rescaling. Exactly 4.00 points crossed; the after column is the machine forecast recorded as entry #18.</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3859886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468112" cy="91440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dirty="0">
                <a:solidFill>
                  <a:schemeClr val="tx1"/>
                </a:solidFill>
              </a:rPr>
              <a:t>About 130 scheduled decisions with full features, roughly 250 in all; 68% are holds and the cuts cluster in three short episodes. On a sample that small and that unbalanced a boosted tree or a random forest memorises the episodes and a calibration curve on a few dozen non-hold cases is noise. The route is a better-specified small model: features written down before fitting, heavy regularisation, a reliability check beside the log score, the expanding window as the only judge. A regularised boosted model can be one pre-registered candidate, judged the same way.</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23</a:t>
            </a:fld>
            <a:endParaRPr lang="en-US"/>
          </a:p>
        </p:txBody>
      </p:sp>
    </p:spTree>
    <p:extLst>
      <p:ext uri="{BB962C8B-B14F-4D97-AF65-F5344CB8AC3E}">
        <p14:creationId xmlns:p14="http://schemas.microsoft.com/office/powerpoint/2010/main" val="742894264"/>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TotalTime>
  <Words>7110</Words>
  <Application>Microsoft Office PowerPoint</Application>
  <PresentationFormat>Widescreen</PresentationFormat>
  <Paragraphs>603</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Cambria</vt:lpstr>
      <vt:lpstr>Courier New</vt:lpstr>
      <vt:lpstr>FedCast</vt:lpstr>
      <vt:lpstr>FedCast</vt:lpstr>
      <vt:lpstr>About me</vt:lpstr>
      <vt:lpstr>What we will cover</vt:lpstr>
      <vt:lpstr>The question, the answer, and what happened</vt:lpstr>
      <vt:lpstr>Live demo 1: the forecast</vt:lpstr>
      <vt:lpstr>Four kinds of signal, and where FedCast sits</vt:lpstr>
      <vt:lpstr>Why this approach ?</vt:lpstr>
      <vt:lpstr>Model architecture</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lpstr>Appendix: how the analysts' score moves the number</vt:lpstr>
      <vt:lpstr>Appendix: the ordered probit, and why it sits at weight 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2026-10-29T18:01:42Z</dcterms:modified>
</cp:coreProperties>
</file>