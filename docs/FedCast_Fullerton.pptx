
<file path=[Content_Types].xml><?xml version="1.0" encoding="utf-8"?>
<Types xmlns="http://schemas.openxmlformats.org/package/2006/content-type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1" r:id="rId6"/>
    <p:sldId id="260" r:id="rId7"/>
    <p:sldId id="262" r:id="rId8"/>
    <p:sldId id="263" r:id="rId9"/>
    <p:sldId id="264" r:id="rId10"/>
    <p:sldId id="265" r:id="rId11"/>
    <p:sldId id="266" r:id="rId12"/>
    <p:sldId id="268" r:id="rId13"/>
    <p:sldId id="269" r:id="rId14"/>
    <p:sldId id="267" r:id="rId15"/>
    <p:sldId id="271" r:id="rId16"/>
    <p:sldId id="273" r:id="rId17"/>
    <p:sldId id="274" r:id="rId18"/>
    <p:sldId id="275" r:id="rId19"/>
    <p:sldId id="276" r:id="rId20"/>
    <p:sldId id="277"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BE0A322-C711-6356-C0FA-81FFBF2CD038}">
          <p14:sldIdLst>
            <p14:sldId id="256"/>
            <p14:sldId id="257"/>
          </p14:sldIdLst>
        </p14:section>
        <p14:section name="Objective" id="{A15A7BD8-DE7C-6B45-BFCB-6F6BC3F0EA31}">
          <p14:sldIdLst>
            <p14:sldId id="258"/>
            <p14:sldId id="259"/>
            <p14:sldId id="261"/>
            <p14:sldId id="260"/>
          </p14:sldIdLst>
        </p14:section>
        <p14:section name="How it works" id="{51E39E62-D42A-5461-E95E-6B45ACE96CC0}">
          <p14:sldIdLst>
            <p14:sldId id="262"/>
            <p14:sldId id="263"/>
            <p14:sldId id="264"/>
          </p14:sldIdLst>
        </p14:section>
        <p14:section name="The harness" id="{92928B70-AC41-17EA-8015-68E5296D82D9}">
          <p14:sldIdLst>
            <p14:sldId id="265"/>
            <p14:sldId id="266"/>
            <p14:sldId id="268"/>
          </p14:sldIdLst>
        </p14:section>
        <p14:section name="Evidence" id="{5A3B821E-E9C2-E8B2-83B3-FA9E97777045}">
          <p14:sldIdLst>
            <p14:sldId id="269"/>
            <p14:sldId id="267"/>
            <p14:sldId id="271"/>
            <p14:sldId id="273"/>
            <p14:sldId id="274"/>
            <p14:sldId id="275"/>
          </p14:sldIdLst>
        </p14:section>
        <p14:section name="Limits and next" id="{A86175A9-6A09-739A-6218-CDC852B09B1B}">
          <p14:sldIdLst>
            <p14:sldId id="276"/>
          </p14:sldIdLst>
        </p14:section>
        <p14:section name="Backup" id="{C779AD3C-958E-9E55-6CE0-CB67D10A91C1}">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7" d="100"/>
          <a:sy n="107" d="100"/>
        </p:scale>
        <p:origin x="63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Repeatability: variance between identical runs (pp)</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4.2</c:v>
                </c:pt>
                <c:pt idx="1">
                  <c:v>3.5</c:v>
                </c:pt>
                <c:pt idx="2">
                  <c:v>0.6</c:v>
                </c:pt>
                <c:pt idx="3">
                  <c:v>0.8</c:v>
                </c:pt>
              </c:numCache>
            </c:numRef>
          </c:val>
          <c:extLst>
            <c:ext xmlns:c16="http://schemas.microsoft.com/office/drawing/2014/chart" uri="{C3380CC4-5D6E-409C-BE32-E72D297353CC}">
              <c16:uniqueId val="{00000000-E399-48A4-9D3C-9EB4B56D7632}"/>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5"/>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Numbers from memory (count)</c:v>
                </c:pt>
              </c:strCache>
            </c:strRef>
          </c:tx>
          <c:spPr>
            <a:solidFill>
              <a:srgbClr val="1E2761"/>
            </a:solidFill>
            <a:effectLst/>
          </c:spPr>
          <c:invertIfNegative val="0"/>
          <c:dLbls>
            <c:numFmt formatCode="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1: question only</c:v>
                </c:pt>
                <c:pt idx="1">
                  <c:v>2: + evidence</c:v>
                </c:pt>
                <c:pt idx="2">
                  <c:v>3: + shape, verifier</c:v>
                </c:pt>
                <c:pt idx="3">
                  <c:v>4-8: + one slice each</c:v>
                </c:pt>
              </c:strCache>
            </c:strRef>
          </c:cat>
          <c:val>
            <c:numRef>
              <c:f>Sheet1!$B$2:$B$5</c:f>
              <c:numCache>
                <c:formatCode>General</c:formatCode>
                <c:ptCount val="4"/>
                <c:pt idx="0">
                  <c:v>37</c:v>
                </c:pt>
                <c:pt idx="1">
                  <c:v>0</c:v>
                </c:pt>
                <c:pt idx="2">
                  <c:v>0</c:v>
                </c:pt>
                <c:pt idx="3">
                  <c:v>0</c:v>
                </c:pt>
              </c:numCache>
            </c:numRef>
          </c:val>
          <c:extLst>
            <c:ext xmlns:c16="http://schemas.microsoft.com/office/drawing/2014/chart" uri="{C3380CC4-5D6E-409C-BE32-E72D297353CC}">
              <c16:uniqueId val="{00000000-0C43-400C-B73A-90C20BBDFEC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Claims with a verbatim quote (%)</c:v>
                </c:pt>
              </c:strCache>
            </c:strRef>
          </c:tx>
          <c:spPr>
            <a:solidFill>
              <a:srgbClr val="1E2761"/>
            </a:solidFill>
            <a:effectLst/>
          </c:spPr>
          <c:invertIfNegative val="0"/>
          <c:dLbls>
            <c:numFmt formatCode="0.0" sourceLinked="0"/>
            <c:spPr>
              <a:noFill/>
              <a:ln>
                <a:noFill/>
              </a:ln>
              <a:effectLst/>
            </c:spPr>
            <c:txPr>
              <a:bodyPr/>
              <a:lstStyle/>
              <a:p>
                <a:pPr>
                  <a:defRPr sz="1100" b="0" i="0" u="none" strike="noStrike">
                    <a:solidFill>
                      <a:srgbClr val="1B1F2A"/>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1: question only</c:v>
                </c:pt>
                <c:pt idx="1">
                  <c:v>3: + shape, verifier</c:v>
                </c:pt>
                <c:pt idx="2">
                  <c:v>4-8: + one slice each</c:v>
                </c:pt>
              </c:strCache>
            </c:strRef>
          </c:cat>
          <c:val>
            <c:numRef>
              <c:f>Sheet1!$B$2:$B$4</c:f>
              <c:numCache>
                <c:formatCode>General</c:formatCode>
                <c:ptCount val="3"/>
                <c:pt idx="0">
                  <c:v>0</c:v>
                </c:pt>
                <c:pt idx="1">
                  <c:v>99.7</c:v>
                </c:pt>
                <c:pt idx="2">
                  <c:v>99.2</c:v>
                </c:pt>
              </c:numCache>
            </c:numRef>
          </c:val>
          <c:extLst>
            <c:ext xmlns:c16="http://schemas.microsoft.com/office/drawing/2014/chart" uri="{C3380CC4-5D6E-409C-BE32-E72D297353CC}">
              <c16:uniqueId val="{00000000-33D6-4F6E-80AA-7078D3AC0AD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1B1F2A"/>
                </a:solidFill>
                <a:latin typeface="Arial"/>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2367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session: start the app (fedcast ui), press Pull evidence then Run forecast so the top bar reads 'under an hour ago', open the Forecast view, and have the Evidence graph, Analyst prompts, Analyst results and Scorecard tabs one click away. Open with the one-line thesis: a language model inside an engineered harness gives forecasts that are measurably more repeatable and more faithful to evidence than the same model asked naively, and the way to prove it is to measure the process, not to wait for eight decisions a year to come true.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The thread: every system on the right put a model's output in front of people making live decisions, and the hard part was never the model, it was earning trust in what it said. FedCast is that problem made explicit and measurable.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7577277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is narrow on purpose: what will the FOMC decide at its next scheduled meeting, as probabilities over five outcomes. The final entry before the meeting said no change at 67.6%, hike at 22.4%, with the specialists leaning hawkish by four basis points. The Fed held, ten votes to two, and both dissents wanted the quarter-point hike the specialists were leaning toward. Say plainly that the market alone was more confident (90/10) and we do not claim to beat it at five weeks; what the system adds is the reasons, and the vote bore the reasons out. Then: one decision proves little, which is why the rest of the talk is about process.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one minute. The point is only that the number exists, is dated, and is traceable. Do not explain the models yet.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kinds of signal exist already; each is good at one thing. Market prices are the best single predictor at thirty days and are the anchor of the pool. Surveys carry judgement; FedCast takes the data the committee reads instead, as history and a fitted model. The rules are the Fed's own benchmarks. The LLM papers show a model can read the Fed, on sixteen meetings. FedCast's claim is not a better guess but the combination: one of each kind, pooled by code at fixed weights, every number traceable to frozen evidence.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reasons, the first is the one to land. Eight decisions a year cannot tell skill from luck, so we judge the process with a scorecard fixed before any code. Second, auditable means concrete: an analyst that says inflation is elevated must quote the line it read and code must find it. Third, because everything is quotable and the analysts can read only the evidence, a wrong call is a traceable wrong call, and because the harness is repeatable it goes wrong the same way every time, so a fix can be tested and stays fixed. Details later in the deck: the ladder, the scorecard, the drift table.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diagram from the brief. Four families of input, combined by code with fixed, published weights; no model writes the number. The language-model family enters only as a bounded lean. Right: the chain in order, each line a view in the app. Walk the diagram first, then the chain.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Entry 18, the final one before the meeting. The pool is a weighted average, then the floor. The specialists' mean lean of +4.0 basis points becomes 4.0 points of probability moved toward a hike, through the same capped mechanism a human view uses. The lean row is tinted and labelled 'after pooling': it is a modifier on the pooled number, not a model in the pool. Then the footer: the weights are judgement, logged; ideally they would be backtested, but there is no live record yet, so live scores from 28 October onward decide them by amendment.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longest demo. Start at the raw futures price so the audience sees arithmetic, not a black box. Then the pool box, then one click into an evidence item to show the frozen text.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things a language model cannot be made to stop doing: it remembers, it varies between runs, and it can invent support. None is removed. Each is designed around, and the design is measured on every snapshot. Walk the three columns top to bottom: the limit, what we do, the proof. The proof numbers are from the 28 October records and the four-snapshot means.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the same frozen evidence, eight configurations. Left: analysts 1 to 3 are controls, drawn grey and dashed; they never enter the number. Right: the five specialists that do. Every analyst runs five times on the same snapshot; for 1 to 3 those runs build the benchmark 4 to 8 are measured against. Analyst 1 sets the baseline (variance, numbers from memory, nothing quoted); 2 tests what immutable evidence fixes; 3 tests the answer shape and code verification. Each rung adds one thing, so the change in the measurements is the value of that thing.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analyst 1 first so the contrast with analyst 6 lands. Scroll the full prompt slowly past the schema and the pre-read; do not read it out.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charts, one per dimension, averaged over the four snapshots. Left: how much the answer moves between identical runs. The step that matters is analyst 2 to analyst 3: the answer shape and the verifier take the wobble from three and a half points to under one. Middle: numbers from memory, gone as soon as the evidence is shown. Right: share of claims whose quote code found verbatim; analyst 2 cannot be measured because it quotes nothing. The specialists keep what analyst 3 achieved. For analysts 3 to 8 the wobble is in their lean, which maps one basis point to one percentage point of probability, so the four bars are comparable.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of method, then the outcome. Each specialist runs five times on the same frozen snapshot; the five answers must sit within the variance pass mark, every claim must carry a quote code finds, and no number may come from memory. Only then does the lean count. The band is the 28 October run; bottom left is what the five said and what it did to the number; bottom right is one claim as recorded, with the quote code found.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86811250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a quote comes from, open the statement claim on analyst 4: the quote is the statement's own line, found by code in item fed.statement.2026-09-16.</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time is short, skip the dropdown and go straight to the over-time table.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Press the button, read the result line, move 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follow-ups, in order of value. One: pre-registered weight sets scored on every live decision, so the weights stop being judgement. Two: reasoning quality graded by people in the app, which becomes the tenth measured dimension and a gate. Three: an events agent for the regime shifts the models cannot read. Four: a second model family to show the harness, not the model, does the work. Five: other central banks; the chain needs a calendar, a rate series, the statements and a curve, and the scorecard transfers unchanged. Six: better classical models, judged by the expanding window only.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9568660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ask. The forecast for 28 October is on file; the scoring is automatic from here; what the room can add is scrutiny and the next target.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as an evolution. Analyst 1 wobbles by three to five points between identical runs, cites nothing, and leaks three dozen numbers from memory; it still thinks the Fed is cutting. Adding the evidence (analyst 2) removes the leaks but not the wobble, and nothing can be checked. Adding the answer shape and the verifier (analyst 3) is the step that makes the output stable and fully verifiable. Specialists (4 to 8) keep that and add attribution. Same model, same day; the difference at each step is the one thing added.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76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rtlCol="0"/>
          <a:lstStyle>
            <a:lvl1pPr marL="0" indent="0" algn="l">
              <a:buNone/>
              <a:defRPr lang="en-US" sz="2000" dirty="0">
                <a:solidFill>
                  <a:srgbClr val="CADCFC"/>
                </a:solidFill>
              </a:defRPr>
            </a:lvl1pPr>
          </a:lstStyle>
          <a:p>
            <a:pPr marL="0" indent="0" algn="l">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rtlCol="0"/>
          <a:lstStyle>
            <a:lvl1pPr marL="0" indent="0" algn="l">
              <a:buNone/>
              <a:defRPr lang="en-US" sz="3200" b="1" dirty="0">
                <a:solidFill>
                  <a:schemeClr val="tx2"/>
                </a:solidFill>
              </a:defRPr>
            </a:lvl1pPr>
          </a:lstStyle>
          <a:p>
            <a:pPr marL="0" indent="0" algn="l">
              <a:buNone/>
            </a:pPr>
            <a:endParaRPr lang="en-US" sz="3200" dirty="0"/>
          </a:p>
        </p:txBody>
      </p:sp>
      <p:sp>
        <p:nvSpPr>
          <p:cNvPr id="3" name="Text 0"/>
          <p:cNvSpPr txBox="1"/>
          <p:nvPr/>
        </p:nvSpPr>
        <p:spPr>
          <a:xfrm>
            <a:off x="548640" y="6400800"/>
            <a:ext cx="7315200" cy="274320"/>
          </a:xfrm>
          <a:prstGeom prst="rect">
            <a:avLst/>
          </a:prstGeom>
          <a:noFill/>
          <a:ln/>
        </p:spPr>
        <p:txBody>
          <a:bodyPr wrap="square" lIns="0" tIns="0" rIns="0" bIns="0" rtlCol="0" anchor="ctr"/>
          <a:lstStyle/>
          <a:p>
            <a:pPr marL="0" indent="0">
              <a:buNone/>
            </a:pPr>
            <a:r>
              <a:rPr lang="en-US" sz="1000" dirty="0">
                <a:solidFill>
                  <a:schemeClr val="accent4"/>
                </a:solidFill>
              </a:rPr>
              <a:t>FedCast · Fullerton session · October 2026</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p:bg>
      <p:bgPr>
        <a:solidFill>
          <a:srgbClr val="1B1F2A"/>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3" name="Text 0"/>
          <p:cNvSpPr txBox="1"/>
          <p:nvPr/>
        </p:nvSpPr>
        <p:spPr>
          <a:xfrm>
            <a:off x="548640" y="6355080"/>
            <a:ext cx="3657600" cy="274320"/>
          </a:xfrm>
          <a:prstGeom prst="rect">
            <a:avLst/>
          </a:prstGeom>
          <a:noFill/>
          <a:ln/>
        </p:spPr>
        <p:txBody>
          <a:bodyPr wrap="square" lIns="0" tIns="0" rIns="0" bIns="0" rtlCol="0" anchor="ctr"/>
          <a:lstStyle/>
          <a:p>
            <a:pPr marL="0" indent="0">
              <a:buNone/>
            </a:pPr>
            <a:r>
              <a:rPr lang="en-US" sz="1000" b="1" dirty="0">
                <a:solidFill>
                  <a:srgbClr val="E9B44C"/>
                </a:solidFill>
              </a:rPr>
              <a:t>LIVE DEMO</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3.xml"/><Relationship Id="rId1" Type="http://schemas.openxmlformats.org/officeDocument/2006/relationships/slideLayout" Target="../slideLayouts/slideLayout3.xml"/><Relationship Id="rId5" Type="http://schemas.openxmlformats.org/officeDocument/2006/relationships/chart" Target="../charts/chart3.xml"/><Relationship Id="rId4" Type="http://schemas.openxmlformats.org/officeDocument/2006/relationships/chart" Target="../charts/char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FedCast</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0" indent="0" algn="l">
              <a:buNone/>
            </a:pPr>
            <a:r>
              <a:rPr lang="en-US" sz="2000" dirty="0">
                <a:solidFill>
                  <a:srgbClr val="CADCFC"/>
                </a:solidFill>
              </a:rPr>
              <a:t>A forecaster for the next Federal Reserve rate decision, built to be judged by its process rather than its luck</a:t>
            </a:r>
            <a:endParaRPr lang="en-US" sz="2000" dirty="0"/>
          </a:p>
        </p:txBody>
      </p:sp>
      <p:sp>
        <p:nvSpPr>
          <p:cNvPr id="4" name="Text 2"/>
          <p:cNvSpPr txBox="1"/>
          <p:nvPr/>
        </p:nvSpPr>
        <p:spPr>
          <a:xfrm>
            <a:off x="548640" y="5852160"/>
            <a:ext cx="7315200" cy="365760"/>
          </a:xfrm>
          <a:prstGeom prst="rect">
            <a:avLst/>
          </a:prstGeom>
          <a:noFill/>
          <a:ln/>
        </p:spPr>
        <p:txBody>
          <a:bodyPr wrap="square" lIns="0" tIns="0" rIns="0" bIns="0" rtlCol="0" anchor="t"/>
          <a:lstStyle/>
          <a:p>
            <a:pPr marL="0" indent="0">
              <a:buNone/>
            </a:pPr>
            <a:r>
              <a:rPr lang="en-US" sz="1400" dirty="0">
                <a:solidFill>
                  <a:srgbClr val="CADCFC"/>
                </a:solidFill>
              </a:rPr>
              <a:t>Tan Kah Ming · Fullerton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About me</a:t>
            </a:r>
            <a:endParaRPr lang="en-US" sz="3200" dirty="0"/>
          </a:p>
        </p:txBody>
      </p:sp>
      <p:sp>
        <p:nvSpPr>
          <p:cNvPr id="4" name="Shape 1"/>
          <p:cNvSpPr/>
          <p:nvPr/>
        </p:nvSpPr>
        <p:spPr>
          <a:xfrm>
            <a:off x="548640" y="1417320"/>
            <a:ext cx="4480560" cy="4663440"/>
          </a:xfrm>
          <a:prstGeom prst="roundRect">
            <a:avLst>
              <a:gd name="adj" fmla="val 2449"/>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868680" y="1645920"/>
            <a:ext cx="3840480" cy="502920"/>
          </a:xfrm>
          <a:prstGeom prst="rect">
            <a:avLst/>
          </a:prstGeom>
          <a:noFill/>
          <a:ln/>
        </p:spPr>
        <p:txBody>
          <a:bodyPr wrap="square" lIns="0" tIns="0" rIns="0" bIns="0" rtlCol="0" anchor="t"/>
          <a:lstStyle/>
          <a:p>
            <a:pPr marL="0" indent="0">
              <a:buNone/>
            </a:pPr>
            <a:r>
              <a:rPr lang="en-US" sz="2400" b="1" dirty="0">
                <a:solidFill>
                  <a:schemeClr val="tx2"/>
                </a:solidFill>
                <a:latin typeface="Cambria" pitchFamily="34" charset="0"/>
                <a:ea typeface="Cambria" pitchFamily="34" charset="-122"/>
                <a:cs typeface="Cambria" pitchFamily="34" charset="-120"/>
              </a:rPr>
              <a:t>Tan Kah Ming</a:t>
            </a:r>
            <a:endParaRPr lang="en-US" sz="2400" dirty="0"/>
          </a:p>
        </p:txBody>
      </p:sp>
      <p:sp>
        <p:nvSpPr>
          <p:cNvPr id="6" name="Text 3"/>
          <p:cNvSpPr txBox="1"/>
          <p:nvPr/>
        </p:nvSpPr>
        <p:spPr>
          <a:xfrm>
            <a:off x="868680" y="2194560"/>
            <a:ext cx="3840480" cy="731520"/>
          </a:xfrm>
          <a:prstGeom prst="rect">
            <a:avLst/>
          </a:prstGeom>
          <a:noFill/>
          <a:ln/>
        </p:spPr>
        <p:txBody>
          <a:bodyPr wrap="square" lIns="0" tIns="0" rIns="0" bIns="0" rtlCol="0" anchor="t"/>
          <a:lstStyle/>
          <a:p>
            <a:pPr marL="0" indent="0">
              <a:buNone/>
            </a:pPr>
            <a:r>
              <a:rPr lang="en-US" sz="1250" dirty="0">
                <a:solidFill>
                  <a:schemeClr val="tx1"/>
                </a:solidFill>
              </a:rPr>
              <a:t>Senior AI, Data and Technology Consultant, seconded to </a:t>
            </a:r>
            <a:r>
              <a:rPr lang="en-US" sz="1250" dirty="0"/>
              <a:t>Sovereign Wealth Fund. </a:t>
            </a:r>
          </a:p>
        </p:txBody>
      </p:sp>
      <p:sp>
        <p:nvSpPr>
          <p:cNvPr id="7" name="Text 4"/>
          <p:cNvSpPr txBox="1"/>
          <p:nvPr/>
        </p:nvSpPr>
        <p:spPr>
          <a:xfrm>
            <a:off x="868680" y="3017520"/>
            <a:ext cx="3840480" cy="320040"/>
          </a:xfrm>
          <a:prstGeom prst="rect">
            <a:avLst/>
          </a:prstGeom>
          <a:noFill/>
          <a:ln/>
        </p:spPr>
        <p:txBody>
          <a:bodyPr wrap="square" lIns="0" tIns="0" rIns="0" bIns="0" rtlCol="0" anchor="t"/>
          <a:lstStyle/>
          <a:p>
            <a:pPr marL="0" indent="0">
              <a:buNone/>
            </a:pPr>
            <a:r>
              <a:rPr lang="en-US" sz="1200" b="1" dirty="0">
                <a:solidFill>
                  <a:schemeClr val="tx2"/>
                </a:solidFill>
              </a:rPr>
              <a:t>Before that</a:t>
            </a:r>
            <a:endParaRPr lang="en-US" sz="1200" dirty="0"/>
          </a:p>
        </p:txBody>
      </p:sp>
      <p:sp>
        <p:nvSpPr>
          <p:cNvPr id="8" name="Text 5"/>
          <p:cNvSpPr txBox="1"/>
          <p:nvPr/>
        </p:nvSpPr>
        <p:spPr>
          <a:xfrm>
            <a:off x="868680" y="3337560"/>
            <a:ext cx="3840480" cy="1280160"/>
          </a:xfrm>
          <a:prstGeom prst="rect">
            <a:avLst/>
          </a:prstGeom>
          <a:noFill/>
          <a:ln/>
        </p:spPr>
        <p:txBody>
          <a:bodyPr wrap="square" lIns="0" tIns="0" rIns="0" bIns="0" rtlCol="0" anchor="t"/>
          <a:lstStyle/>
          <a:p>
            <a:pPr marL="342900" indent="-342900">
              <a:spcAft>
                <a:spcPts val="600"/>
              </a:spcAft>
              <a:buSzPct val="100000"/>
              <a:buChar char="•"/>
            </a:pPr>
            <a:r>
              <a:rPr lang="en-US" sz="1150" dirty="0">
                <a:solidFill>
                  <a:schemeClr val="tx1"/>
                </a:solidFill>
              </a:rPr>
              <a:t>Data scientist, RSAF Data Office: </a:t>
            </a:r>
            <a:r>
              <a:rPr lang="en-US" sz="1150" dirty="0"/>
              <a:t>contributed to RSAF AI Strategy</a:t>
            </a:r>
            <a:r>
              <a:rPr lang="en-US" sz="1150" dirty="0">
                <a:solidFill>
                  <a:schemeClr val="tx1"/>
                </a:solidFill>
              </a:rPr>
              <a:t>, set up its first digital unit</a:t>
            </a:r>
            <a:endParaRPr lang="en-US" sz="1150" dirty="0"/>
          </a:p>
          <a:p>
            <a:pPr marL="342900" indent="-342900">
              <a:spcAft>
                <a:spcPts val="600"/>
              </a:spcAft>
              <a:buSzPct val="100000"/>
              <a:buChar char="•"/>
            </a:pPr>
            <a:r>
              <a:rPr lang="en-US" sz="1150" dirty="0">
                <a:solidFill>
                  <a:schemeClr val="tx1"/>
                </a:solidFill>
              </a:rPr>
              <a:t>Air engineering and weapons logistics officer, where the data-driven habit started (Weibull analysis, predictive maintenance)</a:t>
            </a:r>
            <a:endParaRPr lang="en-US" sz="1150" dirty="0"/>
          </a:p>
        </p:txBody>
      </p:sp>
      <p:sp>
        <p:nvSpPr>
          <p:cNvPr id="9" name="Text 6"/>
          <p:cNvSpPr txBox="1"/>
          <p:nvPr/>
        </p:nvSpPr>
        <p:spPr>
          <a:xfrm>
            <a:off x="868680" y="4663440"/>
            <a:ext cx="3840480" cy="320040"/>
          </a:xfrm>
          <a:prstGeom prst="rect">
            <a:avLst/>
          </a:prstGeom>
          <a:noFill/>
          <a:ln/>
        </p:spPr>
        <p:txBody>
          <a:bodyPr wrap="square" lIns="0" tIns="0" rIns="0" bIns="0" rtlCol="0" anchor="t"/>
          <a:lstStyle/>
          <a:p>
            <a:pPr marL="0" indent="0">
              <a:buNone/>
            </a:pPr>
            <a:r>
              <a:rPr lang="en-US" sz="1200" b="1" dirty="0">
                <a:solidFill>
                  <a:schemeClr val="tx2"/>
                </a:solidFill>
              </a:rPr>
              <a:t>Training</a:t>
            </a:r>
            <a:endParaRPr lang="en-US" sz="1200" dirty="0"/>
          </a:p>
        </p:txBody>
      </p:sp>
      <p:sp>
        <p:nvSpPr>
          <p:cNvPr id="10" name="Text 7"/>
          <p:cNvSpPr txBox="1"/>
          <p:nvPr/>
        </p:nvSpPr>
        <p:spPr>
          <a:xfrm>
            <a:off x="868680" y="4983480"/>
            <a:ext cx="3840480" cy="1005840"/>
          </a:xfrm>
          <a:prstGeom prst="rect">
            <a:avLst/>
          </a:prstGeom>
          <a:noFill/>
          <a:ln/>
        </p:spPr>
        <p:txBody>
          <a:bodyPr wrap="square" lIns="0" tIns="0" rIns="0" bIns="0" rtlCol="0" anchor="t"/>
          <a:lstStyle/>
          <a:p>
            <a:pPr marL="0" indent="0">
              <a:buNone/>
            </a:pPr>
            <a:r>
              <a:rPr lang="en-US" sz="1150" dirty="0">
                <a:solidFill>
                  <a:schemeClr val="tx1"/>
                </a:solidFill>
              </a:rPr>
              <a:t>M.Eng Aeronautical Engineering, Imperial College London · Graduate Certificate in Predictive Analytics, NUS · CFA Level 3 candidate (February 2027)</a:t>
            </a:r>
            <a:endParaRPr lang="en-US" sz="1150" dirty="0"/>
          </a:p>
        </p:txBody>
      </p:sp>
      <p:sp>
        <p:nvSpPr>
          <p:cNvPr id="11" name="Text 8"/>
          <p:cNvSpPr txBox="1"/>
          <p:nvPr/>
        </p:nvSpPr>
        <p:spPr>
          <a:xfrm>
            <a:off x="5394960" y="1463040"/>
            <a:ext cx="6263640" cy="411480"/>
          </a:xfrm>
          <a:prstGeom prst="rect">
            <a:avLst/>
          </a:prstGeom>
          <a:noFill/>
          <a:ln/>
        </p:spPr>
        <p:txBody>
          <a:bodyPr wrap="square" lIns="0" tIns="0" rIns="0" bIns="0" rtlCol="0" anchor="t"/>
          <a:lstStyle/>
          <a:p>
            <a:pPr marL="0" indent="0">
              <a:buNone/>
            </a:pPr>
            <a:r>
              <a:rPr lang="en-US" sz="1600" b="1" dirty="0">
                <a:solidFill>
                  <a:schemeClr val="tx2"/>
                </a:solidFill>
              </a:rPr>
              <a:t>Things I have built that models/Applications in</a:t>
            </a:r>
            <a:endParaRPr lang="en-US" sz="1600" dirty="0"/>
          </a:p>
        </p:txBody>
      </p:sp>
      <p:sp>
        <p:nvSpPr>
          <p:cNvPr id="12" name="Shape 9"/>
          <p:cNvSpPr/>
          <p:nvPr/>
        </p:nvSpPr>
        <p:spPr>
          <a:xfrm>
            <a:off x="5394960" y="2011680"/>
            <a:ext cx="384048" cy="384048"/>
          </a:xfrm>
          <a:prstGeom prst="ellipse">
            <a:avLst/>
          </a:prstGeom>
          <a:solidFill>
            <a:srgbClr val="1E2761"/>
          </a:solidFill>
          <a:ln w="12700">
            <a:solidFill>
              <a:srgbClr val="1E2761"/>
            </a:solidFill>
            <a:prstDash val="solid"/>
          </a:ln>
        </p:spPr>
      </p:sp>
      <p:sp>
        <p:nvSpPr>
          <p:cNvPr id="13" name="Text 10"/>
          <p:cNvSpPr txBox="1"/>
          <p:nvPr/>
        </p:nvSpPr>
        <p:spPr>
          <a:xfrm>
            <a:off x="5394960" y="201168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14" name="Text 11"/>
          <p:cNvSpPr txBox="1"/>
          <p:nvPr/>
        </p:nvSpPr>
        <p:spPr>
          <a:xfrm>
            <a:off x="5897880" y="1965960"/>
            <a:ext cx="5760720" cy="320040"/>
          </a:xfrm>
          <a:prstGeom prst="rect">
            <a:avLst/>
          </a:prstGeom>
          <a:noFill/>
          <a:ln/>
        </p:spPr>
        <p:txBody>
          <a:bodyPr wrap="square" lIns="0" tIns="0" rIns="0" bIns="0" rtlCol="0" anchor="t"/>
          <a:lstStyle/>
          <a:p>
            <a:pPr marL="0" indent="0">
              <a:buNone/>
            </a:pPr>
            <a:r>
              <a:rPr lang="en-US" sz="1300" b="1" dirty="0">
                <a:solidFill>
                  <a:schemeClr val="tx2"/>
                </a:solidFill>
              </a:rPr>
              <a:t>Investment analytics, valuation and execution</a:t>
            </a:r>
            <a:endParaRPr lang="en-US" sz="1300" dirty="0"/>
          </a:p>
        </p:txBody>
      </p:sp>
      <p:sp>
        <p:nvSpPr>
          <p:cNvPr id="15" name="Text 12"/>
          <p:cNvSpPr txBox="1"/>
          <p:nvPr/>
        </p:nvSpPr>
        <p:spPr>
          <a:xfrm>
            <a:off x="5879592" y="2234363"/>
            <a:ext cx="5760720" cy="713232"/>
          </a:xfrm>
          <a:prstGeom prst="rect">
            <a:avLst/>
          </a:prstGeom>
          <a:noFill/>
          <a:ln/>
        </p:spPr>
        <p:txBody>
          <a:bodyPr wrap="square" lIns="0" tIns="0" rIns="0" bIns="0" rtlCol="0" anchor="t"/>
          <a:lstStyle/>
          <a:p>
            <a:pPr lvl="0"/>
            <a:r>
              <a:rPr lang="en-US" sz="1050" b="1" dirty="0"/>
              <a:t>Investment analytics:</a:t>
            </a:r>
            <a:r>
              <a:rPr lang="en-US" sz="1050" dirty="0"/>
              <a:t> AI-assisted performance attribution and idea tracking for an investment team.</a:t>
            </a:r>
          </a:p>
          <a:p>
            <a:pPr lvl="0"/>
            <a:r>
              <a:rPr lang="en-US" sz="1050" b="1" dirty="0"/>
              <a:t>Valuation:</a:t>
            </a:r>
            <a:r>
              <a:rPr lang="en-US" sz="1050" dirty="0"/>
              <a:t> Machine-learning valuation for illiquid assets.</a:t>
            </a:r>
          </a:p>
          <a:p>
            <a:pPr lvl="0"/>
            <a:r>
              <a:rPr lang="en-US" sz="1050" b="1" dirty="0"/>
              <a:t>Execution:</a:t>
            </a:r>
            <a:r>
              <a:rPr lang="en-US" sz="1050" dirty="0"/>
              <a:t> Trade workflow automation for investment teams.</a:t>
            </a:r>
          </a:p>
        </p:txBody>
      </p:sp>
      <p:sp>
        <p:nvSpPr>
          <p:cNvPr id="20" name="Shape 17"/>
          <p:cNvSpPr/>
          <p:nvPr/>
        </p:nvSpPr>
        <p:spPr>
          <a:xfrm>
            <a:off x="5394960" y="3377722"/>
            <a:ext cx="384048" cy="384048"/>
          </a:xfrm>
          <a:prstGeom prst="ellipse">
            <a:avLst/>
          </a:prstGeom>
          <a:solidFill>
            <a:srgbClr val="1E2761"/>
          </a:solidFill>
          <a:ln w="12700">
            <a:solidFill>
              <a:srgbClr val="1E2761"/>
            </a:solidFill>
            <a:prstDash val="solid"/>
          </a:ln>
        </p:spPr>
      </p:sp>
      <p:sp>
        <p:nvSpPr>
          <p:cNvPr id="21" name="Text 18"/>
          <p:cNvSpPr txBox="1"/>
          <p:nvPr/>
        </p:nvSpPr>
        <p:spPr>
          <a:xfrm>
            <a:off x="5394960" y="337772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2" name="Text 19"/>
          <p:cNvSpPr txBox="1"/>
          <p:nvPr/>
        </p:nvSpPr>
        <p:spPr>
          <a:xfrm>
            <a:off x="5897880" y="3332002"/>
            <a:ext cx="5760720" cy="320040"/>
          </a:xfrm>
          <a:prstGeom prst="rect">
            <a:avLst/>
          </a:prstGeom>
          <a:noFill/>
          <a:ln/>
        </p:spPr>
        <p:txBody>
          <a:bodyPr wrap="square" lIns="0" tIns="0" rIns="0" bIns="0" rtlCol="0" anchor="t"/>
          <a:lstStyle/>
          <a:p>
            <a:pPr marL="0" indent="0">
              <a:buNone/>
            </a:pPr>
            <a:r>
              <a:rPr lang="en-US" sz="1300" b="1" dirty="0">
                <a:solidFill>
                  <a:schemeClr val="tx2"/>
                </a:solidFill>
              </a:rPr>
              <a:t>Data Science </a:t>
            </a:r>
            <a:endParaRPr lang="en-US" sz="1300" dirty="0"/>
          </a:p>
        </p:txBody>
      </p:sp>
      <p:sp>
        <p:nvSpPr>
          <p:cNvPr id="23" name="Text 20"/>
          <p:cNvSpPr txBox="1"/>
          <p:nvPr/>
        </p:nvSpPr>
        <p:spPr>
          <a:xfrm>
            <a:off x="5897880" y="3652042"/>
            <a:ext cx="5760720" cy="713232"/>
          </a:xfrm>
          <a:prstGeom prst="rect">
            <a:avLst/>
          </a:prstGeom>
          <a:noFill/>
          <a:ln/>
        </p:spPr>
        <p:txBody>
          <a:bodyPr wrap="square" lIns="0" tIns="0" rIns="0" bIns="0" rtlCol="0" anchor="t"/>
          <a:lstStyle/>
          <a:p>
            <a:pPr marL="0" indent="0">
              <a:buNone/>
            </a:pPr>
            <a:r>
              <a:rPr lang="en-US" sz="1050" dirty="0">
                <a:solidFill>
                  <a:schemeClr val="tx1"/>
                </a:solidFill>
              </a:rPr>
              <a:t>- 4th of 160+ teams (MIT, DoD, USAF) in the 2023 USAF AI Accelerator, predicting pilot flying difficulty from physiology; </a:t>
            </a:r>
          </a:p>
          <a:p>
            <a:pPr marL="0" indent="0">
              <a:buNone/>
            </a:pPr>
            <a:r>
              <a:rPr lang="en-US" sz="1050" dirty="0"/>
              <a:t>- A</a:t>
            </a:r>
            <a:r>
              <a:rPr lang="en-US" sz="1050" dirty="0">
                <a:solidFill>
                  <a:schemeClr val="tx1"/>
                </a:solidFill>
              </a:rPr>
              <a:t>n ammunition recommender (quantile LightGBM) that cut wastage with no shortfall</a:t>
            </a:r>
            <a:r>
              <a:rPr lang="en-US" sz="1050" dirty="0"/>
              <a:t> -&gt; </a:t>
            </a:r>
            <a:r>
              <a:rPr lang="en-US" sz="1050" dirty="0" err="1">
                <a:solidFill>
                  <a:schemeClr val="tx1"/>
                </a:solidFill>
              </a:rPr>
              <a:t>Defence</a:t>
            </a:r>
            <a:r>
              <a:rPr lang="en-US" sz="1050" dirty="0">
                <a:solidFill>
                  <a:schemeClr val="tx1"/>
                </a:solidFill>
              </a:rPr>
              <a:t> Manpower Committee Innovation Award 2022.</a:t>
            </a:r>
            <a:endParaRPr lang="en-US" sz="1050" dirty="0"/>
          </a:p>
        </p:txBody>
      </p:sp>
      <p:sp>
        <p:nvSpPr>
          <p:cNvPr id="24" name="Shape 21"/>
          <p:cNvSpPr/>
          <p:nvPr/>
        </p:nvSpPr>
        <p:spPr>
          <a:xfrm>
            <a:off x="5394960" y="4809744"/>
            <a:ext cx="384048" cy="384048"/>
          </a:xfrm>
          <a:prstGeom prst="ellipse">
            <a:avLst/>
          </a:prstGeom>
          <a:solidFill>
            <a:srgbClr val="1E2761"/>
          </a:solidFill>
          <a:ln w="12700">
            <a:solidFill>
              <a:srgbClr val="1E2761"/>
            </a:solidFill>
            <a:prstDash val="solid"/>
          </a:ln>
        </p:spPr>
      </p:sp>
      <p:sp>
        <p:nvSpPr>
          <p:cNvPr id="25" name="Text 22"/>
          <p:cNvSpPr txBox="1"/>
          <p:nvPr/>
        </p:nvSpPr>
        <p:spPr>
          <a:xfrm>
            <a:off x="5394960" y="4809744"/>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26" name="Text 23"/>
          <p:cNvSpPr txBox="1"/>
          <p:nvPr/>
        </p:nvSpPr>
        <p:spPr>
          <a:xfrm>
            <a:off x="5897880" y="4764024"/>
            <a:ext cx="5760720" cy="320040"/>
          </a:xfrm>
          <a:prstGeom prst="rect">
            <a:avLst/>
          </a:prstGeom>
          <a:noFill/>
          <a:ln/>
        </p:spPr>
        <p:txBody>
          <a:bodyPr wrap="square" lIns="0" tIns="0" rIns="0" bIns="0" rtlCol="0" anchor="t"/>
          <a:lstStyle/>
          <a:p>
            <a:pPr marL="0" indent="0">
              <a:buNone/>
            </a:pPr>
            <a:r>
              <a:rPr lang="en-US" sz="1300" b="1" dirty="0">
                <a:solidFill>
                  <a:schemeClr val="tx2"/>
                </a:solidFill>
              </a:rPr>
              <a:t>COVID-19, 2021</a:t>
            </a:r>
            <a:endParaRPr lang="en-US" sz="1300" dirty="0"/>
          </a:p>
        </p:txBody>
      </p:sp>
      <p:sp>
        <p:nvSpPr>
          <p:cNvPr id="27" name="Text 24"/>
          <p:cNvSpPr txBox="1"/>
          <p:nvPr/>
        </p:nvSpPr>
        <p:spPr>
          <a:xfrm>
            <a:off x="5897880" y="5084064"/>
            <a:ext cx="5760720" cy="713232"/>
          </a:xfrm>
          <a:prstGeom prst="rect">
            <a:avLst/>
          </a:prstGeom>
          <a:noFill/>
          <a:ln/>
        </p:spPr>
        <p:txBody>
          <a:bodyPr wrap="square" lIns="0" tIns="0" rIns="0" bIns="0" rtlCol="0" anchor="t"/>
          <a:lstStyle/>
          <a:p>
            <a:pPr marL="0" indent="0">
              <a:buNone/>
            </a:pPr>
            <a:r>
              <a:rPr lang="en-US" sz="1050" dirty="0">
                <a:solidFill>
                  <a:schemeClr val="tx1"/>
                </a:solidFill>
              </a:rPr>
              <a:t>Built, in weeks, the system that engaged every home-recovery patient in Singapore, 10,000 people a day, on form.sg, Azure and Zendesk. The lesson that carries over: a system people rely on must say what it knows and what it does not.</a:t>
            </a:r>
            <a:endParaRPr lang="en-US" sz="10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a:t>
            </a:fld>
            <a:endParaRPr lang="en-US"/>
          </a:p>
        </p:txBody>
      </p:sp>
      <p:pic>
        <p:nvPicPr>
          <p:cNvPr id="28" name="Picture 27">
            <a:extLst>
              <a:ext uri="{FF2B5EF4-FFF2-40B4-BE49-F238E27FC236}">
                <a16:creationId xmlns:a16="http://schemas.microsoft.com/office/drawing/2014/main" id="{4CEC26B7-4B44-7817-CE81-1D48CC958ABA}"/>
              </a:ext>
            </a:extLst>
          </p:cNvPr>
          <p:cNvPicPr>
            <a:picLocks noChangeAspect="1"/>
          </p:cNvPicPr>
          <p:nvPr/>
        </p:nvPicPr>
        <p:blipFill>
          <a:blip r:embed="rId3"/>
          <a:stretch>
            <a:fillRect/>
          </a:stretch>
        </p:blipFill>
        <p:spPr>
          <a:xfrm>
            <a:off x="10339174" y="536044"/>
            <a:ext cx="1232199" cy="1232199"/>
          </a:xfrm>
          <a:prstGeom prst="ellipse">
            <a:avLst/>
          </a:prstGeom>
          <a:ln w="63500" cap="rnd">
            <a:noFill/>
          </a:ln>
          <a:effectLst/>
        </p:spPr>
      </p:pic>
    </p:spTree>
    <p:extLst>
      <p:ext uri="{BB962C8B-B14F-4D97-AF65-F5344CB8AC3E}">
        <p14:creationId xmlns:p14="http://schemas.microsoft.com/office/powerpoint/2010/main" val="23611103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question, the answer, and what happened</a:t>
            </a:r>
            <a:endParaRPr lang="en-US" sz="3200" dirty="0"/>
          </a:p>
        </p:txBody>
      </p:sp>
      <p:sp>
        <p:nvSpPr>
          <p:cNvPr id="4" name="Text 1"/>
          <p:cNvSpPr txBox="1"/>
          <p:nvPr/>
        </p:nvSpPr>
        <p:spPr>
          <a:xfrm>
            <a:off x="54864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28 Oct</a:t>
            </a:r>
            <a:endParaRPr lang="en-US" sz="4000" dirty="0"/>
          </a:p>
        </p:txBody>
      </p:sp>
      <p:sp>
        <p:nvSpPr>
          <p:cNvPr id="5" name="Text 2"/>
          <p:cNvSpPr txBox="1"/>
          <p:nvPr/>
        </p:nvSpPr>
        <p:spPr>
          <a:xfrm>
            <a:off x="54864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the decision being forecast, 2026</a:t>
            </a:r>
            <a:endParaRPr lang="en-US" sz="1200" dirty="0"/>
          </a:p>
        </p:txBody>
      </p:sp>
      <p:sp>
        <p:nvSpPr>
          <p:cNvPr id="6" name="Text 3"/>
          <p:cNvSpPr txBox="1"/>
          <p:nvPr/>
        </p:nvSpPr>
        <p:spPr>
          <a:xfrm>
            <a:off x="3383280" y="1417320"/>
            <a:ext cx="2743200" cy="822960"/>
          </a:xfrm>
          <a:prstGeom prst="rect">
            <a:avLst/>
          </a:prstGeom>
          <a:noFill/>
          <a:ln/>
        </p:spPr>
        <p:txBody>
          <a:bodyPr wrap="square" lIns="0" tIns="0" rIns="0" bIns="0" rtlCol="0" anchor="t"/>
          <a:lstStyle/>
          <a:p>
            <a:pPr marL="0" indent="0">
              <a:buNone/>
            </a:pPr>
            <a:r>
              <a:rPr lang="en-US" sz="4000" b="1" dirty="0">
                <a:solidFill>
                  <a:schemeClr val="tx2"/>
                </a:solidFill>
                <a:latin typeface="Cambria" pitchFamily="34" charset="0"/>
                <a:ea typeface="Cambria" pitchFamily="34" charset="-122"/>
                <a:cs typeface="Cambria" pitchFamily="34" charset="-120"/>
              </a:rPr>
              <a:t>67.6%</a:t>
            </a:r>
            <a:endParaRPr lang="en-US" sz="4000" dirty="0"/>
          </a:p>
        </p:txBody>
      </p:sp>
      <p:sp>
        <p:nvSpPr>
          <p:cNvPr id="7" name="Text 4"/>
          <p:cNvSpPr txBox="1"/>
          <p:nvPr/>
        </p:nvSpPr>
        <p:spPr>
          <a:xfrm>
            <a:off x="338328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FedCast, no change: ledger entry #18, nine hours before</a:t>
            </a:r>
            <a:endParaRPr lang="en-US" sz="1200" dirty="0"/>
          </a:p>
        </p:txBody>
      </p:sp>
      <p:sp>
        <p:nvSpPr>
          <p:cNvPr id="8" name="Text 5"/>
          <p:cNvSpPr txBox="1"/>
          <p:nvPr/>
        </p:nvSpPr>
        <p:spPr>
          <a:xfrm>
            <a:off x="6309360" y="1417320"/>
            <a:ext cx="2743200" cy="822960"/>
          </a:xfrm>
          <a:prstGeom prst="rect">
            <a:avLst/>
          </a:prstGeom>
          <a:noFill/>
          <a:ln/>
        </p:spPr>
        <p:txBody>
          <a:bodyPr wrap="square" lIns="0" tIns="0" rIns="0" bIns="0" rtlCol="0" anchor="t"/>
          <a:lstStyle/>
          <a:p>
            <a:pPr marL="0" indent="0">
              <a:buNone/>
            </a:pPr>
            <a:r>
              <a:rPr lang="en-US" sz="4000" b="1" dirty="0">
                <a:solidFill>
                  <a:srgbClr val="2C6E49"/>
                </a:solidFill>
                <a:latin typeface="Cambria" pitchFamily="34" charset="0"/>
                <a:ea typeface="Cambria" pitchFamily="34" charset="-122"/>
                <a:cs typeface="Cambria" pitchFamily="34" charset="-120"/>
              </a:rPr>
              <a:t>Hold</a:t>
            </a:r>
            <a:endParaRPr lang="en-US" sz="4000" dirty="0"/>
          </a:p>
        </p:txBody>
      </p:sp>
      <p:sp>
        <p:nvSpPr>
          <p:cNvPr id="9" name="Text 6"/>
          <p:cNvSpPr txBox="1"/>
          <p:nvPr/>
        </p:nvSpPr>
        <p:spPr>
          <a:xfrm>
            <a:off x="6309360" y="2258568"/>
            <a:ext cx="2743200" cy="548640"/>
          </a:xfrm>
          <a:prstGeom prst="rect">
            <a:avLst/>
          </a:prstGeom>
          <a:noFill/>
          <a:ln/>
        </p:spPr>
        <p:txBody>
          <a:bodyPr wrap="square" lIns="0" tIns="0" rIns="0" bIns="0" rtlCol="0" anchor="t"/>
          <a:lstStyle/>
          <a:p>
            <a:pPr marL="0" indent="0">
              <a:buNone/>
            </a:pPr>
            <a:r>
              <a:rPr lang="en-US" sz="1200" dirty="0">
                <a:solidFill>
                  <a:schemeClr val="accent4"/>
                </a:solidFill>
              </a:rPr>
              <a:t>what the Fed did: 3.75 to 4.00%, unchanged</a:t>
            </a:r>
            <a:endParaRPr lang="en-US" sz="1200" dirty="0"/>
          </a:p>
        </p:txBody>
      </p:sp>
      <p:sp>
        <p:nvSpPr>
          <p:cNvPr id="10" name="Text 7"/>
          <p:cNvSpPr txBox="1"/>
          <p:nvPr/>
        </p:nvSpPr>
        <p:spPr>
          <a:xfrm>
            <a:off x="9235440" y="1417320"/>
            <a:ext cx="2377440" cy="822960"/>
          </a:xfrm>
          <a:prstGeom prst="rect">
            <a:avLst/>
          </a:prstGeom>
          <a:noFill/>
          <a:ln/>
        </p:spPr>
        <p:txBody>
          <a:bodyPr wrap="square" lIns="0" tIns="0" rIns="0" bIns="0" rtlCol="0" anchor="t"/>
          <a:lstStyle/>
          <a:p>
            <a:pPr marL="0" indent="0">
              <a:buNone/>
            </a:pPr>
            <a:r>
              <a:rPr lang="en-US" sz="4000" b="1" dirty="0">
                <a:solidFill>
                  <a:srgbClr val="C8553D"/>
                </a:solidFill>
                <a:latin typeface="Cambria" pitchFamily="34" charset="0"/>
                <a:ea typeface="Cambria" pitchFamily="34" charset="-122"/>
                <a:cs typeface="Cambria" pitchFamily="34" charset="-120"/>
              </a:rPr>
              <a:t>10 to 2</a:t>
            </a:r>
            <a:endParaRPr lang="en-US" sz="4000" dirty="0"/>
          </a:p>
        </p:txBody>
      </p:sp>
      <p:sp>
        <p:nvSpPr>
          <p:cNvPr id="11" name="Text 8"/>
          <p:cNvSpPr txBox="1"/>
          <p:nvPr/>
        </p:nvSpPr>
        <p:spPr>
          <a:xfrm>
            <a:off x="9235440" y="2258568"/>
            <a:ext cx="2377440" cy="548640"/>
          </a:xfrm>
          <a:prstGeom prst="rect">
            <a:avLst/>
          </a:prstGeom>
          <a:noFill/>
          <a:ln/>
        </p:spPr>
        <p:txBody>
          <a:bodyPr wrap="square" lIns="0" tIns="0" rIns="0" bIns="0" rtlCol="0" anchor="t"/>
          <a:lstStyle/>
          <a:p>
            <a:pPr marL="0" indent="0">
              <a:buNone/>
            </a:pPr>
            <a:r>
              <a:rPr lang="en-US" sz="1200" dirty="0">
                <a:solidFill>
                  <a:schemeClr val="accent4"/>
                </a:solidFill>
              </a:rPr>
              <a:t>two dissents, both for the +25 bps the specialists leaned toward</a:t>
            </a:r>
            <a:endParaRPr lang="en-US" sz="1200" dirty="0"/>
          </a:p>
        </p:txBody>
      </p:sp>
      <p:sp>
        <p:nvSpPr>
          <p:cNvPr id="12" name="Shape 9"/>
          <p:cNvSpPr/>
          <p:nvPr/>
        </p:nvSpPr>
        <p:spPr>
          <a:xfrm>
            <a:off x="548640" y="3063240"/>
            <a:ext cx="5486400"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3" name="Text 10"/>
          <p:cNvSpPr txBox="1"/>
          <p:nvPr/>
        </p:nvSpPr>
        <p:spPr>
          <a:xfrm>
            <a:off x="822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How the number was made</a:t>
            </a:r>
            <a:endParaRPr lang="en-US" sz="1500" dirty="0"/>
          </a:p>
        </p:txBody>
      </p:sp>
      <p:sp>
        <p:nvSpPr>
          <p:cNvPr id="14" name="Text 11"/>
          <p:cNvSpPr txBox="1"/>
          <p:nvPr/>
        </p:nvSpPr>
        <p:spPr>
          <a:xfrm>
            <a:off x="822960" y="3566160"/>
            <a:ext cx="5029200"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One frozen snapshot of 23 evidence items, pulled 28 October: futures, eight FRED series, both statements, minutes, transcript, projections, speeches, 32 years of decisions, the NY Fed natural rate, prediction-market odds</a:t>
            </a:r>
            <a:endParaRPr lang="en-US" sz="1200" dirty="0"/>
          </a:p>
          <a:p>
            <a:pPr marL="342900" indent="-342900">
              <a:spcAft>
                <a:spcPts val="400"/>
              </a:spcAft>
              <a:buSzPct val="100000"/>
              <a:buChar char="•"/>
            </a:pPr>
            <a:r>
              <a:rPr lang="en-US" sz="1200" dirty="0">
                <a:solidFill>
                  <a:schemeClr val="tx1"/>
                </a:solidFill>
              </a:rPr>
              <a:t>Four models pooled by code at fixed weights (market 0.6, Taylor rules 0.2, odds 0.1, base rates 0.1), then a 1.5% floor on every outcome: no change 70.9%, hike 26.2%</a:t>
            </a:r>
            <a:endParaRPr lang="en-US" sz="1200" dirty="0"/>
          </a:p>
          <a:p>
            <a:pPr marL="342900" indent="-342900">
              <a:spcAft>
                <a:spcPts val="400"/>
              </a:spcAft>
              <a:buSzPct val="100000"/>
              <a:buChar char="•"/>
            </a:pPr>
            <a:r>
              <a:rPr lang="en-US" sz="1200" dirty="0">
                <a:solidFill>
                  <a:schemeClr val="tx1"/>
                </a:solidFill>
              </a:rPr>
              <a:t>Five specialist analysts, every claim quoted and verified by code, lean the number +4.0 bp toward a hike: no change 67.6%, +25 bps 22.4%, +50 bps 7.7%</a:t>
            </a:r>
            <a:endParaRPr lang="en-US" sz="1200" dirty="0"/>
          </a:p>
          <a:p>
            <a:pPr marL="342900" indent="-342900">
              <a:spcAft>
                <a:spcPts val="400"/>
              </a:spcAft>
              <a:buSzPct val="100000"/>
              <a:buChar char="•"/>
            </a:pPr>
            <a:r>
              <a:rPr lang="en-US" sz="1200" dirty="0">
                <a:solidFill>
                  <a:schemeClr val="tx1"/>
                </a:solidFill>
              </a:rPr>
              <a:t>Hash-chained ledger entry #18; recomputes exactly from its snapshot and the analyst runs it names</a:t>
            </a:r>
            <a:endParaRPr lang="en-US" sz="1200" dirty="0"/>
          </a:p>
        </p:txBody>
      </p:sp>
      <p:sp>
        <p:nvSpPr>
          <p:cNvPr id="15" name="Shape 12"/>
          <p:cNvSpPr/>
          <p:nvPr/>
        </p:nvSpPr>
        <p:spPr>
          <a:xfrm>
            <a:off x="6263640" y="3063240"/>
            <a:ext cx="5376672" cy="3063240"/>
          </a:xfrm>
          <a:prstGeom prst="roundRect">
            <a:avLst>
              <a:gd name="adj" fmla="val 3582"/>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Text 13"/>
          <p:cNvSpPr txBox="1"/>
          <p:nvPr/>
        </p:nvSpPr>
        <p:spPr>
          <a:xfrm>
            <a:off x="6537960" y="3200400"/>
            <a:ext cx="5029200" cy="365760"/>
          </a:xfrm>
          <a:prstGeom prst="rect">
            <a:avLst/>
          </a:prstGeom>
          <a:noFill/>
          <a:ln/>
        </p:spPr>
        <p:txBody>
          <a:bodyPr wrap="square" lIns="0" tIns="0" rIns="0" bIns="0" rtlCol="0" anchor="t"/>
          <a:lstStyle/>
          <a:p>
            <a:pPr marL="0" indent="0">
              <a:buNone/>
            </a:pPr>
            <a:r>
              <a:rPr lang="en-US" sz="1500" b="1" dirty="0">
                <a:solidFill>
                  <a:schemeClr val="tx2"/>
                </a:solidFill>
              </a:rPr>
              <a:t>What the outcome says</a:t>
            </a:r>
            <a:endParaRPr lang="en-US" sz="1500" dirty="0"/>
          </a:p>
        </p:txBody>
      </p:sp>
      <p:sp>
        <p:nvSpPr>
          <p:cNvPr id="17" name="Text 14"/>
          <p:cNvSpPr txBox="1"/>
          <p:nvPr/>
        </p:nvSpPr>
        <p:spPr>
          <a:xfrm>
            <a:off x="6537960" y="3566160"/>
            <a:ext cx="5102352" cy="25146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The most likely outcome was the outcome. The market alone was more confident (90/10); at five weeks we do not claim to beat it</a:t>
            </a:r>
            <a:endParaRPr lang="en-US" sz="1200" dirty="0"/>
          </a:p>
          <a:p>
            <a:pPr marL="342900" indent="-342900">
              <a:spcAft>
                <a:spcPts val="400"/>
              </a:spcAft>
              <a:buSzPct val="100000"/>
              <a:buChar char="•"/>
            </a:pPr>
            <a:r>
              <a:rPr lang="en-US" sz="1200" dirty="0">
                <a:solidFill>
                  <a:schemeClr val="tx1"/>
                </a:solidFill>
              </a:rPr>
              <a:t>What the system added was the reasons: the hawkish lean came from the communications, minutes and inflation readers; the labour reader was the lone dove. Two dissents for a hike is that lean, in the vote</a:t>
            </a:r>
            <a:endParaRPr lang="en-US" sz="1200" dirty="0"/>
          </a:p>
          <a:p>
            <a:pPr marL="342900" indent="-342900">
              <a:spcAft>
                <a:spcPts val="400"/>
              </a:spcAft>
              <a:buSzPct val="100000"/>
              <a:buChar char="•"/>
            </a:pPr>
            <a:r>
              <a:rPr lang="en-US" sz="1200" dirty="0">
                <a:solidFill>
                  <a:schemeClr val="tx1"/>
                </a:solidFill>
              </a:rPr>
              <a:t>Every reason is a quote code found in the frozen evidence, so the call can be taken apart claim by claim, which the rest of this talk does</a:t>
            </a:r>
            <a:endParaRPr lang="en-US" sz="1200" dirty="0"/>
          </a:p>
          <a:p>
            <a:pPr marL="342900" indent="-342900">
              <a:spcAft>
                <a:spcPts val="400"/>
              </a:spcAft>
              <a:buSzPct val="100000"/>
              <a:buChar char="•"/>
            </a:pPr>
            <a:r>
              <a:rPr lang="en-US" sz="1200" dirty="0">
                <a:solidFill>
                  <a:schemeClr val="tx1"/>
                </a:solidFill>
              </a:rPr>
              <a:t>One decision proves little. It is scored formally (log score, Brier, against the market and two naive baselines) the moment the NY Fed's post-meeting rate row lands, and every weight decision waits on that record</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1: the forecast</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app at localhost:8765, Forecast view</a:t>
            </a:r>
            <a:endParaRPr lang="en-US" sz="1300" dirty="0"/>
          </a:p>
          <a:p>
            <a:pPr marL="342900" indent="-342900">
              <a:spcAft>
                <a:spcPts val="800"/>
              </a:spcAft>
              <a:buSzPct val="100000"/>
              <a:buChar char="•"/>
            </a:pPr>
            <a:r>
              <a:rPr lang="en-US" sz="1300" dirty="0">
                <a:solidFill>
                  <a:srgbClr val="FFFFFF"/>
                </a:solidFill>
              </a:rPr>
              <a:t>Top bar: when the evidence was pulled, what is new at the sources</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two tracks side by side: machine only, and with views</a:t>
            </a:r>
            <a:endParaRPr lang="en-US" sz="1300" dirty="0"/>
          </a:p>
          <a:p>
            <a:pPr marL="342900" indent="-342900">
              <a:spcAft>
                <a:spcPts val="800"/>
              </a:spcAft>
              <a:buSzPct val="100000"/>
              <a:buChar char="•"/>
            </a:pPr>
            <a:r>
              <a:rPr lang="en-US" sz="1300" dirty="0">
                <a:solidFill>
                  <a:srgbClr val="FFFFFF"/>
                </a:solidFill>
              </a:rPr>
              <a:t>The meta line: ledger entry, snapshot hash, the specialists' tilt</a:t>
            </a:r>
            <a:endParaRPr lang="en-US" sz="1300" dirty="0"/>
          </a:p>
          <a:p>
            <a:pPr marL="342900" indent="-342900">
              <a:spcAft>
                <a:spcPts val="800"/>
              </a:spcAft>
              <a:buSzPct val="100000"/>
              <a:buChar char="•"/>
            </a:pPr>
            <a:r>
              <a:rPr lang="en-US" sz="1300" dirty="0">
                <a:solidFill>
                  <a:srgbClr val="FFFFFF"/>
                </a:solidFill>
              </a:rPr>
              <a:t>The five bars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This number was made at &lt;time&gt; from evidence frozen at &lt;time&gt;. Everything I show next is how it got there.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Four kinds of signal, and where FedCast sits</a:t>
            </a:r>
            <a:endParaRPr lang="en-US" sz="3200" dirty="0"/>
          </a:p>
        </p:txBody>
      </p:sp>
      <p:sp>
        <p:nvSpPr>
          <p:cNvPr id="4" name="Shape 1"/>
          <p:cNvSpPr/>
          <p:nvPr/>
        </p:nvSpPr>
        <p:spPr>
          <a:xfrm>
            <a:off x="548640"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777240" y="1691640"/>
            <a:ext cx="146304" cy="146304"/>
          </a:xfrm>
          <a:prstGeom prst="rect">
            <a:avLst/>
          </a:prstGeom>
          <a:solidFill>
            <a:srgbClr val="1E2761"/>
          </a:solidFill>
          <a:ln w="12700">
            <a:solidFill>
              <a:srgbClr val="1E2761"/>
            </a:solidFill>
            <a:prstDash val="solid"/>
          </a:ln>
        </p:spPr>
      </p:sp>
      <p:sp>
        <p:nvSpPr>
          <p:cNvPr id="6" name="Text 3"/>
          <p:cNvSpPr txBox="1"/>
          <p:nvPr/>
        </p:nvSpPr>
        <p:spPr>
          <a:xfrm>
            <a:off x="1005840"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Market signals</a:t>
            </a:r>
            <a:endParaRPr lang="en-US" sz="1500" dirty="0"/>
          </a:p>
        </p:txBody>
      </p:sp>
      <p:sp>
        <p:nvSpPr>
          <p:cNvPr id="7" name="Text 4"/>
          <p:cNvSpPr txBox="1"/>
          <p:nvPr/>
        </p:nvSpPr>
        <p:spPr>
          <a:xfrm>
            <a:off x="777240"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Fed funds futures (CME FedWatch); prediction markets (Polymarket, Kalshi)</a:t>
            </a:r>
            <a:endParaRPr lang="en-US" sz="1200" dirty="0"/>
          </a:p>
        </p:txBody>
      </p:sp>
      <p:sp>
        <p:nvSpPr>
          <p:cNvPr id="8" name="Text 5"/>
          <p:cNvSpPr txBox="1"/>
          <p:nvPr/>
        </p:nvSpPr>
        <p:spPr>
          <a:xfrm>
            <a:off x="777240"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Prices and crowd odds on each outcome</a:t>
            </a:r>
            <a:endParaRPr lang="en-US" sz="1150" dirty="0"/>
          </a:p>
        </p:txBody>
      </p:sp>
      <p:sp>
        <p:nvSpPr>
          <p:cNvPr id="9" name="Text 6"/>
          <p:cNvSpPr txBox="1"/>
          <p:nvPr/>
        </p:nvSpPr>
        <p:spPr>
          <a:xfrm>
            <a:off x="777240"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Futures about 88% right at 30 days, 1994 to 2024; odds move fast</a:t>
            </a:r>
            <a:endParaRPr lang="en-US" sz="1150" dirty="0"/>
          </a:p>
        </p:txBody>
      </p:sp>
      <p:sp>
        <p:nvSpPr>
          <p:cNvPr id="10" name="Shape 7"/>
          <p:cNvSpPr/>
          <p:nvPr/>
        </p:nvSpPr>
        <p:spPr>
          <a:xfrm>
            <a:off x="3374136"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3602736" y="1691640"/>
            <a:ext cx="146304" cy="146304"/>
          </a:xfrm>
          <a:prstGeom prst="rect">
            <a:avLst/>
          </a:prstGeom>
          <a:solidFill>
            <a:srgbClr val="2C6E49"/>
          </a:solidFill>
          <a:ln w="12700">
            <a:solidFill>
              <a:srgbClr val="2C6E49"/>
            </a:solidFill>
            <a:prstDash val="solid"/>
          </a:ln>
        </p:spPr>
      </p:sp>
      <p:sp>
        <p:nvSpPr>
          <p:cNvPr id="12" name="Text 9"/>
          <p:cNvSpPr txBox="1"/>
          <p:nvPr/>
        </p:nvSpPr>
        <p:spPr>
          <a:xfrm>
            <a:off x="3831336"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Economic signals</a:t>
            </a:r>
            <a:endParaRPr lang="en-US" sz="1500" dirty="0"/>
          </a:p>
        </p:txBody>
      </p:sp>
      <p:sp>
        <p:nvSpPr>
          <p:cNvPr id="13" name="Text 10"/>
          <p:cNvSpPr txBox="1"/>
          <p:nvPr/>
        </p:nvSpPr>
        <p:spPr>
          <a:xfrm>
            <a:off x="3602736"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Economist surveys; the macro data itself</a:t>
            </a:r>
            <a:endParaRPr lang="en-US" sz="1200" dirty="0"/>
          </a:p>
        </p:txBody>
      </p:sp>
      <p:sp>
        <p:nvSpPr>
          <p:cNvPr id="14" name="Text 11"/>
          <p:cNvSpPr txBox="1"/>
          <p:nvPr/>
        </p:nvSpPr>
        <p:spPr>
          <a:xfrm>
            <a:off x="3602736"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median of polled forecasters; the data the committee reads</a:t>
            </a:r>
            <a:endParaRPr lang="en-US" sz="1150" dirty="0"/>
          </a:p>
        </p:txBody>
      </p:sp>
      <p:sp>
        <p:nvSpPr>
          <p:cNvPr id="15" name="Text 12"/>
          <p:cNvSpPr txBox="1"/>
          <p:nvPr/>
        </p:nvSpPr>
        <p:spPr>
          <a:xfrm>
            <a:off x="3602736"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Broad human judgement; the data is the Fed's own input</a:t>
            </a:r>
            <a:endParaRPr lang="en-US" sz="1150" dirty="0"/>
          </a:p>
        </p:txBody>
      </p:sp>
      <p:sp>
        <p:nvSpPr>
          <p:cNvPr id="16" name="Shape 13"/>
          <p:cNvSpPr/>
          <p:nvPr/>
        </p:nvSpPr>
        <p:spPr>
          <a:xfrm>
            <a:off x="6199632"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7" name="Shape 14"/>
          <p:cNvSpPr/>
          <p:nvPr/>
        </p:nvSpPr>
        <p:spPr>
          <a:xfrm>
            <a:off x="6428232" y="1691640"/>
            <a:ext cx="146304" cy="146304"/>
          </a:xfrm>
          <a:prstGeom prst="rect">
            <a:avLst/>
          </a:prstGeom>
          <a:solidFill>
            <a:srgbClr val="E9B44C"/>
          </a:solidFill>
          <a:ln w="12700">
            <a:solidFill>
              <a:srgbClr val="E9B44C"/>
            </a:solidFill>
            <a:prstDash val="solid"/>
          </a:ln>
        </p:spPr>
      </p:sp>
      <p:sp>
        <p:nvSpPr>
          <p:cNvPr id="18" name="Text 15"/>
          <p:cNvSpPr txBox="1"/>
          <p:nvPr/>
        </p:nvSpPr>
        <p:spPr>
          <a:xfrm>
            <a:off x="6656832"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Policy rules</a:t>
            </a:r>
            <a:endParaRPr lang="en-US" sz="1500" dirty="0"/>
          </a:p>
        </p:txBody>
      </p:sp>
      <p:sp>
        <p:nvSpPr>
          <p:cNvPr id="19" name="Text 16"/>
          <p:cNvSpPr txBox="1"/>
          <p:nvPr/>
        </p:nvSpPr>
        <p:spPr>
          <a:xfrm>
            <a:off x="6428232"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The Taylor family</a:t>
            </a:r>
            <a:endParaRPr lang="en-US" sz="1200" dirty="0"/>
          </a:p>
        </p:txBody>
      </p:sp>
      <p:sp>
        <p:nvSpPr>
          <p:cNvPr id="20" name="Text 17"/>
          <p:cNvSpPr txBox="1"/>
          <p:nvPr/>
        </p:nvSpPr>
        <p:spPr>
          <a:xfrm>
            <a:off x="6428232"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The rate a formula says is appropriate given inflation and unemployment</a:t>
            </a:r>
            <a:endParaRPr lang="en-US" sz="1150" dirty="0"/>
          </a:p>
        </p:txBody>
      </p:sp>
      <p:sp>
        <p:nvSpPr>
          <p:cNvPr id="21" name="Text 18"/>
          <p:cNvSpPr txBox="1"/>
          <p:nvPr/>
        </p:nvSpPr>
        <p:spPr>
          <a:xfrm>
            <a:off x="6428232"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Transparent; the Fed's own published benchmarks</a:t>
            </a:r>
            <a:endParaRPr lang="en-US" sz="1150" dirty="0"/>
          </a:p>
        </p:txBody>
      </p:sp>
      <p:sp>
        <p:nvSpPr>
          <p:cNvPr id="22" name="Shape 19"/>
          <p:cNvSpPr/>
          <p:nvPr/>
        </p:nvSpPr>
        <p:spPr>
          <a:xfrm>
            <a:off x="9025128" y="1417320"/>
            <a:ext cx="2615184" cy="2331720"/>
          </a:xfrm>
          <a:prstGeom prst="roundRect">
            <a:avLst>
              <a:gd name="adj" fmla="val 470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3" name="Shape 20"/>
          <p:cNvSpPr/>
          <p:nvPr/>
        </p:nvSpPr>
        <p:spPr>
          <a:xfrm>
            <a:off x="9253728" y="1691640"/>
            <a:ext cx="146304" cy="146304"/>
          </a:xfrm>
          <a:prstGeom prst="rect">
            <a:avLst/>
          </a:prstGeom>
          <a:solidFill>
            <a:srgbClr val="C8553D"/>
          </a:solidFill>
          <a:ln w="12700">
            <a:solidFill>
              <a:srgbClr val="C8553D"/>
            </a:solidFill>
            <a:prstDash val="solid"/>
          </a:ln>
        </p:spPr>
      </p:sp>
      <p:sp>
        <p:nvSpPr>
          <p:cNvPr id="24" name="Text 21"/>
          <p:cNvSpPr txBox="1"/>
          <p:nvPr/>
        </p:nvSpPr>
        <p:spPr>
          <a:xfrm>
            <a:off x="9482328" y="1581912"/>
            <a:ext cx="1975104" cy="365760"/>
          </a:xfrm>
          <a:prstGeom prst="rect">
            <a:avLst/>
          </a:prstGeom>
          <a:noFill/>
          <a:ln/>
        </p:spPr>
        <p:txBody>
          <a:bodyPr wrap="square" lIns="0" tIns="0" rIns="0" bIns="0" rtlCol="0" anchor="t"/>
          <a:lstStyle/>
          <a:p>
            <a:pPr marL="0" indent="0">
              <a:buNone/>
            </a:pPr>
            <a:r>
              <a:rPr lang="en-US" sz="1500" b="1" dirty="0">
                <a:solidFill>
                  <a:schemeClr val="tx2"/>
                </a:solidFill>
              </a:rPr>
              <a:t>ML / AI signals</a:t>
            </a:r>
            <a:endParaRPr lang="en-US" sz="1500" dirty="0"/>
          </a:p>
        </p:txBody>
      </p:sp>
      <p:sp>
        <p:nvSpPr>
          <p:cNvPr id="25" name="Text 22"/>
          <p:cNvSpPr txBox="1"/>
          <p:nvPr/>
        </p:nvSpPr>
        <p:spPr>
          <a:xfrm>
            <a:off x="9253728" y="2039112"/>
            <a:ext cx="2157984" cy="566928"/>
          </a:xfrm>
          <a:prstGeom prst="rect">
            <a:avLst/>
          </a:prstGeom>
          <a:noFill/>
          <a:ln/>
        </p:spPr>
        <p:txBody>
          <a:bodyPr wrap="square" lIns="0" tIns="0" rIns="0" bIns="0" rtlCol="0" anchor="t"/>
          <a:lstStyle/>
          <a:p>
            <a:pPr marL="0" indent="0">
              <a:buNone/>
            </a:pPr>
            <a:r>
              <a:rPr lang="en-US" sz="1200" b="1" dirty="0">
                <a:solidFill>
                  <a:schemeClr val="tx1"/>
                </a:solidFill>
              </a:rPr>
              <a:t>LLM 'FOMC agent' papers (2025)</a:t>
            </a:r>
            <a:endParaRPr lang="en-US" sz="1200" dirty="0"/>
          </a:p>
        </p:txBody>
      </p:sp>
      <p:sp>
        <p:nvSpPr>
          <p:cNvPr id="26" name="Text 23"/>
          <p:cNvSpPr txBox="1"/>
          <p:nvPr/>
        </p:nvSpPr>
        <p:spPr>
          <a:xfrm>
            <a:off x="9253728" y="2624328"/>
            <a:ext cx="2157984" cy="548640"/>
          </a:xfrm>
          <a:prstGeom prst="rect">
            <a:avLst/>
          </a:prstGeom>
          <a:noFill/>
          <a:ln/>
        </p:spPr>
        <p:txBody>
          <a:bodyPr wrap="square" lIns="0" tIns="0" rIns="0" bIns="0" rtlCol="0" anchor="t"/>
          <a:lstStyle/>
          <a:p>
            <a:pPr marL="0" indent="0">
              <a:buNone/>
            </a:pPr>
            <a:r>
              <a:rPr lang="en-US" sz="1150" b="1" dirty="0">
                <a:solidFill>
                  <a:srgbClr val="6B7280"/>
                </a:solidFill>
              </a:rPr>
              <a:t>What it is  </a:t>
            </a:r>
            <a:r>
              <a:rPr lang="en-US" sz="1150" dirty="0">
                <a:solidFill>
                  <a:schemeClr val="tx1"/>
                </a:solidFill>
              </a:rPr>
              <a:t>Models that read the Fed's text and vote</a:t>
            </a:r>
            <a:endParaRPr lang="en-US" sz="1150" dirty="0"/>
          </a:p>
        </p:txBody>
      </p:sp>
      <p:sp>
        <p:nvSpPr>
          <p:cNvPr id="27" name="Text 24"/>
          <p:cNvSpPr txBox="1"/>
          <p:nvPr/>
        </p:nvSpPr>
        <p:spPr>
          <a:xfrm>
            <a:off x="9253728" y="3191256"/>
            <a:ext cx="2157984" cy="530352"/>
          </a:xfrm>
          <a:prstGeom prst="rect">
            <a:avLst/>
          </a:prstGeom>
          <a:noFill/>
          <a:ln/>
        </p:spPr>
        <p:txBody>
          <a:bodyPr wrap="square" lIns="0" tIns="0" rIns="0" bIns="0" rtlCol="0" anchor="t"/>
          <a:lstStyle/>
          <a:p>
            <a:pPr marL="0" indent="0">
              <a:buNone/>
            </a:pPr>
            <a:r>
              <a:rPr lang="en-US" sz="1150" b="1" dirty="0">
                <a:solidFill>
                  <a:srgbClr val="6B7280"/>
                </a:solidFill>
              </a:rPr>
              <a:t>Strength  </a:t>
            </a:r>
            <a:r>
              <a:rPr lang="en-US" sz="1150" dirty="0">
                <a:solidFill>
                  <a:schemeClr val="tx1"/>
                </a:solidFill>
              </a:rPr>
              <a:t>Reported 90%+ accuracy on 2023 to 2024</a:t>
            </a:r>
            <a:endParaRPr lang="en-US" sz="1150" dirty="0"/>
          </a:p>
        </p:txBody>
      </p:sp>
      <p:sp>
        <p:nvSpPr>
          <p:cNvPr id="28" name="Shape 25"/>
          <p:cNvSpPr/>
          <p:nvPr/>
        </p:nvSpPr>
        <p:spPr>
          <a:xfrm>
            <a:off x="731520" y="4553712"/>
            <a:ext cx="10725912" cy="0"/>
          </a:xfrm>
          <a:prstGeom prst="line">
            <a:avLst/>
          </a:prstGeom>
          <a:noFill/>
          <a:ln w="22225">
            <a:solidFill>
              <a:srgbClr val="6B7280"/>
            </a:solidFill>
            <a:prstDash val="solid"/>
            <a:headEnd type="triangle"/>
            <a:tailEnd type="triangle"/>
          </a:ln>
        </p:spPr>
      </p:sp>
      <p:sp>
        <p:nvSpPr>
          <p:cNvPr id="29" name="Text 26"/>
          <p:cNvSpPr txBox="1"/>
          <p:nvPr/>
        </p:nvSpPr>
        <p:spPr>
          <a:xfrm>
            <a:off x="548640" y="4663440"/>
            <a:ext cx="2194560" cy="274320"/>
          </a:xfrm>
          <a:prstGeom prst="rect">
            <a:avLst/>
          </a:prstGeom>
          <a:noFill/>
          <a:ln/>
        </p:spPr>
        <p:txBody>
          <a:bodyPr wrap="square" lIns="0" tIns="0" rIns="0" bIns="0" rtlCol="0" anchor="t"/>
          <a:lstStyle/>
          <a:p>
            <a:pPr marL="0" indent="0">
              <a:buNone/>
            </a:pPr>
            <a:r>
              <a:rPr lang="en-US" sz="1200" b="1" dirty="0">
                <a:solidFill>
                  <a:schemeClr val="accent4"/>
                </a:solidFill>
              </a:rPr>
              <a:t>Pure data</a:t>
            </a:r>
            <a:endParaRPr lang="en-US" sz="1200" dirty="0"/>
          </a:p>
        </p:txBody>
      </p:sp>
      <p:sp>
        <p:nvSpPr>
          <p:cNvPr id="30" name="Text 27"/>
          <p:cNvSpPr txBox="1"/>
          <p:nvPr/>
        </p:nvSpPr>
        <p:spPr>
          <a:xfrm>
            <a:off x="548640" y="4919472"/>
            <a:ext cx="2377440" cy="457200"/>
          </a:xfrm>
          <a:prstGeom prst="rect">
            <a:avLst/>
          </a:prstGeom>
          <a:noFill/>
          <a:ln/>
        </p:spPr>
        <p:txBody>
          <a:bodyPr wrap="square" lIns="0" tIns="0" rIns="0" bIns="0" rtlCol="0" anchor="t"/>
          <a:lstStyle/>
          <a:p>
            <a:pPr marL="0" indent="0">
              <a:buNone/>
            </a:pPr>
            <a:r>
              <a:rPr lang="en-US" sz="1050" dirty="0">
                <a:solidFill>
                  <a:schemeClr val="accent4"/>
                </a:solidFill>
              </a:rPr>
              <a:t>prices and formulas; no reading of the Fed's words</a:t>
            </a:r>
            <a:endParaRPr lang="en-US" sz="1050" dirty="0"/>
          </a:p>
        </p:txBody>
      </p:sp>
      <p:sp>
        <p:nvSpPr>
          <p:cNvPr id="31" name="Text 28"/>
          <p:cNvSpPr txBox="1"/>
          <p:nvPr/>
        </p:nvSpPr>
        <p:spPr>
          <a:xfrm>
            <a:off x="9445752" y="4663440"/>
            <a:ext cx="2194560" cy="274320"/>
          </a:xfrm>
          <a:prstGeom prst="rect">
            <a:avLst/>
          </a:prstGeom>
          <a:noFill/>
          <a:ln/>
        </p:spPr>
        <p:txBody>
          <a:bodyPr wrap="square" lIns="0" tIns="0" rIns="0" bIns="0" rtlCol="0" anchor="t"/>
          <a:lstStyle/>
          <a:p>
            <a:pPr marL="0" indent="0" algn="r">
              <a:buNone/>
            </a:pPr>
            <a:r>
              <a:rPr lang="en-US" sz="1200" b="1" dirty="0">
                <a:solidFill>
                  <a:schemeClr val="accent4"/>
                </a:solidFill>
              </a:rPr>
              <a:t>Pure model</a:t>
            </a:r>
            <a:endParaRPr lang="en-US" sz="1200" dirty="0"/>
          </a:p>
        </p:txBody>
      </p:sp>
      <p:sp>
        <p:nvSpPr>
          <p:cNvPr id="32" name="Text 29"/>
          <p:cNvSpPr txBox="1"/>
          <p:nvPr/>
        </p:nvSpPr>
        <p:spPr>
          <a:xfrm>
            <a:off x="9262872" y="4919472"/>
            <a:ext cx="2377440" cy="457200"/>
          </a:xfrm>
          <a:prstGeom prst="rect">
            <a:avLst/>
          </a:prstGeom>
          <a:noFill/>
          <a:ln/>
        </p:spPr>
        <p:txBody>
          <a:bodyPr wrap="square" lIns="0" tIns="0" rIns="0" bIns="0" rtlCol="0" anchor="t"/>
          <a:lstStyle/>
          <a:p>
            <a:pPr marL="0" indent="0" algn="r">
              <a:buNone/>
            </a:pPr>
            <a:r>
              <a:rPr lang="en-US" sz="1050" dirty="0">
                <a:solidFill>
                  <a:schemeClr val="accent4"/>
                </a:solidFill>
              </a:rPr>
              <a:t>one model's judgement; nothing it reads is checked</a:t>
            </a:r>
            <a:endParaRPr lang="en-US" sz="1050" dirty="0"/>
          </a:p>
        </p:txBody>
      </p:sp>
      <p:sp>
        <p:nvSpPr>
          <p:cNvPr id="33" name="Shape 30"/>
          <p:cNvSpPr/>
          <p:nvPr/>
        </p:nvSpPr>
        <p:spPr>
          <a:xfrm>
            <a:off x="1819930" y="4462272"/>
            <a:ext cx="182880" cy="182880"/>
          </a:xfrm>
          <a:prstGeom prst="ellipse">
            <a:avLst/>
          </a:prstGeom>
          <a:solidFill>
            <a:srgbClr val="1E2761"/>
          </a:solidFill>
          <a:ln w="12700">
            <a:solidFill>
              <a:srgbClr val="FFFFFF"/>
            </a:solidFill>
            <a:prstDash val="solid"/>
          </a:ln>
        </p:spPr>
      </p:sp>
      <p:sp>
        <p:nvSpPr>
          <p:cNvPr id="34" name="Text 31"/>
          <p:cNvSpPr txBox="1"/>
          <p:nvPr/>
        </p:nvSpPr>
        <p:spPr>
          <a:xfrm>
            <a:off x="859810"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Futures, prediction markets</a:t>
            </a:r>
            <a:endParaRPr lang="en-US" sz="1150" dirty="0"/>
          </a:p>
        </p:txBody>
      </p:sp>
      <p:sp>
        <p:nvSpPr>
          <p:cNvPr id="35" name="Shape 32"/>
          <p:cNvSpPr/>
          <p:nvPr/>
        </p:nvSpPr>
        <p:spPr>
          <a:xfrm>
            <a:off x="3857854" y="4462272"/>
            <a:ext cx="182880" cy="182880"/>
          </a:xfrm>
          <a:prstGeom prst="ellipse">
            <a:avLst/>
          </a:prstGeom>
          <a:solidFill>
            <a:srgbClr val="E9B44C"/>
          </a:solidFill>
          <a:ln w="12700">
            <a:solidFill>
              <a:srgbClr val="FFFFFF"/>
            </a:solidFill>
            <a:prstDash val="solid"/>
          </a:ln>
        </p:spPr>
      </p:sp>
      <p:sp>
        <p:nvSpPr>
          <p:cNvPr id="36" name="Text 33"/>
          <p:cNvSpPr txBox="1"/>
          <p:nvPr/>
        </p:nvSpPr>
        <p:spPr>
          <a:xfrm>
            <a:off x="2897734"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Policy rules</a:t>
            </a:r>
            <a:endParaRPr lang="en-US" sz="1150" dirty="0"/>
          </a:p>
        </p:txBody>
      </p:sp>
      <p:sp>
        <p:nvSpPr>
          <p:cNvPr id="37" name="Shape 34"/>
          <p:cNvSpPr/>
          <p:nvPr/>
        </p:nvSpPr>
        <p:spPr>
          <a:xfrm>
            <a:off x="8148218" y="4462272"/>
            <a:ext cx="182880" cy="182880"/>
          </a:xfrm>
          <a:prstGeom prst="ellipse">
            <a:avLst/>
          </a:prstGeom>
          <a:solidFill>
            <a:srgbClr val="2C6E49"/>
          </a:solidFill>
          <a:ln w="12700">
            <a:solidFill>
              <a:srgbClr val="FFFFFF"/>
            </a:solidFill>
            <a:prstDash val="solid"/>
          </a:ln>
        </p:spPr>
      </p:sp>
      <p:sp>
        <p:nvSpPr>
          <p:cNvPr id="38" name="Text 35"/>
          <p:cNvSpPr txBox="1"/>
          <p:nvPr/>
        </p:nvSpPr>
        <p:spPr>
          <a:xfrm>
            <a:off x="7188098"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Economist surveys</a:t>
            </a:r>
            <a:endParaRPr lang="en-US" sz="1150" dirty="0"/>
          </a:p>
        </p:txBody>
      </p:sp>
      <p:sp>
        <p:nvSpPr>
          <p:cNvPr id="39" name="Shape 36"/>
          <p:cNvSpPr/>
          <p:nvPr/>
        </p:nvSpPr>
        <p:spPr>
          <a:xfrm>
            <a:off x="10293401" y="4462272"/>
            <a:ext cx="182880" cy="182880"/>
          </a:xfrm>
          <a:prstGeom prst="ellipse">
            <a:avLst/>
          </a:prstGeom>
          <a:solidFill>
            <a:srgbClr val="C8553D"/>
          </a:solidFill>
          <a:ln w="12700">
            <a:solidFill>
              <a:srgbClr val="FFFFFF"/>
            </a:solidFill>
            <a:prstDash val="solid"/>
          </a:ln>
        </p:spPr>
      </p:sp>
      <p:sp>
        <p:nvSpPr>
          <p:cNvPr id="40" name="Text 37"/>
          <p:cNvSpPr txBox="1"/>
          <p:nvPr/>
        </p:nvSpPr>
        <p:spPr>
          <a:xfrm>
            <a:off x="9333281" y="4078224"/>
            <a:ext cx="2103120" cy="274320"/>
          </a:xfrm>
          <a:prstGeom prst="rect">
            <a:avLst/>
          </a:prstGeom>
          <a:noFill/>
          <a:ln/>
        </p:spPr>
        <p:txBody>
          <a:bodyPr wrap="square" lIns="0" tIns="0" rIns="0" bIns="0" rtlCol="0" anchor="b"/>
          <a:lstStyle/>
          <a:p>
            <a:pPr marL="0" indent="0" algn="ctr">
              <a:buNone/>
            </a:pPr>
            <a:r>
              <a:rPr lang="en-US" sz="1150" b="1" dirty="0">
                <a:solidFill>
                  <a:schemeClr val="tx1"/>
                </a:solidFill>
              </a:rPr>
              <a:t>LLM 'FOMC agents'</a:t>
            </a:r>
            <a:endParaRPr lang="en-US" sz="1150" dirty="0"/>
          </a:p>
        </p:txBody>
      </p:sp>
      <p:sp>
        <p:nvSpPr>
          <p:cNvPr id="41" name="Shape 38"/>
          <p:cNvSpPr/>
          <p:nvPr/>
        </p:nvSpPr>
        <p:spPr>
          <a:xfrm>
            <a:off x="6094476" y="4553712"/>
            <a:ext cx="0" cy="256032"/>
          </a:xfrm>
          <a:prstGeom prst="line">
            <a:avLst/>
          </a:prstGeom>
          <a:noFill/>
          <a:ln w="22225">
            <a:solidFill>
              <a:srgbClr val="1E2761"/>
            </a:solidFill>
            <a:prstDash val="solid"/>
          </a:ln>
        </p:spPr>
      </p:sp>
      <p:sp>
        <p:nvSpPr>
          <p:cNvPr id="42" name="Shape 39"/>
          <p:cNvSpPr/>
          <p:nvPr/>
        </p:nvSpPr>
        <p:spPr>
          <a:xfrm>
            <a:off x="5454396" y="4809744"/>
            <a:ext cx="1280160" cy="365760"/>
          </a:xfrm>
          <a:prstGeom prst="roundRect">
            <a:avLst>
              <a:gd name="adj" fmla="val 50000"/>
            </a:avLst>
          </a:prstGeom>
          <a:solidFill>
            <a:srgbClr val="1E2761"/>
          </a:solidFill>
          <a:ln w="12700">
            <a:solidFill>
              <a:srgbClr val="1E2761"/>
            </a:solidFill>
            <a:prstDash val="solid"/>
          </a:ln>
        </p:spPr>
      </p:sp>
      <p:sp>
        <p:nvSpPr>
          <p:cNvPr id="43" name="Text 40"/>
          <p:cNvSpPr txBox="1"/>
          <p:nvPr/>
        </p:nvSpPr>
        <p:spPr>
          <a:xfrm>
            <a:off x="5454396" y="4809744"/>
            <a:ext cx="1280160" cy="365760"/>
          </a:xfrm>
          <a:prstGeom prst="rect">
            <a:avLst/>
          </a:prstGeom>
          <a:noFill/>
          <a:ln/>
        </p:spPr>
        <p:txBody>
          <a:bodyPr wrap="square" lIns="0" tIns="0" rIns="0" bIns="0" rtlCol="0" anchor="ctr"/>
          <a:lstStyle/>
          <a:p>
            <a:pPr marL="0" indent="0" algn="ctr">
              <a:buNone/>
            </a:pPr>
            <a:r>
              <a:rPr lang="en-US" sz="1300" b="1" dirty="0">
                <a:solidFill>
                  <a:schemeClr val="bg1"/>
                </a:solidFill>
                <a:latin typeface="Cambria" pitchFamily="34" charset="0"/>
                <a:ea typeface="Cambria" pitchFamily="34" charset="-122"/>
                <a:cs typeface="Cambria" pitchFamily="34" charset="-120"/>
              </a:rPr>
              <a:t>FedCast</a:t>
            </a:r>
            <a:endParaRPr lang="en-US" sz="1300" dirty="0"/>
          </a:p>
        </p:txBody>
      </p:sp>
      <p:sp>
        <p:nvSpPr>
          <p:cNvPr id="44" name="Text 41"/>
          <p:cNvSpPr txBox="1"/>
          <p:nvPr/>
        </p:nvSpPr>
        <p:spPr>
          <a:xfrm>
            <a:off x="2528316" y="5285232"/>
            <a:ext cx="7132320" cy="548640"/>
          </a:xfrm>
          <a:prstGeom prst="rect">
            <a:avLst/>
          </a:prstGeom>
          <a:noFill/>
          <a:ln/>
        </p:spPr>
        <p:txBody>
          <a:bodyPr wrap="square" lIns="0" tIns="0" rIns="0" bIns="0" rtlCol="0" anchor="t"/>
          <a:lstStyle/>
          <a:p>
            <a:pPr marL="0" indent="0" algn="ctr">
              <a:buNone/>
            </a:pPr>
            <a:r>
              <a:rPr lang="en-US" sz="1150" dirty="0">
                <a:solidFill>
                  <a:schemeClr val="tx1"/>
                </a:solidFill>
              </a:rPr>
              <a:t>Takes one input from each area, prices, 32 years of decisions, the Fed's own rules and a language model that must quote what it reads, and combines them by code at fixed weights. Neither a formula nor an oracle.</a:t>
            </a:r>
            <a:endParaRPr lang="en-US" sz="1150" dirty="0"/>
          </a:p>
        </p:txBody>
      </p:sp>
      <p:sp>
        <p:nvSpPr>
          <p:cNvPr id="45" name="Text 42"/>
          <p:cNvSpPr txBox="1"/>
          <p:nvPr/>
        </p:nvSpPr>
        <p:spPr>
          <a:xfrm>
            <a:off x="548640" y="6053328"/>
            <a:ext cx="11091672" cy="274320"/>
          </a:xfrm>
          <a:prstGeom prst="rect">
            <a:avLst/>
          </a:prstGeom>
          <a:noFill/>
          <a:ln/>
        </p:spPr>
        <p:txBody>
          <a:bodyPr wrap="square" lIns="0" tIns="0" rIns="0" bIns="0" rtlCol="0" anchor="t"/>
          <a:lstStyle/>
          <a:p>
            <a:pPr marL="0" indent="0">
              <a:buNone/>
            </a:pPr>
            <a:r>
              <a:rPr lang="en-US" sz="950" dirty="0">
                <a:solidFill>
                  <a:schemeClr val="accent4"/>
                </a:solidFill>
              </a:rPr>
              <a:t>Sources: Bonini, Huang and Simaan, 'Watching the FedWatch' (232 meetings, May 1994 to March 2024); FedSight AI preprint, December 2025; Takano, Hirano and Nakagawa, arXiv 2511.02469.</a:t>
            </a:r>
            <a:endParaRPr lang="en-US" sz="95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Why this approach ?</a:t>
            </a:r>
            <a:endParaRPr lang="en-US" sz="3200" dirty="0"/>
          </a:p>
        </p:txBody>
      </p:sp>
      <p:sp>
        <p:nvSpPr>
          <p:cNvPr id="4" name="Shape 1"/>
          <p:cNvSpPr/>
          <p:nvPr/>
        </p:nvSpPr>
        <p:spPr>
          <a:xfrm>
            <a:off x="54864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Shape 2"/>
          <p:cNvSpPr/>
          <p:nvPr/>
        </p:nvSpPr>
        <p:spPr>
          <a:xfrm>
            <a:off x="822960" y="1600200"/>
            <a:ext cx="384048" cy="384048"/>
          </a:xfrm>
          <a:prstGeom prst="ellipse">
            <a:avLst/>
          </a:prstGeom>
          <a:solidFill>
            <a:srgbClr val="1E2761"/>
          </a:solidFill>
          <a:ln w="12700">
            <a:solidFill>
              <a:srgbClr val="1E2761"/>
            </a:solidFill>
            <a:prstDash val="solid"/>
          </a:ln>
        </p:spPr>
      </p:sp>
      <p:sp>
        <p:nvSpPr>
          <p:cNvPr id="6" name="Text 3"/>
          <p:cNvSpPr txBox="1"/>
          <p:nvPr/>
        </p:nvSpPr>
        <p:spPr>
          <a:xfrm>
            <a:off x="82296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We judge the process, not the luck</a:t>
            </a:r>
            <a:endParaRPr lang="en-US" sz="1500" dirty="0"/>
          </a:p>
        </p:txBody>
      </p:sp>
      <p:sp>
        <p:nvSpPr>
          <p:cNvPr id="8" name="Text 5"/>
          <p:cNvSpPr txBox="1"/>
          <p:nvPr/>
        </p:nvSpPr>
        <p:spPr>
          <a:xfrm>
            <a:off x="82296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Eight decisions a year: a good year proves nothing</a:t>
            </a:r>
            <a:endParaRPr lang="en-US" sz="1300" dirty="0"/>
          </a:p>
          <a:p>
            <a:pPr marL="342900" indent="-342900">
              <a:spcAft>
                <a:spcPts val="800"/>
              </a:spcAft>
              <a:buSzPct val="100000"/>
              <a:buChar char="•"/>
            </a:pPr>
            <a:r>
              <a:rPr lang="en-US" sz="1300" dirty="0">
                <a:solidFill>
                  <a:schemeClr val="tx1"/>
                </a:solidFill>
              </a:rPr>
              <a:t>The yardstick is a ten-point scorecard, fixed before any code: same evidence, same answer? every claim quoted? any number from memory? a shock moves the number the right way?</a:t>
            </a:r>
            <a:endParaRPr lang="en-US" sz="1300" dirty="0"/>
          </a:p>
          <a:p>
            <a:pPr marL="342900" indent="-342900">
              <a:spcAft>
                <a:spcPts val="800"/>
              </a:spcAft>
              <a:buSzPct val="100000"/>
              <a:buChar char="•"/>
            </a:pPr>
            <a:r>
              <a:rPr lang="en-US" sz="1300" dirty="0">
                <a:solidFill>
                  <a:schemeClr val="tx1"/>
                </a:solidFill>
              </a:rPr>
              <a:t>Outcomes are logged after each decision and never used to tune</a:t>
            </a:r>
            <a:endParaRPr lang="en-US" sz="1300" dirty="0"/>
          </a:p>
        </p:txBody>
      </p:sp>
      <p:sp>
        <p:nvSpPr>
          <p:cNvPr id="9" name="Shape 6"/>
          <p:cNvSpPr/>
          <p:nvPr/>
        </p:nvSpPr>
        <p:spPr>
          <a:xfrm>
            <a:off x="429768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0" name="Shape 7"/>
          <p:cNvSpPr/>
          <p:nvPr/>
        </p:nvSpPr>
        <p:spPr>
          <a:xfrm>
            <a:off x="4572000" y="1600200"/>
            <a:ext cx="384048" cy="384048"/>
          </a:xfrm>
          <a:prstGeom prst="ellipse">
            <a:avLst/>
          </a:prstGeom>
          <a:solidFill>
            <a:srgbClr val="1E2761"/>
          </a:solidFill>
          <a:ln w="12700">
            <a:solidFill>
              <a:srgbClr val="1E2761"/>
            </a:solidFill>
            <a:prstDash val="solid"/>
          </a:ln>
        </p:spPr>
      </p:sp>
      <p:sp>
        <p:nvSpPr>
          <p:cNvPr id="11" name="Text 8"/>
          <p:cNvSpPr txBox="1"/>
          <p:nvPr/>
        </p:nvSpPr>
        <p:spPr>
          <a:xfrm>
            <a:off x="457200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2" name="Text 9"/>
          <p:cNvSpPr txBox="1"/>
          <p:nvPr/>
        </p:nvSpPr>
        <p:spPr>
          <a:xfrm>
            <a:off x="507492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Every step is auditable</a:t>
            </a:r>
            <a:endParaRPr lang="en-US" sz="1500" dirty="0"/>
          </a:p>
        </p:txBody>
      </p:sp>
      <p:sp>
        <p:nvSpPr>
          <p:cNvPr id="13" name="Text 10"/>
          <p:cNvSpPr txBox="1"/>
          <p:nvPr/>
        </p:nvSpPr>
        <p:spPr>
          <a:xfrm>
            <a:off x="457200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An analyst that says 'inflation remains elevated' must quote the statement line it read, and code checks the quote is there, character for character</a:t>
            </a:r>
            <a:endParaRPr lang="en-US" sz="1300" dirty="0"/>
          </a:p>
          <a:p>
            <a:pPr marL="342900" indent="-342900">
              <a:spcAft>
                <a:spcPts val="800"/>
              </a:spcAft>
              <a:buSzPct val="100000"/>
              <a:buChar char="•"/>
            </a:pPr>
            <a:r>
              <a:rPr lang="en-US" sz="1300" dirty="0">
                <a:solidFill>
                  <a:schemeClr val="tx1"/>
                </a:solidFill>
              </a:rPr>
              <a:t>Every number it uses must exist in the frozen evidence, or it is flagged as from memory</a:t>
            </a:r>
            <a:endParaRPr lang="en-US" sz="1300" dirty="0"/>
          </a:p>
          <a:p>
            <a:pPr marL="342900" indent="-342900">
              <a:spcAft>
                <a:spcPts val="800"/>
              </a:spcAft>
              <a:buSzPct val="100000"/>
              <a:buChar char="•"/>
            </a:pPr>
            <a:r>
              <a:rPr lang="en-US" sz="1300" dirty="0">
                <a:solidFill>
                  <a:schemeClr val="tx1"/>
                </a:solidFill>
              </a:rPr>
              <a:t>Every model lists the items it read; every ledger entry recomputes from its snapshot. If it is not quoted, it does not count</a:t>
            </a:r>
            <a:endParaRPr lang="en-US" sz="1300" dirty="0"/>
          </a:p>
        </p:txBody>
      </p:sp>
      <p:sp>
        <p:nvSpPr>
          <p:cNvPr id="14" name="Shape 11"/>
          <p:cNvSpPr/>
          <p:nvPr/>
        </p:nvSpPr>
        <p:spPr>
          <a:xfrm>
            <a:off x="8046720" y="1417320"/>
            <a:ext cx="3520440" cy="3977640"/>
          </a:xfrm>
          <a:prstGeom prst="roundRect">
            <a:avLst>
              <a:gd name="adj" fmla="val 3117"/>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5" name="Shape 12"/>
          <p:cNvSpPr/>
          <p:nvPr/>
        </p:nvSpPr>
        <p:spPr>
          <a:xfrm>
            <a:off x="8321040" y="1600200"/>
            <a:ext cx="384048" cy="384048"/>
          </a:xfrm>
          <a:prstGeom prst="ellipse">
            <a:avLst/>
          </a:prstGeom>
          <a:solidFill>
            <a:srgbClr val="1E2761"/>
          </a:solidFill>
          <a:ln w="12700">
            <a:solidFill>
              <a:srgbClr val="1E2761"/>
            </a:solidFill>
            <a:prstDash val="solid"/>
          </a:ln>
        </p:spPr>
      </p:sp>
      <p:sp>
        <p:nvSpPr>
          <p:cNvPr id="16" name="Text 13"/>
          <p:cNvSpPr txBox="1"/>
          <p:nvPr/>
        </p:nvSpPr>
        <p:spPr>
          <a:xfrm>
            <a:off x="8321040" y="1600200"/>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7" name="Text 14"/>
          <p:cNvSpPr txBox="1"/>
          <p:nvPr/>
        </p:nvSpPr>
        <p:spPr>
          <a:xfrm>
            <a:off x="8823960" y="1554480"/>
            <a:ext cx="2560320" cy="502920"/>
          </a:xfrm>
          <a:prstGeom prst="rect">
            <a:avLst/>
          </a:prstGeom>
          <a:noFill/>
          <a:ln/>
        </p:spPr>
        <p:txBody>
          <a:bodyPr wrap="square" lIns="0" tIns="0" rIns="0" bIns="0" rtlCol="0" anchor="ctr"/>
          <a:lstStyle/>
          <a:p>
            <a:pPr marL="0" indent="0">
              <a:buNone/>
            </a:pPr>
            <a:r>
              <a:rPr lang="en-US" sz="1500" b="1" dirty="0">
                <a:solidFill>
                  <a:schemeClr val="tx2"/>
                </a:solidFill>
              </a:rPr>
              <a:t>A harness that compounds</a:t>
            </a:r>
            <a:endParaRPr lang="en-US" sz="1500" dirty="0"/>
          </a:p>
        </p:txBody>
      </p:sp>
      <p:sp>
        <p:nvSpPr>
          <p:cNvPr id="18" name="Text 15"/>
          <p:cNvSpPr txBox="1"/>
          <p:nvPr/>
        </p:nvSpPr>
        <p:spPr>
          <a:xfrm>
            <a:off x="8321040" y="2240280"/>
            <a:ext cx="3017520" cy="30632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Everything is quotable and the analysts can read only the evidence, so a wrong call is a traceable wrong call: we see which quote led where</a:t>
            </a:r>
            <a:endParaRPr lang="en-US" sz="1300" dirty="0"/>
          </a:p>
          <a:p>
            <a:pPr marL="342900" indent="-342900">
              <a:spcAft>
                <a:spcPts val="800"/>
              </a:spcAft>
              <a:buSzPct val="100000"/>
              <a:buChar char="•"/>
            </a:pPr>
            <a:r>
              <a:rPr lang="en-US" sz="1300" dirty="0">
                <a:solidFill>
                  <a:schemeClr val="tx1"/>
                </a:solidFill>
              </a:rPr>
              <a:t>The harness is repeatable, so it goes wrong the same way every time; a fix can be tested, and the drift table shows it stayed fixed</a:t>
            </a:r>
            <a:endParaRPr lang="en-US" sz="1300" dirty="0"/>
          </a:p>
          <a:p>
            <a:pPr marL="342900" indent="-342900">
              <a:spcAft>
                <a:spcPts val="800"/>
              </a:spcAft>
              <a:buSzPct val="100000"/>
              <a:buChar char="•"/>
            </a:pPr>
            <a:r>
              <a:rPr lang="en-US" sz="1300" dirty="0">
                <a:solidFill>
                  <a:schemeClr val="tx1"/>
                </a:solidFill>
              </a:rPr>
              <a:t>That is the virtuous cycle: audit, fix, re-measure. The ladder, the scorecard and the drift table later in the deck are that cycle</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Model Architecture</a:t>
            </a:r>
            <a:endParaRPr lang="en-US" sz="3200" dirty="0"/>
          </a:p>
        </p:txBody>
      </p:sp>
      <p:sp>
        <p:nvSpPr>
          <p:cNvPr id="4" name="Shape 1"/>
          <p:cNvSpPr/>
          <p:nvPr/>
        </p:nvSpPr>
        <p:spPr>
          <a:xfrm>
            <a:off x="548640" y="1463040"/>
            <a:ext cx="2743200" cy="960120"/>
          </a:xfrm>
          <a:prstGeom prst="roundRect">
            <a:avLst>
              <a:gd name="adj" fmla="val 7619"/>
            </a:avLst>
          </a:prstGeom>
          <a:solidFill>
            <a:srgbClr val="1E2761"/>
          </a:solidFill>
          <a:ln w="12700">
            <a:solidFill>
              <a:srgbClr val="1E2761"/>
            </a:solidFill>
            <a:prstDash val="solid"/>
          </a:ln>
        </p:spPr>
      </p:sp>
      <p:sp>
        <p:nvSpPr>
          <p:cNvPr id="5" name="Text 2"/>
          <p:cNvSpPr txBox="1"/>
          <p:nvPr/>
        </p:nvSpPr>
        <p:spPr>
          <a:xfrm>
            <a:off x="685800" y="1527048"/>
            <a:ext cx="2468880" cy="292608"/>
          </a:xfrm>
          <a:prstGeom prst="rect">
            <a:avLst/>
          </a:prstGeom>
          <a:noFill/>
          <a:ln/>
        </p:spPr>
        <p:txBody>
          <a:bodyPr wrap="square" lIns="0" tIns="0" rIns="0" bIns="0" rtlCol="0" anchor="t"/>
          <a:lstStyle/>
          <a:p>
            <a:pPr marL="0" indent="0">
              <a:buNone/>
            </a:pPr>
            <a:r>
              <a:rPr lang="en-US" sz="1300" b="1" dirty="0">
                <a:solidFill>
                  <a:schemeClr val="bg1"/>
                </a:solidFill>
              </a:rPr>
              <a:t>Economic predictors</a:t>
            </a:r>
            <a:endParaRPr lang="en-US" sz="1300" dirty="0"/>
          </a:p>
        </p:txBody>
      </p:sp>
      <p:sp>
        <p:nvSpPr>
          <p:cNvPr id="6" name="Text 3"/>
          <p:cNvSpPr txBox="1"/>
          <p:nvPr/>
        </p:nvSpPr>
        <p:spPr>
          <a:xfrm>
            <a:off x="685800" y="1828800"/>
            <a:ext cx="2468880" cy="566928"/>
          </a:xfrm>
          <a:prstGeom prst="rect">
            <a:avLst/>
          </a:prstGeom>
          <a:noFill/>
          <a:ln/>
        </p:spPr>
        <p:txBody>
          <a:bodyPr wrap="square" lIns="0" tIns="0" rIns="0" bIns="0" rtlCol="0" anchor="t"/>
          <a:lstStyle/>
          <a:p>
            <a:pPr marL="0" indent="0">
              <a:buNone/>
            </a:pPr>
            <a:r>
              <a:rPr lang="en-US" sz="950" dirty="0">
                <a:solidFill>
                  <a:schemeClr val="bg1"/>
                </a:solidFill>
              </a:rPr>
              <a:t>Fed funds futures (the anchor), the Fed's own four Taylor rules with r* from the NY Fed DSGE model, prediction-market odds</a:t>
            </a:r>
            <a:endParaRPr lang="en-US" sz="950" dirty="0"/>
          </a:p>
        </p:txBody>
      </p:sp>
      <p:sp>
        <p:nvSpPr>
          <p:cNvPr id="7" name="Shape 4"/>
          <p:cNvSpPr/>
          <p:nvPr/>
        </p:nvSpPr>
        <p:spPr>
          <a:xfrm>
            <a:off x="3364992" y="1943100"/>
            <a:ext cx="384048" cy="0"/>
          </a:xfrm>
          <a:prstGeom prst="line">
            <a:avLst/>
          </a:prstGeom>
          <a:noFill/>
          <a:ln w="19050">
            <a:solidFill>
              <a:srgbClr val="6B7280"/>
            </a:solidFill>
            <a:prstDash val="solid"/>
            <a:tailEnd type="triangle"/>
          </a:ln>
        </p:spPr>
      </p:sp>
      <p:sp>
        <p:nvSpPr>
          <p:cNvPr id="8" name="Shape 5"/>
          <p:cNvSpPr/>
          <p:nvPr/>
        </p:nvSpPr>
        <p:spPr>
          <a:xfrm>
            <a:off x="548640" y="2532888"/>
            <a:ext cx="2743200" cy="960120"/>
          </a:xfrm>
          <a:prstGeom prst="roundRect">
            <a:avLst>
              <a:gd name="adj" fmla="val 7619"/>
            </a:avLst>
          </a:prstGeom>
          <a:solidFill>
            <a:srgbClr val="1E2761"/>
          </a:solidFill>
          <a:ln w="12700">
            <a:solidFill>
              <a:srgbClr val="1E2761"/>
            </a:solidFill>
            <a:prstDash val="solid"/>
          </a:ln>
        </p:spPr>
      </p:sp>
      <p:sp>
        <p:nvSpPr>
          <p:cNvPr id="9" name="Text 6"/>
          <p:cNvSpPr txBox="1"/>
          <p:nvPr/>
        </p:nvSpPr>
        <p:spPr>
          <a:xfrm>
            <a:off x="685800" y="2596896"/>
            <a:ext cx="2468880" cy="292608"/>
          </a:xfrm>
          <a:prstGeom prst="rect">
            <a:avLst/>
          </a:prstGeom>
          <a:noFill/>
          <a:ln/>
        </p:spPr>
        <p:txBody>
          <a:bodyPr wrap="square" lIns="0" tIns="0" rIns="0" bIns="0" rtlCol="0" anchor="t"/>
          <a:lstStyle/>
          <a:p>
            <a:pPr marL="0" indent="0">
              <a:buNone/>
            </a:pPr>
            <a:r>
              <a:rPr lang="en-US" sz="1300" b="1" dirty="0">
                <a:solidFill>
                  <a:schemeClr val="bg1"/>
                </a:solidFill>
              </a:rPr>
              <a:t>Empirical data</a:t>
            </a:r>
            <a:endParaRPr lang="en-US" sz="1300" dirty="0"/>
          </a:p>
        </p:txBody>
      </p:sp>
      <p:sp>
        <p:nvSpPr>
          <p:cNvPr id="10" name="Text 7"/>
          <p:cNvSpPr txBox="1"/>
          <p:nvPr/>
        </p:nvSpPr>
        <p:spPr>
          <a:xfrm>
            <a:off x="685800" y="2898648"/>
            <a:ext cx="2468880" cy="566928"/>
          </a:xfrm>
          <a:prstGeom prst="rect">
            <a:avLst/>
          </a:prstGeom>
          <a:noFill/>
          <a:ln/>
        </p:spPr>
        <p:txBody>
          <a:bodyPr wrap="square" lIns="0" tIns="0" rIns="0" bIns="0" rtlCol="0" anchor="t"/>
          <a:lstStyle/>
          <a:p>
            <a:pPr marL="0" indent="0">
              <a:buNone/>
            </a:pPr>
            <a:r>
              <a:rPr lang="en-US" sz="950" dirty="0">
                <a:solidFill>
                  <a:schemeClr val="bg1"/>
                </a:solidFill>
              </a:rPr>
              <a:t>What followed each kind of decision over 32 years of FOMC history, conditioned on the last move</a:t>
            </a:r>
            <a:endParaRPr lang="en-US" sz="950" dirty="0"/>
          </a:p>
        </p:txBody>
      </p:sp>
      <p:sp>
        <p:nvSpPr>
          <p:cNvPr id="11" name="Shape 8"/>
          <p:cNvSpPr/>
          <p:nvPr/>
        </p:nvSpPr>
        <p:spPr>
          <a:xfrm>
            <a:off x="3364992" y="3012948"/>
            <a:ext cx="384048" cy="0"/>
          </a:xfrm>
          <a:prstGeom prst="line">
            <a:avLst/>
          </a:prstGeom>
          <a:noFill/>
          <a:ln w="19050">
            <a:solidFill>
              <a:srgbClr val="6B7280"/>
            </a:solidFill>
            <a:prstDash val="solid"/>
            <a:tailEnd type="triangle"/>
          </a:ln>
        </p:spPr>
      </p:sp>
      <p:sp>
        <p:nvSpPr>
          <p:cNvPr id="12" name="Shape 9"/>
          <p:cNvSpPr/>
          <p:nvPr/>
        </p:nvSpPr>
        <p:spPr>
          <a:xfrm>
            <a:off x="548640" y="3602736"/>
            <a:ext cx="2743200" cy="960120"/>
          </a:xfrm>
          <a:prstGeom prst="roundRect">
            <a:avLst>
              <a:gd name="adj" fmla="val 7619"/>
            </a:avLst>
          </a:prstGeom>
          <a:solidFill>
            <a:srgbClr val="6B7280"/>
          </a:solidFill>
          <a:ln w="12700">
            <a:solidFill>
              <a:srgbClr val="6B7280"/>
            </a:solidFill>
            <a:prstDash val="solid"/>
          </a:ln>
        </p:spPr>
      </p:sp>
      <p:sp>
        <p:nvSpPr>
          <p:cNvPr id="13" name="Text 10"/>
          <p:cNvSpPr txBox="1"/>
          <p:nvPr/>
        </p:nvSpPr>
        <p:spPr>
          <a:xfrm>
            <a:off x="685800" y="3666744"/>
            <a:ext cx="2468880" cy="292608"/>
          </a:xfrm>
          <a:prstGeom prst="rect">
            <a:avLst/>
          </a:prstGeom>
          <a:noFill/>
          <a:ln/>
        </p:spPr>
        <p:txBody>
          <a:bodyPr wrap="square" lIns="0" tIns="0" rIns="0" bIns="0" rtlCol="0" anchor="t"/>
          <a:lstStyle/>
          <a:p>
            <a:pPr marL="0" indent="0">
              <a:buNone/>
            </a:pPr>
            <a:r>
              <a:rPr lang="en-US" sz="1300" b="1" dirty="0">
                <a:solidFill>
                  <a:schemeClr val="bg1"/>
                </a:solidFill>
              </a:rPr>
              <a:t>Classic ML</a:t>
            </a:r>
            <a:endParaRPr lang="en-US" sz="1300" dirty="0"/>
          </a:p>
        </p:txBody>
      </p:sp>
      <p:sp>
        <p:nvSpPr>
          <p:cNvPr id="14" name="Text 11"/>
          <p:cNvSpPr txBox="1"/>
          <p:nvPr/>
        </p:nvSpPr>
        <p:spPr>
          <a:xfrm>
            <a:off x="685800" y="3968496"/>
            <a:ext cx="2468880" cy="566928"/>
          </a:xfrm>
          <a:prstGeom prst="rect">
            <a:avLst/>
          </a:prstGeom>
          <a:noFill/>
          <a:ln/>
        </p:spPr>
        <p:txBody>
          <a:bodyPr wrap="square" lIns="0" tIns="0" rIns="0" bIns="0" rtlCol="0" anchor="t"/>
          <a:lstStyle/>
          <a:p>
            <a:pPr marL="0" indent="0">
              <a:buNone/>
            </a:pPr>
            <a:r>
              <a:rPr lang="en-US" sz="950" dirty="0">
                <a:solidFill>
                  <a:schemeClr val="bg1"/>
                </a:solidFill>
              </a:rPr>
              <a:t>An ordered probit fitted on data as first published; computed and shown, weight 0 until it has a live record</a:t>
            </a:r>
            <a:endParaRPr lang="en-US" sz="950" dirty="0"/>
          </a:p>
        </p:txBody>
      </p:sp>
      <p:sp>
        <p:nvSpPr>
          <p:cNvPr id="15" name="Shape 12"/>
          <p:cNvSpPr/>
          <p:nvPr/>
        </p:nvSpPr>
        <p:spPr>
          <a:xfrm>
            <a:off x="3364992" y="4082796"/>
            <a:ext cx="384048" cy="0"/>
          </a:xfrm>
          <a:prstGeom prst="line">
            <a:avLst/>
          </a:prstGeom>
          <a:noFill/>
          <a:ln w="19050">
            <a:solidFill>
              <a:srgbClr val="6B7280"/>
            </a:solidFill>
            <a:prstDash val="solid"/>
            <a:tailEnd type="triangle"/>
          </a:ln>
        </p:spPr>
      </p:sp>
      <p:sp>
        <p:nvSpPr>
          <p:cNvPr id="16" name="Shape 13"/>
          <p:cNvSpPr/>
          <p:nvPr/>
        </p:nvSpPr>
        <p:spPr>
          <a:xfrm>
            <a:off x="548640" y="4672584"/>
            <a:ext cx="2743200" cy="960120"/>
          </a:xfrm>
          <a:prstGeom prst="roundRect">
            <a:avLst>
              <a:gd name="adj" fmla="val 7619"/>
            </a:avLst>
          </a:prstGeom>
          <a:solidFill>
            <a:srgbClr val="C8553D"/>
          </a:solidFill>
          <a:ln w="12700">
            <a:solidFill>
              <a:srgbClr val="C8553D"/>
            </a:solidFill>
            <a:prstDash val="solid"/>
          </a:ln>
        </p:spPr>
      </p:sp>
      <p:sp>
        <p:nvSpPr>
          <p:cNvPr id="17" name="Text 14"/>
          <p:cNvSpPr txBox="1"/>
          <p:nvPr/>
        </p:nvSpPr>
        <p:spPr>
          <a:xfrm>
            <a:off x="685800" y="4736592"/>
            <a:ext cx="2468880" cy="292608"/>
          </a:xfrm>
          <a:prstGeom prst="rect">
            <a:avLst/>
          </a:prstGeom>
          <a:noFill/>
          <a:ln/>
        </p:spPr>
        <p:txBody>
          <a:bodyPr wrap="square" lIns="0" tIns="0" rIns="0" bIns="0" rtlCol="0" anchor="t"/>
          <a:lstStyle/>
          <a:p>
            <a:pPr marL="0" indent="0">
              <a:buNone/>
            </a:pPr>
            <a:r>
              <a:rPr lang="en-US" sz="1300" b="1" dirty="0">
                <a:solidFill>
                  <a:schemeClr val="bg1"/>
                </a:solidFill>
              </a:rPr>
              <a:t>LLM-derived</a:t>
            </a:r>
            <a:endParaRPr lang="en-US" sz="1300" dirty="0"/>
          </a:p>
        </p:txBody>
      </p:sp>
      <p:sp>
        <p:nvSpPr>
          <p:cNvPr id="18" name="Text 15"/>
          <p:cNvSpPr txBox="1"/>
          <p:nvPr/>
        </p:nvSpPr>
        <p:spPr>
          <a:xfrm>
            <a:off x="685800" y="5038344"/>
            <a:ext cx="2468880" cy="566928"/>
          </a:xfrm>
          <a:prstGeom prst="rect">
            <a:avLst/>
          </a:prstGeom>
          <a:noFill/>
          <a:ln/>
        </p:spPr>
        <p:txBody>
          <a:bodyPr wrap="square" lIns="0" tIns="0" rIns="0" bIns="0" rtlCol="0" anchor="t"/>
          <a:lstStyle/>
          <a:p>
            <a:pPr marL="0" indent="0">
              <a:buNone/>
            </a:pPr>
            <a:r>
              <a:rPr lang="en-US" sz="950" dirty="0">
                <a:solidFill>
                  <a:schemeClr val="bg1"/>
                </a:solidFill>
              </a:rPr>
              <a:t>Five specialist analysts reading the Fed's own words; every claim quoted and verified by code; a bounded lean, not a weight</a:t>
            </a:r>
            <a:endParaRPr lang="en-US" sz="950" dirty="0"/>
          </a:p>
        </p:txBody>
      </p:sp>
      <p:sp>
        <p:nvSpPr>
          <p:cNvPr id="19" name="Shape 16"/>
          <p:cNvSpPr/>
          <p:nvPr/>
        </p:nvSpPr>
        <p:spPr>
          <a:xfrm>
            <a:off x="3364992" y="5152644"/>
            <a:ext cx="384048" cy="0"/>
          </a:xfrm>
          <a:prstGeom prst="line">
            <a:avLst/>
          </a:prstGeom>
          <a:noFill/>
          <a:ln w="19050">
            <a:solidFill>
              <a:srgbClr val="6B7280"/>
            </a:solidFill>
            <a:prstDash val="solid"/>
            <a:tailEnd type="triangle"/>
          </a:ln>
        </p:spPr>
      </p:sp>
      <p:sp>
        <p:nvSpPr>
          <p:cNvPr id="20" name="Shape 17"/>
          <p:cNvSpPr/>
          <p:nvPr/>
        </p:nvSpPr>
        <p:spPr>
          <a:xfrm>
            <a:off x="3822192" y="1463040"/>
            <a:ext cx="1371600" cy="4169664"/>
          </a:xfrm>
          <a:prstGeom prst="roundRect">
            <a:avLst>
              <a:gd name="adj" fmla="val 6667"/>
            </a:avLst>
          </a:prstGeom>
          <a:solidFill>
            <a:srgbClr val="EEF2F7"/>
          </a:solidFill>
          <a:ln w="12700">
            <a:solidFill>
              <a:srgbClr val="CADCFC"/>
            </a:solidFill>
            <a:prstDash val="solid"/>
          </a:ln>
        </p:spPr>
      </p:sp>
      <p:sp>
        <p:nvSpPr>
          <p:cNvPr id="21" name="Text 18"/>
          <p:cNvSpPr txBox="1"/>
          <p:nvPr/>
        </p:nvSpPr>
        <p:spPr>
          <a:xfrm>
            <a:off x="3822192" y="1737360"/>
            <a:ext cx="1371600" cy="365760"/>
          </a:xfrm>
          <a:prstGeom prst="rect">
            <a:avLst/>
          </a:prstGeom>
          <a:noFill/>
          <a:ln/>
        </p:spPr>
        <p:txBody>
          <a:bodyPr wrap="square" lIns="0" tIns="0" rIns="0" bIns="0" rtlCol="0" anchor="t"/>
          <a:lstStyle/>
          <a:p>
            <a:pPr marL="0" indent="0" algn="ctr">
              <a:buNone/>
            </a:pPr>
            <a:r>
              <a:rPr lang="en-US" sz="1500" b="1" dirty="0">
                <a:solidFill>
                  <a:schemeClr val="tx2"/>
                </a:solidFill>
              </a:rPr>
              <a:t>Pool</a:t>
            </a:r>
            <a:endParaRPr lang="en-US" sz="1500" dirty="0"/>
          </a:p>
        </p:txBody>
      </p:sp>
      <p:sp>
        <p:nvSpPr>
          <p:cNvPr id="22" name="Text 19"/>
          <p:cNvSpPr txBox="1"/>
          <p:nvPr/>
        </p:nvSpPr>
        <p:spPr>
          <a:xfrm>
            <a:off x="3931920" y="2194560"/>
            <a:ext cx="1152144" cy="3291840"/>
          </a:xfrm>
          <a:prstGeom prst="rect">
            <a:avLst/>
          </a:prstGeom>
          <a:noFill/>
          <a:ln/>
        </p:spPr>
        <p:txBody>
          <a:bodyPr wrap="square" lIns="0" tIns="0" rIns="0" bIns="0" rtlCol="0" anchor="t"/>
          <a:lstStyle/>
          <a:p>
            <a:pPr marL="0" indent="0" algn="ctr">
              <a:buNone/>
            </a:pPr>
            <a:r>
              <a:rPr lang="en-US" sz="950" dirty="0">
                <a:solidFill>
                  <a:schemeClr val="tx1"/>
                </a:solidFill>
              </a:rPr>
              <a:t>Weights 0.6 / 0.2 / 0.1 / 0.1, fixed and published. A 1.5% floor on every outcome. Then the analysts' lean, capped at 10 points. Code does this; no model writes the number.</a:t>
            </a:r>
            <a:endParaRPr lang="en-US" sz="950" dirty="0"/>
          </a:p>
        </p:txBody>
      </p:sp>
      <p:sp>
        <p:nvSpPr>
          <p:cNvPr id="23" name="Shape 20"/>
          <p:cNvSpPr/>
          <p:nvPr/>
        </p:nvSpPr>
        <p:spPr>
          <a:xfrm>
            <a:off x="5266944" y="3547872"/>
            <a:ext cx="384048" cy="0"/>
          </a:xfrm>
          <a:prstGeom prst="line">
            <a:avLst/>
          </a:prstGeom>
          <a:noFill/>
          <a:ln w="19050">
            <a:solidFill>
              <a:srgbClr val="6B7280"/>
            </a:solidFill>
            <a:prstDash val="solid"/>
            <a:tailEnd type="triangle"/>
          </a:ln>
        </p:spPr>
      </p:sp>
      <p:sp>
        <p:nvSpPr>
          <p:cNvPr id="24" name="Shape 21"/>
          <p:cNvSpPr/>
          <p:nvPr/>
        </p:nvSpPr>
        <p:spPr>
          <a:xfrm>
            <a:off x="5724144" y="2770632"/>
            <a:ext cx="1417320" cy="1554480"/>
          </a:xfrm>
          <a:prstGeom prst="roundRect">
            <a:avLst>
              <a:gd name="adj" fmla="val 6452"/>
            </a:avLst>
          </a:prstGeom>
          <a:solidFill>
            <a:srgbClr val="1E2761"/>
          </a:solidFill>
          <a:ln w="12700">
            <a:solidFill>
              <a:srgbClr val="1E2761"/>
            </a:solidFill>
            <a:prstDash val="solid"/>
          </a:ln>
        </p:spPr>
      </p:sp>
      <p:sp>
        <p:nvSpPr>
          <p:cNvPr id="25" name="Text 22"/>
          <p:cNvSpPr txBox="1"/>
          <p:nvPr/>
        </p:nvSpPr>
        <p:spPr>
          <a:xfrm>
            <a:off x="5724144" y="2862072"/>
            <a:ext cx="1417320" cy="365760"/>
          </a:xfrm>
          <a:prstGeom prst="rect">
            <a:avLst/>
          </a:prstGeom>
          <a:noFill/>
          <a:ln/>
        </p:spPr>
        <p:txBody>
          <a:bodyPr wrap="square" lIns="0" tIns="0" rIns="0" bIns="0" rtlCol="0" anchor="t"/>
          <a:lstStyle/>
          <a:p>
            <a:pPr marL="0" indent="0" algn="ctr">
              <a:buNone/>
            </a:pPr>
            <a:r>
              <a:rPr lang="en-US" sz="1400" b="1" dirty="0">
                <a:solidFill>
                  <a:schemeClr val="bg1"/>
                </a:solidFill>
              </a:rPr>
              <a:t>Forecast</a:t>
            </a:r>
            <a:endParaRPr lang="en-US" sz="1400" dirty="0"/>
          </a:p>
        </p:txBody>
      </p:sp>
      <p:sp>
        <p:nvSpPr>
          <p:cNvPr id="26" name="Text 23"/>
          <p:cNvSpPr txBox="1"/>
          <p:nvPr/>
        </p:nvSpPr>
        <p:spPr>
          <a:xfrm>
            <a:off x="5724144" y="3273552"/>
            <a:ext cx="1417320" cy="1005840"/>
          </a:xfrm>
          <a:prstGeom prst="rect">
            <a:avLst/>
          </a:prstGeom>
          <a:noFill/>
          <a:ln/>
        </p:spPr>
        <p:txBody>
          <a:bodyPr wrap="square" lIns="0" tIns="0" rIns="0" bIns="0" rtlCol="0" anchor="t"/>
          <a:lstStyle/>
          <a:p>
            <a:pPr marL="0" indent="0" algn="ctr">
              <a:buNone/>
            </a:pPr>
            <a:r>
              <a:rPr lang="en-US" sz="1050" dirty="0">
                <a:solidFill>
                  <a:schemeClr val="bg1"/>
                </a:solidFill>
              </a:rPr>
              <a:t>28 Oct, entry #18</a:t>
            </a:r>
            <a:endParaRPr lang="en-US" sz="1050" dirty="0"/>
          </a:p>
          <a:p>
            <a:pPr marL="0" indent="0" algn="ctr">
              <a:buNone/>
            </a:pPr>
            <a:r>
              <a:rPr lang="en-US" sz="1050" dirty="0">
                <a:solidFill>
                  <a:schemeClr val="bg1"/>
                </a:solidFill>
              </a:rPr>
              <a:t>no change 67.6%</a:t>
            </a:r>
            <a:endParaRPr lang="en-US" sz="1050" dirty="0"/>
          </a:p>
          <a:p>
            <a:pPr marL="0" indent="0" algn="ctr">
              <a:buNone/>
            </a:pPr>
            <a:r>
              <a:rPr lang="en-US" sz="1050" dirty="0">
                <a:solidFill>
                  <a:schemeClr val="bg1"/>
                </a:solidFill>
              </a:rPr>
              <a:t>+25 bps 22.4%</a:t>
            </a:r>
            <a:endParaRPr lang="en-US" sz="1050" dirty="0"/>
          </a:p>
        </p:txBody>
      </p:sp>
      <p:sp>
        <p:nvSpPr>
          <p:cNvPr id="27" name="Text 24"/>
          <p:cNvSpPr txBox="1"/>
          <p:nvPr/>
        </p:nvSpPr>
        <p:spPr>
          <a:xfrm>
            <a:off x="7415784" y="1417320"/>
            <a:ext cx="4224528" cy="365760"/>
          </a:xfrm>
          <a:prstGeom prst="rect">
            <a:avLst/>
          </a:prstGeom>
          <a:noFill/>
          <a:ln/>
        </p:spPr>
        <p:txBody>
          <a:bodyPr wrap="square" lIns="0" tIns="0" rIns="0" bIns="0" rtlCol="0" anchor="t"/>
          <a:lstStyle/>
          <a:p>
            <a:pPr marL="0" indent="0">
              <a:buNone/>
            </a:pPr>
            <a:r>
              <a:rPr lang="en-US" sz="1500" b="1" dirty="0">
                <a:solidFill>
                  <a:schemeClr val="tx2"/>
                </a:solidFill>
              </a:rPr>
              <a:t>The chain, in order</a:t>
            </a:r>
            <a:endParaRPr lang="en-US" sz="1500" dirty="0"/>
          </a:p>
        </p:txBody>
      </p:sp>
      <p:sp>
        <p:nvSpPr>
          <p:cNvPr id="28" name="Shape 25"/>
          <p:cNvSpPr/>
          <p:nvPr/>
        </p:nvSpPr>
        <p:spPr>
          <a:xfrm>
            <a:off x="7415784" y="1874520"/>
            <a:ext cx="109728" cy="548640"/>
          </a:xfrm>
          <a:prstGeom prst="rect">
            <a:avLst/>
          </a:prstGeom>
          <a:solidFill>
            <a:srgbClr val="1E2761"/>
          </a:solidFill>
          <a:ln w="12700">
            <a:solidFill>
              <a:srgbClr val="1E2761"/>
            </a:solidFill>
            <a:prstDash val="solid"/>
          </a:ln>
        </p:spPr>
      </p:sp>
      <p:sp>
        <p:nvSpPr>
          <p:cNvPr id="29" name="Text 26"/>
          <p:cNvSpPr txBox="1"/>
          <p:nvPr/>
        </p:nvSpPr>
        <p:spPr>
          <a:xfrm>
            <a:off x="7644384" y="182880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Evidence</a:t>
            </a:r>
            <a:endParaRPr lang="en-US" sz="1250" dirty="0"/>
          </a:p>
        </p:txBody>
      </p:sp>
      <p:sp>
        <p:nvSpPr>
          <p:cNvPr id="30" name="Text 27"/>
          <p:cNvSpPr txBox="1"/>
          <p:nvPr/>
        </p:nvSpPr>
        <p:spPr>
          <a:xfrm>
            <a:off x="8787384" y="1828800"/>
            <a:ext cx="2852928" cy="658368"/>
          </a:xfrm>
          <a:prstGeom prst="rect">
            <a:avLst/>
          </a:prstGeom>
          <a:noFill/>
          <a:ln/>
        </p:spPr>
        <p:txBody>
          <a:bodyPr wrap="square" lIns="0" tIns="0" rIns="0" bIns="0" rtlCol="0" anchor="ctr"/>
          <a:lstStyle/>
          <a:p>
            <a:pPr marL="0" indent="0">
              <a:buNone/>
            </a:pPr>
            <a:r>
              <a:rPr lang="en-US" sz="1000" dirty="0">
                <a:solidFill>
                  <a:schemeClr val="tx1"/>
                </a:solidFill>
              </a:rPr>
              <a:t>23 items frozen and fingerprinted, dated in US time, data as first published. Nothing outside it may be read.</a:t>
            </a:r>
            <a:endParaRPr lang="en-US" sz="1000" dirty="0"/>
          </a:p>
        </p:txBody>
      </p:sp>
      <p:sp>
        <p:nvSpPr>
          <p:cNvPr id="31" name="Shape 28"/>
          <p:cNvSpPr/>
          <p:nvPr/>
        </p:nvSpPr>
        <p:spPr>
          <a:xfrm>
            <a:off x="7415784" y="2587752"/>
            <a:ext cx="109728" cy="548640"/>
          </a:xfrm>
          <a:prstGeom prst="rect">
            <a:avLst/>
          </a:prstGeom>
          <a:solidFill>
            <a:srgbClr val="1E2761"/>
          </a:solidFill>
          <a:ln w="12700">
            <a:solidFill>
              <a:srgbClr val="1E2761"/>
            </a:solidFill>
            <a:prstDash val="solid"/>
          </a:ln>
        </p:spPr>
      </p:sp>
      <p:sp>
        <p:nvSpPr>
          <p:cNvPr id="32" name="Text 29"/>
          <p:cNvSpPr txBox="1"/>
          <p:nvPr/>
        </p:nvSpPr>
        <p:spPr>
          <a:xfrm>
            <a:off x="7644384" y="2542032"/>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Signals</a:t>
            </a:r>
            <a:endParaRPr lang="en-US" sz="1250" dirty="0"/>
          </a:p>
        </p:txBody>
      </p:sp>
      <p:sp>
        <p:nvSpPr>
          <p:cNvPr id="33" name="Text 30"/>
          <p:cNvSpPr txBox="1"/>
          <p:nvPr/>
        </p:nvSpPr>
        <p:spPr>
          <a:xfrm>
            <a:off x="8787384" y="2542032"/>
            <a:ext cx="2852928" cy="658368"/>
          </a:xfrm>
          <a:prstGeom prst="rect">
            <a:avLst/>
          </a:prstGeom>
          <a:noFill/>
          <a:ln/>
        </p:spPr>
        <p:txBody>
          <a:bodyPr wrap="square" lIns="0" tIns="0" rIns="0" bIns="0" rtlCol="0" anchor="ctr"/>
          <a:lstStyle/>
          <a:p>
            <a:pPr marL="0" indent="0">
              <a:buNone/>
            </a:pPr>
            <a:r>
              <a:rPr lang="en-US" sz="1000" dirty="0">
                <a:solidFill>
                  <a:schemeClr val="tx1"/>
                </a:solidFill>
              </a:rPr>
              <a:t>Computed by code and handed to the analysts as numbers: inflation gap, labour slack, financial conditions, statement tone, base rates, projections.</a:t>
            </a:r>
            <a:endParaRPr lang="en-US" sz="1000" dirty="0"/>
          </a:p>
        </p:txBody>
      </p:sp>
      <p:sp>
        <p:nvSpPr>
          <p:cNvPr id="34" name="Shape 31"/>
          <p:cNvSpPr/>
          <p:nvPr/>
        </p:nvSpPr>
        <p:spPr>
          <a:xfrm>
            <a:off x="7415784" y="3300984"/>
            <a:ext cx="109728" cy="548640"/>
          </a:xfrm>
          <a:prstGeom prst="rect">
            <a:avLst/>
          </a:prstGeom>
          <a:solidFill>
            <a:srgbClr val="1E2761"/>
          </a:solidFill>
          <a:ln w="12700">
            <a:solidFill>
              <a:srgbClr val="1E2761"/>
            </a:solidFill>
            <a:prstDash val="solid"/>
          </a:ln>
        </p:spPr>
      </p:sp>
      <p:sp>
        <p:nvSpPr>
          <p:cNvPr id="35" name="Text 32"/>
          <p:cNvSpPr txBox="1"/>
          <p:nvPr/>
        </p:nvSpPr>
        <p:spPr>
          <a:xfrm>
            <a:off x="7644384" y="3255264"/>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Pool</a:t>
            </a:r>
            <a:endParaRPr lang="en-US" sz="1250" dirty="0"/>
          </a:p>
        </p:txBody>
      </p:sp>
      <p:sp>
        <p:nvSpPr>
          <p:cNvPr id="36" name="Text 33"/>
          <p:cNvSpPr txBox="1"/>
          <p:nvPr/>
        </p:nvSpPr>
        <p:spPr>
          <a:xfrm>
            <a:off x="8787384" y="3255264"/>
            <a:ext cx="2852928" cy="658368"/>
          </a:xfrm>
          <a:prstGeom prst="rect">
            <a:avLst/>
          </a:prstGeom>
          <a:noFill/>
          <a:ln/>
        </p:spPr>
        <p:txBody>
          <a:bodyPr wrap="square" lIns="0" tIns="0" rIns="0" bIns="0" rtlCol="0" anchor="ctr"/>
          <a:lstStyle/>
          <a:p>
            <a:pPr marL="0" indent="0">
              <a:buNone/>
            </a:pPr>
            <a:r>
              <a:rPr lang="en-US" sz="1000" dirty="0">
                <a:solidFill>
                  <a:schemeClr val="tx1"/>
                </a:solidFill>
              </a:rPr>
              <a:t>Four families at fixed weights, the floor, then the specialists' lean.</a:t>
            </a:r>
            <a:endParaRPr lang="en-US" sz="1000" dirty="0"/>
          </a:p>
        </p:txBody>
      </p:sp>
      <p:sp>
        <p:nvSpPr>
          <p:cNvPr id="37" name="Shape 34"/>
          <p:cNvSpPr/>
          <p:nvPr/>
        </p:nvSpPr>
        <p:spPr>
          <a:xfrm>
            <a:off x="7415784" y="4014216"/>
            <a:ext cx="109728" cy="548640"/>
          </a:xfrm>
          <a:prstGeom prst="rect">
            <a:avLst/>
          </a:prstGeom>
          <a:solidFill>
            <a:srgbClr val="C8553D"/>
          </a:solidFill>
          <a:ln w="12700">
            <a:solidFill>
              <a:srgbClr val="C8553D"/>
            </a:solidFill>
            <a:prstDash val="solid"/>
          </a:ln>
        </p:spPr>
      </p:sp>
      <p:sp>
        <p:nvSpPr>
          <p:cNvPr id="38" name="Text 35"/>
          <p:cNvSpPr txBox="1"/>
          <p:nvPr/>
        </p:nvSpPr>
        <p:spPr>
          <a:xfrm>
            <a:off x="7644384" y="3968496"/>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Analysts</a:t>
            </a:r>
            <a:endParaRPr lang="en-US" sz="1250" dirty="0"/>
          </a:p>
        </p:txBody>
      </p:sp>
      <p:sp>
        <p:nvSpPr>
          <p:cNvPr id="39" name="Text 36"/>
          <p:cNvSpPr txBox="1"/>
          <p:nvPr/>
        </p:nvSpPr>
        <p:spPr>
          <a:xfrm>
            <a:off x="8787384" y="3968496"/>
            <a:ext cx="2852928" cy="658368"/>
          </a:xfrm>
          <a:prstGeom prst="rect">
            <a:avLst/>
          </a:prstGeom>
          <a:noFill/>
          <a:ln/>
        </p:spPr>
        <p:txBody>
          <a:bodyPr wrap="square" lIns="0" tIns="0" rIns="0" bIns="0" rtlCol="0" anchor="ctr"/>
          <a:lstStyle/>
          <a:p>
            <a:pPr marL="0" indent="0">
              <a:buNone/>
            </a:pPr>
            <a:r>
              <a:rPr lang="en-US" sz="1000" dirty="0">
                <a:solidFill>
                  <a:schemeClr val="tx1"/>
                </a:solidFill>
              </a:rPr>
              <a:t>Only analysts 4 to 8 enter the number. Analysts 1 to 3 are checks and balances on the ladder.</a:t>
            </a:r>
            <a:endParaRPr lang="en-US" sz="1000" dirty="0"/>
          </a:p>
        </p:txBody>
      </p:sp>
      <p:sp>
        <p:nvSpPr>
          <p:cNvPr id="40" name="Shape 37"/>
          <p:cNvSpPr/>
          <p:nvPr/>
        </p:nvSpPr>
        <p:spPr>
          <a:xfrm>
            <a:off x="7415784" y="4727448"/>
            <a:ext cx="109728" cy="548640"/>
          </a:xfrm>
          <a:prstGeom prst="rect">
            <a:avLst/>
          </a:prstGeom>
          <a:solidFill>
            <a:srgbClr val="2C6E49"/>
          </a:solidFill>
          <a:ln w="12700">
            <a:solidFill>
              <a:srgbClr val="2C6E49"/>
            </a:solidFill>
            <a:prstDash val="solid"/>
          </a:ln>
        </p:spPr>
      </p:sp>
      <p:sp>
        <p:nvSpPr>
          <p:cNvPr id="41" name="Text 38"/>
          <p:cNvSpPr txBox="1"/>
          <p:nvPr/>
        </p:nvSpPr>
        <p:spPr>
          <a:xfrm>
            <a:off x="7644384" y="4681728"/>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You</a:t>
            </a:r>
            <a:endParaRPr lang="en-US" sz="1250" dirty="0"/>
          </a:p>
        </p:txBody>
      </p:sp>
      <p:sp>
        <p:nvSpPr>
          <p:cNvPr id="42" name="Text 39"/>
          <p:cNvSpPr txBox="1"/>
          <p:nvPr/>
        </p:nvSpPr>
        <p:spPr>
          <a:xfrm>
            <a:off x="8787384" y="4681728"/>
            <a:ext cx="2852928" cy="658368"/>
          </a:xfrm>
          <a:prstGeom prst="rect">
            <a:avLst/>
          </a:prstGeom>
          <a:noFill/>
          <a:ln/>
        </p:spPr>
        <p:txBody>
          <a:bodyPr wrap="square" lIns="0" tIns="0" rIns="0" bIns="0" rtlCol="0" anchor="ctr"/>
          <a:lstStyle/>
          <a:p>
            <a:pPr marL="0" indent="0">
              <a:buNone/>
            </a:pPr>
            <a:r>
              <a:rPr lang="en-US" sz="1000" dirty="0">
                <a:solidFill>
                  <a:schemeClr val="tx1"/>
                </a:solidFill>
              </a:rPr>
              <a:t>Views tilt by at most 10 points and expire; watch-outs must be answered by id; documents and odds become evidence.</a:t>
            </a:r>
            <a:endParaRPr lang="en-US" sz="1000" dirty="0"/>
          </a:p>
        </p:txBody>
      </p:sp>
      <p:sp>
        <p:nvSpPr>
          <p:cNvPr id="43" name="Shape 40"/>
          <p:cNvSpPr/>
          <p:nvPr/>
        </p:nvSpPr>
        <p:spPr>
          <a:xfrm>
            <a:off x="7415784" y="5440680"/>
            <a:ext cx="109728" cy="548640"/>
          </a:xfrm>
          <a:prstGeom prst="rect">
            <a:avLst/>
          </a:prstGeom>
          <a:solidFill>
            <a:srgbClr val="1E2761"/>
          </a:solidFill>
          <a:ln w="12700">
            <a:solidFill>
              <a:srgbClr val="1E2761"/>
            </a:solidFill>
            <a:prstDash val="solid"/>
          </a:ln>
        </p:spPr>
      </p:sp>
      <p:sp>
        <p:nvSpPr>
          <p:cNvPr id="44" name="Text 41"/>
          <p:cNvSpPr txBox="1"/>
          <p:nvPr/>
        </p:nvSpPr>
        <p:spPr>
          <a:xfrm>
            <a:off x="7644384" y="5394960"/>
            <a:ext cx="1188720" cy="640080"/>
          </a:xfrm>
          <a:prstGeom prst="rect">
            <a:avLst/>
          </a:prstGeom>
          <a:noFill/>
          <a:ln/>
        </p:spPr>
        <p:txBody>
          <a:bodyPr wrap="square" lIns="0" tIns="0" rIns="0" bIns="0" rtlCol="0" anchor="ctr"/>
          <a:lstStyle/>
          <a:p>
            <a:pPr marL="0" indent="0">
              <a:buNone/>
            </a:pPr>
            <a:r>
              <a:rPr lang="en-US" sz="1250" b="1" dirty="0">
                <a:solidFill>
                  <a:schemeClr val="tx2"/>
                </a:solidFill>
              </a:rPr>
              <a:t>Ledger</a:t>
            </a:r>
            <a:endParaRPr lang="en-US" sz="1250" dirty="0"/>
          </a:p>
        </p:txBody>
      </p:sp>
      <p:sp>
        <p:nvSpPr>
          <p:cNvPr id="45" name="Text 42"/>
          <p:cNvSpPr txBox="1"/>
          <p:nvPr/>
        </p:nvSpPr>
        <p:spPr>
          <a:xfrm>
            <a:off x="8787384" y="5394960"/>
            <a:ext cx="2852928" cy="658368"/>
          </a:xfrm>
          <a:prstGeom prst="rect">
            <a:avLst/>
          </a:prstGeom>
          <a:noFill/>
          <a:ln/>
        </p:spPr>
        <p:txBody>
          <a:bodyPr wrap="square" lIns="0" tIns="0" rIns="0" bIns="0" rtlCol="0" anchor="ctr"/>
          <a:lstStyle/>
          <a:p>
            <a:pPr marL="0" indent="0">
              <a:buNone/>
            </a:pPr>
            <a:r>
              <a:rPr lang="en-US" sz="1000" dirty="0">
                <a:solidFill>
                  <a:schemeClr val="tx1"/>
                </a:solidFill>
              </a:rPr>
              <a:t>Append-only, hash-chained; every entry recomputes from its snapshot and the runs it names.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The arithmetic: from five models to one number</a:t>
            </a:r>
            <a:endParaRPr lang="en-US" sz="3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3899916"/>
        </p:xfrm>
        <a:graphic>
          <a:graphicData uri="http://schemas.openxmlformats.org/drawingml/2006/table">
            <a:tbl>
              <a:tblPr/>
              <a:tblGrid>
                <a:gridCol w="1828800">
                  <a:extLst>
                    <a:ext uri="{9D8B030D-6E8A-4147-A177-3AD203B41FA5}">
                      <a16:colId xmlns:a16="http://schemas.microsoft.com/office/drawing/2014/main" val="20000"/>
                    </a:ext>
                  </a:extLst>
                </a:gridCol>
                <a:gridCol w="4325112">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02336">
                <a:tc>
                  <a:txBody>
                    <a:bodyPr/>
                    <a:lstStyle/>
                    <a:p>
                      <a:pPr marL="0" indent="0">
                        <a:buNone/>
                      </a:pPr>
                      <a:r>
                        <a:rPr lang="en-US" sz="1100" b="1" dirty="0">
                          <a:solidFill>
                            <a:srgbClr val="FFFFFF"/>
                          </a:solidFill>
                        </a:rPr>
                        <a:t>Model</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buNone/>
                      </a:pPr>
                      <a:r>
                        <a:rPr lang="en-US" sz="1100" b="1" dirty="0">
                          <a:solidFill>
                            <a:srgbClr val="FFFFFF"/>
                          </a:solidFill>
                        </a:rPr>
                        <a:t>What it reads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no change</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+25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+50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00" b="1" dirty="0">
                          <a:solidFill>
                            <a:srgbClr val="FFFFFF"/>
                          </a:solidFill>
                        </a:rPr>
                        <a:t>weight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2336">
                <a:tc>
                  <a:txBody>
                    <a:bodyPr/>
                    <a:lstStyle/>
                    <a:p>
                      <a:pPr marL="0" indent="0">
                        <a:buNone/>
                      </a:pPr>
                      <a:r>
                        <a:rPr lang="en-US" sz="1100" dirty="0">
                          <a:solidFill>
                            <a:srgbClr val="1B1F2A"/>
                          </a:solidFill>
                        </a:rPr>
                        <a:t>Market-implied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November fed-funds future against the overnight rate: +2.5 bp expected, split between the two nearest outcomes</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402336">
                <a:tc>
                  <a:txBody>
                    <a:bodyPr/>
                    <a:lstStyle/>
                    <a:p>
                      <a:pPr marL="0" indent="0">
                        <a:buNone/>
                      </a:pPr>
                      <a:r>
                        <a:rPr lang="en-US" sz="1100" dirty="0">
                          <a:solidFill>
                            <a:srgbClr val="1B1F2A"/>
                          </a:solidFill>
                        </a:rPr>
                        <a:t>Taylor family</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12-month core PCE 3.0%, unemployment 4.2%, r* from the NY Fed DSGE model (0.65 / 1.86 / 3.06%); three level rules × nine r*/u* pairs plus the first-difference rule × three u*: 30 prescriptions, mean +22.5 bp</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26.9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44.6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402336">
                <a:tc>
                  <a:txBody>
                    <a:bodyPr/>
                    <a:lstStyle/>
                    <a:p>
                      <a:pPr marL="0" indent="0">
                        <a:buNone/>
                      </a:pPr>
                      <a:r>
                        <a:rPr lang="en-US" sz="1100" dirty="0">
                          <a:solidFill>
                            <a:srgbClr val="1B1F2A"/>
                          </a:solidFill>
                        </a:rPr>
                        <a:t>Prediction market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Polymarket, 26 Oct, $67m traded: 94.5% no change at the mid price, 94.9% once the five prices are renormalised</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94.9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4.5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402336">
                <a:tc>
                  <a:txBody>
                    <a:bodyPr/>
                    <a:lstStyle/>
                    <a:p>
                      <a:pPr marL="0" indent="0">
                        <a:buNone/>
                      </a:pPr>
                      <a:r>
                        <a:rPr lang="en-US" sz="1100" dirty="0">
                          <a:solidFill>
                            <a:srgbClr val="1B1F2A"/>
                          </a:solidFill>
                        </a:rPr>
                        <a:t>Historical base rates</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What followed a hike at the 49 scheduled meetings since 1994 that came after one</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34.7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52.2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13.1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0.1</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r h="402336">
                <a:tc>
                  <a:txBody>
                    <a:bodyPr/>
                    <a:lstStyle/>
                    <a:p>
                      <a:pPr marL="0" indent="0">
                        <a:buNone/>
                      </a:pPr>
                      <a:r>
                        <a:rPr lang="en-US" sz="1100" dirty="0">
                          <a:solidFill>
                            <a:srgbClr val="1B1F2A"/>
                          </a:solidFill>
                        </a:rPr>
                        <a:t>Ordered probit v2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Nine features on first-published data; failed v1, caveated v2</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24.2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63.8</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12.0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dirty="0">
                          <a:solidFill>
                            <a:srgbClr val="1B1F2A"/>
                          </a:solidFill>
                        </a:rPr>
                        <a:t>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5"/>
                  </a:ext>
                </a:extLst>
              </a:tr>
              <a:tr h="402336">
                <a:tc>
                  <a:txBody>
                    <a:bodyPr/>
                    <a:lstStyle/>
                    <a:p>
                      <a:pPr marL="0" indent="0">
                        <a:buNone/>
                      </a:pPr>
                      <a:r>
                        <a:rPr lang="en-US" sz="1100" b="1" dirty="0">
                          <a:solidFill>
                            <a:srgbClr val="1B1F2A"/>
                          </a:solidFill>
                        </a:rPr>
                        <a:t>Pooled</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Weighted average, then the 1.5% floor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1.5</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70.9</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20.2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6.0</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6"/>
                  </a:ext>
                </a:extLst>
              </a:tr>
              <a:tr h="402336">
                <a:tc>
                  <a:txBody>
                    <a:bodyPr/>
                    <a:lstStyle/>
                    <a:p>
                      <a:pPr marL="0" indent="0">
                        <a:buNone/>
                      </a:pPr>
                      <a:r>
                        <a:rPr lang="en-US" sz="1100" b="1" dirty="0">
                          <a:solidFill>
                            <a:srgbClr val="C8553D"/>
                          </a:solidFill>
                        </a:rPr>
                        <a:t>After pooling</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buNone/>
                      </a:pPr>
                      <a:r>
                        <a:rPr lang="en-US" sz="1000" b="1" dirty="0">
                          <a:solidFill>
                            <a:srgbClr val="1B1F2A"/>
                          </a:solidFill>
                        </a:rPr>
                        <a:t>Specialists' lean: a modifier on the pooled number, not a model in the pool. </a:t>
                      </a:r>
                      <a:r>
                        <a:rPr lang="en-US" sz="1000" dirty="0">
                          <a:solidFill>
                            <a:srgbClr val="1B1F2A"/>
                          </a:solidFill>
                        </a:rPr>
                        <a:t>Mean of analysts 4 to 8, +4.0 bp hawkish = 4.0 points of probability moved toward a hike, capped at 10.</a:t>
                      </a:r>
                      <a:endParaRPr lang="en-US" sz="10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−0.3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−3.3</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+2.2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+1.7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tc>
                  <a:txBody>
                    <a:bodyPr/>
                    <a:lstStyle/>
                    <a:p>
                      <a:pPr marL="0" indent="0" algn="ctr">
                        <a:buNone/>
                      </a:pPr>
                      <a:r>
                        <a:rPr lang="en-US" sz="1100" dirty="0">
                          <a:solidFill>
                            <a:srgbClr val="6B7280"/>
                          </a:solidFill>
                        </a:rPr>
                        <a: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FBEFEA"/>
                    </a:solidFill>
                  </a:tcPr>
                </a:tc>
                <a:extLst>
                  <a:ext uri="{0D108BD9-81ED-4DB2-BD59-A6C34878D82A}">
                    <a16:rowId xmlns:a16="http://schemas.microsoft.com/office/drawing/2014/main" val="10007"/>
                  </a:ext>
                </a:extLst>
              </a:tr>
              <a:tr h="402336">
                <a:tc>
                  <a:txBody>
                    <a:bodyPr/>
                    <a:lstStyle/>
                    <a:p>
                      <a:pPr marL="0" indent="0">
                        <a:buNone/>
                      </a:pPr>
                      <a:r>
                        <a:rPr lang="en-US" sz="1100" b="1" dirty="0">
                          <a:solidFill>
                            <a:srgbClr val="1B1F2A"/>
                          </a:solidFill>
                        </a:rPr>
                        <a:t>Machine forecast</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buNone/>
                      </a:pPr>
                      <a:r>
                        <a:rPr lang="en-US" sz="1050" dirty="0">
                          <a:solidFill>
                            <a:srgbClr val="1B1F2A"/>
                          </a:solidFill>
                        </a:rPr>
                        <a:t>Ledger entry #18, 28 October</a:t>
                      </a:r>
                      <a:endParaRPr lang="en-US" sz="105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1.2</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67.6</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22.4</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00" b="1" dirty="0">
                          <a:solidFill>
                            <a:srgbClr val="1B1F2A"/>
                          </a:solidFill>
                        </a:rPr>
                        <a:t>7.7</a:t>
                      </a: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endParaRPr lang="en-US" sz="1100" dirty="0"/>
                    </a:p>
                  </a:txBody>
                  <a:tcPr marL="36576" marR="36576" marT="36576" marB="36576"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Shape 1"/>
          <p:cNvSpPr/>
          <p:nvPr/>
        </p:nvSpPr>
        <p:spPr>
          <a:xfrm>
            <a:off x="548640" y="5742432"/>
            <a:ext cx="11091672" cy="566928"/>
          </a:xfrm>
          <a:prstGeom prst="roundRect">
            <a:avLst>
              <a:gd name="adj" fmla="val 1935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Text 2"/>
          <p:cNvSpPr txBox="1"/>
          <p:nvPr/>
        </p:nvSpPr>
        <p:spPr>
          <a:xfrm>
            <a:off x="777240" y="5760720"/>
            <a:ext cx="2743200" cy="530352"/>
          </a:xfrm>
          <a:prstGeom prst="rect">
            <a:avLst/>
          </a:prstGeom>
          <a:noFill/>
          <a:ln/>
        </p:spPr>
        <p:txBody>
          <a:bodyPr wrap="square" lIns="0" tIns="0" rIns="0" bIns="0" rtlCol="0" anchor="ctr"/>
          <a:lstStyle/>
          <a:p>
            <a:pPr marL="0" indent="0">
              <a:buNone/>
            </a:pPr>
            <a:r>
              <a:rPr lang="en-US" sz="1300" b="1" dirty="0">
                <a:solidFill>
                  <a:srgbClr val="C8553D"/>
                </a:solidFill>
              </a:rPr>
              <a:t>Weights are based on judgement</a:t>
            </a:r>
            <a:endParaRPr lang="en-US" sz="1300" dirty="0"/>
          </a:p>
        </p:txBody>
      </p:sp>
      <p:sp>
        <p:nvSpPr>
          <p:cNvPr id="7" name="Text 3"/>
          <p:cNvSpPr txBox="1"/>
          <p:nvPr/>
        </p:nvSpPr>
        <p:spPr>
          <a:xfrm>
            <a:off x="3611880" y="5760720"/>
            <a:ext cx="7799832" cy="530352"/>
          </a:xfrm>
          <a:prstGeom prst="rect">
            <a:avLst/>
          </a:prstGeom>
          <a:noFill/>
          <a:ln/>
        </p:spPr>
        <p:txBody>
          <a:bodyPr wrap="square" lIns="0" tIns="0" rIns="0" bIns="0" rtlCol="0" anchor="ctr"/>
          <a:lstStyle/>
          <a:p>
            <a:pPr marL="0" indent="0">
              <a:buNone/>
            </a:pPr>
            <a:r>
              <a:rPr lang="en-US" sz="1050" dirty="0">
                <a:solidFill>
                  <a:schemeClr val="tx1"/>
                </a:solidFill>
              </a:rPr>
              <a:t>Logged as amendments, never fitted. Ideally we would backtest the appropriate weights; with eight decisions a year there is no record to fit on yet, so live scores from 28 October onward decide them, by amendment.</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2: the evidence graph and the pool</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3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Evidence graph</a:t>
            </a:r>
            <a:endParaRPr lang="en-US" sz="1300" dirty="0"/>
          </a:p>
          <a:p>
            <a:pPr marL="342900" indent="-342900">
              <a:spcAft>
                <a:spcPts val="800"/>
              </a:spcAft>
              <a:buSzPct val="100000"/>
              <a:buChar char="•"/>
            </a:pPr>
            <a:r>
              <a:rPr lang="en-US" sz="1300" dirty="0">
                <a:solidFill>
                  <a:srgbClr val="FFFFFF"/>
                </a:solidFill>
              </a:rPr>
              <a:t>Click the Market-implied box</a:t>
            </a:r>
            <a:endParaRPr lang="en-US" sz="1300" dirty="0"/>
          </a:p>
          <a:p>
            <a:pPr marL="342900" indent="-342900">
              <a:spcAft>
                <a:spcPts val="800"/>
              </a:spcAft>
              <a:buSzPct val="100000"/>
              <a:buChar char="•"/>
            </a:pPr>
            <a:r>
              <a:rPr lang="en-US" sz="1300" dirty="0">
                <a:solidFill>
                  <a:srgbClr val="FFFFFF"/>
                </a:solidFill>
              </a:rPr>
              <a:t>Click the Pool box</a:t>
            </a:r>
            <a:endParaRPr lang="en-US" sz="1300" dirty="0"/>
          </a:p>
          <a:p>
            <a:pPr marL="342900" indent="-342900">
              <a:spcAft>
                <a:spcPts val="800"/>
              </a:spcAft>
              <a:buSzPct val="100000"/>
              <a:buChar char="•"/>
            </a:pPr>
            <a:r>
              <a:rPr lang="en-US" sz="1300" dirty="0">
                <a:solidFill>
                  <a:srgbClr val="FFFFFF"/>
                </a:solidFill>
              </a:rPr>
              <a:t>Methodology, scroll to the worked example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Market-implied: the futures price, 100 minus price, the expected change, the 90/10 split</a:t>
            </a:r>
            <a:endParaRPr lang="en-US" sz="1300" dirty="0"/>
          </a:p>
          <a:p>
            <a:pPr marL="342900" indent="-342900">
              <a:spcAft>
                <a:spcPts val="800"/>
              </a:spcAft>
              <a:buSzPct val="100000"/>
              <a:buChar char="•"/>
            </a:pPr>
            <a:r>
              <a:rPr lang="en-US" sz="1300" dirty="0">
                <a:solidFill>
                  <a:srgbClr val="FFFFFF"/>
                </a:solidFill>
              </a:rPr>
              <a:t>Pool: the four weights, the pooled line, the specialists' tilt line, Machine track</a:t>
            </a:r>
            <a:endParaRPr lang="en-US" sz="1300" dirty="0"/>
          </a:p>
          <a:p>
            <a:pPr marL="342900" indent="-342900">
              <a:spcAft>
                <a:spcPts val="800"/>
              </a:spcAft>
              <a:buSzPct val="100000"/>
              <a:buChar char="•"/>
            </a:pPr>
            <a:r>
              <a:rPr lang="en-US" sz="1300" dirty="0">
                <a:solidFill>
                  <a:srgbClr val="FFFFFF"/>
                </a:solidFill>
              </a:rPr>
              <a:t>Any evidence item: the frozen text and the link to the original</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Blue is in the number, grey is computed but not in it. Click a model and you see only what it read.</a:t>
            </a:r>
            <a:endParaRPr lang="en-US" sz="1300" dirty="0"/>
          </a:p>
          <a:p>
            <a:pPr marL="342900" indent="-342900">
              <a:spcAft>
                <a:spcPts val="800"/>
              </a:spcAft>
              <a:buSzPct val="100000"/>
              <a:buChar char="•"/>
            </a:pPr>
            <a:r>
              <a:rPr lang="en-US" sz="1300" dirty="0">
                <a:solidFill>
                  <a:srgbClr val="FFFFFF"/>
                </a:solidFill>
              </a:rPr>
              <a:t>The language model's lean is the one line between Pooled and Machine track. It can tilt, it cannot write.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Working around the model's limits</a:t>
            </a:r>
            <a:endParaRPr lang="en-US" sz="3200" dirty="0"/>
          </a:p>
        </p:txBody>
      </p:sp>
      <p:sp>
        <p:nvSpPr>
          <p:cNvPr id="4" name="Text 1"/>
          <p:cNvSpPr txBox="1"/>
          <p:nvPr/>
        </p:nvSpPr>
        <p:spPr>
          <a:xfrm>
            <a:off x="548640" y="1261872"/>
            <a:ext cx="11091672" cy="274320"/>
          </a:xfrm>
          <a:prstGeom prst="rect">
            <a:avLst/>
          </a:prstGeom>
          <a:noFill/>
          <a:ln/>
        </p:spPr>
        <p:txBody>
          <a:bodyPr wrap="square" lIns="0" tIns="0" rIns="0" bIns="0" rtlCol="0" anchor="t"/>
          <a:lstStyle/>
          <a:p>
            <a:pPr marL="0" indent="0">
              <a:buNone/>
            </a:pPr>
            <a:r>
              <a:rPr lang="en-US" sz="1200" dirty="0">
                <a:solidFill>
                  <a:schemeClr val="accent4"/>
                </a:solidFill>
              </a:rPr>
              <a:t>Three things a language model cannot be made to stop doing. None is removed; each is designed around, and the design is measured on every snapshot.</a:t>
            </a:r>
            <a:endParaRPr lang="en-US" sz="1200" dirty="0"/>
          </a:p>
        </p:txBody>
      </p:sp>
      <p:sp>
        <p:nvSpPr>
          <p:cNvPr id="5" name="Shape 2"/>
          <p:cNvSpPr/>
          <p:nvPr/>
        </p:nvSpPr>
        <p:spPr>
          <a:xfrm>
            <a:off x="548640" y="1627632"/>
            <a:ext cx="3593592" cy="960120"/>
          </a:xfrm>
          <a:prstGeom prst="roundRect">
            <a:avLst>
              <a:gd name="adj" fmla="val 9524"/>
            </a:avLst>
          </a:prstGeom>
          <a:solidFill>
            <a:srgbClr val="C8553D"/>
          </a:solidFill>
          <a:ln w="12700">
            <a:solidFill>
              <a:srgbClr val="C8553D"/>
            </a:solidFill>
            <a:prstDash val="solid"/>
          </a:ln>
        </p:spPr>
      </p:sp>
      <p:sp>
        <p:nvSpPr>
          <p:cNvPr id="6" name="Shape 3"/>
          <p:cNvSpPr/>
          <p:nvPr/>
        </p:nvSpPr>
        <p:spPr>
          <a:xfrm>
            <a:off x="548640" y="2404872"/>
            <a:ext cx="3593592" cy="182880"/>
          </a:xfrm>
          <a:prstGeom prst="rect">
            <a:avLst/>
          </a:prstGeom>
          <a:solidFill>
            <a:srgbClr val="C8553D"/>
          </a:solidFill>
          <a:ln w="12700">
            <a:solidFill>
              <a:srgbClr val="C8553D"/>
            </a:solidFill>
            <a:prstDash val="solid"/>
          </a:ln>
        </p:spPr>
      </p:sp>
      <p:sp>
        <p:nvSpPr>
          <p:cNvPr id="7" name="Text 4"/>
          <p:cNvSpPr txBox="1"/>
          <p:nvPr/>
        </p:nvSpPr>
        <p:spPr>
          <a:xfrm>
            <a:off x="70408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8" name="Text 5"/>
          <p:cNvSpPr txBox="1"/>
          <p:nvPr/>
        </p:nvSpPr>
        <p:spPr>
          <a:xfrm>
            <a:off x="70408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Memory cannot be switched off</a:t>
            </a:r>
            <a:endParaRPr lang="en-US" sz="1400" dirty="0"/>
          </a:p>
        </p:txBody>
      </p:sp>
      <p:sp>
        <p:nvSpPr>
          <p:cNvPr id="9" name="Text 6"/>
          <p:cNvSpPr txBox="1"/>
          <p:nvPr/>
        </p:nvSpPr>
        <p:spPr>
          <a:xfrm>
            <a:off x="70408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Everything it knows about the Fed is in its weights, and it will use it unless something stops it.</a:t>
            </a:r>
            <a:endParaRPr lang="en-US" sz="1050" dirty="0"/>
          </a:p>
        </p:txBody>
      </p:sp>
      <p:sp>
        <p:nvSpPr>
          <p:cNvPr id="10" name="Shape 7"/>
          <p:cNvSpPr/>
          <p:nvPr/>
        </p:nvSpPr>
        <p:spPr>
          <a:xfrm>
            <a:off x="548640" y="2587752"/>
            <a:ext cx="3593592" cy="2011680"/>
          </a:xfrm>
          <a:prstGeom prst="rect">
            <a:avLst/>
          </a:prstGeom>
          <a:solidFill>
            <a:srgbClr val="EEF2F7"/>
          </a:solidFill>
          <a:ln w="12700">
            <a:solidFill>
              <a:srgbClr val="EEF2F7"/>
            </a:solidFill>
            <a:prstDash val="solid"/>
          </a:ln>
        </p:spPr>
      </p:sp>
      <p:sp>
        <p:nvSpPr>
          <p:cNvPr id="11" name="Text 8"/>
          <p:cNvSpPr txBox="1"/>
          <p:nvPr/>
        </p:nvSpPr>
        <p:spPr>
          <a:xfrm>
            <a:off x="70408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12" name="Text 9"/>
          <p:cNvSpPr txBox="1"/>
          <p:nvPr/>
        </p:nvSpPr>
        <p:spPr>
          <a:xfrm>
            <a:off x="70408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Prompt engineering: </a:t>
            </a:r>
            <a:r>
              <a:rPr lang="en-US" sz="1050" dirty="0">
                <a:solidFill>
                  <a:schemeClr val="tx1"/>
                </a:solidFill>
              </a:rPr>
              <a:t>use only the evidence; do not use anything you remember about the economy, the Fed or markets.</a:t>
            </a:r>
            <a:endParaRPr lang="en-US" sz="1050" dirty="0"/>
          </a:p>
          <a:p>
            <a:pPr marL="342900" indent="-342900">
              <a:buSzPct val="100000"/>
              <a:buChar char="•"/>
            </a:pPr>
            <a:r>
              <a:rPr lang="en-US" sz="1050" b="1" dirty="0">
                <a:solidFill>
                  <a:srgbClr val="1B1F2A"/>
                </a:solidFill>
              </a:rPr>
              <a:t>Answer shape: </a:t>
            </a:r>
            <a:r>
              <a:rPr lang="en-US" sz="1050" dirty="0">
                <a:solidFill>
                  <a:schemeClr val="tx1"/>
                </a:solidFill>
              </a:rPr>
              <a:t>every claim must carry a verbatim quote from a named item, so a remembered fact has nowhere to stand.</a:t>
            </a:r>
            <a:endParaRPr lang="en-US" sz="1050" dirty="0"/>
          </a:p>
          <a:p>
            <a:pPr marL="342900" indent="-342900">
              <a:buSzPct val="100000"/>
              <a:buChar char="•"/>
            </a:pPr>
            <a:r>
              <a:rPr lang="en-US" sz="1050" b="1" dirty="0">
                <a:solidFill>
                  <a:srgbClr val="1B1F2A"/>
                </a:solidFill>
              </a:rPr>
              <a:t>Harness: </a:t>
            </a:r>
            <a:r>
              <a:rPr lang="en-US" sz="1050" dirty="0">
                <a:solidFill>
                  <a:schemeClr val="tx1"/>
                </a:solidFill>
              </a:rPr>
              <a:t>every number in the answer is matched to the snapshot by code; one that is not found is flagged as from memory and sent back once to be removed.</a:t>
            </a:r>
            <a:endParaRPr lang="en-US" sz="1050" dirty="0"/>
          </a:p>
        </p:txBody>
      </p:sp>
      <p:sp>
        <p:nvSpPr>
          <p:cNvPr id="13" name="Shape 10"/>
          <p:cNvSpPr/>
          <p:nvPr/>
        </p:nvSpPr>
        <p:spPr>
          <a:xfrm>
            <a:off x="548640" y="4599432"/>
            <a:ext cx="3593592" cy="960120"/>
          </a:xfrm>
          <a:prstGeom prst="roundRect">
            <a:avLst>
              <a:gd name="adj" fmla="val 9524"/>
            </a:avLst>
          </a:prstGeom>
          <a:solidFill>
            <a:srgbClr val="FFFFFF"/>
          </a:solidFill>
          <a:ln w="12700">
            <a:solidFill>
              <a:srgbClr val="D5DBE5"/>
            </a:solidFill>
            <a:prstDash val="solid"/>
          </a:ln>
        </p:spPr>
      </p:sp>
      <p:sp>
        <p:nvSpPr>
          <p:cNvPr id="14" name="Text 11"/>
          <p:cNvSpPr txBox="1"/>
          <p:nvPr/>
        </p:nvSpPr>
        <p:spPr>
          <a:xfrm>
            <a:off x="70408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15" name="Text 12"/>
          <p:cNvSpPr txBox="1"/>
          <p:nvPr/>
        </p:nvSpPr>
        <p:spPr>
          <a:xfrm>
            <a:off x="70408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38 → 0</a:t>
            </a:r>
            <a:endParaRPr lang="en-US" sz="2200" dirty="0"/>
          </a:p>
        </p:txBody>
      </p:sp>
      <p:sp>
        <p:nvSpPr>
          <p:cNvPr id="16" name="Text 13"/>
          <p:cNvSpPr txBox="1"/>
          <p:nvPr/>
        </p:nvSpPr>
        <p:spPr>
          <a:xfrm>
            <a:off x="214884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figures in the answer that appear nowhere in the evidence: analyst 1, which sees no evidence, against analysts 2 to 8, five runs each</a:t>
            </a:r>
            <a:endParaRPr lang="en-US" sz="1000" dirty="0"/>
          </a:p>
        </p:txBody>
      </p:sp>
      <p:sp>
        <p:nvSpPr>
          <p:cNvPr id="17" name="Shape 14"/>
          <p:cNvSpPr/>
          <p:nvPr/>
        </p:nvSpPr>
        <p:spPr>
          <a:xfrm>
            <a:off x="4297680" y="1627632"/>
            <a:ext cx="3593592" cy="960120"/>
          </a:xfrm>
          <a:prstGeom prst="roundRect">
            <a:avLst>
              <a:gd name="adj" fmla="val 9524"/>
            </a:avLst>
          </a:prstGeom>
          <a:solidFill>
            <a:srgbClr val="C8553D"/>
          </a:solidFill>
          <a:ln w="12700">
            <a:solidFill>
              <a:srgbClr val="C8553D"/>
            </a:solidFill>
            <a:prstDash val="solid"/>
          </a:ln>
        </p:spPr>
      </p:sp>
      <p:sp>
        <p:nvSpPr>
          <p:cNvPr id="18" name="Shape 15"/>
          <p:cNvSpPr/>
          <p:nvPr/>
        </p:nvSpPr>
        <p:spPr>
          <a:xfrm>
            <a:off x="4297680" y="2404872"/>
            <a:ext cx="3593592" cy="182880"/>
          </a:xfrm>
          <a:prstGeom prst="rect">
            <a:avLst/>
          </a:prstGeom>
          <a:solidFill>
            <a:srgbClr val="C8553D"/>
          </a:solidFill>
          <a:ln w="12700">
            <a:solidFill>
              <a:srgbClr val="C8553D"/>
            </a:solidFill>
            <a:prstDash val="solid"/>
          </a:ln>
        </p:spPr>
      </p:sp>
      <p:sp>
        <p:nvSpPr>
          <p:cNvPr id="19" name="Text 16"/>
          <p:cNvSpPr txBox="1"/>
          <p:nvPr/>
        </p:nvSpPr>
        <p:spPr>
          <a:xfrm>
            <a:off x="445312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20" name="Text 17"/>
          <p:cNvSpPr txBox="1"/>
          <p:nvPr/>
        </p:nvSpPr>
        <p:spPr>
          <a:xfrm>
            <a:off x="445312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The same question gets different answers</a:t>
            </a:r>
            <a:endParaRPr lang="en-US" sz="1400" dirty="0"/>
          </a:p>
        </p:txBody>
      </p:sp>
      <p:sp>
        <p:nvSpPr>
          <p:cNvPr id="21" name="Text 18"/>
          <p:cNvSpPr txBox="1"/>
          <p:nvPr/>
        </p:nvSpPr>
        <p:spPr>
          <a:xfrm>
            <a:off x="445312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Ask twice and the number moves.</a:t>
            </a:r>
            <a:endParaRPr lang="en-US" sz="1050" dirty="0"/>
          </a:p>
        </p:txBody>
      </p:sp>
      <p:sp>
        <p:nvSpPr>
          <p:cNvPr id="22" name="Shape 19"/>
          <p:cNvSpPr/>
          <p:nvPr/>
        </p:nvSpPr>
        <p:spPr>
          <a:xfrm>
            <a:off x="4297680" y="2587752"/>
            <a:ext cx="3593592" cy="2011680"/>
          </a:xfrm>
          <a:prstGeom prst="rect">
            <a:avLst/>
          </a:prstGeom>
          <a:solidFill>
            <a:srgbClr val="EEF2F7"/>
          </a:solidFill>
          <a:ln w="12700">
            <a:solidFill>
              <a:srgbClr val="EEF2F7"/>
            </a:solidFill>
            <a:prstDash val="solid"/>
          </a:ln>
        </p:spPr>
      </p:sp>
      <p:sp>
        <p:nvSpPr>
          <p:cNvPr id="23" name="Text 20"/>
          <p:cNvSpPr txBox="1"/>
          <p:nvPr/>
        </p:nvSpPr>
        <p:spPr>
          <a:xfrm>
            <a:off x="445312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24" name="Text 21"/>
          <p:cNvSpPr txBox="1"/>
          <p:nvPr/>
        </p:nvSpPr>
        <p:spPr>
          <a:xfrm>
            <a:off x="445312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Answer shape: </a:t>
            </a:r>
            <a:r>
              <a:rPr lang="en-US" sz="1050" dirty="0">
                <a:solidFill>
                  <a:schemeClr val="tx1"/>
                </a:solidFill>
              </a:rPr>
              <a:t>a JSON schema fixes the form of the answer; the runtime rejects anything else before anyone reads it.</a:t>
            </a:r>
            <a:endParaRPr lang="en-US" sz="1050" dirty="0"/>
          </a:p>
          <a:p>
            <a:pPr marL="342900" indent="-342900">
              <a:buSzPct val="100000"/>
              <a:buChar char="•"/>
            </a:pPr>
            <a:r>
              <a:rPr lang="en-US" sz="1050" b="1" dirty="0">
                <a:solidFill>
                  <a:srgbClr val="1B1F2A"/>
                </a:solidFill>
              </a:rPr>
              <a:t>Five identical runs </a:t>
            </a:r>
            <a:r>
              <a:rPr lang="en-US" sz="1050" dirty="0">
                <a:solidFill>
                  <a:schemeClr val="tx1"/>
                </a:solidFill>
              </a:rPr>
              <a:t>per analyst per snapshot: the same evidence, the same question, the same schema, only the run number differs. Each is stored and hashed, so it can be audited later.</a:t>
            </a:r>
            <a:endParaRPr lang="en-US" sz="1050" dirty="0"/>
          </a:p>
          <a:p>
            <a:pPr marL="342900" indent="-342900">
              <a:buSzPct val="100000"/>
              <a:buChar char="•"/>
            </a:pPr>
            <a:r>
              <a:rPr lang="en-US" sz="1050" b="1" dirty="0">
                <a:solidFill>
                  <a:srgbClr val="1B1F2A"/>
                </a:solidFill>
              </a:rPr>
              <a:t>Repeatability is measured: </a:t>
            </a:r>
            <a:r>
              <a:rPr lang="en-US" sz="1050" dirty="0">
                <a:solidFill>
                  <a:schemeClr val="tx1"/>
                </a:solidFill>
              </a:rPr>
              <a:t>how far the answer moves between those five runs. Pass mark: 2 points.</a:t>
            </a:r>
            <a:endParaRPr lang="en-US" sz="1050" dirty="0"/>
          </a:p>
        </p:txBody>
      </p:sp>
      <p:sp>
        <p:nvSpPr>
          <p:cNvPr id="25" name="Shape 22"/>
          <p:cNvSpPr/>
          <p:nvPr/>
        </p:nvSpPr>
        <p:spPr>
          <a:xfrm>
            <a:off x="4297680" y="4599432"/>
            <a:ext cx="3593592" cy="960120"/>
          </a:xfrm>
          <a:prstGeom prst="roundRect">
            <a:avLst>
              <a:gd name="adj" fmla="val 9524"/>
            </a:avLst>
          </a:prstGeom>
          <a:solidFill>
            <a:srgbClr val="FFFFFF"/>
          </a:solidFill>
          <a:ln w="12700">
            <a:solidFill>
              <a:srgbClr val="D5DBE5"/>
            </a:solidFill>
            <a:prstDash val="solid"/>
          </a:ln>
        </p:spPr>
      </p:sp>
      <p:sp>
        <p:nvSpPr>
          <p:cNvPr id="26" name="Text 23"/>
          <p:cNvSpPr txBox="1"/>
          <p:nvPr/>
        </p:nvSpPr>
        <p:spPr>
          <a:xfrm>
            <a:off x="445312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FOUR SNAPSHOTS</a:t>
            </a:r>
            <a:endParaRPr lang="en-US" sz="900" dirty="0"/>
          </a:p>
        </p:txBody>
      </p:sp>
      <p:sp>
        <p:nvSpPr>
          <p:cNvPr id="27" name="Text 24"/>
          <p:cNvSpPr txBox="1"/>
          <p:nvPr/>
        </p:nvSpPr>
        <p:spPr>
          <a:xfrm>
            <a:off x="445312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4.2 → 0.8</a:t>
            </a:r>
            <a:endParaRPr lang="en-US" sz="2200" dirty="0"/>
          </a:p>
        </p:txBody>
      </p:sp>
      <p:sp>
        <p:nvSpPr>
          <p:cNvPr id="28" name="Text 25"/>
          <p:cNvSpPr txBox="1"/>
          <p:nvPr/>
        </p:nvSpPr>
        <p:spPr>
          <a:xfrm>
            <a:off x="589788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how far the answer moves between identical runs: naive 4.2 points, specialists 0.8 bp, mean of four snapshots</a:t>
            </a:r>
            <a:endParaRPr lang="en-US" sz="1000" dirty="0"/>
          </a:p>
        </p:txBody>
      </p:sp>
      <p:sp>
        <p:nvSpPr>
          <p:cNvPr id="29" name="Shape 26"/>
          <p:cNvSpPr/>
          <p:nvPr/>
        </p:nvSpPr>
        <p:spPr>
          <a:xfrm>
            <a:off x="8046720" y="1627632"/>
            <a:ext cx="3593592" cy="960120"/>
          </a:xfrm>
          <a:prstGeom prst="roundRect">
            <a:avLst>
              <a:gd name="adj" fmla="val 9524"/>
            </a:avLst>
          </a:prstGeom>
          <a:solidFill>
            <a:srgbClr val="C8553D"/>
          </a:solidFill>
          <a:ln w="12700">
            <a:solidFill>
              <a:srgbClr val="C8553D"/>
            </a:solidFill>
            <a:prstDash val="solid"/>
          </a:ln>
        </p:spPr>
      </p:sp>
      <p:sp>
        <p:nvSpPr>
          <p:cNvPr id="30" name="Shape 27"/>
          <p:cNvSpPr/>
          <p:nvPr/>
        </p:nvSpPr>
        <p:spPr>
          <a:xfrm>
            <a:off x="8046720" y="2404872"/>
            <a:ext cx="3593592" cy="182880"/>
          </a:xfrm>
          <a:prstGeom prst="rect">
            <a:avLst/>
          </a:prstGeom>
          <a:solidFill>
            <a:srgbClr val="C8553D"/>
          </a:solidFill>
          <a:ln w="12700">
            <a:solidFill>
              <a:srgbClr val="C8553D"/>
            </a:solidFill>
            <a:prstDash val="solid"/>
          </a:ln>
        </p:spPr>
      </p:sp>
      <p:sp>
        <p:nvSpPr>
          <p:cNvPr id="31" name="Text 28"/>
          <p:cNvSpPr txBox="1"/>
          <p:nvPr/>
        </p:nvSpPr>
        <p:spPr>
          <a:xfrm>
            <a:off x="8202168" y="1719072"/>
            <a:ext cx="3319272" cy="182880"/>
          </a:xfrm>
          <a:prstGeom prst="rect">
            <a:avLst/>
          </a:prstGeom>
          <a:noFill/>
          <a:ln/>
        </p:spPr>
        <p:txBody>
          <a:bodyPr wrap="square" lIns="0" tIns="0" rIns="0" bIns="0" rtlCol="0" anchor="t"/>
          <a:lstStyle/>
          <a:p>
            <a:pPr marL="0" indent="0">
              <a:buNone/>
            </a:pPr>
            <a:r>
              <a:rPr lang="en-US" sz="900" b="1" kern="0" spc="100" dirty="0">
                <a:solidFill>
                  <a:srgbClr val="F8D7CE"/>
                </a:solidFill>
              </a:rPr>
              <a:t>LIMIT</a:t>
            </a:r>
            <a:endParaRPr lang="en-US" sz="900" dirty="0"/>
          </a:p>
        </p:txBody>
      </p:sp>
      <p:sp>
        <p:nvSpPr>
          <p:cNvPr id="32" name="Text 29"/>
          <p:cNvSpPr txBox="1"/>
          <p:nvPr/>
        </p:nvSpPr>
        <p:spPr>
          <a:xfrm>
            <a:off x="8202168" y="1901952"/>
            <a:ext cx="3319272" cy="292608"/>
          </a:xfrm>
          <a:prstGeom prst="rect">
            <a:avLst/>
          </a:prstGeom>
          <a:noFill/>
          <a:ln/>
        </p:spPr>
        <p:txBody>
          <a:bodyPr wrap="square" lIns="0" tIns="0" rIns="0" bIns="0" rtlCol="0" anchor="t"/>
          <a:lstStyle/>
          <a:p>
            <a:pPr marL="0" indent="0">
              <a:buNone/>
            </a:pPr>
            <a:r>
              <a:rPr lang="en-US" sz="1400" b="1" dirty="0">
                <a:solidFill>
                  <a:schemeClr val="bg1"/>
                </a:solidFill>
              </a:rPr>
              <a:t>It can invent its own “evidence”(hallucinate)</a:t>
            </a:r>
            <a:endParaRPr lang="en-US" sz="1400" dirty="0"/>
          </a:p>
        </p:txBody>
      </p:sp>
      <p:sp>
        <p:nvSpPr>
          <p:cNvPr id="33" name="Text 30"/>
          <p:cNvSpPr txBox="1"/>
          <p:nvPr/>
        </p:nvSpPr>
        <p:spPr>
          <a:xfrm>
            <a:off x="8202168" y="2194560"/>
            <a:ext cx="3319272" cy="365760"/>
          </a:xfrm>
          <a:prstGeom prst="rect">
            <a:avLst/>
          </a:prstGeom>
          <a:noFill/>
          <a:ln/>
        </p:spPr>
        <p:txBody>
          <a:bodyPr wrap="square" lIns="0" tIns="0" rIns="0" bIns="0" rtlCol="0" anchor="t"/>
          <a:lstStyle/>
          <a:p>
            <a:pPr marL="0" indent="0">
              <a:buNone/>
            </a:pPr>
            <a:r>
              <a:rPr lang="en-US" sz="1050" dirty="0">
                <a:solidFill>
                  <a:srgbClr val="F8D7CE"/>
                </a:solidFill>
              </a:rPr>
              <a:t>A fluent quote or figure that was never in the document.</a:t>
            </a:r>
            <a:endParaRPr lang="en-US" sz="1050" dirty="0"/>
          </a:p>
        </p:txBody>
      </p:sp>
      <p:sp>
        <p:nvSpPr>
          <p:cNvPr id="34" name="Shape 31"/>
          <p:cNvSpPr/>
          <p:nvPr/>
        </p:nvSpPr>
        <p:spPr>
          <a:xfrm>
            <a:off x="8046720" y="2587752"/>
            <a:ext cx="3593592" cy="2011680"/>
          </a:xfrm>
          <a:prstGeom prst="rect">
            <a:avLst/>
          </a:prstGeom>
          <a:solidFill>
            <a:srgbClr val="EEF2F7"/>
          </a:solidFill>
          <a:ln w="12700">
            <a:solidFill>
              <a:srgbClr val="EEF2F7"/>
            </a:solidFill>
            <a:prstDash val="solid"/>
          </a:ln>
        </p:spPr>
      </p:sp>
      <p:sp>
        <p:nvSpPr>
          <p:cNvPr id="35" name="Text 32"/>
          <p:cNvSpPr txBox="1"/>
          <p:nvPr/>
        </p:nvSpPr>
        <p:spPr>
          <a:xfrm>
            <a:off x="8202168" y="2697480"/>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WHAT WE DO</a:t>
            </a:r>
            <a:endParaRPr lang="en-US" sz="900" dirty="0"/>
          </a:p>
        </p:txBody>
      </p:sp>
      <p:sp>
        <p:nvSpPr>
          <p:cNvPr id="36" name="Text 33"/>
          <p:cNvSpPr txBox="1"/>
          <p:nvPr/>
        </p:nvSpPr>
        <p:spPr>
          <a:xfrm>
            <a:off x="8202168" y="2935224"/>
            <a:ext cx="3319272" cy="1627632"/>
          </a:xfrm>
          <a:prstGeom prst="rect">
            <a:avLst/>
          </a:prstGeom>
          <a:noFill/>
          <a:ln/>
        </p:spPr>
        <p:txBody>
          <a:bodyPr wrap="square" lIns="0" tIns="0" rIns="0" bIns="0" rtlCol="0" anchor="t"/>
          <a:lstStyle/>
          <a:p>
            <a:pPr marL="342900" indent="-342900">
              <a:buSzPct val="100000"/>
              <a:buChar char="•"/>
            </a:pPr>
            <a:r>
              <a:rPr lang="en-US" sz="1050" b="1" dirty="0">
                <a:solidFill>
                  <a:srgbClr val="1B1F2A"/>
                </a:solidFill>
              </a:rPr>
              <a:t>Harness: </a:t>
            </a:r>
            <a:r>
              <a:rPr lang="en-US" sz="1050" dirty="0">
                <a:solidFill>
                  <a:schemeClr val="tx1"/>
                </a:solidFill>
              </a:rPr>
              <a:t>every quote and every number in a claim is verified by code, not by a model. A quote must match its item character for character; a quote stitched from two places fails.</a:t>
            </a:r>
            <a:endParaRPr lang="en-US" sz="1050" dirty="0"/>
          </a:p>
          <a:p>
            <a:pPr marL="342900" indent="-342900">
              <a:buSzPct val="100000"/>
              <a:buChar char="•"/>
            </a:pPr>
            <a:r>
              <a:rPr lang="en-US" sz="1050" b="1" dirty="0">
                <a:solidFill>
                  <a:srgbClr val="1B1F2A"/>
                </a:solidFill>
              </a:rPr>
              <a:t>Bounds: </a:t>
            </a:r>
            <a:r>
              <a:rPr lang="en-US" sz="1050" dirty="0">
                <a:solidFill>
                  <a:schemeClr val="tx1"/>
                </a:solidFill>
              </a:rPr>
              <a:t>every watch-out must be answered by id; the direction call is clipped to ±10 bp.</a:t>
            </a:r>
            <a:endParaRPr lang="en-US" sz="1050" dirty="0"/>
          </a:p>
          <a:p>
            <a:pPr marL="342900" indent="-342900">
              <a:buSzPct val="100000"/>
              <a:buChar char="•"/>
            </a:pPr>
            <a:r>
              <a:rPr lang="en-US" sz="1050" b="1" dirty="0">
                <a:solidFill>
                  <a:srgbClr val="1B1F2A"/>
                </a:solidFill>
              </a:rPr>
              <a:t>One repair round </a:t>
            </a:r>
            <a:r>
              <a:rPr lang="en-US" sz="1050" dirty="0">
                <a:solidFill>
                  <a:schemeClr val="tx1"/>
                </a:solidFill>
              </a:rPr>
              <a:t>with the verifier's report; both answers are kept. What still fails is recorded as unverified, never hidden.</a:t>
            </a:r>
            <a:endParaRPr lang="en-US" sz="1050" dirty="0"/>
          </a:p>
        </p:txBody>
      </p:sp>
      <p:sp>
        <p:nvSpPr>
          <p:cNvPr id="37" name="Shape 34"/>
          <p:cNvSpPr/>
          <p:nvPr/>
        </p:nvSpPr>
        <p:spPr>
          <a:xfrm>
            <a:off x="8046720" y="4599432"/>
            <a:ext cx="3593592" cy="960120"/>
          </a:xfrm>
          <a:prstGeom prst="roundRect">
            <a:avLst>
              <a:gd name="adj" fmla="val 9524"/>
            </a:avLst>
          </a:prstGeom>
          <a:solidFill>
            <a:srgbClr val="FFFFFF"/>
          </a:solidFill>
          <a:ln w="12700">
            <a:solidFill>
              <a:srgbClr val="D5DBE5"/>
            </a:solidFill>
            <a:prstDash val="solid"/>
          </a:ln>
        </p:spPr>
      </p:sp>
      <p:sp>
        <p:nvSpPr>
          <p:cNvPr id="38" name="Text 35"/>
          <p:cNvSpPr txBox="1"/>
          <p:nvPr/>
        </p:nvSpPr>
        <p:spPr>
          <a:xfrm>
            <a:off x="8202168" y="4690872"/>
            <a:ext cx="3319272" cy="182880"/>
          </a:xfrm>
          <a:prstGeom prst="rect">
            <a:avLst/>
          </a:prstGeom>
          <a:noFill/>
          <a:ln/>
        </p:spPr>
        <p:txBody>
          <a:bodyPr wrap="square" lIns="0" tIns="0" rIns="0" bIns="0" rtlCol="0" anchor="t"/>
          <a:lstStyle/>
          <a:p>
            <a:pPr marL="0" indent="0">
              <a:buNone/>
            </a:pPr>
            <a:r>
              <a:rPr lang="en-US" sz="900" b="1" kern="0" spc="100" dirty="0">
                <a:solidFill>
                  <a:schemeClr val="accent4"/>
                </a:solidFill>
              </a:rPr>
              <a:t>PROOF, 28 OCTOBER</a:t>
            </a:r>
            <a:endParaRPr lang="en-US" sz="900" dirty="0"/>
          </a:p>
        </p:txBody>
      </p:sp>
      <p:sp>
        <p:nvSpPr>
          <p:cNvPr id="39" name="Text 36"/>
          <p:cNvSpPr txBox="1"/>
          <p:nvPr/>
        </p:nvSpPr>
        <p:spPr>
          <a:xfrm>
            <a:off x="8202168" y="4919472"/>
            <a:ext cx="1417320" cy="548640"/>
          </a:xfrm>
          <a:prstGeom prst="rect">
            <a:avLst/>
          </a:prstGeom>
          <a:noFill/>
          <a:ln/>
        </p:spPr>
        <p:txBody>
          <a:bodyPr wrap="square" lIns="0" tIns="0" rIns="0" bIns="0" rtlCol="0" anchor="ctr"/>
          <a:lstStyle/>
          <a:p>
            <a:pPr marL="0" indent="0">
              <a:buNone/>
            </a:pPr>
            <a:r>
              <a:rPr lang="en-US" sz="2200" b="1" dirty="0">
                <a:solidFill>
                  <a:srgbClr val="2C6E49"/>
                </a:solidFill>
                <a:latin typeface="Cambria" pitchFamily="34" charset="0"/>
                <a:ea typeface="Cambria" pitchFamily="34" charset="-122"/>
                <a:cs typeface="Cambria" pitchFamily="34" charset="-120"/>
              </a:rPr>
              <a:t>326 / 327</a:t>
            </a:r>
            <a:endParaRPr lang="en-US" sz="2200" dirty="0"/>
          </a:p>
        </p:txBody>
      </p:sp>
      <p:sp>
        <p:nvSpPr>
          <p:cNvPr id="40" name="Text 37"/>
          <p:cNvSpPr txBox="1"/>
          <p:nvPr/>
        </p:nvSpPr>
        <p:spPr>
          <a:xfrm>
            <a:off x="9646920" y="4892040"/>
            <a:ext cx="1856232" cy="621792"/>
          </a:xfrm>
          <a:prstGeom prst="rect">
            <a:avLst/>
          </a:prstGeom>
          <a:noFill/>
          <a:ln/>
        </p:spPr>
        <p:txBody>
          <a:bodyPr wrap="square" lIns="0" tIns="0" rIns="0" bIns="0" rtlCol="0" anchor="ctr"/>
          <a:lstStyle/>
          <a:p>
            <a:pPr marL="0" indent="0">
              <a:buNone/>
            </a:pPr>
            <a:r>
              <a:rPr lang="en-US" sz="1000" dirty="0">
                <a:solidFill>
                  <a:schemeClr val="tx1"/>
                </a:solidFill>
              </a:rPr>
              <a:t>claims whose quote code found verbatim, analysts 3 to 8, 30 runs; the one miss is on the record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breakdown: the group of analysts</a:t>
            </a:r>
            <a:endParaRPr lang="en-US" sz="3200" dirty="0"/>
          </a:p>
        </p:txBody>
      </p:sp>
      <p:sp>
        <p:nvSpPr>
          <p:cNvPr id="4" name="Text 1"/>
          <p:cNvSpPr txBox="1"/>
          <p:nvPr/>
        </p:nvSpPr>
        <p:spPr>
          <a:xfrm>
            <a:off x="548640" y="1335024"/>
            <a:ext cx="91440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CONTROLS</a:t>
            </a:r>
            <a:endParaRPr lang="en-US" sz="950" dirty="0"/>
          </a:p>
        </p:txBody>
      </p:sp>
      <p:sp>
        <p:nvSpPr>
          <p:cNvPr id="5" name="Shape 2"/>
          <p:cNvSpPr/>
          <p:nvPr/>
        </p:nvSpPr>
        <p:spPr>
          <a:xfrm>
            <a:off x="1417320" y="1344168"/>
            <a:ext cx="1371600" cy="201168"/>
          </a:xfrm>
          <a:prstGeom prst="roundRect">
            <a:avLst>
              <a:gd name="adj" fmla="val 50000"/>
            </a:avLst>
          </a:prstGeom>
          <a:solidFill>
            <a:srgbClr val="E5E7EB"/>
          </a:solidFill>
          <a:ln w="12700">
            <a:solidFill>
              <a:srgbClr val="E5E7EB"/>
            </a:solidFill>
            <a:prstDash val="solid"/>
          </a:ln>
        </p:spPr>
        <p:txBody>
          <a:bodyPr/>
          <a:lstStyle/>
          <a:p>
            <a:endParaRPr lang="en-US"/>
          </a:p>
        </p:txBody>
      </p:sp>
      <p:sp>
        <p:nvSpPr>
          <p:cNvPr id="6" name="Text 3"/>
          <p:cNvSpPr txBox="1"/>
          <p:nvPr/>
        </p:nvSpPr>
        <p:spPr>
          <a:xfrm>
            <a:off x="14173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4B5563"/>
                </a:solidFill>
              </a:rPr>
              <a:t>BUILD THE LADDER</a:t>
            </a:r>
            <a:endParaRPr lang="en-US" sz="800" dirty="0"/>
          </a:p>
        </p:txBody>
      </p:sp>
      <p:sp>
        <p:nvSpPr>
          <p:cNvPr id="7" name="Shape 4"/>
          <p:cNvSpPr/>
          <p:nvPr/>
        </p:nvSpPr>
        <p:spPr>
          <a:xfrm>
            <a:off x="548640" y="1600200"/>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8" name="Shape 5"/>
          <p:cNvSpPr/>
          <p:nvPr/>
        </p:nvSpPr>
        <p:spPr>
          <a:xfrm>
            <a:off x="704088" y="1746504"/>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9" name="Text 6"/>
          <p:cNvSpPr txBox="1"/>
          <p:nvPr/>
        </p:nvSpPr>
        <p:spPr>
          <a:xfrm>
            <a:off x="704088" y="1746504"/>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1</a:t>
            </a:r>
            <a:endParaRPr lang="en-US" sz="1500" dirty="0"/>
          </a:p>
        </p:txBody>
      </p:sp>
      <p:sp>
        <p:nvSpPr>
          <p:cNvPr id="10" name="Text 7"/>
          <p:cNvSpPr txBox="1"/>
          <p:nvPr/>
        </p:nvSpPr>
        <p:spPr>
          <a:xfrm>
            <a:off x="1207008" y="1709928"/>
            <a:ext cx="3017520" cy="274320"/>
          </a:xfrm>
          <a:prstGeom prst="rect">
            <a:avLst/>
          </a:prstGeom>
          <a:noFill/>
          <a:ln/>
        </p:spPr>
        <p:txBody>
          <a:bodyPr wrap="square" lIns="0" tIns="0" rIns="0" bIns="0" rtlCol="0" anchor="t"/>
          <a:lstStyle/>
          <a:p>
            <a:pPr marL="0" indent="0">
              <a:buNone/>
            </a:pPr>
            <a:r>
              <a:rPr lang="en-US" sz="1300" b="1" dirty="0">
                <a:solidFill>
                  <a:schemeClr val="tx1"/>
                </a:solidFill>
              </a:rPr>
              <a:t>Naive</a:t>
            </a:r>
            <a:endParaRPr lang="en-US" sz="1300" dirty="0"/>
          </a:p>
        </p:txBody>
      </p:sp>
      <p:sp>
        <p:nvSpPr>
          <p:cNvPr id="11" name="Text 8"/>
          <p:cNvSpPr txBox="1"/>
          <p:nvPr/>
        </p:nvSpPr>
        <p:spPr>
          <a:xfrm>
            <a:off x="1207008" y="1965960"/>
            <a:ext cx="3017520" cy="384048"/>
          </a:xfrm>
          <a:prstGeom prst="rect">
            <a:avLst/>
          </a:prstGeom>
          <a:noFill/>
          <a:ln/>
        </p:spPr>
        <p:txBody>
          <a:bodyPr wrap="square" lIns="0" tIns="0" rIns="0" bIns="0" rtlCol="0" anchor="t"/>
          <a:lstStyle/>
          <a:p>
            <a:pPr marL="0" indent="0">
              <a:buNone/>
            </a:pPr>
            <a:r>
              <a:rPr lang="en-US" sz="1050" dirty="0">
                <a:solidFill>
                  <a:schemeClr val="tx1"/>
                </a:solidFill>
              </a:rPr>
              <a:t>The question and the date. Nothing else.</a:t>
            </a:r>
            <a:endParaRPr lang="en-US" sz="1050" dirty="0"/>
          </a:p>
        </p:txBody>
      </p:sp>
      <p:sp>
        <p:nvSpPr>
          <p:cNvPr id="12" name="Text 9"/>
          <p:cNvSpPr txBox="1"/>
          <p:nvPr/>
        </p:nvSpPr>
        <p:spPr>
          <a:xfrm>
            <a:off x="1207008" y="2368296"/>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what the model does on its own, from memory. Its output also forms the baseline for every other step.</a:t>
            </a:r>
            <a:endParaRPr lang="en-US" sz="1050" dirty="0"/>
          </a:p>
        </p:txBody>
      </p:sp>
      <p:sp>
        <p:nvSpPr>
          <p:cNvPr id="13" name="Shape 10"/>
          <p:cNvSpPr/>
          <p:nvPr/>
        </p:nvSpPr>
        <p:spPr>
          <a:xfrm>
            <a:off x="548640" y="2843784"/>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14" name="Shape 11"/>
          <p:cNvSpPr/>
          <p:nvPr/>
        </p:nvSpPr>
        <p:spPr>
          <a:xfrm>
            <a:off x="704088" y="2990088"/>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15" name="Text 12"/>
          <p:cNvSpPr txBox="1"/>
          <p:nvPr/>
        </p:nvSpPr>
        <p:spPr>
          <a:xfrm>
            <a:off x="704088" y="2990088"/>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2</a:t>
            </a:r>
            <a:endParaRPr lang="en-US" sz="1500" dirty="0"/>
          </a:p>
        </p:txBody>
      </p:sp>
      <p:sp>
        <p:nvSpPr>
          <p:cNvPr id="16" name="Text 13"/>
          <p:cNvSpPr txBox="1"/>
          <p:nvPr/>
        </p:nvSpPr>
        <p:spPr>
          <a:xfrm>
            <a:off x="1207008" y="2953512"/>
            <a:ext cx="3017520" cy="274320"/>
          </a:xfrm>
          <a:prstGeom prst="rect">
            <a:avLst/>
          </a:prstGeom>
          <a:noFill/>
          <a:ln/>
        </p:spPr>
        <p:txBody>
          <a:bodyPr wrap="square" lIns="0" tIns="0" rIns="0" bIns="0" rtlCol="0" anchor="t"/>
          <a:lstStyle/>
          <a:p>
            <a:pPr marL="0" indent="0">
              <a:buNone/>
            </a:pPr>
            <a:r>
              <a:rPr lang="en-US" sz="1300" b="1" dirty="0">
                <a:solidFill>
                  <a:schemeClr val="tx1"/>
                </a:solidFill>
              </a:rPr>
              <a:t>Evidence shown, nothing verified</a:t>
            </a:r>
            <a:endParaRPr lang="en-US" sz="1300" dirty="0"/>
          </a:p>
        </p:txBody>
      </p:sp>
      <p:sp>
        <p:nvSpPr>
          <p:cNvPr id="17" name="Text 14"/>
          <p:cNvSpPr txBox="1"/>
          <p:nvPr/>
        </p:nvSpPr>
        <p:spPr>
          <a:xfrm>
            <a:off x="1207008" y="3209544"/>
            <a:ext cx="3017520" cy="384048"/>
          </a:xfrm>
          <a:prstGeom prst="rect">
            <a:avLst/>
          </a:prstGeom>
          <a:noFill/>
          <a:ln/>
        </p:spPr>
        <p:txBody>
          <a:bodyPr wrap="square" lIns="0" tIns="0" rIns="0" bIns="0" rtlCol="0" anchor="t"/>
          <a:lstStyle/>
          <a:p>
            <a:pPr marL="0" indent="0">
              <a:buNone/>
            </a:pPr>
            <a:r>
              <a:rPr lang="en-US" sz="1050" dirty="0">
                <a:solidFill>
                  <a:schemeClr val="tx1"/>
                </a:solidFill>
              </a:rPr>
              <a:t>Every document and pre-read, 128,000 characters. Free-form answer.</a:t>
            </a:r>
            <a:endParaRPr lang="en-US" sz="1050" dirty="0"/>
          </a:p>
        </p:txBody>
      </p:sp>
      <p:sp>
        <p:nvSpPr>
          <p:cNvPr id="18" name="Text 15"/>
          <p:cNvSpPr txBox="1"/>
          <p:nvPr/>
        </p:nvSpPr>
        <p:spPr>
          <a:xfrm>
            <a:off x="1207008" y="3611880"/>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to observe what evidence alone fixes (memory), and what it does not (variance; nothing checkable).</a:t>
            </a:r>
            <a:endParaRPr lang="en-US" sz="1050" dirty="0"/>
          </a:p>
        </p:txBody>
      </p:sp>
      <p:sp>
        <p:nvSpPr>
          <p:cNvPr id="19" name="Shape 16"/>
          <p:cNvSpPr/>
          <p:nvPr/>
        </p:nvSpPr>
        <p:spPr>
          <a:xfrm>
            <a:off x="548640" y="4087368"/>
            <a:ext cx="3813048" cy="1133856"/>
          </a:xfrm>
          <a:prstGeom prst="roundRect">
            <a:avLst>
              <a:gd name="adj" fmla="val 9677"/>
            </a:avLst>
          </a:prstGeom>
          <a:solidFill>
            <a:srgbClr val="F3F4F6"/>
          </a:solidFill>
          <a:ln w="15240">
            <a:solidFill>
              <a:srgbClr val="9CA3AF"/>
            </a:solidFill>
            <a:prstDash val="dash"/>
          </a:ln>
        </p:spPr>
        <p:txBody>
          <a:bodyPr/>
          <a:lstStyle/>
          <a:p>
            <a:endParaRPr lang="en-US"/>
          </a:p>
        </p:txBody>
      </p:sp>
      <p:sp>
        <p:nvSpPr>
          <p:cNvPr id="20" name="Shape 17"/>
          <p:cNvSpPr/>
          <p:nvPr/>
        </p:nvSpPr>
        <p:spPr>
          <a:xfrm>
            <a:off x="704088" y="4233672"/>
            <a:ext cx="384048" cy="384048"/>
          </a:xfrm>
          <a:prstGeom prst="roundRect">
            <a:avLst>
              <a:gd name="adj" fmla="val 23810"/>
            </a:avLst>
          </a:prstGeom>
          <a:solidFill>
            <a:srgbClr val="6B7280"/>
          </a:solidFill>
          <a:ln w="12700">
            <a:solidFill>
              <a:srgbClr val="6B7280"/>
            </a:solidFill>
            <a:prstDash val="solid"/>
          </a:ln>
        </p:spPr>
        <p:txBody>
          <a:bodyPr/>
          <a:lstStyle/>
          <a:p>
            <a:endParaRPr lang="en-US"/>
          </a:p>
        </p:txBody>
      </p:sp>
      <p:sp>
        <p:nvSpPr>
          <p:cNvPr id="21" name="Text 18"/>
          <p:cNvSpPr txBox="1"/>
          <p:nvPr/>
        </p:nvSpPr>
        <p:spPr>
          <a:xfrm>
            <a:off x="704088" y="4233672"/>
            <a:ext cx="384048" cy="384048"/>
          </a:xfrm>
          <a:prstGeom prst="rect">
            <a:avLst/>
          </a:prstGeom>
          <a:noFill/>
          <a:ln/>
        </p:spPr>
        <p:txBody>
          <a:bodyPr wrap="square" lIns="0" tIns="0" rIns="0" bIns="0" rtlCol="0" anchor="ctr"/>
          <a:lstStyle/>
          <a:p>
            <a:pPr marL="0" indent="0" algn="ctr">
              <a:buNone/>
            </a:pPr>
            <a:r>
              <a:rPr lang="en-US" sz="1500" b="1" dirty="0">
                <a:solidFill>
                  <a:schemeClr val="bg1"/>
                </a:solidFill>
                <a:latin typeface="Cambria" pitchFamily="34" charset="0"/>
                <a:ea typeface="Cambria" pitchFamily="34" charset="-122"/>
                <a:cs typeface="Cambria" pitchFamily="34" charset="-120"/>
              </a:rPr>
              <a:t>3</a:t>
            </a:r>
            <a:endParaRPr lang="en-US" sz="1500" dirty="0"/>
          </a:p>
        </p:txBody>
      </p:sp>
      <p:sp>
        <p:nvSpPr>
          <p:cNvPr id="22" name="Text 19"/>
          <p:cNvSpPr txBox="1"/>
          <p:nvPr/>
        </p:nvSpPr>
        <p:spPr>
          <a:xfrm>
            <a:off x="1207008" y="4197096"/>
            <a:ext cx="3017520" cy="274320"/>
          </a:xfrm>
          <a:prstGeom prst="rect">
            <a:avLst/>
          </a:prstGeom>
          <a:noFill/>
          <a:ln/>
        </p:spPr>
        <p:txBody>
          <a:bodyPr wrap="square" lIns="0" tIns="0" rIns="0" bIns="0" rtlCol="0" anchor="t"/>
          <a:lstStyle/>
          <a:p>
            <a:pPr marL="0" indent="0">
              <a:buNone/>
            </a:pPr>
            <a:r>
              <a:rPr lang="en-US" sz="1300" b="1" dirty="0">
                <a:solidFill>
                  <a:schemeClr val="tx1"/>
                </a:solidFill>
              </a:rPr>
              <a:t>Generalist with verifier</a:t>
            </a:r>
            <a:endParaRPr lang="en-US" sz="1300" dirty="0"/>
          </a:p>
        </p:txBody>
      </p:sp>
      <p:sp>
        <p:nvSpPr>
          <p:cNvPr id="23" name="Text 20"/>
          <p:cNvSpPr txBox="1"/>
          <p:nvPr/>
        </p:nvSpPr>
        <p:spPr>
          <a:xfrm>
            <a:off x="1207008" y="4453128"/>
            <a:ext cx="3017520" cy="384048"/>
          </a:xfrm>
          <a:prstGeom prst="rect">
            <a:avLst/>
          </a:prstGeom>
          <a:noFill/>
          <a:ln/>
        </p:spPr>
        <p:txBody>
          <a:bodyPr wrap="square" lIns="0" tIns="0" rIns="0" bIns="0" rtlCol="0" anchor="t"/>
          <a:lstStyle/>
          <a:p>
            <a:pPr marL="0" indent="0">
              <a:buNone/>
            </a:pPr>
            <a:r>
              <a:rPr lang="en-US" sz="1050" dirty="0">
                <a:solidFill>
                  <a:schemeClr val="tx1"/>
                </a:solidFill>
              </a:rPr>
              <a:t>Same evidence; a fixed answer shape, a quote per claim, code checks every quote and number.</a:t>
            </a:r>
            <a:endParaRPr lang="en-US" sz="1050" dirty="0"/>
          </a:p>
        </p:txBody>
      </p:sp>
      <p:sp>
        <p:nvSpPr>
          <p:cNvPr id="24" name="Text 21"/>
          <p:cNvSpPr txBox="1"/>
          <p:nvPr/>
        </p:nvSpPr>
        <p:spPr>
          <a:xfrm>
            <a:off x="1207008" y="4855464"/>
            <a:ext cx="3017520" cy="347472"/>
          </a:xfrm>
          <a:prstGeom prst="rect">
            <a:avLst/>
          </a:prstGeom>
          <a:noFill/>
          <a:ln/>
        </p:spPr>
        <p:txBody>
          <a:bodyPr wrap="square" lIns="0" tIns="0" rIns="0" bIns="0" rtlCol="0" anchor="t"/>
          <a:lstStyle/>
          <a:p>
            <a:pPr marL="0" indent="0">
              <a:buNone/>
            </a:pPr>
            <a:r>
              <a:rPr lang="en-US" sz="1050" b="1" dirty="0">
                <a:solidFill>
                  <a:srgbClr val="6B7280"/>
                </a:solidFill>
              </a:rPr>
              <a:t>Intent: </a:t>
            </a:r>
            <a:r>
              <a:rPr lang="en-US" sz="1050" dirty="0">
                <a:solidFill>
                  <a:srgbClr val="6B7280"/>
                </a:solidFill>
              </a:rPr>
              <a:t>isolate the value of the structure and verification.</a:t>
            </a:r>
            <a:endParaRPr lang="en-US" sz="1050" dirty="0"/>
          </a:p>
        </p:txBody>
      </p:sp>
      <p:sp>
        <p:nvSpPr>
          <p:cNvPr id="25" name="Shape 22"/>
          <p:cNvSpPr/>
          <p:nvPr/>
        </p:nvSpPr>
        <p:spPr>
          <a:xfrm>
            <a:off x="4526280" y="3154680"/>
            <a:ext cx="457200" cy="0"/>
          </a:xfrm>
          <a:prstGeom prst="line">
            <a:avLst/>
          </a:prstGeom>
          <a:noFill/>
          <a:ln w="31750">
            <a:solidFill>
              <a:srgbClr val="1E2761"/>
            </a:solidFill>
            <a:prstDash val="solid"/>
            <a:tailEnd type="triangle"/>
          </a:ln>
        </p:spPr>
        <p:txBody>
          <a:bodyPr/>
          <a:lstStyle/>
          <a:p>
            <a:endParaRPr lang="en-US"/>
          </a:p>
        </p:txBody>
      </p:sp>
      <p:sp>
        <p:nvSpPr>
          <p:cNvPr id="26" name="Text 23"/>
          <p:cNvSpPr txBox="1"/>
          <p:nvPr/>
        </p:nvSpPr>
        <p:spPr>
          <a:xfrm>
            <a:off x="5166360" y="1335024"/>
            <a:ext cx="3291840" cy="219456"/>
          </a:xfrm>
          <a:prstGeom prst="rect">
            <a:avLst/>
          </a:prstGeom>
          <a:noFill/>
          <a:ln/>
        </p:spPr>
        <p:txBody>
          <a:bodyPr wrap="square" lIns="0" tIns="0" rIns="0" bIns="0" rtlCol="0" anchor="ctr"/>
          <a:lstStyle/>
          <a:p>
            <a:pPr marL="0" indent="0">
              <a:buNone/>
            </a:pPr>
            <a:r>
              <a:rPr lang="en-US" sz="950" b="1" kern="0" spc="100" dirty="0">
                <a:solidFill>
                  <a:schemeClr val="accent4"/>
                </a:solidFill>
              </a:rPr>
              <a:t>SPECIALISTS · THE FIVE THAT ENTER THE NUMBER</a:t>
            </a:r>
            <a:endParaRPr lang="en-US" sz="950" dirty="0"/>
          </a:p>
        </p:txBody>
      </p:sp>
      <p:sp>
        <p:nvSpPr>
          <p:cNvPr id="27" name="Shape 24"/>
          <p:cNvSpPr/>
          <p:nvPr/>
        </p:nvSpPr>
        <p:spPr>
          <a:xfrm>
            <a:off x="8503920" y="1344168"/>
            <a:ext cx="1371600" cy="201168"/>
          </a:xfrm>
          <a:prstGeom prst="roundRect">
            <a:avLst>
              <a:gd name="adj" fmla="val 50000"/>
            </a:avLst>
          </a:prstGeom>
          <a:solidFill>
            <a:srgbClr val="1E2761"/>
          </a:solidFill>
          <a:ln w="12700">
            <a:solidFill>
              <a:srgbClr val="1E2761"/>
            </a:solidFill>
            <a:prstDash val="solid"/>
          </a:ln>
        </p:spPr>
        <p:txBody>
          <a:bodyPr/>
          <a:lstStyle/>
          <a:p>
            <a:endParaRPr lang="en-US"/>
          </a:p>
        </p:txBody>
      </p:sp>
      <p:sp>
        <p:nvSpPr>
          <p:cNvPr id="28" name="Text 25"/>
          <p:cNvSpPr txBox="1"/>
          <p:nvPr/>
        </p:nvSpPr>
        <p:spPr>
          <a:xfrm>
            <a:off x="8503920" y="1344168"/>
            <a:ext cx="1371600" cy="201168"/>
          </a:xfrm>
          <a:prstGeom prst="rect">
            <a:avLst/>
          </a:prstGeom>
          <a:noFill/>
          <a:ln/>
        </p:spPr>
        <p:txBody>
          <a:bodyPr wrap="square" lIns="0" tIns="0" rIns="0" bIns="0" rtlCol="0" anchor="ctr"/>
          <a:lstStyle/>
          <a:p>
            <a:pPr marL="0" indent="0" algn="ctr">
              <a:buNone/>
            </a:pPr>
            <a:r>
              <a:rPr lang="en-US" sz="800" b="1" kern="0" spc="100" dirty="0">
                <a:solidFill>
                  <a:srgbClr val="FFFFFF"/>
                </a:solidFill>
              </a:rPr>
              <a:t>IN THE FORECAST</a:t>
            </a:r>
            <a:endParaRPr lang="en-US" sz="800" dirty="0"/>
          </a:p>
        </p:txBody>
      </p:sp>
      <p:sp>
        <p:nvSpPr>
          <p:cNvPr id="29" name="Shape 26"/>
          <p:cNvSpPr/>
          <p:nvPr/>
        </p:nvSpPr>
        <p:spPr>
          <a:xfrm>
            <a:off x="5166360" y="1600200"/>
            <a:ext cx="6473952" cy="3840480"/>
          </a:xfrm>
          <a:prstGeom prst="roundRect">
            <a:avLst>
              <a:gd name="adj" fmla="val 2857"/>
            </a:avLst>
          </a:prstGeom>
          <a:solidFill>
            <a:srgbClr val="1E2761"/>
          </a:solidFill>
          <a:ln w="12700">
            <a:solidFill>
              <a:srgbClr val="1E2761"/>
            </a:solidFill>
            <a:prstDash val="solid"/>
          </a:ln>
        </p:spPr>
        <p:txBody>
          <a:bodyPr/>
          <a:lstStyle/>
          <a:p>
            <a:endParaRPr lang="en-US"/>
          </a:p>
        </p:txBody>
      </p:sp>
      <p:sp>
        <p:nvSpPr>
          <p:cNvPr id="30" name="Text 27"/>
          <p:cNvSpPr txBox="1"/>
          <p:nvPr/>
        </p:nvSpPr>
        <p:spPr>
          <a:xfrm>
            <a:off x="5349240" y="1737360"/>
            <a:ext cx="6108192" cy="457200"/>
          </a:xfrm>
          <a:prstGeom prst="rect">
            <a:avLst/>
          </a:prstGeom>
          <a:noFill/>
          <a:ln/>
        </p:spPr>
        <p:txBody>
          <a:bodyPr wrap="square" lIns="0" tIns="0" rIns="0" bIns="0" rtlCol="0" anchor="t"/>
          <a:lstStyle/>
          <a:p>
            <a:pPr marL="0" indent="0">
              <a:buNone/>
            </a:pPr>
            <a:r>
              <a:rPr lang="en-US" sz="1150" dirty="0">
                <a:solidFill>
                  <a:srgbClr val="CADCFC"/>
                </a:solidFill>
              </a:rPr>
              <a:t>Analyst 3's shape and verifier, with one change: each reader gets </a:t>
            </a:r>
            <a:r>
              <a:rPr lang="en-US" sz="1150" b="1" dirty="0">
                <a:solidFill>
                  <a:srgbClr val="FFFFFF"/>
                </a:solidFill>
              </a:rPr>
              <a:t>one slice of evidence</a:t>
            </a:r>
            <a:r>
              <a:rPr lang="en-US" sz="1150" dirty="0">
                <a:solidFill>
                  <a:srgbClr val="CADCFC"/>
                </a:solidFill>
              </a:rPr>
              <a:t>. A judgement is attributable to its slice, and a dissent survives instead of being averaged away.</a:t>
            </a:r>
            <a:endParaRPr lang="en-US" sz="1150" dirty="0"/>
          </a:p>
        </p:txBody>
      </p:sp>
      <p:sp>
        <p:nvSpPr>
          <p:cNvPr id="31" name="Shape 28"/>
          <p:cNvSpPr/>
          <p:nvPr/>
        </p:nvSpPr>
        <p:spPr>
          <a:xfrm>
            <a:off x="534924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2" name="Shape 29"/>
          <p:cNvSpPr/>
          <p:nvPr/>
        </p:nvSpPr>
        <p:spPr>
          <a:xfrm>
            <a:off x="545896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3" name="Text 30"/>
          <p:cNvSpPr txBox="1"/>
          <p:nvPr/>
        </p:nvSpPr>
        <p:spPr>
          <a:xfrm>
            <a:off x="545896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4</a:t>
            </a:r>
            <a:endParaRPr lang="en-US" sz="1200" dirty="0"/>
          </a:p>
        </p:txBody>
      </p:sp>
      <p:sp>
        <p:nvSpPr>
          <p:cNvPr id="34" name="Text 31"/>
          <p:cNvSpPr txBox="1"/>
          <p:nvPr/>
        </p:nvSpPr>
        <p:spPr>
          <a:xfrm>
            <a:off x="586130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Communications</a:t>
            </a:r>
            <a:endParaRPr lang="en-US" sz="1200" dirty="0"/>
          </a:p>
        </p:txBody>
      </p:sp>
      <p:sp>
        <p:nvSpPr>
          <p:cNvPr id="35" name="Text 32"/>
          <p:cNvSpPr txBox="1"/>
          <p:nvPr/>
        </p:nvSpPr>
        <p:spPr>
          <a:xfrm>
            <a:off x="586130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minutes, the transcript, the speeches, the tone pre-read.</a:t>
            </a:r>
            <a:endParaRPr lang="en-US" sz="950" dirty="0"/>
          </a:p>
          <a:p>
            <a:pPr marL="0" indent="0">
              <a:buNone/>
            </a:pPr>
            <a:r>
              <a:rPr lang="en-US" sz="950" b="1" dirty="0">
                <a:solidFill>
                  <a:srgbClr val="FFFFFF"/>
                </a:solidFill>
              </a:rPr>
              <a:t>Intent: </a:t>
            </a:r>
            <a:r>
              <a:rPr lang="en-US" sz="950" dirty="0">
                <a:solidFill>
                  <a:srgbClr val="CADCFC"/>
                </a:solidFill>
              </a:rPr>
              <a:t>what the committee is signalling.</a:t>
            </a:r>
            <a:endParaRPr lang="en-US" sz="950" dirty="0"/>
          </a:p>
        </p:txBody>
      </p:sp>
      <p:sp>
        <p:nvSpPr>
          <p:cNvPr id="36" name="Shape 33"/>
          <p:cNvSpPr/>
          <p:nvPr/>
        </p:nvSpPr>
        <p:spPr>
          <a:xfrm>
            <a:off x="8458200" y="2267712"/>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37" name="Shape 34"/>
          <p:cNvSpPr/>
          <p:nvPr/>
        </p:nvSpPr>
        <p:spPr>
          <a:xfrm>
            <a:off x="8567928" y="2377440"/>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38" name="Text 35"/>
          <p:cNvSpPr txBox="1"/>
          <p:nvPr/>
        </p:nvSpPr>
        <p:spPr>
          <a:xfrm>
            <a:off x="8567928" y="2377440"/>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5</a:t>
            </a:r>
            <a:endParaRPr lang="en-US" sz="1200" dirty="0"/>
          </a:p>
        </p:txBody>
      </p:sp>
      <p:sp>
        <p:nvSpPr>
          <p:cNvPr id="39" name="Text 36"/>
          <p:cNvSpPr txBox="1"/>
          <p:nvPr/>
        </p:nvSpPr>
        <p:spPr>
          <a:xfrm>
            <a:off x="8970264" y="2322576"/>
            <a:ext cx="2395728" cy="237744"/>
          </a:xfrm>
          <a:prstGeom prst="rect">
            <a:avLst/>
          </a:prstGeom>
          <a:noFill/>
          <a:ln/>
        </p:spPr>
        <p:txBody>
          <a:bodyPr wrap="square" lIns="0" tIns="0" rIns="0" bIns="0" rtlCol="0" anchor="t"/>
          <a:lstStyle/>
          <a:p>
            <a:pPr marL="0" indent="0">
              <a:buNone/>
            </a:pPr>
            <a:r>
              <a:rPr lang="en-US" sz="1200" b="1" dirty="0">
                <a:solidFill>
                  <a:schemeClr val="bg1"/>
                </a:solidFill>
              </a:rPr>
              <a:t>Minutes digest</a:t>
            </a:r>
            <a:endParaRPr lang="en-US" sz="1200" dirty="0"/>
          </a:p>
        </p:txBody>
      </p:sp>
      <p:sp>
        <p:nvSpPr>
          <p:cNvPr id="40" name="Text 37"/>
          <p:cNvSpPr txBox="1"/>
          <p:nvPr/>
        </p:nvSpPr>
        <p:spPr>
          <a:xfrm>
            <a:off x="8970264" y="2542032"/>
            <a:ext cx="2395728" cy="402336"/>
          </a:xfrm>
          <a:prstGeom prst="rect">
            <a:avLst/>
          </a:prstGeom>
          <a:noFill/>
          <a:ln/>
        </p:spPr>
        <p:txBody>
          <a:bodyPr wrap="square" lIns="0" tIns="0" rIns="0" bIns="0" rtlCol="0" anchor="t"/>
          <a:lstStyle/>
          <a:p>
            <a:pPr marL="0" indent="0">
              <a:buNone/>
            </a:pPr>
            <a:r>
              <a:rPr lang="en-US" sz="950" dirty="0">
                <a:solidFill>
                  <a:srgbClr val="CADCFC"/>
                </a:solidFill>
              </a:rPr>
              <a:t>The minutes only.</a:t>
            </a:r>
            <a:endParaRPr lang="en-US" sz="950" dirty="0"/>
          </a:p>
          <a:p>
            <a:pPr marL="0" indent="0">
              <a:buNone/>
            </a:pPr>
            <a:r>
              <a:rPr lang="en-US" sz="950" b="1" dirty="0">
                <a:solidFill>
                  <a:srgbClr val="FFFFFF"/>
                </a:solidFill>
              </a:rPr>
              <a:t>Intent: </a:t>
            </a:r>
            <a:r>
              <a:rPr lang="en-US" sz="950" dirty="0">
                <a:solidFill>
                  <a:srgbClr val="CADCFC"/>
                </a:solidFill>
              </a:rPr>
              <a:t>the committee's own account of its debate, read in isolation.</a:t>
            </a:r>
            <a:endParaRPr lang="en-US" sz="950" dirty="0"/>
          </a:p>
        </p:txBody>
      </p:sp>
      <p:sp>
        <p:nvSpPr>
          <p:cNvPr id="41" name="Shape 38"/>
          <p:cNvSpPr/>
          <p:nvPr/>
        </p:nvSpPr>
        <p:spPr>
          <a:xfrm>
            <a:off x="534924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2" name="Shape 39"/>
          <p:cNvSpPr/>
          <p:nvPr/>
        </p:nvSpPr>
        <p:spPr>
          <a:xfrm>
            <a:off x="545896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3" name="Text 40"/>
          <p:cNvSpPr txBox="1"/>
          <p:nvPr/>
        </p:nvSpPr>
        <p:spPr>
          <a:xfrm>
            <a:off x="545896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6</a:t>
            </a:r>
            <a:endParaRPr lang="en-US" sz="1200" dirty="0"/>
          </a:p>
        </p:txBody>
      </p:sp>
      <p:sp>
        <p:nvSpPr>
          <p:cNvPr id="44" name="Text 41"/>
          <p:cNvSpPr txBox="1"/>
          <p:nvPr/>
        </p:nvSpPr>
        <p:spPr>
          <a:xfrm>
            <a:off x="586130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Inflation</a:t>
            </a:r>
            <a:endParaRPr lang="en-US" sz="1200" dirty="0"/>
          </a:p>
        </p:txBody>
      </p:sp>
      <p:sp>
        <p:nvSpPr>
          <p:cNvPr id="45" name="Text 42"/>
          <p:cNvSpPr txBox="1"/>
          <p:nvPr/>
        </p:nvSpPr>
        <p:spPr>
          <a:xfrm>
            <a:off x="586130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inflation pre-read.</a:t>
            </a:r>
            <a:endParaRPr lang="en-US" sz="950" dirty="0"/>
          </a:p>
          <a:p>
            <a:pPr marL="0" indent="0">
              <a:buNone/>
            </a:pPr>
            <a:r>
              <a:rPr lang="en-US" sz="950" b="1" dirty="0">
                <a:solidFill>
                  <a:srgbClr val="FFFFFF"/>
                </a:solidFill>
              </a:rPr>
              <a:t>Intent: </a:t>
            </a:r>
            <a:r>
              <a:rPr lang="en-US" sz="950" dirty="0">
                <a:solidFill>
                  <a:srgbClr val="CADCFC"/>
                </a:solidFill>
              </a:rPr>
              <a:t>is inflation pulling toward a hike.</a:t>
            </a:r>
            <a:endParaRPr lang="en-US" sz="950" dirty="0"/>
          </a:p>
        </p:txBody>
      </p:sp>
      <p:sp>
        <p:nvSpPr>
          <p:cNvPr id="46" name="Shape 43"/>
          <p:cNvSpPr/>
          <p:nvPr/>
        </p:nvSpPr>
        <p:spPr>
          <a:xfrm>
            <a:off x="8458200" y="3054096"/>
            <a:ext cx="299923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47" name="Shape 44"/>
          <p:cNvSpPr/>
          <p:nvPr/>
        </p:nvSpPr>
        <p:spPr>
          <a:xfrm>
            <a:off x="8567928" y="3163824"/>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48" name="Text 45"/>
          <p:cNvSpPr txBox="1"/>
          <p:nvPr/>
        </p:nvSpPr>
        <p:spPr>
          <a:xfrm>
            <a:off x="8567928" y="3163824"/>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7</a:t>
            </a:r>
            <a:endParaRPr lang="en-US" sz="1200" dirty="0"/>
          </a:p>
        </p:txBody>
      </p:sp>
      <p:sp>
        <p:nvSpPr>
          <p:cNvPr id="49" name="Text 46"/>
          <p:cNvSpPr txBox="1"/>
          <p:nvPr/>
        </p:nvSpPr>
        <p:spPr>
          <a:xfrm>
            <a:off x="8970264" y="3108960"/>
            <a:ext cx="2395728" cy="237744"/>
          </a:xfrm>
          <a:prstGeom prst="rect">
            <a:avLst/>
          </a:prstGeom>
          <a:noFill/>
          <a:ln/>
        </p:spPr>
        <p:txBody>
          <a:bodyPr wrap="square" lIns="0" tIns="0" rIns="0" bIns="0" rtlCol="0" anchor="t"/>
          <a:lstStyle/>
          <a:p>
            <a:pPr marL="0" indent="0">
              <a:buNone/>
            </a:pPr>
            <a:r>
              <a:rPr lang="en-US" sz="1200" b="1" dirty="0">
                <a:solidFill>
                  <a:schemeClr val="bg1"/>
                </a:solidFill>
              </a:rPr>
              <a:t>Labour market</a:t>
            </a:r>
            <a:endParaRPr lang="en-US" sz="1200" dirty="0"/>
          </a:p>
        </p:txBody>
      </p:sp>
      <p:sp>
        <p:nvSpPr>
          <p:cNvPr id="50" name="Text 47"/>
          <p:cNvSpPr txBox="1"/>
          <p:nvPr/>
        </p:nvSpPr>
        <p:spPr>
          <a:xfrm>
            <a:off x="8970264" y="3328416"/>
            <a:ext cx="2395728" cy="402336"/>
          </a:xfrm>
          <a:prstGeom prst="rect">
            <a:avLst/>
          </a:prstGeom>
          <a:noFill/>
          <a:ln/>
        </p:spPr>
        <p:txBody>
          <a:bodyPr wrap="square" lIns="0" tIns="0" rIns="0" bIns="0" rtlCol="0" anchor="t"/>
          <a:lstStyle/>
          <a:p>
            <a:pPr marL="0" indent="0">
              <a:buNone/>
            </a:pPr>
            <a:r>
              <a:rPr lang="en-US" sz="950" dirty="0">
                <a:solidFill>
                  <a:srgbClr val="CADCFC"/>
                </a:solidFill>
              </a:rPr>
              <a:t>Projections table, both statements, the labour pre-read.</a:t>
            </a:r>
            <a:endParaRPr lang="en-US" sz="950" dirty="0"/>
          </a:p>
          <a:p>
            <a:pPr marL="0" indent="0">
              <a:buNone/>
            </a:pPr>
            <a:r>
              <a:rPr lang="en-US" sz="950" b="1" dirty="0">
                <a:solidFill>
                  <a:srgbClr val="FFFFFF"/>
                </a:solidFill>
              </a:rPr>
              <a:t>Intent: </a:t>
            </a:r>
            <a:r>
              <a:rPr lang="en-US" sz="950" dirty="0">
                <a:solidFill>
                  <a:srgbClr val="CADCFC"/>
                </a:solidFill>
              </a:rPr>
              <a:t>is labour pulling the other way.</a:t>
            </a:r>
            <a:endParaRPr lang="en-US" sz="950" dirty="0"/>
          </a:p>
        </p:txBody>
      </p:sp>
      <p:sp>
        <p:nvSpPr>
          <p:cNvPr id="51" name="Shape 48"/>
          <p:cNvSpPr/>
          <p:nvPr/>
        </p:nvSpPr>
        <p:spPr>
          <a:xfrm>
            <a:off x="5349240" y="3840480"/>
            <a:ext cx="6108192" cy="694944"/>
          </a:xfrm>
          <a:prstGeom prst="roundRect">
            <a:avLst>
              <a:gd name="adj" fmla="val 13158"/>
            </a:avLst>
          </a:prstGeom>
          <a:solidFill>
            <a:srgbClr val="FFFFFF">
              <a:alpha val="10000"/>
            </a:srgbClr>
          </a:solidFill>
          <a:ln w="12700">
            <a:solidFill>
              <a:srgbClr val="FFFFFF">
                <a:alpha val="10000"/>
              </a:srgbClr>
            </a:solidFill>
            <a:prstDash val="solid"/>
          </a:ln>
        </p:spPr>
        <p:txBody>
          <a:bodyPr/>
          <a:lstStyle/>
          <a:p>
            <a:endParaRPr lang="en-US"/>
          </a:p>
        </p:txBody>
      </p:sp>
      <p:sp>
        <p:nvSpPr>
          <p:cNvPr id="52" name="Shape 49"/>
          <p:cNvSpPr/>
          <p:nvPr/>
        </p:nvSpPr>
        <p:spPr>
          <a:xfrm>
            <a:off x="5458968" y="3950208"/>
            <a:ext cx="310896" cy="310896"/>
          </a:xfrm>
          <a:prstGeom prst="roundRect">
            <a:avLst>
              <a:gd name="adj" fmla="val 23529"/>
            </a:avLst>
          </a:prstGeom>
          <a:solidFill>
            <a:srgbClr val="C8553D"/>
          </a:solidFill>
          <a:ln w="12700">
            <a:solidFill>
              <a:srgbClr val="C8553D"/>
            </a:solidFill>
            <a:prstDash val="solid"/>
          </a:ln>
        </p:spPr>
        <p:txBody>
          <a:bodyPr/>
          <a:lstStyle/>
          <a:p>
            <a:endParaRPr lang="en-US"/>
          </a:p>
        </p:txBody>
      </p:sp>
      <p:sp>
        <p:nvSpPr>
          <p:cNvPr id="53" name="Text 50"/>
          <p:cNvSpPr txBox="1"/>
          <p:nvPr/>
        </p:nvSpPr>
        <p:spPr>
          <a:xfrm>
            <a:off x="5458968" y="3950208"/>
            <a:ext cx="310896" cy="310896"/>
          </a:xfrm>
          <a:prstGeom prst="rect">
            <a:avLst/>
          </a:prstGeom>
          <a:noFill/>
          <a:ln/>
        </p:spPr>
        <p:txBody>
          <a:bodyPr wrap="square" lIns="0" tIns="0" rIns="0" bIns="0" rtlCol="0" anchor="ctr"/>
          <a:lstStyle/>
          <a:p>
            <a:pPr marL="0" indent="0" algn="ctr">
              <a:buNone/>
            </a:pPr>
            <a:r>
              <a:rPr lang="en-US" sz="1200" b="1" dirty="0">
                <a:solidFill>
                  <a:schemeClr val="bg1"/>
                </a:solidFill>
                <a:latin typeface="Cambria" pitchFamily="34" charset="0"/>
                <a:ea typeface="Cambria" pitchFamily="34" charset="-122"/>
                <a:cs typeface="Cambria" pitchFamily="34" charset="-120"/>
              </a:rPr>
              <a:t>8</a:t>
            </a:r>
            <a:endParaRPr lang="en-US" sz="1200" dirty="0"/>
          </a:p>
        </p:txBody>
      </p:sp>
      <p:sp>
        <p:nvSpPr>
          <p:cNvPr id="54" name="Text 51"/>
          <p:cNvSpPr txBox="1"/>
          <p:nvPr/>
        </p:nvSpPr>
        <p:spPr>
          <a:xfrm>
            <a:off x="5861304" y="3895344"/>
            <a:ext cx="5504688" cy="237744"/>
          </a:xfrm>
          <a:prstGeom prst="rect">
            <a:avLst/>
          </a:prstGeom>
          <a:noFill/>
          <a:ln/>
        </p:spPr>
        <p:txBody>
          <a:bodyPr wrap="square" lIns="0" tIns="0" rIns="0" bIns="0" rtlCol="0" anchor="t"/>
          <a:lstStyle/>
          <a:p>
            <a:pPr marL="0" indent="0">
              <a:buNone/>
            </a:pPr>
            <a:r>
              <a:rPr lang="en-US" sz="1200" b="1" dirty="0">
                <a:solidFill>
                  <a:schemeClr val="bg1"/>
                </a:solidFill>
              </a:rPr>
              <a:t>Financial conditions</a:t>
            </a:r>
            <a:endParaRPr lang="en-US" sz="1200" dirty="0"/>
          </a:p>
        </p:txBody>
      </p:sp>
      <p:sp>
        <p:nvSpPr>
          <p:cNvPr id="55" name="Text 52"/>
          <p:cNvSpPr txBox="1"/>
          <p:nvPr/>
        </p:nvSpPr>
        <p:spPr>
          <a:xfrm>
            <a:off x="5861304" y="4114800"/>
            <a:ext cx="5504688" cy="402336"/>
          </a:xfrm>
          <a:prstGeom prst="rect">
            <a:avLst/>
          </a:prstGeom>
          <a:noFill/>
          <a:ln/>
        </p:spPr>
        <p:txBody>
          <a:bodyPr wrap="square" lIns="0" tIns="0" rIns="0" bIns="0" rtlCol="0" anchor="t"/>
          <a:lstStyle/>
          <a:p>
            <a:pPr marL="0" indent="0">
              <a:buNone/>
            </a:pPr>
            <a:r>
              <a:rPr lang="en-US" sz="950" dirty="0">
                <a:solidFill>
                  <a:srgbClr val="CADCFC"/>
                </a:solidFill>
              </a:rPr>
              <a:t>Both statements, the financial-conditions and base-rate pre-reads.</a:t>
            </a:r>
            <a:endParaRPr lang="en-US" sz="950" dirty="0"/>
          </a:p>
          <a:p>
            <a:pPr marL="0" indent="0">
              <a:buNone/>
            </a:pPr>
            <a:r>
              <a:rPr lang="en-US" sz="950" b="1" dirty="0">
                <a:solidFill>
                  <a:srgbClr val="FFFFFF"/>
                </a:solidFill>
              </a:rPr>
              <a:t>Intent: </a:t>
            </a:r>
            <a:r>
              <a:rPr lang="en-US" sz="950" dirty="0">
                <a:solidFill>
                  <a:srgbClr val="CADCFC"/>
                </a:solidFill>
              </a:rPr>
              <a:t>is the market or stress already doing the committee's work.</a:t>
            </a:r>
            <a:endParaRPr lang="en-US" sz="950" dirty="0"/>
          </a:p>
        </p:txBody>
      </p:sp>
      <p:sp>
        <p:nvSpPr>
          <p:cNvPr id="56" name="Text 53"/>
          <p:cNvSpPr txBox="1"/>
          <p:nvPr/>
        </p:nvSpPr>
        <p:spPr>
          <a:xfrm>
            <a:off x="5349240" y="4681728"/>
            <a:ext cx="6108192" cy="640080"/>
          </a:xfrm>
          <a:prstGeom prst="rect">
            <a:avLst/>
          </a:prstGeom>
          <a:noFill/>
          <a:ln/>
        </p:spPr>
        <p:txBody>
          <a:bodyPr wrap="square" lIns="0" tIns="0" rIns="0" bIns="0" rtlCol="0" anchor="t"/>
          <a:lstStyle/>
          <a:p>
            <a:pPr marL="0" indent="0">
              <a:buNone/>
            </a:pPr>
            <a:r>
              <a:rPr lang="en-US" sz="1150">
                <a:solidFill>
                  <a:srgbClr val="CADCFC"/>
                </a:solidFill>
              </a:rPr>
              <a:t>Each specialist is asked one question about its own slice (above), never for a probability. It returns claims, each with a verbatim quote and item id, and a lean of at most 10 bp either way: direction and strength, positive toward a hike. Code averages the five leans; each point of lean moves one point of probability, capped at 10.</a:t>
            </a:r>
            <a:endParaRPr lang="en-US" sz="1150" dirty="0"/>
          </a:p>
        </p:txBody>
      </p:sp>
      <p:sp>
        <p:nvSpPr>
          <p:cNvPr id="57" name="Shape 54"/>
          <p:cNvSpPr/>
          <p:nvPr/>
        </p:nvSpPr>
        <p:spPr>
          <a:xfrm>
            <a:off x="548640" y="5541264"/>
            <a:ext cx="11091672" cy="777240"/>
          </a:xfrm>
          <a:prstGeom prst="roundRect">
            <a:avLst>
              <a:gd name="adj" fmla="val 14118"/>
            </a:avLst>
          </a:prstGeom>
          <a:solidFill>
            <a:srgbClr val="F3F4F6"/>
          </a:solidFill>
          <a:ln w="12700">
            <a:solidFill>
              <a:srgbClr val="F3F4F6"/>
            </a:solidFill>
            <a:prstDash val="solid"/>
          </a:ln>
          <a:effectLst>
            <a:outerShdw blurRad="50800" dist="12700" dir="5400000" algn="bl" rotWithShape="0">
              <a:srgbClr val="000000">
                <a:alpha val="8000"/>
              </a:srgbClr>
            </a:outerShdw>
          </a:effectLst>
        </p:spPr>
        <p:txBody>
          <a:bodyPr/>
          <a:lstStyle/>
          <a:p>
            <a:endParaRPr lang="en-US"/>
          </a:p>
        </p:txBody>
      </p:sp>
      <p:sp>
        <p:nvSpPr>
          <p:cNvPr id="58" name="Text 55"/>
          <p:cNvSpPr txBox="1"/>
          <p:nvPr/>
        </p:nvSpPr>
        <p:spPr>
          <a:xfrm>
            <a:off x="704088" y="5596128"/>
            <a:ext cx="10780776" cy="237744"/>
          </a:xfrm>
          <a:prstGeom prst="rect">
            <a:avLst/>
          </a:prstGeom>
          <a:noFill/>
          <a:ln/>
        </p:spPr>
        <p:txBody>
          <a:bodyPr wrap="square" lIns="0" tIns="0" rIns="0" bIns="0" rtlCol="0" anchor="ctr"/>
          <a:lstStyle/>
          <a:p>
            <a:pPr marL="0" indent="0">
              <a:buNone/>
            </a:pPr>
            <a:r>
              <a:rPr lang="en-US" sz="1150" b="1" dirty="0">
                <a:solidFill>
                  <a:schemeClr val="tx1"/>
                </a:solidFill>
              </a:rPr>
              <a:t>Every analyst runs five times on the same snapshot. </a:t>
            </a:r>
            <a:r>
              <a:rPr lang="en-US" sz="1150" dirty="0">
                <a:solidFill>
                  <a:schemeClr val="tx1"/>
                </a:solidFill>
              </a:rPr>
              <a:t>For analysts 1 to 3 those runs are not forecasts: they build the benchmark that 4 to 8 are measured against.</a:t>
            </a:r>
            <a:endParaRPr lang="en-US" sz="1150" dirty="0"/>
          </a:p>
        </p:txBody>
      </p:sp>
      <p:sp>
        <p:nvSpPr>
          <p:cNvPr id="59" name="Text 56"/>
          <p:cNvSpPr txBox="1"/>
          <p:nvPr/>
        </p:nvSpPr>
        <p:spPr>
          <a:xfrm>
            <a:off x="704088"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1 sets the baseline: </a:t>
            </a:r>
            <a:r>
              <a:rPr lang="en-US" sz="1000" dirty="0">
                <a:solidFill>
                  <a:schemeClr val="tx1"/>
                </a:solidFill>
              </a:rPr>
              <a:t>variance of the probabilities across runs; numbers from memory (all of them); nothing quoted.</a:t>
            </a:r>
            <a:endParaRPr lang="en-US" sz="1000" dirty="0"/>
          </a:p>
        </p:txBody>
      </p:sp>
      <p:sp>
        <p:nvSpPr>
          <p:cNvPr id="60" name="Text 57"/>
          <p:cNvSpPr txBox="1"/>
          <p:nvPr/>
        </p:nvSpPr>
        <p:spPr>
          <a:xfrm>
            <a:off x="4343400"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2 tests immutable evidence: </a:t>
            </a:r>
            <a:r>
              <a:rPr lang="en-US" sz="1000" dirty="0">
                <a:solidFill>
                  <a:schemeClr val="tx1"/>
                </a:solidFill>
              </a:rPr>
              <a:t>numbers from memory fall to zero; the variance does not; nothing can be checked.</a:t>
            </a:r>
            <a:endParaRPr lang="en-US" sz="1000" dirty="0"/>
          </a:p>
        </p:txBody>
      </p:sp>
      <p:sp>
        <p:nvSpPr>
          <p:cNvPr id="61" name="Text 58"/>
          <p:cNvSpPr txBox="1"/>
          <p:nvPr/>
        </p:nvSpPr>
        <p:spPr>
          <a:xfrm>
            <a:off x="7982712" y="5870448"/>
            <a:ext cx="3502152" cy="411480"/>
          </a:xfrm>
          <a:prstGeom prst="rect">
            <a:avLst/>
          </a:prstGeom>
          <a:noFill/>
          <a:ln/>
        </p:spPr>
        <p:txBody>
          <a:bodyPr wrap="square" lIns="0" tIns="0" rIns="0" bIns="0" rtlCol="0" anchor="t"/>
          <a:lstStyle/>
          <a:p>
            <a:pPr marL="0" indent="0">
              <a:buNone/>
            </a:pPr>
            <a:r>
              <a:rPr lang="en-US" sz="1000" b="1" dirty="0">
                <a:solidFill>
                  <a:schemeClr val="tx1"/>
                </a:solidFill>
              </a:rPr>
              <a:t>3 tests the answer shape and code verification: </a:t>
            </a:r>
            <a:r>
              <a:rPr lang="en-US" sz="1000" dirty="0">
                <a:solidFill>
                  <a:schemeClr val="tx1"/>
                </a:solidFill>
              </a:rPr>
              <a:t>variance falls under 1 bp; every claim quoted and checked.</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3: what each analyst is asked and given</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prompts view</a:t>
            </a:r>
            <a:endParaRPr lang="en-US" sz="1300" dirty="0"/>
          </a:p>
          <a:p>
            <a:pPr marL="342900" indent="-342900">
              <a:spcAft>
                <a:spcPts val="800"/>
              </a:spcAft>
              <a:buSzPct val="100000"/>
              <a:buChar char="•"/>
            </a:pPr>
            <a:r>
              <a:rPr lang="en-US" sz="1300" dirty="0">
                <a:solidFill>
                  <a:srgbClr val="FFFFFF"/>
                </a:solidFill>
              </a:rPr>
              <a:t>Analyst 1: open the full prompt</a:t>
            </a:r>
            <a:endParaRPr lang="en-US" sz="1300" dirty="0"/>
          </a:p>
          <a:p>
            <a:pPr marL="342900" indent="-342900">
              <a:spcAft>
                <a:spcPts val="800"/>
              </a:spcAft>
              <a:buSzPct val="100000"/>
              <a:buChar char="•"/>
            </a:pPr>
            <a:r>
              <a:rPr lang="en-US" sz="1300" dirty="0">
                <a:solidFill>
                  <a:srgbClr val="FFFFFF"/>
                </a:solidFill>
              </a:rPr>
              <a:t>Analyst 6: open the full prompt</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195 characters, no evidence</a:t>
            </a:r>
            <a:endParaRPr lang="en-US" sz="1300" dirty="0"/>
          </a:p>
          <a:p>
            <a:pPr marL="342900" indent="-342900">
              <a:spcAft>
                <a:spcPts val="800"/>
              </a:spcAft>
              <a:buSzPct val="100000"/>
              <a:buChar char="•"/>
            </a:pPr>
            <a:r>
              <a:rPr lang="en-US" sz="1300" dirty="0">
                <a:solidFill>
                  <a:srgbClr val="FFFFFF"/>
                </a:solidFill>
              </a:rPr>
              <a:t>Analyst 6: the system prompt, the enforced answer schema, the inflation pre-read, the item ids</a:t>
            </a:r>
            <a:endParaRPr lang="en-US" sz="1300" dirty="0"/>
          </a:p>
          <a:p>
            <a:pPr marL="342900" indent="-342900">
              <a:spcAft>
                <a:spcPts val="800"/>
              </a:spcAft>
              <a:buSzPct val="100000"/>
              <a:buChar char="•"/>
            </a:pPr>
            <a:r>
              <a:rPr lang="en-US" sz="1300" dirty="0">
                <a:solidFill>
                  <a:srgbClr val="FFFFFF"/>
                </a:solidFill>
              </a:rPr>
              <a:t>The prompt hash: five repeats share it</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If it is not on this page, the analyst does not get it.</a:t>
            </a:r>
            <a:endParaRPr lang="en-US" sz="1300" dirty="0"/>
          </a:p>
          <a:p>
            <a:pPr marL="342900" indent="-342900">
              <a:spcAft>
                <a:spcPts val="800"/>
              </a:spcAft>
              <a:buSzPct val="100000"/>
              <a:buChar char="•"/>
            </a:pPr>
            <a:r>
              <a:rPr lang="en-US" sz="1300" dirty="0">
                <a:solidFill>
                  <a:srgbClr val="FFFFFF"/>
                </a:solidFill>
              </a:rPr>
              <a:t>Same model. The only difference between analyst 1 and analyst 6 is this page.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How good is the harness: what each step bought</a:t>
            </a:r>
            <a:endParaRPr lang="en-US" sz="3200" dirty="0"/>
          </a:p>
        </p:txBody>
      </p:sp>
      <p:sp>
        <p:nvSpPr>
          <p:cNvPr id="4" name="Text 1"/>
          <p:cNvSpPr txBox="1"/>
          <p:nvPr/>
        </p:nvSpPr>
        <p:spPr>
          <a:xfrm>
            <a:off x="548640"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Repeatability: variance between identical runs (pp)</a:t>
            </a:r>
            <a:endParaRPr lang="en-US" sz="1300" dirty="0"/>
          </a:p>
        </p:txBody>
      </p:sp>
      <p:graphicFrame>
        <p:nvGraphicFramePr>
          <p:cNvPr id="5" name="Chart 0"/>
          <p:cNvGraphicFramePr/>
          <p:nvPr/>
        </p:nvGraphicFramePr>
        <p:xfrm>
          <a:off x="548640" y="1691640"/>
          <a:ext cx="3544824" cy="3566160"/>
        </p:xfrm>
        <a:graphic>
          <a:graphicData uri="http://schemas.openxmlformats.org/drawingml/2006/chart">
            <c:chart xmlns:c="http://schemas.openxmlformats.org/drawingml/2006/chart" xmlns:r="http://schemas.openxmlformats.org/officeDocument/2006/relationships" r:id="rId3"/>
          </a:graphicData>
        </a:graphic>
      </p:graphicFrame>
      <p:sp>
        <p:nvSpPr>
          <p:cNvPr id="6" name="Text 2"/>
          <p:cNvSpPr txBox="1"/>
          <p:nvPr/>
        </p:nvSpPr>
        <p:spPr>
          <a:xfrm>
            <a:off x="548640"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Largest standard deviation across five runs, mean of four snapshots. Pass mark 2 pp. Analysts 3 to 8: standard deviation of the lean, 1 bp = 1 pp.</a:t>
            </a:r>
            <a:endParaRPr lang="en-US" sz="950" dirty="0"/>
          </a:p>
        </p:txBody>
      </p:sp>
      <p:sp>
        <p:nvSpPr>
          <p:cNvPr id="7" name="Text 3"/>
          <p:cNvSpPr txBox="1"/>
          <p:nvPr/>
        </p:nvSpPr>
        <p:spPr>
          <a:xfrm>
            <a:off x="4322064"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Numbers from memory (count)</a:t>
            </a:r>
            <a:endParaRPr lang="en-US" sz="1300" dirty="0"/>
          </a:p>
        </p:txBody>
      </p:sp>
      <p:graphicFrame>
        <p:nvGraphicFramePr>
          <p:cNvPr id="8" name="Chart 1"/>
          <p:cNvGraphicFramePr/>
          <p:nvPr/>
        </p:nvGraphicFramePr>
        <p:xfrm>
          <a:off x="4322064" y="1691640"/>
          <a:ext cx="3544824" cy="3566160"/>
        </p:xfrm>
        <a:graphic>
          <a:graphicData uri="http://schemas.openxmlformats.org/drawingml/2006/chart">
            <c:chart xmlns:c="http://schemas.openxmlformats.org/drawingml/2006/chart" xmlns:r="http://schemas.openxmlformats.org/officeDocument/2006/relationships" r:id="rId4"/>
          </a:graphicData>
        </a:graphic>
      </p:graphicFrame>
      <p:sp>
        <p:nvSpPr>
          <p:cNvPr id="9" name="Text 4"/>
          <p:cNvSpPr txBox="1"/>
          <p:nvPr/>
        </p:nvSpPr>
        <p:spPr>
          <a:xfrm>
            <a:off x="4322064"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Numbers in the answer that exist nowhere in the frozen evidence, summed over five runs. Pass mark: exactly 0.</a:t>
            </a:r>
            <a:endParaRPr lang="en-US" sz="950" dirty="0"/>
          </a:p>
        </p:txBody>
      </p:sp>
      <p:sp>
        <p:nvSpPr>
          <p:cNvPr id="10" name="Text 5"/>
          <p:cNvSpPr txBox="1"/>
          <p:nvPr/>
        </p:nvSpPr>
        <p:spPr>
          <a:xfrm>
            <a:off x="8095488" y="1325880"/>
            <a:ext cx="3544824" cy="365760"/>
          </a:xfrm>
          <a:prstGeom prst="rect">
            <a:avLst/>
          </a:prstGeom>
          <a:noFill/>
          <a:ln/>
        </p:spPr>
        <p:txBody>
          <a:bodyPr wrap="square" lIns="0" tIns="0" rIns="0" bIns="0" rtlCol="0" anchor="t"/>
          <a:lstStyle/>
          <a:p>
            <a:pPr marL="0" indent="0">
              <a:buNone/>
            </a:pPr>
            <a:r>
              <a:rPr lang="en-US" sz="1300" b="1" dirty="0">
                <a:solidFill>
                  <a:schemeClr val="tx2"/>
                </a:solidFill>
              </a:rPr>
              <a:t>Claims with a verbatim quote (%)</a:t>
            </a:r>
            <a:endParaRPr lang="en-US" sz="1300" dirty="0"/>
          </a:p>
        </p:txBody>
      </p:sp>
      <p:graphicFrame>
        <p:nvGraphicFramePr>
          <p:cNvPr id="11" name="Chart 2"/>
          <p:cNvGraphicFramePr/>
          <p:nvPr/>
        </p:nvGraphicFramePr>
        <p:xfrm>
          <a:off x="8095488" y="1691640"/>
          <a:ext cx="3544824" cy="3566160"/>
        </p:xfrm>
        <a:graphic>
          <a:graphicData uri="http://schemas.openxmlformats.org/drawingml/2006/chart">
            <c:chart xmlns:c="http://schemas.openxmlformats.org/drawingml/2006/chart" xmlns:r="http://schemas.openxmlformats.org/officeDocument/2006/relationships" r:id="rId5"/>
          </a:graphicData>
        </a:graphic>
      </p:graphicFrame>
      <p:sp>
        <p:nvSpPr>
          <p:cNvPr id="12" name="Text 6"/>
          <p:cNvSpPr txBox="1"/>
          <p:nvPr/>
        </p:nvSpPr>
        <p:spPr>
          <a:xfrm>
            <a:off x="8095488" y="5303520"/>
            <a:ext cx="3544824" cy="640080"/>
          </a:xfrm>
          <a:prstGeom prst="rect">
            <a:avLst/>
          </a:prstGeom>
          <a:noFill/>
          <a:ln/>
        </p:spPr>
        <p:txBody>
          <a:bodyPr wrap="square" lIns="0" tIns="0" rIns="0" bIns="0" rtlCol="0" anchor="t"/>
          <a:lstStyle/>
          <a:p>
            <a:pPr marL="0" indent="0">
              <a:buNone/>
            </a:pPr>
            <a:r>
              <a:rPr lang="en-US" sz="950" dirty="0">
                <a:solidFill>
                  <a:schemeClr val="accent4"/>
                </a:solidFill>
              </a:rPr>
              <a:t>Share of claims whose quote code found character for character in the item named. Pass mark 95%. Analyst 2 is not shown: it quotes nothing, so it cannot be measured.</a:t>
            </a:r>
            <a:endParaRPr lang="en-US" sz="950" dirty="0"/>
          </a:p>
        </p:txBody>
      </p:sp>
      <p:sp>
        <p:nvSpPr>
          <p:cNvPr id="13" name="Text 7"/>
          <p:cNvSpPr txBox="1"/>
          <p:nvPr/>
        </p:nvSpPr>
        <p:spPr>
          <a:xfrm>
            <a:off x="548640" y="5870448"/>
            <a:ext cx="11091672" cy="502920"/>
          </a:xfrm>
          <a:prstGeom prst="rect">
            <a:avLst/>
          </a:prstGeom>
          <a:noFill/>
          <a:ln/>
        </p:spPr>
        <p:txBody>
          <a:bodyPr wrap="square" lIns="0" tIns="0" rIns="0" bIns="0" rtlCol="0" anchor="t"/>
          <a:lstStyle/>
          <a:p>
            <a:pPr marL="0" indent="0">
              <a:buNone/>
            </a:pPr>
            <a:r>
              <a:rPr lang="en-US" sz="1050" i="1" dirty="0">
                <a:solidFill>
                  <a:schemeClr val="accent2"/>
                </a:solidFill>
              </a:rPr>
              <a:t>The step from analyst 2 to analyst 3 is the harness: a fixed answer shape with a quote per claim, checked by code. Specialists keep both and add attribution. What they concluded, four snapshots: analyst 1 a cut at 57 to 67%; analyst 2 +25 bp at 50 to 57%; analyst 3 +5.8 to +7.0 bp hawkish; specialists +4.0 to +4.4 bp, labour the lone non-hawk.</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LLM analysts: outcome</a:t>
            </a:r>
            <a:endParaRPr lang="en-US" sz="3200" dirty="0"/>
          </a:p>
        </p:txBody>
      </p:sp>
      <p:sp>
        <p:nvSpPr>
          <p:cNvPr id="4" name="Shape 1"/>
          <p:cNvSpPr/>
          <p:nvPr/>
        </p:nvSpPr>
        <p:spPr>
          <a:xfrm>
            <a:off x="548640" y="1298448"/>
            <a:ext cx="11091672" cy="713232"/>
          </a:xfrm>
          <a:prstGeom prst="roundRect">
            <a:avLst>
              <a:gd name="adj" fmla="val 1538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5" name="Text 2"/>
          <p:cNvSpPr txBox="1"/>
          <p:nvPr/>
        </p:nvSpPr>
        <p:spPr>
          <a:xfrm>
            <a:off x="749808" y="1371600"/>
            <a:ext cx="10689336" cy="566928"/>
          </a:xfrm>
          <a:prstGeom prst="rect">
            <a:avLst/>
          </a:prstGeom>
          <a:noFill/>
          <a:ln/>
        </p:spPr>
        <p:txBody>
          <a:bodyPr wrap="square" lIns="0" tIns="0" rIns="0" bIns="0" rtlCol="0" anchor="ctr"/>
          <a:lstStyle/>
          <a:p>
            <a:pPr marL="0" indent="0">
              <a:buNone/>
            </a:pPr>
            <a:r>
              <a:rPr lang="en-US" sz="1250" b="1" dirty="0">
                <a:solidFill>
                  <a:srgbClr val="1E2761"/>
                </a:solidFill>
              </a:rPr>
              <a:t>Each specialist runs five times on the same frozen snapshot. </a:t>
            </a:r>
            <a:r>
              <a:rPr lang="en-US" sz="1250" dirty="0">
                <a:solidFill>
                  <a:schemeClr val="tx1"/>
                </a:solidFill>
              </a:rPr>
              <a:t>The five answers must sit within the variance pass mark (2 points), every claim must carry a quote that code finds in the evidence, character for character, and no number may come from memory. Only then does the lean count toward the number.</a:t>
            </a:r>
            <a:endParaRPr lang="en-US" sz="1250" dirty="0"/>
          </a:p>
        </p:txBody>
      </p:sp>
      <p:sp>
        <p:nvSpPr>
          <p:cNvPr id="6" name="Shape 3"/>
          <p:cNvSpPr/>
          <p:nvPr/>
        </p:nvSpPr>
        <p:spPr>
          <a:xfrm>
            <a:off x="548640" y="2231136"/>
            <a:ext cx="2245035" cy="1481328"/>
          </a:xfrm>
          <a:prstGeom prst="rect">
            <a:avLst/>
          </a:prstGeom>
          <a:solidFill>
            <a:srgbClr val="CADCFC"/>
          </a:solidFill>
          <a:ln w="12700">
            <a:solidFill>
              <a:srgbClr val="CADCFC"/>
            </a:solidFill>
            <a:prstDash val="solid"/>
          </a:ln>
        </p:spPr>
      </p:sp>
      <p:sp>
        <p:nvSpPr>
          <p:cNvPr id="7" name="Text 4"/>
          <p:cNvSpPr txBox="1"/>
          <p:nvPr/>
        </p:nvSpPr>
        <p:spPr>
          <a:xfrm>
            <a:off x="54864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runs</a:t>
            </a:r>
            <a:endParaRPr lang="en-US" sz="2000" dirty="0"/>
          </a:p>
        </p:txBody>
      </p:sp>
      <p:sp>
        <p:nvSpPr>
          <p:cNvPr id="8" name="Text 5"/>
          <p:cNvSpPr txBox="1"/>
          <p:nvPr/>
        </p:nvSpPr>
        <p:spPr>
          <a:xfrm>
            <a:off x="54864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5 specialists × 5 identical runs</a:t>
            </a:r>
            <a:endParaRPr lang="en-US" sz="1050" dirty="0"/>
          </a:p>
        </p:txBody>
      </p:sp>
      <p:sp>
        <p:nvSpPr>
          <p:cNvPr id="9" name="Shape 6"/>
          <p:cNvSpPr/>
          <p:nvPr/>
        </p:nvSpPr>
        <p:spPr>
          <a:xfrm>
            <a:off x="2793675" y="2286000"/>
            <a:ext cx="2245035" cy="1371600"/>
          </a:xfrm>
          <a:prstGeom prst="rect">
            <a:avLst/>
          </a:prstGeom>
          <a:solidFill>
            <a:srgbClr val="B9CEF3"/>
          </a:solidFill>
          <a:ln w="12700">
            <a:solidFill>
              <a:srgbClr val="B9CEF3"/>
            </a:solidFill>
            <a:prstDash val="solid"/>
          </a:ln>
        </p:spPr>
      </p:sp>
      <p:sp>
        <p:nvSpPr>
          <p:cNvPr id="10" name="Text 7"/>
          <p:cNvSpPr txBox="1"/>
          <p:nvPr/>
        </p:nvSpPr>
        <p:spPr>
          <a:xfrm>
            <a:off x="279367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25 prompts</a:t>
            </a:r>
            <a:endParaRPr lang="en-US" sz="2000" dirty="0"/>
          </a:p>
        </p:txBody>
      </p:sp>
      <p:sp>
        <p:nvSpPr>
          <p:cNvPr id="11" name="Text 8"/>
          <p:cNvSpPr txBox="1"/>
          <p:nvPr/>
        </p:nvSpPr>
        <p:spPr>
          <a:xfrm>
            <a:off x="279367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one slice each, hashed</a:t>
            </a:r>
            <a:endParaRPr lang="en-US" sz="1050" dirty="0"/>
          </a:p>
        </p:txBody>
      </p:sp>
      <p:sp>
        <p:nvSpPr>
          <p:cNvPr id="12" name="Shape 9"/>
          <p:cNvSpPr/>
          <p:nvPr/>
        </p:nvSpPr>
        <p:spPr>
          <a:xfrm>
            <a:off x="5038710" y="2340864"/>
            <a:ext cx="2245035" cy="1261872"/>
          </a:xfrm>
          <a:prstGeom prst="rect">
            <a:avLst/>
          </a:prstGeom>
          <a:solidFill>
            <a:srgbClr val="A8C3EC"/>
          </a:solidFill>
          <a:ln w="12700">
            <a:solidFill>
              <a:srgbClr val="A8C3EC"/>
            </a:solidFill>
            <a:prstDash val="solid"/>
          </a:ln>
        </p:spPr>
      </p:sp>
      <p:sp>
        <p:nvSpPr>
          <p:cNvPr id="13" name="Text 10"/>
          <p:cNvSpPr txBox="1"/>
          <p:nvPr/>
        </p:nvSpPr>
        <p:spPr>
          <a:xfrm>
            <a:off x="5038710"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claims</a:t>
            </a:r>
            <a:endParaRPr lang="en-US" sz="2000" dirty="0"/>
          </a:p>
        </p:txBody>
      </p:sp>
      <p:sp>
        <p:nvSpPr>
          <p:cNvPr id="14" name="Text 11"/>
          <p:cNvSpPr txBox="1"/>
          <p:nvPr/>
        </p:nvSpPr>
        <p:spPr>
          <a:xfrm>
            <a:off x="5038710"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every one with a verbatim quote</a:t>
            </a:r>
            <a:endParaRPr lang="en-US" sz="1050" dirty="0"/>
          </a:p>
        </p:txBody>
      </p:sp>
      <p:sp>
        <p:nvSpPr>
          <p:cNvPr id="15" name="Shape 12"/>
          <p:cNvSpPr/>
          <p:nvPr/>
        </p:nvSpPr>
        <p:spPr>
          <a:xfrm>
            <a:off x="7283745" y="2395728"/>
            <a:ext cx="2245035" cy="1152144"/>
          </a:xfrm>
          <a:prstGeom prst="rect">
            <a:avLst/>
          </a:prstGeom>
          <a:solidFill>
            <a:srgbClr val="97B7E5"/>
          </a:solidFill>
          <a:ln w="12700">
            <a:solidFill>
              <a:srgbClr val="97B7E5"/>
            </a:solidFill>
            <a:prstDash val="solid"/>
          </a:ln>
        </p:spPr>
      </p:sp>
      <p:sp>
        <p:nvSpPr>
          <p:cNvPr id="16" name="Text 13"/>
          <p:cNvSpPr txBox="1"/>
          <p:nvPr/>
        </p:nvSpPr>
        <p:spPr>
          <a:xfrm>
            <a:off x="7283745" y="2587752"/>
            <a:ext cx="2245035" cy="402336"/>
          </a:xfrm>
          <a:prstGeom prst="rect">
            <a:avLst/>
          </a:prstGeom>
          <a:noFill/>
          <a:ln/>
        </p:spPr>
        <p:txBody>
          <a:bodyPr wrap="square" lIns="0" tIns="0" rIns="0" bIns="0" rtlCol="0" anchor="ctr"/>
          <a:lstStyle/>
          <a:p>
            <a:pPr marL="0" indent="0" algn="ctr">
              <a:buNone/>
            </a:pPr>
            <a:r>
              <a:rPr lang="en-US" sz="2000" b="1" dirty="0">
                <a:solidFill>
                  <a:schemeClr val="tx1"/>
                </a:solidFill>
              </a:rPr>
              <a:t>263 verified</a:t>
            </a:r>
            <a:endParaRPr lang="en-US" sz="2000" dirty="0"/>
          </a:p>
        </p:txBody>
      </p:sp>
      <p:sp>
        <p:nvSpPr>
          <p:cNvPr id="17" name="Text 14"/>
          <p:cNvSpPr txBox="1"/>
          <p:nvPr/>
        </p:nvSpPr>
        <p:spPr>
          <a:xfrm>
            <a:off x="7283745" y="3008376"/>
            <a:ext cx="2245035" cy="292608"/>
          </a:xfrm>
          <a:prstGeom prst="rect">
            <a:avLst/>
          </a:prstGeom>
          <a:noFill/>
          <a:ln/>
        </p:spPr>
        <p:txBody>
          <a:bodyPr wrap="square" lIns="0" tIns="0" rIns="0" bIns="0" rtlCol="0" anchor="ctr"/>
          <a:lstStyle/>
          <a:p>
            <a:pPr marL="0" indent="0" algn="ctr">
              <a:buNone/>
            </a:pPr>
            <a:r>
              <a:rPr lang="en-US" sz="1050" dirty="0">
                <a:solidFill>
                  <a:schemeClr val="tx1"/>
                </a:solidFill>
              </a:rPr>
              <a:t>100%; 0 numbers from memory</a:t>
            </a:r>
            <a:endParaRPr lang="en-US" sz="1050" dirty="0"/>
          </a:p>
        </p:txBody>
      </p:sp>
      <p:sp>
        <p:nvSpPr>
          <p:cNvPr id="18" name="Shape 15"/>
          <p:cNvSpPr/>
          <p:nvPr/>
        </p:nvSpPr>
        <p:spPr>
          <a:xfrm>
            <a:off x="9528780" y="2514600"/>
            <a:ext cx="2111532" cy="914400"/>
          </a:xfrm>
          <a:prstGeom prst="rect">
            <a:avLst/>
          </a:prstGeom>
          <a:solidFill>
            <a:srgbClr val="1E2761"/>
          </a:solidFill>
          <a:ln w="12700">
            <a:solidFill>
              <a:srgbClr val="1E2761"/>
            </a:solidFill>
            <a:prstDash val="solid"/>
          </a:ln>
        </p:spPr>
      </p:sp>
      <p:sp>
        <p:nvSpPr>
          <p:cNvPr id="19" name="Text 16"/>
          <p:cNvSpPr txBox="1"/>
          <p:nvPr/>
        </p:nvSpPr>
        <p:spPr>
          <a:xfrm>
            <a:off x="9528780" y="2587752"/>
            <a:ext cx="2111532" cy="402336"/>
          </a:xfrm>
          <a:prstGeom prst="rect">
            <a:avLst/>
          </a:prstGeom>
          <a:noFill/>
          <a:ln/>
        </p:spPr>
        <p:txBody>
          <a:bodyPr wrap="square" lIns="0" tIns="0" rIns="0" bIns="0" rtlCol="0" anchor="ctr"/>
          <a:lstStyle/>
          <a:p>
            <a:pPr marL="0" indent="0" algn="ctr">
              <a:buNone/>
            </a:pPr>
            <a:r>
              <a:rPr lang="en-US" sz="2000" b="1" dirty="0">
                <a:solidFill>
                  <a:schemeClr val="bg1"/>
                </a:solidFill>
              </a:rPr>
              <a:t>5 leans, ±10 bp</a:t>
            </a:r>
            <a:endParaRPr lang="en-US" sz="2000" dirty="0"/>
          </a:p>
        </p:txBody>
      </p:sp>
      <p:sp>
        <p:nvSpPr>
          <p:cNvPr id="20" name="Text 17"/>
          <p:cNvSpPr txBox="1"/>
          <p:nvPr/>
        </p:nvSpPr>
        <p:spPr>
          <a:xfrm>
            <a:off x="9528780" y="3008376"/>
            <a:ext cx="2111532" cy="292608"/>
          </a:xfrm>
          <a:prstGeom prst="rect">
            <a:avLst/>
          </a:prstGeom>
          <a:noFill/>
          <a:ln/>
        </p:spPr>
        <p:txBody>
          <a:bodyPr wrap="square" lIns="0" tIns="0" rIns="0" bIns="0" rtlCol="0" anchor="ctr"/>
          <a:lstStyle/>
          <a:p>
            <a:pPr marL="0" indent="0" algn="ctr">
              <a:buNone/>
            </a:pPr>
            <a:r>
              <a:rPr lang="en-US" sz="1050" dirty="0">
                <a:solidFill>
                  <a:srgbClr val="CADCFC"/>
                </a:solidFill>
              </a:rPr>
              <a:t>+6.0 · +6.2 · +5.8 · −1.4 · +3.4 bp</a:t>
            </a:r>
            <a:endParaRPr lang="en-US" sz="1050" dirty="0"/>
          </a:p>
        </p:txBody>
      </p:sp>
      <p:sp>
        <p:nvSpPr>
          <p:cNvPr id="21" name="Shape 18"/>
          <p:cNvSpPr/>
          <p:nvPr/>
        </p:nvSpPr>
        <p:spPr>
          <a:xfrm>
            <a:off x="548640" y="3931920"/>
            <a:ext cx="4434840" cy="2377440"/>
          </a:xfrm>
          <a:prstGeom prst="roundRect">
            <a:avLst>
              <a:gd name="adj" fmla="val 4615"/>
            </a:avLst>
          </a:prstGeom>
          <a:solidFill>
            <a:srgbClr val="FBEFEA"/>
          </a:solidFill>
          <a:ln w="12700">
            <a:solidFill>
              <a:srgbClr val="FBEFEA"/>
            </a:solidFill>
            <a:prstDash val="solid"/>
          </a:ln>
          <a:effectLst>
            <a:outerShdw blurRad="50800" dist="12700" dir="5400000" algn="bl" rotWithShape="0">
              <a:srgbClr val="000000">
                <a:alpha val="8000"/>
              </a:srgbClr>
            </a:outerShdw>
          </a:effectLst>
        </p:spPr>
      </p:sp>
      <p:sp>
        <p:nvSpPr>
          <p:cNvPr id="22" name="Text 19"/>
          <p:cNvSpPr txBox="1"/>
          <p:nvPr/>
        </p:nvSpPr>
        <p:spPr>
          <a:xfrm>
            <a:off x="704088" y="4041648"/>
            <a:ext cx="4114800" cy="182880"/>
          </a:xfrm>
          <a:prstGeom prst="rect">
            <a:avLst/>
          </a:prstGeom>
          <a:noFill/>
          <a:ln/>
        </p:spPr>
        <p:txBody>
          <a:bodyPr wrap="square" lIns="0" tIns="0" rIns="0" bIns="0" rtlCol="0" anchor="t"/>
          <a:lstStyle/>
          <a:p>
            <a:pPr marL="0" indent="0">
              <a:buNone/>
            </a:pPr>
            <a:r>
              <a:rPr lang="en-US" sz="900" b="1" kern="0" spc="100" dirty="0">
                <a:solidFill>
                  <a:srgbClr val="C8553D"/>
                </a:solidFill>
              </a:rPr>
              <a:t>WHAT THE FIVE SAID, AND WHAT IT DID TO THE NUMBER</a:t>
            </a:r>
            <a:endParaRPr lang="en-US" sz="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704088" y="4315968"/>
          <a:ext cx="21031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tblGrid>
              <a:tr h="274320">
                <a:tc>
                  <a:txBody>
                    <a:bodyPr/>
                    <a:lstStyle/>
                    <a:p>
                      <a:pPr marL="0" indent="0">
                        <a:buNone/>
                      </a:pPr>
                      <a:r>
                        <a:rPr lang="en-US" sz="1100" dirty="0">
                          <a:solidFill>
                            <a:srgbClr val="1B1F2A"/>
                          </a:solidFill>
                        </a:rPr>
                        <a:t>Communications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+6.0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274320">
                <a:tc>
                  <a:txBody>
                    <a:bodyPr/>
                    <a:lstStyle/>
                    <a:p>
                      <a:pPr marL="0" indent="0">
                        <a:buNone/>
                      </a:pPr>
                      <a:r>
                        <a:rPr lang="en-US" sz="1100" dirty="0">
                          <a:solidFill>
                            <a:srgbClr val="1B1F2A"/>
                          </a:solidFill>
                        </a:rPr>
                        <a:t>Minutes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+6.2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274320">
                <a:tc>
                  <a:txBody>
                    <a:bodyPr/>
                    <a:lstStyle/>
                    <a:p>
                      <a:pPr marL="0" indent="0">
                        <a:buNone/>
                      </a:pPr>
                      <a:r>
                        <a:rPr lang="en-US" sz="1100" dirty="0">
                          <a:solidFill>
                            <a:srgbClr val="1B1F2A"/>
                          </a:solidFill>
                        </a:rPr>
                        <a:t>Inflation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+5.8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r h="274320">
                <a:tc>
                  <a:txBody>
                    <a:bodyPr/>
                    <a:lstStyle/>
                    <a:p>
                      <a:pPr marL="0" indent="0">
                        <a:buNone/>
                      </a:pPr>
                      <a:r>
                        <a:rPr lang="en-US" sz="1100" dirty="0">
                          <a:solidFill>
                            <a:srgbClr val="1B1F2A"/>
                          </a:solidFill>
                        </a:rPr>
                        <a:t>Financial conditions</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+3.4 hike</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3"/>
                  </a:ext>
                </a:extLst>
              </a:tr>
              <a:tr h="274320">
                <a:tc>
                  <a:txBody>
                    <a:bodyPr/>
                    <a:lstStyle/>
                    <a:p>
                      <a:pPr marL="0" indent="0">
                        <a:buNone/>
                      </a:pPr>
                      <a:r>
                        <a:rPr lang="en-US" sz="1100" dirty="0">
                          <a:solidFill>
                            <a:srgbClr val="2C6E49"/>
                          </a:solidFill>
                        </a:rPr>
                        <a:t>Labour market</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2C6E49"/>
                          </a:solidFill>
                        </a:rPr>
                        <a:t>−1.4 hold</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4"/>
                  </a:ext>
                </a:extLst>
              </a:tr>
              <a:tr h="274320">
                <a:tc>
                  <a:txBody>
                    <a:bodyPr/>
                    <a:lstStyle/>
                    <a:p>
                      <a:pPr marL="0" indent="0">
                        <a:buNone/>
                      </a:pPr>
                      <a:r>
                        <a:rPr lang="en-US" sz="1100" b="1" dirty="0">
                          <a:solidFill>
                            <a:srgbClr val="1B1F2A"/>
                          </a:solidFill>
                        </a:rPr>
                        <a:t>Equal-weight mean</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marL="0" indent="0" algn="r">
                        <a:buNone/>
                      </a:pPr>
                      <a:r>
                        <a:rPr lang="en-US" sz="1100" b="1" dirty="0">
                          <a:solidFill>
                            <a:srgbClr val="1B1F2A"/>
                          </a:solidFill>
                        </a:rPr>
                        <a:t>+4.0 bp</a:t>
                      </a:r>
                      <a:endParaRPr lang="en-US" sz="1100" dirty="0"/>
                    </a:p>
                  </a:txBody>
                  <a:tcPr marL="18288" marR="18288" marT="18288" marB="18288">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5"/>
                  </a:ext>
                </a:extLst>
              </a:tr>
            </a:tbl>
          </a:graphicData>
        </a:graphic>
      </p:graphicFrame>
      <p:sp>
        <p:nvSpPr>
          <p:cNvPr id="24" name="Text 20"/>
          <p:cNvSpPr txBox="1"/>
          <p:nvPr/>
        </p:nvSpPr>
        <p:spPr>
          <a:xfrm>
            <a:off x="2880360" y="4315968"/>
            <a:ext cx="1965960" cy="1188720"/>
          </a:xfrm>
          <a:prstGeom prst="rect">
            <a:avLst/>
          </a:prstGeom>
          <a:noFill/>
          <a:ln/>
        </p:spPr>
        <p:txBody>
          <a:bodyPr wrap="square" lIns="0" tIns="0" rIns="0" bIns="0" rtlCol="0" anchor="t"/>
          <a:lstStyle/>
          <a:p>
            <a:pPr marL="0" indent="0">
              <a:buNone/>
            </a:pPr>
            <a:r>
              <a:rPr lang="en-US" sz="1050" b="1" dirty="0">
                <a:solidFill>
                  <a:schemeClr val="tx1"/>
                </a:solidFill>
              </a:rPr>
              <a:t>Four say hike, one says hold back. </a:t>
            </a:r>
            <a:r>
              <a:rPr lang="en-US" sz="1050" dirty="0">
                <a:solidFill>
                  <a:schemeClr val="tx1"/>
                </a:solidFill>
              </a:rPr>
              <a:t>Plain average, one vote each: +4.0.</a:t>
            </a:r>
            <a:endParaRPr lang="en-US" sz="1050" dirty="0"/>
          </a:p>
          <a:p>
            <a:pPr marL="0" indent="0">
              <a:buNone/>
            </a:pPr>
            <a:r>
              <a:rPr lang="en-US" sz="1050" b="1" dirty="0">
                <a:solidFill>
                  <a:schemeClr val="tx1"/>
                </a:solidFill>
              </a:rPr>
              <a:t>Each point of lean moves one point of probability </a:t>
            </a:r>
            <a:r>
              <a:rPr lang="en-US" sz="1050" dirty="0">
                <a:solidFill>
                  <a:schemeClr val="tx1"/>
                </a:solidFill>
              </a:rPr>
              <a:t>from the hold side to the hike side, by rule, capped at 10. So +4.0 moves 4.0 points, after the pool:</a:t>
            </a:r>
            <a:endParaRPr lang="en-US" sz="1050" dirty="0"/>
          </a:p>
        </p:txBody>
      </p:sp>
      <p:sp>
        <p:nvSpPr>
          <p:cNvPr id="25" name="Text 21"/>
          <p:cNvSpPr txBox="1"/>
          <p:nvPr/>
        </p:nvSpPr>
        <p:spPr>
          <a:xfrm>
            <a:off x="2880360" y="5559552"/>
            <a:ext cx="2011680" cy="329184"/>
          </a:xfrm>
          <a:prstGeom prst="rect">
            <a:avLst/>
          </a:prstGeom>
          <a:noFill/>
          <a:ln/>
        </p:spPr>
        <p:txBody>
          <a:bodyPr wrap="square" lIns="0" tIns="0" rIns="0" bIns="0" rtlCol="0" anchor="t"/>
          <a:lstStyle/>
          <a:p>
            <a:pPr marL="0" indent="0">
              <a:buNone/>
            </a:pPr>
            <a:r>
              <a:rPr lang="en-US" sz="1400" b="1" dirty="0">
                <a:solidFill>
                  <a:schemeClr val="tx2"/>
                </a:solidFill>
                <a:latin typeface="Cambria" pitchFamily="34" charset="0"/>
                <a:ea typeface="Cambria" pitchFamily="34" charset="-122"/>
                <a:cs typeface="Cambria" pitchFamily="34" charset="-120"/>
              </a:rPr>
              <a:t>+25 bp: 20.2% → 22.4%</a:t>
            </a:r>
            <a:endParaRPr lang="en-US" sz="1400" dirty="0"/>
          </a:p>
        </p:txBody>
      </p:sp>
      <p:sp>
        <p:nvSpPr>
          <p:cNvPr id="26" name="Text 22"/>
          <p:cNvSpPr txBox="1"/>
          <p:nvPr/>
        </p:nvSpPr>
        <p:spPr>
          <a:xfrm>
            <a:off x="2880360" y="5897880"/>
            <a:ext cx="2011680" cy="365760"/>
          </a:xfrm>
          <a:prstGeom prst="rect">
            <a:avLst/>
          </a:prstGeom>
          <a:noFill/>
          <a:ln/>
        </p:spPr>
        <p:txBody>
          <a:bodyPr wrap="square" lIns="0" tIns="0" rIns="0" bIns="0" rtlCol="0" anchor="t"/>
          <a:lstStyle/>
          <a:p>
            <a:pPr marL="0" indent="0">
              <a:buNone/>
            </a:pPr>
            <a:r>
              <a:rPr lang="en-US" sz="950" dirty="0">
                <a:solidFill>
                  <a:schemeClr val="accent4"/>
                </a:solidFill>
              </a:rPr>
              <a:t>+50 bp 6.0 → 7.7; no change 70.9 → 67.6; cuts 3.0 → 2.3</a:t>
            </a:r>
            <a:endParaRPr lang="en-US" sz="950" dirty="0"/>
          </a:p>
        </p:txBody>
      </p:sp>
      <p:sp>
        <p:nvSpPr>
          <p:cNvPr id="27" name="Shape 23"/>
          <p:cNvSpPr/>
          <p:nvPr/>
        </p:nvSpPr>
        <p:spPr>
          <a:xfrm>
            <a:off x="5120640" y="3931920"/>
            <a:ext cx="6519672" cy="2377440"/>
          </a:xfrm>
          <a:prstGeom prst="roundRect">
            <a:avLst>
              <a:gd name="adj" fmla="val 4615"/>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8" name="Text 24"/>
          <p:cNvSpPr txBox="1"/>
          <p:nvPr/>
        </p:nvSpPr>
        <p:spPr>
          <a:xfrm>
            <a:off x="5276088" y="4023360"/>
            <a:ext cx="6208776" cy="182880"/>
          </a:xfrm>
          <a:prstGeom prst="rect">
            <a:avLst/>
          </a:prstGeom>
          <a:noFill/>
          <a:ln/>
        </p:spPr>
        <p:txBody>
          <a:bodyPr wrap="square" lIns="0" tIns="0" rIns="0" bIns="0" rtlCol="0" anchor="t"/>
          <a:lstStyle/>
          <a:p>
            <a:pPr marL="0" indent="0">
              <a:buNone/>
            </a:pPr>
            <a:r>
              <a:rPr lang="en-US" sz="900" b="1" kern="0" spc="100" dirty="0">
                <a:solidFill>
                  <a:schemeClr val="accent4"/>
                </a:solidFill>
              </a:rPr>
              <a:t>ONE VERIFIED CLAIM, AS RECORDED · ANALYST 4, COMMUNICATIONS, RUN 1 OF 5</a:t>
            </a:r>
            <a:endParaRPr lang="en-US" sz="900" dirty="0"/>
          </a:p>
        </p:txBody>
      </p:sp>
      <p:sp>
        <p:nvSpPr>
          <p:cNvPr id="29" name="Text 25"/>
          <p:cNvSpPr txBox="1"/>
          <p:nvPr/>
        </p:nvSpPr>
        <p:spPr>
          <a:xfrm>
            <a:off x="5276088" y="4279392"/>
            <a:ext cx="6208776" cy="365760"/>
          </a:xfrm>
          <a:prstGeom prst="rect">
            <a:avLst/>
          </a:prstGeom>
          <a:noFill/>
          <a:ln/>
        </p:spPr>
        <p:txBody>
          <a:bodyPr wrap="square" lIns="0" tIns="0" rIns="0" bIns="0" rtlCol="0" anchor="t"/>
          <a:lstStyle/>
          <a:p>
            <a:pPr marL="0" indent="0">
              <a:buNone/>
            </a:pPr>
            <a:r>
              <a:rPr lang="en-US" sz="1100" b="1" dirty="0">
                <a:solidFill>
                  <a:schemeClr val="tx1"/>
                </a:solidFill>
              </a:rPr>
              <a:t>Claim </a:t>
            </a:r>
            <a:r>
              <a:rPr lang="en-US" sz="1100" dirty="0">
                <a:solidFill>
                  <a:schemeClr val="tx1"/>
                </a:solidFill>
              </a:rPr>
              <a:t>The September statement stressed elevated inflation and a resolve to return to target on a timelier basis.</a:t>
            </a:r>
            <a:endParaRPr lang="en-US" sz="1100" dirty="0"/>
          </a:p>
        </p:txBody>
      </p:sp>
      <p:sp>
        <p:nvSpPr>
          <p:cNvPr id="30" name="Text 26"/>
          <p:cNvSpPr txBox="1"/>
          <p:nvPr/>
        </p:nvSpPr>
        <p:spPr>
          <a:xfrm>
            <a:off x="5276088" y="4681728"/>
            <a:ext cx="6208776" cy="457200"/>
          </a:xfrm>
          <a:prstGeom prst="rect">
            <a:avLst/>
          </a:prstGeom>
          <a:noFill/>
          <a:ln/>
        </p:spPr>
        <p:txBody>
          <a:bodyPr wrap="square" lIns="0" tIns="0" rIns="0" bIns="0" rtlCol="0" anchor="t"/>
          <a:lstStyle/>
          <a:p>
            <a:pPr marL="0" indent="0">
              <a:buNone/>
            </a:pPr>
            <a:r>
              <a:rPr lang="en-US" sz="950" dirty="0">
                <a:solidFill>
                  <a:srgbClr val="374151"/>
                </a:solidFill>
                <a:latin typeface="Courier New" pitchFamily="34" charset="0"/>
                <a:ea typeface="Courier New" pitchFamily="34" charset="-122"/>
                <a:cs typeface="Courier New" pitchFamily="34" charset="-120"/>
              </a:rPr>
              <a:t>“Inflation remains elevated. Today's policy action will support a timelier return to the Committee's 2 percent goal. The Committee will deliver price stability.”</a:t>
            </a:r>
            <a:endParaRPr lang="en-US" sz="950" dirty="0"/>
          </a:p>
        </p:txBody>
      </p:sp>
      <p:sp>
        <p:nvSpPr>
          <p:cNvPr id="31" name="Text 27"/>
          <p:cNvSpPr txBox="1"/>
          <p:nvPr/>
        </p:nvSpPr>
        <p:spPr>
          <a:xfrm>
            <a:off x="5276088" y="5212080"/>
            <a:ext cx="6208776" cy="365760"/>
          </a:xfrm>
          <a:prstGeom prst="rect">
            <a:avLst/>
          </a:prstGeom>
          <a:noFill/>
          <a:ln/>
        </p:spPr>
        <p:txBody>
          <a:bodyPr wrap="square" lIns="0" tIns="0" rIns="0" bIns="0" rtlCol="0" anchor="t"/>
          <a:lstStyle/>
          <a:p>
            <a:pPr marL="0" indent="0">
              <a:buNone/>
            </a:pPr>
            <a:r>
              <a:rPr lang="en-US" sz="1000" dirty="0">
                <a:solidFill>
                  <a:schemeClr val="accent4"/>
                </a:solidFill>
              </a:rPr>
              <a:t>Item </a:t>
            </a:r>
            <a:r>
              <a:rPr lang="en-US" sz="1000" b="1" dirty="0">
                <a:solidFill>
                  <a:srgbClr val="1B1F2A"/>
                </a:solidFill>
              </a:rPr>
              <a:t>fed.statement.2026-09-16</a:t>
            </a:r>
            <a:r>
              <a:rPr lang="en-US" sz="1000" dirty="0">
                <a:solidFill>
                  <a:schemeClr val="accent4"/>
                </a:solidFill>
              </a:rPr>
              <a:t> · quote found by code, character for character · lean hawkish · 12 of 12 claims in this run verified</a:t>
            </a:r>
            <a:endParaRPr lang="en-US" sz="1000" dirty="0"/>
          </a:p>
        </p:txBody>
      </p:sp>
      <p:sp>
        <p:nvSpPr>
          <p:cNvPr id="2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14</a:t>
            </a:fld>
            <a:endParaRPr lang="en-US"/>
          </a:p>
        </p:txBody>
      </p:sp>
    </p:spTree>
    <p:extLst>
      <p:ext uri="{BB962C8B-B14F-4D97-AF65-F5344CB8AC3E}">
        <p14:creationId xmlns:p14="http://schemas.microsoft.com/office/powerpoint/2010/main" val="20675373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4: what the analysts concluded</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results view</a:t>
            </a:r>
            <a:endParaRPr lang="en-US" sz="1300" dirty="0"/>
          </a:p>
          <a:p>
            <a:pPr marL="342900" indent="-342900">
              <a:spcAft>
                <a:spcPts val="800"/>
              </a:spcAft>
              <a:buSzPct val="100000"/>
              <a:buChar char="•"/>
            </a:pPr>
            <a:r>
              <a:rPr lang="en-US" sz="1300" dirty="0">
                <a:solidFill>
                  <a:srgbClr val="FFFFFF"/>
                </a:solidFill>
              </a:rPr>
              <a:t>Analyst 1 (naive) card</a:t>
            </a:r>
            <a:endParaRPr lang="en-US" sz="1300" dirty="0"/>
          </a:p>
          <a:p>
            <a:pPr marL="342900" indent="-342900">
              <a:spcAft>
                <a:spcPts val="800"/>
              </a:spcAft>
              <a:buSzPct val="100000"/>
              <a:buChar char="•"/>
            </a:pPr>
            <a:r>
              <a:rPr lang="en-US" sz="1300" dirty="0">
                <a:solidFill>
                  <a:srgbClr val="FFFFFF"/>
                </a:solidFill>
              </a:rPr>
              <a:t>Analyst 4 (communications) card</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 1: cut 25 at 57%, numbers from memory flagged</a:t>
            </a:r>
            <a:endParaRPr lang="en-US" sz="1300" dirty="0"/>
          </a:p>
          <a:p>
            <a:pPr marL="342900" indent="-342900">
              <a:spcAft>
                <a:spcPts val="800"/>
              </a:spcAft>
              <a:buSzPct val="100000"/>
              <a:buChar char="•"/>
            </a:pPr>
            <a:r>
              <a:rPr lang="en-US" sz="1300" dirty="0">
                <a:solidFill>
                  <a:srgbClr val="FFFFFF"/>
                </a:solidFill>
              </a:rPr>
              <a:t>Analyst 4: the lean, grounded, leaked, watch-outs badges; one claim with its quote and the 'quote verified' mark</a:t>
            </a:r>
            <a:endParaRPr lang="en-US" sz="1300" dirty="0"/>
          </a:p>
          <a:p>
            <a:pPr marL="342900" indent="-342900">
              <a:spcAft>
                <a:spcPts val="800"/>
              </a:spcAft>
              <a:buSzPct val="100000"/>
              <a:buChar char="•"/>
            </a:pPr>
            <a:r>
              <a:rPr lang="en-US" sz="1300" dirty="0">
                <a:solidFill>
                  <a:srgbClr val="FFFFFF"/>
                </a:solidFill>
              </a:rPr>
              <a:t>Hover a badge for its definition</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claim you see has a quote that code found character for character in the item named.</a:t>
            </a:r>
            <a:endParaRPr lang="en-US" sz="1300" dirty="0"/>
          </a:p>
          <a:p>
            <a:pPr marL="342900" indent="-342900">
              <a:spcAft>
                <a:spcPts val="800"/>
              </a:spcAft>
              <a:buSzPct val="100000"/>
              <a:buChar char="•"/>
            </a:pPr>
            <a:r>
              <a:rPr lang="en-US" sz="1300" dirty="0">
                <a:solidFill>
                  <a:srgbClr val="FFFFFF"/>
                </a:solidFill>
              </a:rPr>
              <a:t>The naive analyst still thinks the Fed is cutting. Same model, no evidence.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5: the scorecard and the drift table</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2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Scorecard view</a:t>
            </a:r>
            <a:endParaRPr lang="en-US" sz="1300" dirty="0"/>
          </a:p>
          <a:p>
            <a:pPr marL="342900" indent="-342900">
              <a:spcAft>
                <a:spcPts val="800"/>
              </a:spcAft>
              <a:buSzPct val="100000"/>
              <a:buChar char="•"/>
            </a:pPr>
            <a:r>
              <a:rPr lang="en-US" sz="1300" dirty="0">
                <a:solidFill>
                  <a:srgbClr val="FFFFFF"/>
                </a:solidFill>
              </a:rPr>
              <a:t>The snapshot dropdown: pick 24 October, then 26 October</a:t>
            </a:r>
            <a:endParaRPr lang="en-US" sz="1300" dirty="0"/>
          </a:p>
          <a:p>
            <a:pPr marL="342900" indent="-342900">
              <a:spcAft>
                <a:spcPts val="800"/>
              </a:spcAft>
              <a:buSzPct val="100000"/>
              <a:buChar char="•"/>
            </a:pPr>
            <a:r>
              <a:rPr lang="en-US" sz="1300" dirty="0">
                <a:solidFill>
                  <a:srgbClr val="FFFFFF"/>
                </a:solidFill>
              </a:rPr>
              <a:t>Expand 'what was checked' under Shock direction</a:t>
            </a:r>
            <a:endParaRPr lang="en-US" sz="1300" dirty="0"/>
          </a:p>
          <a:p>
            <a:pPr marL="342900" indent="-342900">
              <a:spcAft>
                <a:spcPts val="800"/>
              </a:spcAft>
              <a:buSzPct val="100000"/>
              <a:buChar char="•"/>
            </a:pPr>
            <a:r>
              <a:rPr lang="en-US" sz="1300" dirty="0">
                <a:solidFill>
                  <a:srgbClr val="FFFFFF"/>
                </a:solidFill>
              </a:rPr>
              <a:t>Scroll to the over-time table</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The grid: red in the control columns, green in the judged columns</a:t>
            </a:r>
            <a:endParaRPr lang="en-US" sz="1300" dirty="0"/>
          </a:p>
          <a:p>
            <a:pPr marL="342900" indent="-342900">
              <a:spcAft>
                <a:spcPts val="800"/>
              </a:spcAft>
              <a:buSzPct val="100000"/>
              <a:buChar char="•"/>
            </a:pPr>
            <a:r>
              <a:rPr lang="en-US" sz="1300" dirty="0">
                <a:solidFill>
                  <a:srgbClr val="FFFFFF"/>
                </a:solidFill>
              </a:rPr>
              <a:t>The seven shocks with their deltas</a:t>
            </a:r>
            <a:endParaRPr lang="en-US" sz="1300" dirty="0"/>
          </a:p>
          <a:p>
            <a:pPr marL="342900" indent="-342900">
              <a:spcAft>
                <a:spcPts val="800"/>
              </a:spcAft>
              <a:buSzPct val="100000"/>
              <a:buChar char="•"/>
            </a:pPr>
            <a:r>
              <a:rPr lang="en-US" sz="1300" dirty="0">
                <a:solidFill>
                  <a:srgbClr val="FFFFFF"/>
                </a:solidFill>
              </a:rPr>
              <a:t>The over-time table: one row per snapshot, the marks never move</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Analysts 1 and 2 are meant to fail. A red cell on the right would be a defect.</a:t>
            </a:r>
            <a:endParaRPr lang="en-US" sz="1300" dirty="0"/>
          </a:p>
          <a:p>
            <a:pPr marL="342900" indent="-342900">
              <a:spcAft>
                <a:spcPts val="800"/>
              </a:spcAft>
              <a:buSzPct val="100000"/>
              <a:buChar char="•"/>
            </a:pPr>
            <a:r>
              <a:rPr lang="en-US" sz="1300" dirty="0">
                <a:solidFill>
                  <a:srgbClr val="FFFFFF"/>
                </a:solidFill>
              </a:rPr>
              <a:t>This is the drift check. Two red cells have already pointed at defects and both are fixed.</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548640"/>
            <a:ext cx="11091672" cy="822960"/>
          </a:xfrm>
          <a:prstGeom prst="rect">
            <a:avLst/>
          </a:prstGeom>
          <a:noFill/>
          <a:ln/>
        </p:spPr>
        <p:txBody>
          <a:bodyPr wrap="square" lIns="0" tIns="0" rIns="0" bIns="0" rtlCol="0" anchor="ctr"/>
          <a:lstStyle/>
          <a:p>
            <a:pPr marL="0" indent="0" algn="l">
              <a:buNone/>
            </a:pPr>
            <a:r>
              <a:rPr lang="en-US" sz="3000" b="1" dirty="0">
                <a:solidFill>
                  <a:schemeClr val="bg1"/>
                </a:solidFill>
              </a:rPr>
              <a:t>Live demo 6: the ledger and replay</a:t>
            </a:r>
            <a:endParaRPr lang="en-US" sz="3000" dirty="0"/>
          </a:p>
        </p:txBody>
      </p:sp>
      <p:sp>
        <p:nvSpPr>
          <p:cNvPr id="3" name="Shape 1"/>
          <p:cNvSpPr/>
          <p:nvPr/>
        </p:nvSpPr>
        <p:spPr>
          <a:xfrm>
            <a:off x="10177272" y="685800"/>
            <a:ext cx="1463040" cy="548640"/>
          </a:xfrm>
          <a:prstGeom prst="roundRect">
            <a:avLst>
              <a:gd name="adj" fmla="val 16667"/>
            </a:avLst>
          </a:prstGeom>
          <a:solidFill>
            <a:srgbClr val="E9B44C"/>
          </a:solidFill>
          <a:ln w="12700">
            <a:solidFill>
              <a:srgbClr val="E9B44C"/>
            </a:solidFill>
            <a:prstDash val="solid"/>
          </a:ln>
        </p:spPr>
      </p:sp>
      <p:sp>
        <p:nvSpPr>
          <p:cNvPr id="4" name="Text 2"/>
          <p:cNvSpPr txBox="1"/>
          <p:nvPr/>
        </p:nvSpPr>
        <p:spPr>
          <a:xfrm>
            <a:off x="10177272" y="685800"/>
            <a:ext cx="1463040" cy="548640"/>
          </a:xfrm>
          <a:prstGeom prst="rect">
            <a:avLst/>
          </a:prstGeom>
          <a:noFill/>
          <a:ln/>
        </p:spPr>
        <p:txBody>
          <a:bodyPr wrap="square" lIns="0" tIns="0" rIns="0" bIns="0" rtlCol="0" anchor="ctr"/>
          <a:lstStyle/>
          <a:p>
            <a:pPr marL="0" indent="0" algn="ctr">
              <a:buNone/>
            </a:pPr>
            <a:r>
              <a:rPr lang="en-US" sz="1600" b="1" dirty="0">
                <a:solidFill>
                  <a:srgbClr val="1B1F2A"/>
                </a:solidFill>
              </a:rPr>
              <a:t>1 min</a:t>
            </a:r>
            <a:endParaRPr lang="en-US" sz="1600" dirty="0"/>
          </a:p>
        </p:txBody>
      </p:sp>
      <p:sp>
        <p:nvSpPr>
          <p:cNvPr id="5" name="Shape 3"/>
          <p:cNvSpPr/>
          <p:nvPr/>
        </p:nvSpPr>
        <p:spPr>
          <a:xfrm>
            <a:off x="548640" y="1737360"/>
            <a:ext cx="3520440" cy="3200400"/>
          </a:xfrm>
          <a:prstGeom prst="roundRect">
            <a:avLst>
              <a:gd name="adj" fmla="val 3429"/>
            </a:avLst>
          </a:prstGeom>
          <a:solidFill>
            <a:srgbClr val="1E2761"/>
          </a:solidFill>
          <a:ln w="12700">
            <a:solidFill>
              <a:srgbClr val="1E2761"/>
            </a:solidFill>
            <a:prstDash val="solid"/>
          </a:ln>
        </p:spPr>
      </p:sp>
      <p:sp>
        <p:nvSpPr>
          <p:cNvPr id="6" name="Text 4"/>
          <p:cNvSpPr txBox="1"/>
          <p:nvPr/>
        </p:nvSpPr>
        <p:spPr>
          <a:xfrm>
            <a:off x="82296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Open</a:t>
            </a:r>
            <a:endParaRPr lang="en-US" sz="1800" dirty="0"/>
          </a:p>
        </p:txBody>
      </p:sp>
      <p:sp>
        <p:nvSpPr>
          <p:cNvPr id="7" name="Text 5"/>
          <p:cNvSpPr txBox="1"/>
          <p:nvPr/>
        </p:nvSpPr>
        <p:spPr>
          <a:xfrm>
            <a:off x="82296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Ledger view</a:t>
            </a:r>
            <a:endParaRPr lang="en-US" sz="1300" dirty="0"/>
          </a:p>
          <a:p>
            <a:pPr marL="342900" indent="-342900">
              <a:spcAft>
                <a:spcPts val="800"/>
              </a:spcAft>
              <a:buSzPct val="100000"/>
              <a:buChar char="•"/>
            </a:pPr>
            <a:r>
              <a:rPr lang="en-US" sz="1300" dirty="0">
                <a:solidFill>
                  <a:srgbClr val="FFFFFF"/>
                </a:solidFill>
              </a:rPr>
              <a:t>Press Verify ledger</a:t>
            </a:r>
            <a:endParaRPr lang="en-US" sz="1300" dirty="0"/>
          </a:p>
        </p:txBody>
      </p:sp>
      <p:sp>
        <p:nvSpPr>
          <p:cNvPr id="8" name="Shape 6"/>
          <p:cNvSpPr/>
          <p:nvPr/>
        </p:nvSpPr>
        <p:spPr>
          <a:xfrm>
            <a:off x="4297680" y="1737360"/>
            <a:ext cx="3520440" cy="3200400"/>
          </a:xfrm>
          <a:prstGeom prst="roundRect">
            <a:avLst>
              <a:gd name="adj" fmla="val 3429"/>
            </a:avLst>
          </a:prstGeom>
          <a:solidFill>
            <a:srgbClr val="1E2761"/>
          </a:solidFill>
          <a:ln w="12700">
            <a:solidFill>
              <a:srgbClr val="1E2761"/>
            </a:solidFill>
            <a:prstDash val="solid"/>
          </a:ln>
        </p:spPr>
      </p:sp>
      <p:sp>
        <p:nvSpPr>
          <p:cNvPr id="9" name="Text 7"/>
          <p:cNvSpPr txBox="1"/>
          <p:nvPr/>
        </p:nvSpPr>
        <p:spPr>
          <a:xfrm>
            <a:off x="457200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Point at</a:t>
            </a:r>
            <a:endParaRPr lang="en-US" sz="1800" dirty="0"/>
          </a:p>
        </p:txBody>
      </p:sp>
      <p:sp>
        <p:nvSpPr>
          <p:cNvPr id="10" name="Text 8"/>
          <p:cNvSpPr txBox="1"/>
          <p:nvPr/>
        </p:nvSpPr>
        <p:spPr>
          <a:xfrm>
            <a:off x="457200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Every entry with its snapshot hash, spec hash and code version</a:t>
            </a:r>
            <a:endParaRPr lang="en-US" sz="1300" dirty="0"/>
          </a:p>
          <a:p>
            <a:pPr marL="342900" indent="-342900">
              <a:spcAft>
                <a:spcPts val="800"/>
              </a:spcAft>
              <a:buSzPct val="100000"/>
              <a:buChar char="•"/>
            </a:pPr>
            <a:r>
              <a:rPr lang="en-US" sz="1300" dirty="0">
                <a:solidFill>
                  <a:srgbClr val="FFFFFF"/>
                </a:solidFill>
              </a:rPr>
              <a:t>The replay result: chain intact, entries under the current spec recompute exactly</a:t>
            </a:r>
            <a:endParaRPr lang="en-US" sz="1300" dirty="0"/>
          </a:p>
          <a:p>
            <a:pPr marL="342900" indent="-342900">
              <a:spcAft>
                <a:spcPts val="800"/>
              </a:spcAft>
              <a:buSzPct val="100000"/>
              <a:buChar char="•"/>
            </a:pPr>
            <a:r>
              <a:rPr lang="en-US" sz="1300" dirty="0">
                <a:solidFill>
                  <a:srgbClr val="FFFFFF"/>
                </a:solidFill>
              </a:rPr>
              <a:t>Eight numbered amendments, each with its reason, each a new spec hash pinned in the tests</a:t>
            </a:r>
            <a:endParaRPr lang="en-US" sz="1300" dirty="0"/>
          </a:p>
        </p:txBody>
      </p:sp>
      <p:sp>
        <p:nvSpPr>
          <p:cNvPr id="11" name="Shape 9"/>
          <p:cNvSpPr/>
          <p:nvPr/>
        </p:nvSpPr>
        <p:spPr>
          <a:xfrm>
            <a:off x="8046720" y="1737360"/>
            <a:ext cx="3520440" cy="3200400"/>
          </a:xfrm>
          <a:prstGeom prst="roundRect">
            <a:avLst>
              <a:gd name="adj" fmla="val 3429"/>
            </a:avLst>
          </a:prstGeom>
          <a:solidFill>
            <a:srgbClr val="1E2761"/>
          </a:solidFill>
          <a:ln w="12700">
            <a:solidFill>
              <a:srgbClr val="1E2761"/>
            </a:solidFill>
            <a:prstDash val="solid"/>
          </a:ln>
        </p:spPr>
      </p:sp>
      <p:sp>
        <p:nvSpPr>
          <p:cNvPr id="12" name="Text 10"/>
          <p:cNvSpPr txBox="1"/>
          <p:nvPr/>
        </p:nvSpPr>
        <p:spPr>
          <a:xfrm>
            <a:off x="8321040" y="1920240"/>
            <a:ext cx="2926080" cy="457200"/>
          </a:xfrm>
          <a:prstGeom prst="rect">
            <a:avLst/>
          </a:prstGeom>
          <a:noFill/>
          <a:ln/>
        </p:spPr>
        <p:txBody>
          <a:bodyPr wrap="square" lIns="0" tIns="0" rIns="0" bIns="0" rtlCol="0" anchor="ctr"/>
          <a:lstStyle/>
          <a:p>
            <a:pPr marL="0" indent="0">
              <a:buNone/>
            </a:pPr>
            <a:r>
              <a:rPr lang="en-US" sz="1800" b="1" dirty="0">
                <a:solidFill>
                  <a:srgbClr val="E9B44C"/>
                </a:solidFill>
              </a:rPr>
              <a:t>Say</a:t>
            </a:r>
            <a:endParaRPr lang="en-US" sz="1800" dirty="0"/>
          </a:p>
        </p:txBody>
      </p:sp>
      <p:sp>
        <p:nvSpPr>
          <p:cNvPr id="13" name="Text 11"/>
          <p:cNvSpPr txBox="1"/>
          <p:nvPr/>
        </p:nvSpPr>
        <p:spPr>
          <a:xfrm>
            <a:off x="8321040" y="2468880"/>
            <a:ext cx="297180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FFFFFF"/>
                </a:solidFill>
              </a:rPr>
              <a:t>Nothing in this ledger can be edited or deleted without the chain breaking.</a:t>
            </a:r>
            <a:endParaRPr lang="en-US" sz="1300" dirty="0"/>
          </a:p>
          <a:p>
            <a:pPr marL="342900" indent="-342900">
              <a:spcAft>
                <a:spcPts val="800"/>
              </a:spcAft>
              <a:buSzPct val="100000"/>
              <a:buChar char="•"/>
            </a:pPr>
            <a:r>
              <a:rPr lang="en-US" sz="1300" dirty="0">
                <a:solidFill>
                  <a:srgbClr val="FFFFFF"/>
                </a:solidFill>
              </a:rPr>
              <a:t>Any entry can be recomputed from its snapshot. That is what auditable means here.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What comes next</a:t>
            </a:r>
            <a:endParaRPr lang="en-US" sz="3200" dirty="0"/>
          </a:p>
        </p:txBody>
      </p:sp>
      <p:sp>
        <p:nvSpPr>
          <p:cNvPr id="4" name="Text 1"/>
          <p:cNvSpPr txBox="1"/>
          <p:nvPr/>
        </p:nvSpPr>
        <p:spPr>
          <a:xfrm>
            <a:off x="548640" y="1280160"/>
            <a:ext cx="11091672" cy="365760"/>
          </a:xfrm>
          <a:prstGeom prst="rect">
            <a:avLst/>
          </a:prstGeom>
          <a:noFill/>
          <a:ln/>
        </p:spPr>
        <p:txBody>
          <a:bodyPr wrap="square" lIns="0" tIns="0" rIns="0" bIns="0" rtlCol="0" anchor="t"/>
          <a:lstStyle/>
          <a:p>
            <a:pPr marL="0" indent="0">
              <a:buNone/>
            </a:pPr>
            <a:r>
              <a:rPr lang="en-US" sz="1150" dirty="0">
                <a:solidFill>
                  <a:schemeClr val="accent4"/>
                </a:solidFill>
              </a:rPr>
              <a:t>December is on file: entry #23 for the 9 December meeting, +25 bps 73.6%, no change 16.7%, specialists +4.0 bp. The 28 October call is scored the moment the post-meeting rate row lands.</a:t>
            </a:r>
            <a:endParaRPr lang="en-US" sz="1150" dirty="0"/>
          </a:p>
        </p:txBody>
      </p:sp>
      <p:sp>
        <p:nvSpPr>
          <p:cNvPr id="5" name="Shape 2"/>
          <p:cNvSpPr/>
          <p:nvPr/>
        </p:nvSpPr>
        <p:spPr>
          <a:xfrm>
            <a:off x="54864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6" name="Shape 3"/>
          <p:cNvSpPr/>
          <p:nvPr/>
        </p:nvSpPr>
        <p:spPr>
          <a:xfrm>
            <a:off x="731520" y="1947672"/>
            <a:ext cx="384048" cy="384048"/>
          </a:xfrm>
          <a:prstGeom prst="ellipse">
            <a:avLst/>
          </a:prstGeom>
          <a:solidFill>
            <a:srgbClr val="1E2761"/>
          </a:solidFill>
          <a:ln w="12700">
            <a:solidFill>
              <a:srgbClr val="1E2761"/>
            </a:solidFill>
            <a:prstDash val="solid"/>
          </a:ln>
        </p:spPr>
      </p:sp>
      <p:sp>
        <p:nvSpPr>
          <p:cNvPr id="7" name="Text 4"/>
          <p:cNvSpPr txBox="1"/>
          <p:nvPr/>
        </p:nvSpPr>
        <p:spPr>
          <a:xfrm>
            <a:off x="73152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8" name="Text 5"/>
          <p:cNvSpPr txBox="1"/>
          <p:nvPr/>
        </p:nvSpPr>
        <p:spPr>
          <a:xfrm>
            <a:off x="123444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Pre-registered weight sets, scored live</a:t>
            </a:r>
            <a:endParaRPr lang="en-US" sz="1300" dirty="0"/>
          </a:p>
        </p:txBody>
      </p:sp>
      <p:sp>
        <p:nvSpPr>
          <p:cNvPr id="9" name="Text 6"/>
          <p:cNvSpPr txBox="1"/>
          <p:nvPr/>
        </p:nvSpPr>
        <p:spPr>
          <a:xfrm>
            <a:off x="731520" y="2286000"/>
            <a:ext cx="5074920" cy="804672"/>
          </a:xfrm>
          <a:prstGeom prst="rect">
            <a:avLst/>
          </a:prstGeom>
          <a:noFill/>
          <a:ln/>
        </p:spPr>
        <p:txBody>
          <a:bodyPr wrap="square" lIns="0" tIns="0" rIns="0" bIns="0" rtlCol="0" anchor="t"/>
          <a:lstStyle/>
          <a:p>
            <a:pPr marL="0" indent="0">
              <a:buNone/>
            </a:pPr>
            <a:r>
              <a:rPr lang="en-US" sz="1000" dirty="0">
                <a:solidFill>
                  <a:schemeClr val="tx1"/>
                </a:solidFill>
              </a:rPr>
              <a:t>Write down three or four candidate weight sets now (for example market 0.6 / 0.5 / 0.7 with the rest redistributed). Score every set on every live decision with the same log score and Brier. The live set changes only by amendment, on that record. Weights stop being judgement without ever being fitted to the past.</a:t>
            </a:r>
            <a:endParaRPr lang="en-US" sz="1000" dirty="0"/>
          </a:p>
        </p:txBody>
      </p:sp>
      <p:sp>
        <p:nvSpPr>
          <p:cNvPr id="10" name="Shape 7"/>
          <p:cNvSpPr/>
          <p:nvPr/>
        </p:nvSpPr>
        <p:spPr>
          <a:xfrm>
            <a:off x="6217920" y="178308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1" name="Shape 8"/>
          <p:cNvSpPr/>
          <p:nvPr/>
        </p:nvSpPr>
        <p:spPr>
          <a:xfrm>
            <a:off x="6400800" y="1947672"/>
            <a:ext cx="384048" cy="384048"/>
          </a:xfrm>
          <a:prstGeom prst="ellipse">
            <a:avLst/>
          </a:prstGeom>
          <a:solidFill>
            <a:srgbClr val="1E2761"/>
          </a:solidFill>
          <a:ln w="12700">
            <a:solidFill>
              <a:srgbClr val="1E2761"/>
            </a:solidFill>
            <a:prstDash val="solid"/>
          </a:ln>
        </p:spPr>
      </p:sp>
      <p:sp>
        <p:nvSpPr>
          <p:cNvPr id="12" name="Text 9"/>
          <p:cNvSpPr txBox="1"/>
          <p:nvPr/>
        </p:nvSpPr>
        <p:spPr>
          <a:xfrm>
            <a:off x="6400800" y="194767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3" name="Text 10"/>
          <p:cNvSpPr txBox="1"/>
          <p:nvPr/>
        </p:nvSpPr>
        <p:spPr>
          <a:xfrm>
            <a:off x="6903720" y="189280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Reasoning quality, graded by people</a:t>
            </a:r>
            <a:endParaRPr lang="en-US" sz="1300" dirty="0"/>
          </a:p>
        </p:txBody>
      </p:sp>
      <p:sp>
        <p:nvSpPr>
          <p:cNvPr id="14" name="Text 11"/>
          <p:cNvSpPr txBox="1"/>
          <p:nvPr/>
        </p:nvSpPr>
        <p:spPr>
          <a:xfrm>
            <a:off x="6400800" y="2286000"/>
            <a:ext cx="5074920" cy="804672"/>
          </a:xfrm>
          <a:prstGeom prst="rect">
            <a:avLst/>
          </a:prstGeom>
          <a:noFill/>
          <a:ln/>
        </p:spPr>
        <p:txBody>
          <a:bodyPr wrap="square" lIns="0" tIns="0" rIns="0" bIns="0" rtlCol="0" anchor="t"/>
          <a:lstStyle/>
          <a:p>
            <a:pPr marL="0" indent="0">
              <a:buNone/>
            </a:pPr>
            <a:r>
              <a:rPr lang="en-US" sz="1000" dirty="0">
                <a:solidFill>
                  <a:schemeClr val="tx1"/>
                </a:solidFill>
              </a:rPr>
              <a:t>A grading form in the app: a user marks an analyst's answer from 1 to 5 on four questions (did it start from the base rate, argue both sides, say what it was unsure of, say what would prove it wrong). Twenty hand grades become the reference; a model grader is trusted only once it agrees with them. The grade becomes the tenth measured dimension and a gate on the lean.</a:t>
            </a:r>
            <a:endParaRPr lang="en-US" sz="1000" dirty="0"/>
          </a:p>
        </p:txBody>
      </p:sp>
      <p:sp>
        <p:nvSpPr>
          <p:cNvPr id="15" name="Shape 12"/>
          <p:cNvSpPr/>
          <p:nvPr/>
        </p:nvSpPr>
        <p:spPr>
          <a:xfrm>
            <a:off x="54864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16" name="Shape 13"/>
          <p:cNvSpPr/>
          <p:nvPr/>
        </p:nvSpPr>
        <p:spPr>
          <a:xfrm>
            <a:off x="731520" y="3410712"/>
            <a:ext cx="384048" cy="384048"/>
          </a:xfrm>
          <a:prstGeom prst="ellipse">
            <a:avLst/>
          </a:prstGeom>
          <a:solidFill>
            <a:srgbClr val="1E2761"/>
          </a:solidFill>
          <a:ln w="12700">
            <a:solidFill>
              <a:srgbClr val="1E2761"/>
            </a:solidFill>
            <a:prstDash val="solid"/>
          </a:ln>
        </p:spPr>
      </p:sp>
      <p:sp>
        <p:nvSpPr>
          <p:cNvPr id="17" name="Text 14"/>
          <p:cNvSpPr txBox="1"/>
          <p:nvPr/>
        </p:nvSpPr>
        <p:spPr>
          <a:xfrm>
            <a:off x="73152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8" name="Text 15"/>
          <p:cNvSpPr txBox="1"/>
          <p:nvPr/>
        </p:nvSpPr>
        <p:spPr>
          <a:xfrm>
            <a:off x="123444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An events agent for regime shifts</a:t>
            </a:r>
            <a:endParaRPr lang="en-US" sz="1300" dirty="0"/>
          </a:p>
        </p:txBody>
      </p:sp>
      <p:sp>
        <p:nvSpPr>
          <p:cNvPr id="19" name="Text 16"/>
          <p:cNvSpPr txBox="1"/>
          <p:nvPr/>
        </p:nvSpPr>
        <p:spPr>
          <a:xfrm>
            <a:off x="731520" y="3749040"/>
            <a:ext cx="5074920" cy="804672"/>
          </a:xfrm>
          <a:prstGeom prst="rect">
            <a:avLst/>
          </a:prstGeom>
          <a:noFill/>
          <a:ln/>
        </p:spPr>
        <p:txBody>
          <a:bodyPr wrap="square" lIns="0" tIns="0" rIns="0" bIns="0" rtlCol="0" anchor="t"/>
          <a:lstStyle/>
          <a:p>
            <a:pPr marL="0" indent="0">
              <a:buNone/>
            </a:pPr>
            <a:r>
              <a:rPr lang="en-US" sz="1000" dirty="0">
                <a:solidFill>
                  <a:schemeClr val="tx1"/>
                </a:solidFill>
              </a:rPr>
              <a:t>1987, 1998, 2008, 2020: the Fed cut on financial stress, not the data the models read. A watch-out agent that scans for bank failures, funding stress and market dislocations and raises a typed watch-out every analyst must answer.</a:t>
            </a:r>
            <a:endParaRPr lang="en-US" sz="1000" dirty="0"/>
          </a:p>
        </p:txBody>
      </p:sp>
      <p:sp>
        <p:nvSpPr>
          <p:cNvPr id="20" name="Shape 17"/>
          <p:cNvSpPr/>
          <p:nvPr/>
        </p:nvSpPr>
        <p:spPr>
          <a:xfrm>
            <a:off x="6217920" y="324612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1" name="Shape 18"/>
          <p:cNvSpPr/>
          <p:nvPr/>
        </p:nvSpPr>
        <p:spPr>
          <a:xfrm>
            <a:off x="6400800" y="3410712"/>
            <a:ext cx="384048" cy="384048"/>
          </a:xfrm>
          <a:prstGeom prst="ellipse">
            <a:avLst/>
          </a:prstGeom>
          <a:solidFill>
            <a:srgbClr val="1E2761"/>
          </a:solidFill>
          <a:ln w="12700">
            <a:solidFill>
              <a:srgbClr val="1E2761"/>
            </a:solidFill>
            <a:prstDash val="solid"/>
          </a:ln>
        </p:spPr>
      </p:sp>
      <p:sp>
        <p:nvSpPr>
          <p:cNvPr id="22" name="Text 19"/>
          <p:cNvSpPr txBox="1"/>
          <p:nvPr/>
        </p:nvSpPr>
        <p:spPr>
          <a:xfrm>
            <a:off x="6400800" y="341071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23" name="Text 20"/>
          <p:cNvSpPr txBox="1"/>
          <p:nvPr/>
        </p:nvSpPr>
        <p:spPr>
          <a:xfrm>
            <a:off x="6903720" y="335584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A second model family</a:t>
            </a:r>
            <a:endParaRPr lang="en-US" sz="1300" dirty="0"/>
          </a:p>
        </p:txBody>
      </p:sp>
      <p:sp>
        <p:nvSpPr>
          <p:cNvPr id="24" name="Text 21"/>
          <p:cNvSpPr txBox="1"/>
          <p:nvPr/>
        </p:nvSpPr>
        <p:spPr>
          <a:xfrm>
            <a:off x="6400800" y="3749040"/>
            <a:ext cx="5074920" cy="804672"/>
          </a:xfrm>
          <a:prstGeom prst="rect">
            <a:avLst/>
          </a:prstGeom>
          <a:noFill/>
          <a:ln/>
        </p:spPr>
        <p:txBody>
          <a:bodyPr wrap="square" lIns="0" tIns="0" rIns="0" bIns="0" rtlCol="0" anchor="t"/>
          <a:lstStyle/>
          <a:p>
            <a:pPr marL="0" indent="0">
              <a:buNone/>
            </a:pPr>
            <a:r>
              <a:rPr lang="en-US" sz="1000" dirty="0">
                <a:solidFill>
                  <a:schemeClr val="tx1"/>
                </a:solidFill>
              </a:rPr>
              <a:t>The same harness, the same snapshots, a different language model. If the ladder reads the same, the harness is doing the work, not the model.</a:t>
            </a:r>
            <a:endParaRPr lang="en-US" sz="1000" dirty="0"/>
          </a:p>
        </p:txBody>
      </p:sp>
      <p:sp>
        <p:nvSpPr>
          <p:cNvPr id="25" name="Shape 22"/>
          <p:cNvSpPr/>
          <p:nvPr/>
        </p:nvSpPr>
        <p:spPr>
          <a:xfrm>
            <a:off x="54864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26" name="Shape 23"/>
          <p:cNvSpPr/>
          <p:nvPr/>
        </p:nvSpPr>
        <p:spPr>
          <a:xfrm>
            <a:off x="731520" y="4873752"/>
            <a:ext cx="384048" cy="384048"/>
          </a:xfrm>
          <a:prstGeom prst="ellipse">
            <a:avLst/>
          </a:prstGeom>
          <a:solidFill>
            <a:srgbClr val="1E2761"/>
          </a:solidFill>
          <a:ln w="12700">
            <a:solidFill>
              <a:srgbClr val="1E2761"/>
            </a:solidFill>
            <a:prstDash val="solid"/>
          </a:ln>
        </p:spPr>
      </p:sp>
      <p:sp>
        <p:nvSpPr>
          <p:cNvPr id="27" name="Text 24"/>
          <p:cNvSpPr txBox="1"/>
          <p:nvPr/>
        </p:nvSpPr>
        <p:spPr>
          <a:xfrm>
            <a:off x="73152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28" name="Text 25"/>
          <p:cNvSpPr txBox="1"/>
          <p:nvPr/>
        </p:nvSpPr>
        <p:spPr>
          <a:xfrm>
            <a:off x="123444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Other central banks and geographies</a:t>
            </a:r>
            <a:endParaRPr lang="en-US" sz="1300" dirty="0"/>
          </a:p>
        </p:txBody>
      </p:sp>
      <p:sp>
        <p:nvSpPr>
          <p:cNvPr id="29" name="Text 26"/>
          <p:cNvSpPr txBox="1"/>
          <p:nvPr/>
        </p:nvSpPr>
        <p:spPr>
          <a:xfrm>
            <a:off x="731520" y="5212080"/>
            <a:ext cx="5074920" cy="804672"/>
          </a:xfrm>
          <a:prstGeom prst="rect">
            <a:avLst/>
          </a:prstGeom>
          <a:noFill/>
          <a:ln/>
        </p:spPr>
        <p:txBody>
          <a:bodyPr wrap="square" lIns="0" tIns="0" rIns="0" bIns="0" rtlCol="0" anchor="t"/>
          <a:lstStyle/>
          <a:p>
            <a:pPr marL="0" indent="0">
              <a:buNone/>
            </a:pPr>
            <a:r>
              <a:rPr lang="en-US" sz="1000" dirty="0">
                <a:solidFill>
                  <a:schemeClr val="tx1"/>
                </a:solidFill>
              </a:rPr>
              <a:t>ECB, Bank of England, MAS. The chain needs four things: a meeting calendar, a policy-rate series, the bank's own statements and minutes, and a futures or swap curve. The scorecard, the ledger and the analysts transfer unchanged; only the evidence sources change.</a:t>
            </a:r>
            <a:endParaRPr lang="en-US" sz="1000" dirty="0"/>
          </a:p>
        </p:txBody>
      </p:sp>
      <p:sp>
        <p:nvSpPr>
          <p:cNvPr id="30" name="Shape 27"/>
          <p:cNvSpPr/>
          <p:nvPr/>
        </p:nvSpPr>
        <p:spPr>
          <a:xfrm>
            <a:off x="6217920" y="4709160"/>
            <a:ext cx="5440680" cy="1325880"/>
          </a:xfrm>
          <a:prstGeom prst="roundRect">
            <a:avLst>
              <a:gd name="adj" fmla="val 8276"/>
            </a:avLst>
          </a:prstGeom>
          <a:solidFill>
            <a:srgbClr val="EEF2F7"/>
          </a:solidFill>
          <a:ln w="12700">
            <a:solidFill>
              <a:srgbClr val="EEF2F7"/>
            </a:solidFill>
            <a:prstDash val="solid"/>
          </a:ln>
          <a:effectLst>
            <a:outerShdw blurRad="50800" dist="12700" dir="5400000" algn="bl" rotWithShape="0">
              <a:srgbClr val="000000">
                <a:alpha val="8000"/>
              </a:srgbClr>
            </a:outerShdw>
          </a:effectLst>
        </p:spPr>
      </p:sp>
      <p:sp>
        <p:nvSpPr>
          <p:cNvPr id="31" name="Shape 28"/>
          <p:cNvSpPr/>
          <p:nvPr/>
        </p:nvSpPr>
        <p:spPr>
          <a:xfrm>
            <a:off x="6400800" y="4873752"/>
            <a:ext cx="384048" cy="384048"/>
          </a:xfrm>
          <a:prstGeom prst="ellipse">
            <a:avLst/>
          </a:prstGeom>
          <a:solidFill>
            <a:srgbClr val="1E2761"/>
          </a:solidFill>
          <a:ln w="12700">
            <a:solidFill>
              <a:srgbClr val="1E2761"/>
            </a:solidFill>
            <a:prstDash val="solid"/>
          </a:ln>
        </p:spPr>
      </p:sp>
      <p:sp>
        <p:nvSpPr>
          <p:cNvPr id="32" name="Text 29"/>
          <p:cNvSpPr txBox="1"/>
          <p:nvPr/>
        </p:nvSpPr>
        <p:spPr>
          <a:xfrm>
            <a:off x="6400800" y="4873752"/>
            <a:ext cx="384048" cy="384048"/>
          </a:xfrm>
          <a:prstGeom prst="rect">
            <a:avLst/>
          </a:prstGeom>
          <a:noFill/>
          <a:ln/>
        </p:spPr>
        <p:txBody>
          <a:bodyPr wrap="square" lIns="0" tIns="0" rIns="0" bIns="0" rtlCol="0" anchor="ctr"/>
          <a:lstStyle/>
          <a:p>
            <a:pPr marL="0" indent="0" algn="ctr">
              <a:buNone/>
            </a:pPr>
            <a:r>
              <a:rPr lang="en-US" sz="1400" b="1" dirty="0">
                <a:solidFill>
                  <a:schemeClr val="bg1"/>
                </a:solidFill>
              </a:rPr>
              <a:t>6</a:t>
            </a:r>
            <a:endParaRPr lang="en-US" sz="1400" dirty="0"/>
          </a:p>
        </p:txBody>
      </p:sp>
      <p:sp>
        <p:nvSpPr>
          <p:cNvPr id="33" name="Text 30"/>
          <p:cNvSpPr txBox="1"/>
          <p:nvPr/>
        </p:nvSpPr>
        <p:spPr>
          <a:xfrm>
            <a:off x="6903720" y="4818888"/>
            <a:ext cx="4572000" cy="365760"/>
          </a:xfrm>
          <a:prstGeom prst="rect">
            <a:avLst/>
          </a:prstGeom>
          <a:noFill/>
          <a:ln/>
        </p:spPr>
        <p:txBody>
          <a:bodyPr wrap="square" lIns="0" tIns="0" rIns="0" bIns="0" rtlCol="0" anchor="ctr"/>
          <a:lstStyle/>
          <a:p>
            <a:pPr marL="0" indent="0">
              <a:buNone/>
            </a:pPr>
            <a:r>
              <a:rPr lang="en-US" sz="1300" b="1" dirty="0">
                <a:solidFill>
                  <a:schemeClr val="tx2"/>
                </a:solidFill>
              </a:rPr>
              <a:t>Better classical models</a:t>
            </a:r>
            <a:endParaRPr lang="en-US" sz="1300" dirty="0"/>
          </a:p>
        </p:txBody>
      </p:sp>
      <p:sp>
        <p:nvSpPr>
          <p:cNvPr id="34" name="Text 31"/>
          <p:cNvSpPr txBox="1"/>
          <p:nvPr/>
        </p:nvSpPr>
        <p:spPr>
          <a:xfrm>
            <a:off x="6400800" y="5212080"/>
            <a:ext cx="5074920" cy="804672"/>
          </a:xfrm>
          <a:prstGeom prst="rect">
            <a:avLst/>
          </a:prstGeom>
          <a:noFill/>
          <a:ln/>
        </p:spPr>
        <p:txBody>
          <a:bodyPr wrap="square" lIns="0" tIns="0" rIns="0" bIns="0" rtlCol="0" anchor="t"/>
          <a:lstStyle/>
          <a:p>
            <a:pPr marL="0" indent="0">
              <a:buNone/>
            </a:pPr>
            <a:r>
              <a:rPr lang="en-US" sz="1000" dirty="0">
                <a:solidFill>
                  <a:schemeClr val="tx1"/>
                </a:solidFill>
              </a:rPr>
              <a:t>The probit's successor: features written down before fitting, a regularised ordinal model, a reliability check beside the log score, and the expanding window as the only judge. A regularised boosted model as one pre-registered candidate. About 130 usable decisions, 68% holds: small models, honestly tested, not big ones.</a:t>
            </a:r>
            <a:endParaRPr lang="en-US" sz="1000" dirty="0"/>
          </a:p>
        </p:txBody>
      </p:sp>
      <p:sp>
        <p:nvSpPr>
          <p:cNvPr id="3"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6B7280"/>
                </a:solidFill>
              </a:defRPr>
            </a:lvl1pPr>
          </a:lstStyle>
          <a:p>
            <a:pPr algn="r"/>
            <a:fld id="{F7021451-1387-4CA6-816F-3879F97B5CBC}" type="slidenum">
              <a:rPr lang="en-US" b="0"/>
              <a:t>18</a:t>
            </a:fld>
            <a:endParaRPr lang="en-US"/>
          </a:p>
        </p:txBody>
      </p:sp>
    </p:spTree>
    <p:extLst>
      <p:ext uri="{BB962C8B-B14F-4D97-AF65-F5344CB8AC3E}">
        <p14:creationId xmlns:p14="http://schemas.microsoft.com/office/powerpoint/2010/main" val="6515674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03120"/>
            <a:ext cx="11091672" cy="1280160"/>
          </a:xfrm>
          <a:prstGeom prst="rect">
            <a:avLst/>
          </a:prstGeom>
          <a:noFill/>
          <a:ln/>
        </p:spPr>
        <p:txBody>
          <a:bodyPr wrap="square" lIns="0" tIns="0" rIns="0" bIns="0" rtlCol="0" anchor="b"/>
          <a:lstStyle/>
          <a:p>
            <a:pPr marL="0" indent="0" algn="l">
              <a:buNone/>
            </a:pPr>
            <a:r>
              <a:rPr lang="en-US" sz="4000" b="1" dirty="0">
                <a:solidFill>
                  <a:schemeClr val="bg1"/>
                </a:solidFill>
              </a:rPr>
              <a:t>Three things to take away</a:t>
            </a:r>
            <a:endParaRPr lang="en-US" sz="4000" dirty="0"/>
          </a:p>
        </p:txBody>
      </p:sp>
      <p:sp>
        <p:nvSpPr>
          <p:cNvPr id="3" name="Text 0"/>
          <p:cNvSpPr>
            <a:spLocks noGrp="1"/>
          </p:cNvSpPr>
          <p:nvPr>
            <p:ph type="body" idx="101" hasCustomPrompt="1"/>
          </p:nvPr>
        </p:nvSpPr>
        <p:spPr>
          <a:xfrm>
            <a:off x="548640" y="3520440"/>
            <a:ext cx="11091672" cy="1463040"/>
          </a:xfrm>
          <a:prstGeom prst="rect">
            <a:avLst/>
          </a:prstGeom>
          <a:noFill/>
          <a:ln/>
        </p:spPr>
        <p:txBody>
          <a:bodyPr wrap="square" lIns="0" tIns="0" rIns="0" bIns="0" rtlCol="0" anchor="t"/>
          <a:lstStyle/>
          <a:p>
            <a:pPr marL="342900" indent="-342900" algn="l">
              <a:spcAft>
                <a:spcPts val="800"/>
              </a:spcAft>
              <a:buSzPct val="100000"/>
              <a:buChar char="•"/>
            </a:pPr>
            <a:r>
              <a:rPr lang="en-US" sz="2000" dirty="0">
                <a:solidFill>
                  <a:srgbClr val="CADCFC"/>
                </a:solidFill>
              </a:rPr>
              <a:t>The harness is the product. Same model, same evidence, same day: naive it wobbles and leaks; harnessed it is stable, quoted and checked.</a:t>
            </a:r>
            <a:endParaRPr lang="en-US" sz="2000" dirty="0"/>
          </a:p>
          <a:p>
            <a:pPr marL="342900" indent="-342900" algn="l">
              <a:spcAft>
                <a:spcPts val="800"/>
              </a:spcAft>
              <a:buSzPct val="100000"/>
              <a:buChar char="•"/>
            </a:pPr>
            <a:r>
              <a:rPr lang="en-US" sz="2000" dirty="0">
                <a:solidFill>
                  <a:srgbClr val="CADCFC"/>
                </a:solidFill>
              </a:rPr>
              <a:t>Judge the process. Eight decisions a year cannot prove skill; a pre-registered scorecard measured on every snapshot can show discipline and catch drift.</a:t>
            </a:r>
            <a:endParaRPr lang="en-US" sz="2000" dirty="0"/>
          </a:p>
          <a:p>
            <a:pPr marL="342900" indent="-342900" algn="l">
              <a:buSzPct val="100000"/>
              <a:buChar char="•"/>
            </a:pPr>
            <a:r>
              <a:rPr lang="en-US" sz="2000" dirty="0">
                <a:solidFill>
                  <a:srgbClr val="CADCFC"/>
                </a:solidFill>
              </a:rPr>
              <a:t>The ask: scrutinise the scorecard, challenge a quote, and tell us which other decisions deserve the same chain. The 28 October call is on file; the 9 December forecast is too.</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1672" cy="822960"/>
          </a:xfrm>
          <a:prstGeom prst="rect">
            <a:avLst/>
          </a:prstGeom>
          <a:noFill/>
          <a:ln/>
        </p:spPr>
        <p:txBody>
          <a:bodyPr wrap="square" lIns="0" tIns="0" rIns="0" bIns="0" rtlCol="0" anchor="ctr"/>
          <a:lstStyle/>
          <a:p>
            <a:pPr marL="0" indent="0" algn="l">
              <a:buNone/>
            </a:pPr>
            <a:r>
              <a:rPr lang="en-US" sz="3200" b="1" dirty="0">
                <a:solidFill>
                  <a:schemeClr val="tx2"/>
                </a:solidFill>
              </a:rPr>
              <a:t>Backup: the ladder, four snapshots, five runs each</a:t>
            </a:r>
            <a:endParaRPr lang="en-US" sz="3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886200"/>
        </p:xfrm>
        <a:graphic>
          <a:graphicData uri="http://schemas.openxmlformats.org/drawingml/2006/table">
            <a:tbl>
              <a:tblPr/>
              <a:tblGrid>
                <a:gridCol w="3017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gridCol w="2039112">
                  <a:extLst>
                    <a:ext uri="{9D8B030D-6E8A-4147-A177-3AD203B41FA5}">
                      <a16:colId xmlns:a16="http://schemas.microsoft.com/office/drawing/2014/main" val="20004"/>
                    </a:ext>
                  </a:extLst>
                </a:gridCol>
              </a:tblGrid>
              <a:tr h="777240">
                <a:tc>
                  <a:txBody>
                    <a:bodyPr/>
                    <a:lstStyle/>
                    <a:p>
                      <a:pPr marL="0" indent="0">
                        <a:buNone/>
                      </a:pPr>
                      <a:r>
                        <a:rPr lang="en-US" sz="1150" b="1" dirty="0">
                          <a:solidFill>
                            <a:srgbClr val="FFFFFF"/>
                          </a:solidFill>
                        </a:rPr>
                        <a:t>Dimension (pass mark)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1: the question only</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2: +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 3: + answer shape + verifier</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tc>
                  <a:txBody>
                    <a:bodyPr/>
                    <a:lstStyle/>
                    <a:p>
                      <a:pPr marL="0" indent="0" algn="ctr">
                        <a:buNone/>
                      </a:pPr>
                      <a:r>
                        <a:rPr lang="en-US" sz="1150" b="1" dirty="0">
                          <a:solidFill>
                            <a:srgbClr val="FFFFFF"/>
                          </a:solidFill>
                        </a:rPr>
                        <a:t>Analysts 4-8: + one slice each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777240">
                <a:tc>
                  <a:txBody>
                    <a:bodyPr/>
                    <a:lstStyle/>
                    <a:p>
                      <a:pPr marL="0" indent="0">
                        <a:buNone/>
                      </a:pPr>
                      <a:r>
                        <a:rPr lang="en-US" sz="1150" dirty="0">
                          <a:solidFill>
                            <a:srgbClr val="1B1F2A"/>
                          </a:solidFill>
                        </a:rPr>
                        <a:t>Repeatability (≤ 2 pp)</a:t>
                      </a:r>
                      <a:endParaRPr lang="en-US" sz="1150" dirty="0"/>
                    </a:p>
                    <a:p>
                      <a:pPr marL="0" indent="0">
                        <a:buNone/>
                      </a:pPr>
                      <a:r>
                        <a:rPr lang="en-US" sz="1150" dirty="0">
                          <a:solidFill>
                            <a:srgbClr val="1B1F2A"/>
                          </a:solidFill>
                        </a:rPr>
                        <a:t>largest standard deviation of any outcome probability across 5 identical runs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3.4 / 4.5 / 4.9 / 4.1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3.3 / 2.3 / 4.8 / 3.4 pp,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0.6 / 0.5 / 0.5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0.5 / 0.8 / 1.2 / 0.8 bp of tilt,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1"/>
                  </a:ext>
                </a:extLst>
              </a:tr>
              <a:tr h="777240">
                <a:tc>
                  <a:txBody>
                    <a:bodyPr/>
                    <a:lstStyle/>
                    <a:p>
                      <a:pPr marL="0" indent="0">
                        <a:buNone/>
                      </a:pPr>
                      <a:r>
                        <a:rPr lang="en-US" sz="1150" dirty="0">
                          <a:solidFill>
                            <a:srgbClr val="1B1F2A"/>
                          </a:solidFill>
                        </a:rPr>
                        <a:t>Quotes verified (≥ 95%)</a:t>
                      </a:r>
                      <a:endParaRPr lang="en-US" sz="1150" dirty="0"/>
                    </a:p>
                    <a:p>
                      <a:pPr marL="0" indent="0">
                        <a:buNone/>
                      </a:pPr>
                      <a:r>
                        <a:rPr lang="en-US" sz="1150" dirty="0">
                          <a:solidFill>
                            <a:srgbClr val="1B1F2A"/>
                          </a:solidFill>
                        </a:rPr>
                        <a:t>share of claims whose quote code found in the evidence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0%,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not measurable: no quotes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100 / 100 / 99%,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100 / 97 / 100 / 100%,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2"/>
                  </a:ext>
                </a:extLst>
              </a:tr>
              <a:tr h="777240">
                <a:tc>
                  <a:txBody>
                    <a:bodyPr/>
                    <a:lstStyle/>
                    <a:p>
                      <a:pPr marL="0" indent="0">
                        <a:buNone/>
                      </a:pPr>
                      <a:r>
                        <a:rPr lang="en-US" sz="1150" dirty="0">
                          <a:solidFill>
                            <a:srgbClr val="1B1F2A"/>
                          </a:solidFill>
                        </a:rPr>
                        <a:t>Numbers from memory (exactly 0)</a:t>
                      </a:r>
                      <a:endParaRPr lang="en-US" sz="1150" dirty="0"/>
                    </a:p>
                    <a:p>
                      <a:pPr marL="0" indent="0">
                        <a:buNone/>
                      </a:pPr>
                      <a:r>
                        <a:rPr lang="en-US" sz="1150" dirty="0">
                          <a:solidFill>
                            <a:srgbClr val="1B1F2A"/>
                          </a:solidFill>
                        </a:rPr>
                        <a:t>numbers in the answer that are not in the snapshot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C8553D"/>
                          </a:solidFill>
                        </a:rPr>
                        <a:t>36 / 36 / 39 / 38, fail</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b="1" dirty="0">
                          <a:solidFill>
                            <a:srgbClr val="2C6E49"/>
                          </a:solidFill>
                        </a:rPr>
                        <a:t>0, pass</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3"/>
                  </a:ext>
                </a:extLst>
              </a:tr>
              <a:tr h="777240">
                <a:tc>
                  <a:txBody>
                    <a:bodyPr/>
                    <a:lstStyle/>
                    <a:p>
                      <a:pPr marL="0" indent="0">
                        <a:buNone/>
                      </a:pPr>
                      <a:r>
                        <a:rPr lang="en-US" sz="1150" dirty="0">
                          <a:solidFill>
                            <a:srgbClr val="1B1F2A"/>
                          </a:solidFill>
                        </a:rPr>
                        <a:t>What it concluded</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Cut 25 bps at 57 to 67%: its memory of the Fed is stale</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+25 bps at 50 to 57%: reads the evidence, overshoots the market</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+7.0 / +6.6 / +6.4 / +5.8 bp hawkish</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tc>
                  <a:txBody>
                    <a:bodyPr/>
                    <a:lstStyle/>
                    <a:p>
                      <a:pPr marL="0" indent="0" algn="ctr">
                        <a:buNone/>
                      </a:pPr>
                      <a:r>
                        <a:rPr lang="en-US" sz="1150" dirty="0">
                          <a:solidFill>
                            <a:srgbClr val="6B7280"/>
                          </a:solidFill>
                        </a:rPr>
                        <a:t>+4.4 / +4.1 / +4.4 / +4.0 bp hawkish; labour the lone non-hawk</a:t>
                      </a:r>
                      <a:endParaRPr lang="en-US" sz="1150" dirty="0"/>
                    </a:p>
                  </a:txBody>
                  <a:tcPr marL="54864" marR="54864" marT="54864" marB="54864" anchor="ctr">
                    <a:lnL w="6350" cap="flat" cmpd="sng" algn="ctr">
                      <a:solidFill>
                        <a:srgbClr val="D5DBE5"/>
                      </a:solidFill>
                      <a:prstDash val="solid"/>
                      <a:round/>
                      <a:headEnd type="none" w="med" len="med"/>
                      <a:tailEnd type="none" w="med" len="med"/>
                    </a:lnL>
                    <a:lnR w="6350" cap="flat" cmpd="sng" algn="ctr">
                      <a:solidFill>
                        <a:srgbClr val="D5DBE5"/>
                      </a:solidFill>
                      <a:prstDash val="solid"/>
                      <a:round/>
                      <a:headEnd type="none" w="med" len="med"/>
                      <a:tailEnd type="none" w="med" len="med"/>
                    </a:lnR>
                    <a:lnT w="6350" cap="flat" cmpd="sng" algn="ctr">
                      <a:solidFill>
                        <a:srgbClr val="D5DBE5"/>
                      </a:solidFill>
                      <a:prstDash val="solid"/>
                      <a:round/>
                      <a:headEnd type="none" w="med" len="med"/>
                      <a:tailEnd type="none" w="med" len="med"/>
                    </a:lnT>
                    <a:lnB w="6350" cap="flat" cmpd="sng" algn="ctr">
                      <a:solidFill>
                        <a:srgbClr val="D5DBE5"/>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806440"/>
            <a:ext cx="11091672" cy="457200"/>
          </a:xfrm>
          <a:prstGeom prst="rect">
            <a:avLst/>
          </a:prstGeom>
          <a:noFill/>
          <a:ln/>
        </p:spPr>
        <p:txBody>
          <a:bodyPr wrap="square" lIns="0" tIns="0" rIns="0" bIns="0" rtlCol="0" anchor="t"/>
          <a:lstStyle/>
          <a:p>
            <a:pPr marL="0" indent="0">
              <a:buNone/>
            </a:pPr>
            <a:r>
              <a:rPr lang="en-US" sz="1050" dirty="0">
                <a:solidFill>
                  <a:schemeClr val="accent4"/>
                </a:solidFill>
              </a:rPr>
              <a:t>Snapshots of 15, 24, 26 and 28 October 2026. Analysts 3 to 8 report repeatability in basis points of their direction call because they output a lean, not a distribution.</a:t>
            </a:r>
            <a:endParaRPr lang="en-US" sz="105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6B7280"/>
                </a:solidFil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FedCast">
  <a:themeElements>
    <a:clrScheme name="FedCast">
      <a:dk1>
        <a:srgbClr val="1B1F2A"/>
      </a:dk1>
      <a:lt1>
        <a:srgbClr val="FFFFFF"/>
      </a:lt1>
      <a:dk2>
        <a:srgbClr val="1E2761"/>
      </a:dk2>
      <a:lt2>
        <a:srgbClr val="EEF2F7"/>
      </a:lt2>
      <a:accent1>
        <a:srgbClr val="1E2761"/>
      </a:accent1>
      <a:accent2>
        <a:srgbClr val="C8553D"/>
      </a:accent2>
      <a:accent3>
        <a:srgbClr val="2C6E49"/>
      </a:accent3>
      <a:accent4>
        <a:srgbClr val="6B7280"/>
      </a:accent4>
      <a:accent5>
        <a:srgbClr val="CADCFC"/>
      </a:accent5>
      <a:accent6>
        <a:srgbClr val="E9B44C"/>
      </a:accent6>
      <a:hlink>
        <a:srgbClr val="1E2761"/>
      </a:hlink>
      <a:folHlink>
        <a:srgbClr val="6B7280"/>
      </a:folHlink>
    </a:clrScheme>
    <a:fontScheme name="FedCas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40</TotalTime>
  <Words>6126</Words>
  <Application>Microsoft Office PowerPoint</Application>
  <PresentationFormat>Widescreen</PresentationFormat>
  <Paragraphs>478</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Cambria</vt:lpstr>
      <vt:lpstr>Courier New</vt:lpstr>
      <vt:lpstr>FedCast</vt:lpstr>
      <vt:lpstr>FedCast</vt:lpstr>
      <vt:lpstr>About me</vt:lpstr>
      <vt:lpstr>The question, the answer, and what happened</vt:lpstr>
      <vt:lpstr>Live demo 1: the forecast</vt:lpstr>
      <vt:lpstr>Four kinds of signal, and where FedCast sits</vt:lpstr>
      <vt:lpstr>Why this approach ?</vt:lpstr>
      <vt:lpstr>Model Architecture</vt:lpstr>
      <vt:lpstr>The arithmetic: from five models to one number</vt:lpstr>
      <vt:lpstr>Live demo 2: the evidence graph and the pool</vt:lpstr>
      <vt:lpstr>Working around the model's limits</vt:lpstr>
      <vt:lpstr>LLM breakdown: the group of analysts</vt:lpstr>
      <vt:lpstr>Live demo 3: what each analyst is asked and given</vt:lpstr>
      <vt:lpstr>How good is the harness: what each step bought</vt:lpstr>
      <vt:lpstr>LLM analysts: outcome</vt:lpstr>
      <vt:lpstr>Live demo 4: what the analysts concluded</vt:lpstr>
      <vt:lpstr>Live demo 5: the scorecard and the drift table</vt:lpstr>
      <vt:lpstr>Live demo 6: the ledger and replay</vt:lpstr>
      <vt:lpstr>What comes next</vt:lpstr>
      <vt:lpstr>Three things to take away</vt:lpstr>
      <vt:lpstr>Backup: the ladder, four snapshots, five runs 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FedCast: a process-judged forecaster for the next Fed decision</dc:title>
  <dc:subject>PptxGenJS Presentation</dc:subject>
  <dc:creator>FedCast</dc:creator>
  <cp:lastModifiedBy>Kahming Tan</cp:lastModifiedBy>
  <cp:revision>1</cp:revision>
  <dcterms:created xsi:type="dcterms:W3CDTF">2026-10-29T15:30:22Z</dcterms:created>
  <dcterms:modified xsi:type="dcterms:W3CDTF">2026-10-29T16:28:48Z</dcterms:modified>
</cp:coreProperties>
</file>